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2"/>
  </p:notesMasterIdLst>
  <p:handoutMasterIdLst>
    <p:handoutMasterId r:id="rId33"/>
  </p:handoutMasterIdLst>
  <p:sldIdLst>
    <p:sldId id="256" r:id="rId2"/>
    <p:sldId id="257" r:id="rId3"/>
    <p:sldId id="266" r:id="rId4"/>
    <p:sldId id="272" r:id="rId5"/>
    <p:sldId id="273" r:id="rId6"/>
    <p:sldId id="274" r:id="rId7"/>
    <p:sldId id="276" r:id="rId8"/>
    <p:sldId id="275" r:id="rId9"/>
    <p:sldId id="277" r:id="rId10"/>
    <p:sldId id="278" r:id="rId11"/>
    <p:sldId id="281" r:id="rId12"/>
    <p:sldId id="282" r:id="rId13"/>
    <p:sldId id="279" r:id="rId14"/>
    <p:sldId id="268" r:id="rId15"/>
    <p:sldId id="269" r:id="rId16"/>
    <p:sldId id="271" r:id="rId17"/>
    <p:sldId id="285" r:id="rId18"/>
    <p:sldId id="284" r:id="rId19"/>
    <p:sldId id="283" r:id="rId20"/>
    <p:sldId id="286" r:id="rId21"/>
    <p:sldId id="287" r:id="rId22"/>
    <p:sldId id="288" r:id="rId23"/>
    <p:sldId id="289" r:id="rId24"/>
    <p:sldId id="290" r:id="rId25"/>
    <p:sldId id="291" r:id="rId26"/>
    <p:sldId id="292" r:id="rId27"/>
    <p:sldId id="293" r:id="rId28"/>
    <p:sldId id="294" r:id="rId29"/>
    <p:sldId id="267" r:id="rId30"/>
    <p:sldId id="265" r:id="rId31"/>
  </p:sldIdLst>
  <p:sldSz cx="9144000" cy="5143500" type="screen16x9"/>
  <p:notesSz cx="6669088" cy="9872663"/>
  <p:embeddedFontLst>
    <p:embeddedFont>
      <p:font typeface="Roboto" panose="020000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50">
          <p15:clr>
            <a:srgbClr val="A4A3A4"/>
          </p15:clr>
        </p15:guide>
        <p15:guide id="2" pos="2886">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xidsnbVexkeJCKnEpANt2WvvMt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9CBC4F-A25B-4253-930C-837441412174}" v="46" dt="2026-04-17T16:38:56.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50"/>
        <p:guide pos="288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customschemas.google.com/relationships/presentationmetadata" Target="meta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3633"/>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777607" y="0"/>
            <a:ext cx="2889938" cy="493633"/>
          </a:xfrm>
          <a:prstGeom prst="rect">
            <a:avLst/>
          </a:prstGeom>
        </p:spPr>
        <p:txBody>
          <a:bodyPr vert="horz" lIns="91440" tIns="45720" rIns="91440" bIns="45720" rtlCol="0"/>
          <a:lstStyle>
            <a:lvl1pPr algn="r">
              <a:defRPr sz="1200"/>
            </a:lvl1pPr>
          </a:lstStyle>
          <a:p>
            <a:fld id="{B67CFD62-E2E8-4267-A1B9-C2C6C26B664C}" type="datetimeFigureOut">
              <a:rPr lang="en-IN" smtClean="0"/>
              <a:t>18-04-2026</a:t>
            </a:fld>
            <a:endParaRPr lang="en-IN"/>
          </a:p>
        </p:txBody>
      </p:sp>
      <p:sp>
        <p:nvSpPr>
          <p:cNvPr id="4" name="Footer Placeholder 3"/>
          <p:cNvSpPr>
            <a:spLocks noGrp="1"/>
          </p:cNvSpPr>
          <p:nvPr>
            <p:ph type="ftr" sz="quarter" idx="2"/>
          </p:nvPr>
        </p:nvSpPr>
        <p:spPr>
          <a:xfrm>
            <a:off x="0" y="9377316"/>
            <a:ext cx="2889938" cy="493633"/>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777607" y="9377316"/>
            <a:ext cx="2889938" cy="493633"/>
          </a:xfrm>
          <a:prstGeom prst="rect">
            <a:avLst/>
          </a:prstGeom>
        </p:spPr>
        <p:txBody>
          <a:bodyPr vert="horz" lIns="91440" tIns="45720" rIns="91440" bIns="45720" rtlCol="0" anchor="b"/>
          <a:lstStyle>
            <a:lvl1pPr algn="r">
              <a:defRPr sz="1200"/>
            </a:lvl1pPr>
          </a:lstStyle>
          <a:p>
            <a:fld id="{3FB4BF59-F1B0-4630-9C24-E00425740CEF}" type="slidenum">
              <a:rPr lang="en-IN" smtClean="0"/>
              <a:t>‹#›</a:t>
            </a:fld>
            <a:endParaRPr lang="en-IN"/>
          </a:p>
        </p:txBody>
      </p:sp>
    </p:spTree>
    <p:extLst>
      <p:ext uri="{BB962C8B-B14F-4D97-AF65-F5344CB8AC3E}">
        <p14:creationId xmlns:p14="http://schemas.microsoft.com/office/powerpoint/2010/main" val="2507238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4450" y="739775"/>
            <a:ext cx="6581775"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1pPr>
            <a:lvl2pPr marL="914400" marR="0" lvl="1"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2pPr>
            <a:lvl3pPr marL="1371600" marR="0" lvl="2"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3pPr>
            <a:lvl4pPr marL="1828800" marR="0" lvl="3"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4pPr>
            <a:lvl5pPr marL="2286000" marR="0" lvl="4"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5pPr>
            <a:lvl6pPr marL="2743200" marR="0" lvl="5"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6pPr>
            <a:lvl7pPr marL="3200400" marR="0" lvl="6"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7pPr>
            <a:lvl8pPr marL="3657600" marR="0" lvl="7"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8pPr>
            <a:lvl9pPr marL="4114800" marR="0" lvl="8" indent="-317500" algn="l" rtl="0">
              <a:lnSpc>
                <a:spcPct val="100000"/>
              </a:lnSpc>
              <a:spcBef>
                <a:spcPts val="0"/>
              </a:spcBef>
              <a:spcAft>
                <a:spcPts val="0"/>
              </a:spcAft>
              <a:buClr>
                <a:srgbClr val="000000"/>
              </a:buClr>
              <a:buSzPts val="14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34441380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1: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4773DC8-1BBA-DDDD-79BE-8FB682164697}"/>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86D40D7E-5857-7955-08B0-1B61EAC6F668}"/>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A08EBD82-BC9A-2D33-123E-45386034C5CC}"/>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0398160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1A4C15F-9BFC-B292-A2B9-14E61813735B}"/>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065F9DBC-BE6C-1558-E820-72941CC64DB2}"/>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78FEBFCE-9A1B-AF80-6227-EB4E40F85CDC}"/>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00897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1048559-495A-95DC-1ADC-6495F0A901AA}"/>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B86CB51B-8883-FF83-8388-B656D3B4691F}"/>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1D823C9D-56C6-D1D9-9AFB-169063FC08D9}"/>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882915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6429F049-ACF2-C5D5-2333-F3A5A01ED94E}"/>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5DC94F02-E996-7F3D-D3B1-6311E9E75049}"/>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4676137D-7F11-CD32-69F6-105F72036204}"/>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2063528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CF80E57A-62B8-5993-4B00-4EF861DE65E9}"/>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25CCDEA9-A271-A53F-6472-93BBEA917DD7}"/>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5EAE45F3-1819-8023-4659-BCE8F0CA6382}"/>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1907329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1749705F-AB98-A350-5A62-627D42495549}"/>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810F63F9-9A76-FD24-F1A0-7D95915D1B6E}"/>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46193978-5849-E5E9-D799-807E95E702A8}"/>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4245276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A09958EB-E87A-6A63-4ED8-15F45CB3B611}"/>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1F7A57C1-D90A-EC79-06EB-590FE9E7668B}"/>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C87AD605-230B-5F8B-A9BB-9758509DDC0A}"/>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497417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FDBD12B-896D-BBFF-AC3B-16B1F313389E}"/>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A4204FA2-288A-C716-3427-349D2F1BEB15}"/>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C16B7EAE-0916-3C3F-B821-9880DD6F409C}"/>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58049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A11D41B-FFA4-D6C9-2F7C-8A3F48860034}"/>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3F8F4C0F-E298-5079-D767-E32A69F53332}"/>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1CA56FFF-ABF6-A31E-6711-20C4CC2C8FEE}"/>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990953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DD9DE30-F1C4-9FC2-01D7-380B3A7F013B}"/>
            </a:ext>
          </a:extLst>
        </p:cNvPr>
        <p:cNvGrpSpPr/>
        <p:nvPr/>
      </p:nvGrpSpPr>
      <p:grpSpPr>
        <a:xfrm>
          <a:off x="0" y="0"/>
          <a:ext cx="0" cy="0"/>
          <a:chOff x="0" y="0"/>
          <a:chExt cx="0" cy="0"/>
        </a:xfrm>
      </p:grpSpPr>
      <p:sp>
        <p:nvSpPr>
          <p:cNvPr id="69" name="Google Shape;69;p2:notes">
            <a:extLst>
              <a:ext uri="{FF2B5EF4-FFF2-40B4-BE49-F238E27FC236}">
                <a16:creationId xmlns:a16="http://schemas.microsoft.com/office/drawing/2014/main" id="{0B6C2A25-21A3-A6C4-B1C1-2B39B8C61418}"/>
              </a:ext>
            </a:extLst>
          </p:cNvPr>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a:extLst>
              <a:ext uri="{FF2B5EF4-FFF2-40B4-BE49-F238E27FC236}">
                <a16:creationId xmlns:a16="http://schemas.microsoft.com/office/drawing/2014/main" id="{38DE3773-6DEA-C64F-6791-111DAB4C172F}"/>
              </a:ext>
            </a:extLst>
          </p:cNvPr>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extLst>
      <p:ext uri="{BB962C8B-B14F-4D97-AF65-F5344CB8AC3E}">
        <p14:creationId xmlns:p14="http://schemas.microsoft.com/office/powerpoint/2010/main" val="32541777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2: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10:notes"/>
          <p:cNvSpPr>
            <a:spLocks noGrp="1" noRot="1" noChangeAspect="1"/>
          </p:cNvSpPr>
          <p:nvPr>
            <p:ph type="sldImg" idx="2"/>
          </p:nvPr>
        </p:nvSpPr>
        <p:spPr>
          <a:xfrm>
            <a:off x="42863" y="739775"/>
            <a:ext cx="6583362" cy="37036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7" name="Google Shape;127;p10:notes"/>
          <p:cNvSpPr txBox="1">
            <a:spLocks noGrp="1"/>
          </p:cNvSpPr>
          <p:nvPr>
            <p:ph type="body" idx="1"/>
          </p:nvPr>
        </p:nvSpPr>
        <p:spPr>
          <a:xfrm>
            <a:off x="666909" y="4689515"/>
            <a:ext cx="5335270" cy="4442698"/>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0FDA8BB-ED81-4E29-BF58-557401453B65}"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060221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7E9ADF1-2D3D-4EC0-92B9-36FBADC004CA}"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1435646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B9CF8E-60F7-4ECD-A3E7-70810333B349}"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43983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B8CF917-C247-4637-9F03-2CE6FB4D2068}" type="datetime1">
              <a:rPr lang="en-US" smtClean="0"/>
              <a:t>4/18/2026</a:t>
            </a:fld>
            <a:endParaRPr lang="en-IN"/>
          </a:p>
        </p:txBody>
      </p:sp>
      <p:sp>
        <p:nvSpPr>
          <p:cNvPr id="6" name="Footer Placeholder 5"/>
          <p:cNvSpPr>
            <a:spLocks noGrp="1"/>
          </p:cNvSpPr>
          <p:nvPr>
            <p:ph type="ftr" sz="quarter" idx="11"/>
          </p:nvPr>
        </p:nvSpPr>
        <p:spPr/>
        <p:txBody>
          <a:bodyPr/>
          <a:lstStyle/>
          <a:p>
            <a:r>
              <a:rPr lang="en-IN"/>
              <a:t>Dept. of CSE(AI&amp;ML)</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8281635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D9C4D7B-4AFF-4B8C-B568-427C0AF0E83E}" type="datetime1">
              <a:rPr lang="en-US" smtClean="0"/>
              <a:t>4/18/2026</a:t>
            </a:fld>
            <a:endParaRPr lang="en-IN"/>
          </a:p>
        </p:txBody>
      </p:sp>
      <p:sp>
        <p:nvSpPr>
          <p:cNvPr id="8" name="Footer Placeholder 7"/>
          <p:cNvSpPr>
            <a:spLocks noGrp="1"/>
          </p:cNvSpPr>
          <p:nvPr>
            <p:ph type="ftr" sz="quarter" idx="11"/>
          </p:nvPr>
        </p:nvSpPr>
        <p:spPr/>
        <p:txBody>
          <a:bodyPr/>
          <a:lstStyle/>
          <a:p>
            <a:r>
              <a:rPr lang="en-IN"/>
              <a:t>Dept. of CSE(AI&amp;ML)</a:t>
            </a:r>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16893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FE39E8C-B0DF-4255-95F0-FD9687BBDBED}" type="datetime1">
              <a:rPr lang="en-US" smtClean="0"/>
              <a:t>4/18/2026</a:t>
            </a:fld>
            <a:endParaRPr lang="en-IN"/>
          </a:p>
        </p:txBody>
      </p:sp>
      <p:sp>
        <p:nvSpPr>
          <p:cNvPr id="4" name="Footer Placeholder 3"/>
          <p:cNvSpPr>
            <a:spLocks noGrp="1"/>
          </p:cNvSpPr>
          <p:nvPr>
            <p:ph type="ftr" sz="quarter" idx="11"/>
          </p:nvPr>
        </p:nvSpPr>
        <p:spPr/>
        <p:txBody>
          <a:bodyPr/>
          <a:lstStyle/>
          <a:p>
            <a:r>
              <a:rPr lang="en-IN"/>
              <a:t>Dept. of CSE(AI&amp;ML)</a:t>
            </a: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328024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29FD9-7E5A-4229-AB66-1B4646C40A3F}" type="datetime1">
              <a:rPr lang="en-US" smtClean="0"/>
              <a:t>4/18/2026</a:t>
            </a:fld>
            <a:endParaRPr lang="en-IN"/>
          </a:p>
        </p:txBody>
      </p:sp>
      <p:sp>
        <p:nvSpPr>
          <p:cNvPr id="3" name="Footer Placeholder 2"/>
          <p:cNvSpPr>
            <a:spLocks noGrp="1"/>
          </p:cNvSpPr>
          <p:nvPr>
            <p:ph type="ftr" sz="quarter" idx="11"/>
          </p:nvPr>
        </p:nvSpPr>
        <p:spPr/>
        <p:txBody>
          <a:bodyPr/>
          <a:lstStyle/>
          <a:p>
            <a:r>
              <a:rPr lang="en-IN"/>
              <a:t>Dept. of CSE(AI&amp;ML)</a:t>
            </a:r>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272296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339632-CEF5-4C7E-85A5-31AA992A596F}" type="datetime1">
              <a:rPr lang="en-US" smtClean="0"/>
              <a:t>4/18/2026</a:t>
            </a:fld>
            <a:endParaRPr lang="en-IN"/>
          </a:p>
        </p:txBody>
      </p:sp>
      <p:sp>
        <p:nvSpPr>
          <p:cNvPr id="6" name="Footer Placeholder 5"/>
          <p:cNvSpPr>
            <a:spLocks noGrp="1"/>
          </p:cNvSpPr>
          <p:nvPr>
            <p:ph type="ftr" sz="quarter" idx="11"/>
          </p:nvPr>
        </p:nvSpPr>
        <p:spPr/>
        <p:txBody>
          <a:bodyPr/>
          <a:lstStyle/>
          <a:p>
            <a:r>
              <a:rPr lang="en-IN"/>
              <a:t>Dept. of CSE(AI&amp;ML)</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789492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81CBB-E001-4669-A400-346DCC7849A9}" type="datetime1">
              <a:rPr lang="en-US" smtClean="0"/>
              <a:t>4/18/2026</a:t>
            </a:fld>
            <a:endParaRPr lang="en-IN"/>
          </a:p>
        </p:txBody>
      </p:sp>
      <p:sp>
        <p:nvSpPr>
          <p:cNvPr id="6" name="Footer Placeholder 5"/>
          <p:cNvSpPr>
            <a:spLocks noGrp="1"/>
          </p:cNvSpPr>
          <p:nvPr>
            <p:ph type="ftr" sz="quarter" idx="11"/>
          </p:nvPr>
        </p:nvSpPr>
        <p:spPr/>
        <p:txBody>
          <a:bodyPr/>
          <a:lstStyle/>
          <a:p>
            <a:r>
              <a:rPr lang="en-IN"/>
              <a:t>Dept. of CSE(AI&amp;ML)</a:t>
            </a:r>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037778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864D8DE-821F-4CC8-BBD9-E905D878D287}"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357583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551BC2-AF06-4873-86E2-047D39BE3C0A}" type="datetime1">
              <a:rPr lang="en-US" smtClean="0"/>
              <a:t>4/18/2026</a:t>
            </a:fld>
            <a:endParaRPr lang="en-IN"/>
          </a:p>
        </p:txBody>
      </p:sp>
      <p:sp>
        <p:nvSpPr>
          <p:cNvPr id="5" name="Footer Placeholder 4"/>
          <p:cNvSpPr>
            <a:spLocks noGrp="1"/>
          </p:cNvSpPr>
          <p:nvPr>
            <p:ph type="ftr" sz="quarter" idx="11"/>
          </p:nvPr>
        </p:nvSpPr>
        <p:spPr/>
        <p:txBody>
          <a:bodyPr/>
          <a:lstStyle/>
          <a:p>
            <a:r>
              <a:rPr lang="en-IN"/>
              <a:t>Dept. of CSE(AI&amp;ML)</a:t>
            </a:r>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2164653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9"/>
        <p:cNvGrpSpPr/>
        <p:nvPr/>
      </p:nvGrpSpPr>
      <p:grpSpPr>
        <a:xfrm>
          <a:off x="0" y="0"/>
          <a:ext cx="0" cy="0"/>
          <a:chOff x="0" y="0"/>
          <a:chExt cx="0" cy="0"/>
        </a:xfrm>
      </p:grpSpPr>
      <p:sp>
        <p:nvSpPr>
          <p:cNvPr id="12" name="Google Shape;12;p12"/>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a:endParaRPr/>
          </a:p>
        </p:txBody>
      </p:sp>
      <p:sp>
        <p:nvSpPr>
          <p:cNvPr id="13" name="Google Shape;13;p12"/>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4" name="Google Shape;14;p12"/>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EFC49F37-564A-4B4D-AD26-0247E93DB5F3}" type="datetime1">
              <a:rPr lang="en-US" smtClean="0"/>
              <a:t>4/18/2026</a:t>
            </a:fld>
            <a:endParaRPr lang="en-IN"/>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CSE(AI&amp;ML)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GB" smtClean="0"/>
              <a:t>‹#›</a:t>
            </a:fld>
            <a:endParaRPr lang="en-GB"/>
          </a:p>
        </p:txBody>
      </p:sp>
    </p:spTree>
    <p:extLst>
      <p:ext uri="{BB962C8B-B14F-4D97-AF65-F5344CB8AC3E}">
        <p14:creationId xmlns:p14="http://schemas.microsoft.com/office/powerpoint/2010/main" val="42336200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kakunjesoftware.com/#about"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github.com/NehanShaikh/Kakunje_Internship"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p1"/>
          <p:cNvSpPr txBox="1"/>
          <p:nvPr/>
        </p:nvSpPr>
        <p:spPr>
          <a:xfrm>
            <a:off x="387927" y="1194335"/>
            <a:ext cx="8135614" cy="1569630"/>
          </a:xfrm>
          <a:prstGeom prst="rect">
            <a:avLst/>
          </a:prstGeom>
          <a:noFill/>
          <a:ln>
            <a:noFill/>
          </a:ln>
        </p:spPr>
        <p:txBody>
          <a:bodyPr spcFirstLastPara="1" wrap="square" lIns="91425" tIns="91425" rIns="91425" bIns="91425" anchor="t" anchorCtr="0">
            <a:spAutoFit/>
          </a:bodyPr>
          <a:lstStyle/>
          <a:p>
            <a:pPr lvl="0" algn="ctr">
              <a:buSzPts val="2400"/>
            </a:pPr>
            <a:r>
              <a:rPr lang="en-GB" sz="1800" b="1" i="0" u="none" strike="noStrike" cap="none" dirty="0">
                <a:solidFill>
                  <a:srgbClr val="000000"/>
                </a:solidFill>
                <a:latin typeface="Times New Roman"/>
                <a:ea typeface="Times New Roman"/>
                <a:cs typeface="Times New Roman"/>
                <a:sym typeface="Times New Roman"/>
              </a:rPr>
              <a:t>Internship Presentation(</a:t>
            </a:r>
            <a:r>
              <a:rPr lang="en-GB" sz="1800" b="1" dirty="0">
                <a:latin typeface="Times New Roman"/>
                <a:ea typeface="Times New Roman"/>
                <a:cs typeface="Times New Roman"/>
                <a:sym typeface="Times New Roman"/>
              </a:rPr>
              <a:t>AM82231A</a:t>
            </a:r>
            <a:r>
              <a:rPr lang="en-GB" sz="1800" b="1" i="0" u="none" strike="noStrike" cap="none" dirty="0">
                <a:solidFill>
                  <a:srgbClr val="000000"/>
                </a:solidFill>
                <a:latin typeface="Times New Roman"/>
                <a:ea typeface="Times New Roman"/>
                <a:cs typeface="Times New Roman"/>
                <a:sym typeface="Times New Roman"/>
              </a:rPr>
              <a:t>)</a:t>
            </a:r>
          </a:p>
          <a:p>
            <a:pPr marL="0" marR="0" lvl="0" indent="0" algn="ctr" rtl="0">
              <a:lnSpc>
                <a:spcPct val="100000"/>
              </a:lnSpc>
              <a:spcBef>
                <a:spcPts val="0"/>
              </a:spcBef>
              <a:spcAft>
                <a:spcPts val="0"/>
              </a:spcAft>
              <a:buClr>
                <a:srgbClr val="000000"/>
              </a:buClr>
              <a:buSzPts val="2400"/>
              <a:buFont typeface="Arial"/>
              <a:buNone/>
            </a:pPr>
            <a:r>
              <a:rPr lang="en-GB" sz="1800" b="1" dirty="0">
                <a:latin typeface="Times New Roman"/>
                <a:ea typeface="Times New Roman"/>
                <a:cs typeface="Times New Roman"/>
                <a:sym typeface="Times New Roman"/>
              </a:rPr>
              <a:t>on</a:t>
            </a:r>
          </a:p>
          <a:p>
            <a:pPr marL="0" marR="0" lvl="0" indent="0" algn="ctr" rtl="0">
              <a:lnSpc>
                <a:spcPct val="100000"/>
              </a:lnSpc>
              <a:spcBef>
                <a:spcPts val="0"/>
              </a:spcBef>
              <a:spcAft>
                <a:spcPts val="0"/>
              </a:spcAft>
              <a:buClr>
                <a:srgbClr val="000000"/>
              </a:buClr>
              <a:buSzPts val="2400"/>
              <a:buFont typeface="Arial"/>
              <a:buNone/>
            </a:pPr>
            <a:r>
              <a:rPr lang="en-GB" sz="1800" b="1" dirty="0">
                <a:latin typeface="Times New Roman"/>
                <a:ea typeface="Times New Roman"/>
                <a:cs typeface="Times New Roman"/>
                <a:sym typeface="Times New Roman"/>
              </a:rPr>
              <a:t>Artificial Intelligence &amp; Data Science</a:t>
            </a:r>
          </a:p>
          <a:p>
            <a:pPr marL="0" marR="0" lvl="0" indent="0" algn="ctr" rtl="0">
              <a:lnSpc>
                <a:spcPct val="100000"/>
              </a:lnSpc>
              <a:spcBef>
                <a:spcPts val="0"/>
              </a:spcBef>
              <a:spcAft>
                <a:spcPts val="0"/>
              </a:spcAft>
              <a:buClr>
                <a:srgbClr val="000000"/>
              </a:buClr>
              <a:buSzPts val="2400"/>
              <a:buFont typeface="Arial"/>
              <a:buNone/>
            </a:pPr>
            <a:r>
              <a:rPr lang="en-GB" sz="1800" b="1" dirty="0">
                <a:latin typeface="Times New Roman"/>
                <a:ea typeface="Times New Roman"/>
                <a:cs typeface="Times New Roman"/>
                <a:sym typeface="Times New Roman"/>
              </a:rPr>
              <a:t>at</a:t>
            </a:r>
          </a:p>
          <a:p>
            <a:pPr marL="0" marR="0" lvl="0" indent="0" algn="ctr" rtl="0">
              <a:lnSpc>
                <a:spcPct val="100000"/>
              </a:lnSpc>
              <a:spcBef>
                <a:spcPts val="0"/>
              </a:spcBef>
              <a:spcAft>
                <a:spcPts val="0"/>
              </a:spcAft>
              <a:buClr>
                <a:srgbClr val="000000"/>
              </a:buClr>
              <a:buSzPts val="2400"/>
              <a:buFont typeface="Arial"/>
              <a:buNone/>
            </a:pPr>
            <a:r>
              <a:rPr lang="en-GB" sz="1800" b="1" dirty="0" err="1">
                <a:latin typeface="Times New Roman"/>
                <a:ea typeface="Times New Roman"/>
                <a:cs typeface="Times New Roman"/>
                <a:sym typeface="Times New Roman"/>
              </a:rPr>
              <a:t>Kakunje</a:t>
            </a:r>
            <a:r>
              <a:rPr lang="en-GB" sz="1800" b="1" dirty="0">
                <a:latin typeface="Times New Roman"/>
                <a:ea typeface="Times New Roman"/>
                <a:cs typeface="Times New Roman"/>
                <a:sym typeface="Times New Roman"/>
              </a:rPr>
              <a:t> Software Private Ltd</a:t>
            </a:r>
          </a:p>
        </p:txBody>
      </p:sp>
      <p:sp>
        <p:nvSpPr>
          <p:cNvPr id="65" name="Google Shape;65;p1"/>
          <p:cNvSpPr/>
          <p:nvPr/>
        </p:nvSpPr>
        <p:spPr>
          <a:xfrm>
            <a:off x="1272209" y="609600"/>
            <a:ext cx="6774511"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GB" sz="1800" b="1" i="0" u="none" strike="noStrike" cap="none" dirty="0">
                <a:solidFill>
                  <a:srgbClr val="002060"/>
                </a:solidFill>
                <a:latin typeface="Times New Roman"/>
                <a:ea typeface="Times New Roman"/>
                <a:cs typeface="Times New Roman"/>
                <a:sym typeface="Times New Roman"/>
              </a:rPr>
              <a:t>Department of Computer Science &amp; Engineering</a:t>
            </a:r>
          </a:p>
          <a:p>
            <a:pPr marL="0" marR="0" lvl="0" indent="0" algn="ctr" rtl="0">
              <a:lnSpc>
                <a:spcPct val="100000"/>
              </a:lnSpc>
              <a:spcBef>
                <a:spcPts val="0"/>
              </a:spcBef>
              <a:spcAft>
                <a:spcPts val="0"/>
              </a:spcAft>
              <a:buClr>
                <a:srgbClr val="000000"/>
              </a:buClr>
              <a:buSzPts val="1600"/>
              <a:buFont typeface="Arial"/>
              <a:buNone/>
            </a:pPr>
            <a:r>
              <a:rPr lang="en-GB" sz="1800" b="1" dirty="0">
                <a:solidFill>
                  <a:srgbClr val="002060"/>
                </a:solidFill>
                <a:latin typeface="Times New Roman"/>
                <a:cs typeface="Times New Roman"/>
                <a:sym typeface="Times New Roman"/>
              </a:rPr>
              <a:t>(Artificial Intelligence and Machine Learning)</a:t>
            </a:r>
            <a:endParaRPr sz="1600" b="0" i="0" u="none" strike="noStrike" cap="none" dirty="0">
              <a:solidFill>
                <a:srgbClr val="000000"/>
              </a:solidFill>
              <a:latin typeface="Arial"/>
              <a:ea typeface="Arial"/>
              <a:cs typeface="Arial"/>
              <a:sym typeface="Arial"/>
            </a:endParaRPr>
          </a:p>
        </p:txBody>
      </p:sp>
      <p:sp>
        <p:nvSpPr>
          <p:cNvPr id="66" name="Google Shape;66;p1"/>
          <p:cNvSpPr txBox="1">
            <a:spLocks noGrp="1"/>
          </p:cNvSpPr>
          <p:nvPr>
            <p:ph type="sldNum"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t>1</a:t>
            </a:fld>
            <a:endParaRPr/>
          </a:p>
        </p:txBody>
      </p:sp>
      <p:pic>
        <p:nvPicPr>
          <p:cNvPr id="67" name="Google Shape;67;p1"/>
          <p:cNvPicPr preferRelativeResize="0"/>
          <p:nvPr/>
        </p:nvPicPr>
        <p:blipFill rotWithShape="1">
          <a:blip r:embed="rId3">
            <a:alphaModFix/>
          </a:blip>
          <a:srcRect/>
          <a:stretch/>
        </p:blipFill>
        <p:spPr>
          <a:xfrm>
            <a:off x="2999509" y="94189"/>
            <a:ext cx="3162698" cy="515411"/>
          </a:xfrm>
          <a:prstGeom prst="rect">
            <a:avLst/>
          </a:prstGeom>
          <a:noFill/>
          <a:ln>
            <a:noFill/>
          </a:ln>
        </p:spPr>
      </p:pic>
      <p:sp>
        <p:nvSpPr>
          <p:cNvPr id="13" name="Google Shape;75;p15"/>
          <p:cNvSpPr txBox="1"/>
          <p:nvPr/>
        </p:nvSpPr>
        <p:spPr>
          <a:xfrm>
            <a:off x="2153031" y="2958927"/>
            <a:ext cx="441960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pPr>
            <a:r>
              <a:rPr lang="en-IN" sz="2000" b="0" i="0" u="none" strike="noStrike" cap="none" dirty="0">
                <a:solidFill>
                  <a:schemeClr val="dk1"/>
                </a:solidFill>
                <a:latin typeface="Times New Roman"/>
                <a:ea typeface="Times New Roman"/>
                <a:cs typeface="Times New Roman"/>
                <a:sym typeface="Times New Roman"/>
              </a:rPr>
              <a:t>   Under the Guidance of:</a:t>
            </a:r>
            <a:endParaRPr sz="2000" b="0" i="0" u="none" strike="noStrike" cap="none" dirty="0">
              <a:solidFill>
                <a:schemeClr val="dk1"/>
              </a:solidFill>
              <a:latin typeface="Times New Roman"/>
              <a:ea typeface="Times New Roman"/>
              <a:cs typeface="Times New Roman"/>
              <a:sym typeface="Times New Roman"/>
            </a:endParaRPr>
          </a:p>
        </p:txBody>
      </p:sp>
      <p:sp>
        <p:nvSpPr>
          <p:cNvPr id="15" name="Google Shape;77;p15"/>
          <p:cNvSpPr txBox="1"/>
          <p:nvPr/>
        </p:nvSpPr>
        <p:spPr>
          <a:xfrm>
            <a:off x="66931" y="3273161"/>
            <a:ext cx="3853062"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pPr>
            <a:r>
              <a:rPr lang="en-US" sz="1800" dirty="0">
                <a:solidFill>
                  <a:schemeClr val="dk1"/>
                </a:solidFill>
                <a:latin typeface="Times New Roman"/>
                <a:ea typeface="Times New Roman"/>
                <a:cs typeface="Times New Roman"/>
                <a:sym typeface="Times New Roman"/>
              </a:rPr>
              <a:t>Ms. </a:t>
            </a:r>
            <a:r>
              <a:rPr lang="en-US" sz="1800" dirty="0" err="1">
                <a:solidFill>
                  <a:schemeClr val="dk1"/>
                </a:solidFill>
                <a:latin typeface="Times New Roman"/>
                <a:ea typeface="Times New Roman"/>
                <a:cs typeface="Times New Roman"/>
                <a:sym typeface="Times New Roman"/>
              </a:rPr>
              <a:t>Shreekshitha</a:t>
            </a:r>
            <a:endParaRPr sz="18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2000"/>
              <a:buFont typeface="Times New Roman"/>
              <a:buNone/>
            </a:pPr>
            <a:r>
              <a:rPr lang="en-IN" sz="1800" dirty="0">
                <a:solidFill>
                  <a:schemeClr val="dk1"/>
                </a:solidFill>
                <a:latin typeface="Times New Roman"/>
                <a:ea typeface="Times New Roman"/>
                <a:cs typeface="Times New Roman"/>
                <a:sym typeface="Times New Roman"/>
              </a:rPr>
              <a:t>Asst. Professor</a:t>
            </a:r>
          </a:p>
          <a:p>
            <a:pPr marL="0" marR="0" lvl="0" indent="0" algn="ctr" rtl="0">
              <a:spcBef>
                <a:spcPts val="0"/>
              </a:spcBef>
              <a:spcAft>
                <a:spcPts val="0"/>
              </a:spcAft>
              <a:buClr>
                <a:schemeClr val="dk1"/>
              </a:buClr>
              <a:buSzPts val="2000"/>
              <a:buFont typeface="Times New Roman"/>
              <a:buNone/>
            </a:pPr>
            <a:r>
              <a:rPr lang="en-IN" sz="1800" dirty="0">
                <a:solidFill>
                  <a:schemeClr val="dk1"/>
                </a:solidFill>
                <a:latin typeface="Times New Roman"/>
                <a:ea typeface="Times New Roman"/>
                <a:cs typeface="Times New Roman"/>
                <a:sym typeface="Times New Roman"/>
              </a:rPr>
              <a:t>Dept. of  CSE(AI&amp;ML), SCEM       </a:t>
            </a:r>
            <a:endParaRPr sz="1800" dirty="0">
              <a:solidFill>
                <a:schemeClr val="dk1"/>
              </a:solidFill>
              <a:latin typeface="Calibri"/>
              <a:ea typeface="Calibri"/>
              <a:cs typeface="Calibri"/>
              <a:sym typeface="Calibri"/>
            </a:endParaRPr>
          </a:p>
        </p:txBody>
      </p:sp>
      <p:sp>
        <p:nvSpPr>
          <p:cNvPr id="16" name="Google Shape;77;p15"/>
          <p:cNvSpPr txBox="1"/>
          <p:nvPr/>
        </p:nvSpPr>
        <p:spPr>
          <a:xfrm>
            <a:off x="6024241" y="3273161"/>
            <a:ext cx="304800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pPr>
            <a:r>
              <a:rPr lang="en-IN" sz="1800" dirty="0">
                <a:solidFill>
                  <a:schemeClr val="dk1"/>
                </a:solidFill>
                <a:latin typeface="Times New Roman"/>
                <a:ea typeface="Times New Roman"/>
                <a:cs typeface="Times New Roman"/>
                <a:sym typeface="Times New Roman"/>
              </a:rPr>
              <a:t>Mr. GK Bhat </a:t>
            </a:r>
            <a:r>
              <a:rPr lang="en-IN" sz="1800" dirty="0" err="1">
                <a:solidFill>
                  <a:schemeClr val="dk1"/>
                </a:solidFill>
                <a:latin typeface="Times New Roman"/>
                <a:ea typeface="Times New Roman"/>
                <a:cs typeface="Times New Roman"/>
                <a:sym typeface="Times New Roman"/>
              </a:rPr>
              <a:t>Kakunje</a:t>
            </a:r>
            <a:endParaRPr sz="1800" dirty="0">
              <a:solidFill>
                <a:schemeClr val="dk1"/>
              </a:solidFill>
              <a:latin typeface="Times New Roman"/>
              <a:ea typeface="Times New Roman"/>
              <a:cs typeface="Times New Roman"/>
              <a:sym typeface="Times New Roman"/>
            </a:endParaRPr>
          </a:p>
          <a:p>
            <a:pPr lvl="0" algn="ctr"/>
            <a:r>
              <a:rPr lang="en-IN" sz="1800" dirty="0">
                <a:latin typeface="Times New Roman" panose="02020603050405020304" pitchFamily="18" charset="0"/>
                <a:cs typeface="Times New Roman" panose="02020603050405020304" pitchFamily="18" charset="0"/>
              </a:rPr>
              <a:t>CEO&amp;MD</a:t>
            </a:r>
          </a:p>
          <a:p>
            <a:pPr lvl="0" algn="ctr"/>
            <a:r>
              <a:rPr lang="en-IN" sz="1800" dirty="0">
                <a:latin typeface="Times New Roman" panose="02020603050405020304" pitchFamily="18" charset="0"/>
                <a:cs typeface="Times New Roman" panose="02020603050405020304" pitchFamily="18" charset="0"/>
              </a:rPr>
              <a:t> </a:t>
            </a:r>
            <a:r>
              <a:rPr lang="en-IN" sz="1800" dirty="0" err="1">
                <a:solidFill>
                  <a:schemeClr val="dk1"/>
                </a:solidFill>
                <a:latin typeface="Times New Roman"/>
                <a:ea typeface="Times New Roman"/>
                <a:cs typeface="Times New Roman"/>
                <a:sym typeface="Times New Roman"/>
              </a:rPr>
              <a:t>Kakunje</a:t>
            </a:r>
            <a:r>
              <a:rPr lang="en-IN" sz="1800" dirty="0">
                <a:solidFill>
                  <a:schemeClr val="dk1"/>
                </a:solidFill>
                <a:latin typeface="Times New Roman"/>
                <a:ea typeface="Times New Roman"/>
                <a:cs typeface="Times New Roman"/>
                <a:sym typeface="Times New Roman"/>
              </a:rPr>
              <a:t> Software Pvt Ltd</a:t>
            </a:r>
            <a:endParaRPr sz="1800" dirty="0">
              <a:solidFill>
                <a:schemeClr val="dk1"/>
              </a:solidFill>
              <a:latin typeface="Calibri"/>
              <a:ea typeface="Calibri"/>
              <a:cs typeface="Calibri"/>
              <a:sym typeface="Calibri"/>
            </a:endParaRPr>
          </a:p>
        </p:txBody>
      </p:sp>
      <p:sp>
        <p:nvSpPr>
          <p:cNvPr id="17" name="Google Shape;74;p15"/>
          <p:cNvSpPr txBox="1"/>
          <p:nvPr/>
        </p:nvSpPr>
        <p:spPr>
          <a:xfrm>
            <a:off x="2728398" y="4087863"/>
            <a:ext cx="4343400" cy="708000"/>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Clr>
                <a:schemeClr val="dk1"/>
              </a:buClr>
              <a:buSzPts val="2000"/>
              <a:buFont typeface="Times New Roman"/>
              <a:buNone/>
            </a:pPr>
            <a:r>
              <a:rPr lang="en-IN" sz="2000" b="0" i="0" u="none" strike="noStrike" cap="none" dirty="0">
                <a:solidFill>
                  <a:schemeClr val="dk1"/>
                </a:solidFill>
                <a:latin typeface="Times New Roman"/>
                <a:ea typeface="Times New Roman"/>
                <a:cs typeface="Times New Roman"/>
                <a:sym typeface="Times New Roman"/>
              </a:rPr>
              <a:t>                    Presented by:</a:t>
            </a:r>
            <a:endParaRPr lang="en-IN" sz="2000"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Clr>
                <a:schemeClr val="dk1"/>
              </a:buClr>
              <a:buSzPts val="2000"/>
              <a:buFont typeface="Times New Roman"/>
              <a:buNone/>
            </a:pPr>
            <a:r>
              <a:rPr lang="en-IN" sz="2000" b="1" dirty="0">
                <a:solidFill>
                  <a:schemeClr val="dk1"/>
                </a:solidFill>
                <a:latin typeface="Times New Roman"/>
                <a:ea typeface="Times New Roman"/>
                <a:cs typeface="Times New Roman"/>
                <a:sym typeface="Times New Roman"/>
              </a:rPr>
              <a:t>   </a:t>
            </a:r>
            <a:r>
              <a:rPr lang="en-IN" sz="2000" dirty="0" err="1">
                <a:solidFill>
                  <a:schemeClr val="dk1"/>
                </a:solidFill>
                <a:latin typeface="Times New Roman"/>
                <a:ea typeface="Times New Roman"/>
                <a:cs typeface="Times New Roman"/>
                <a:sym typeface="Times New Roman"/>
              </a:rPr>
              <a:t>Nehan</a:t>
            </a:r>
            <a:r>
              <a:rPr lang="en-IN" sz="2000" dirty="0">
                <a:solidFill>
                  <a:schemeClr val="dk1"/>
                </a:solidFill>
                <a:latin typeface="Times New Roman"/>
                <a:ea typeface="Times New Roman"/>
                <a:cs typeface="Times New Roman"/>
                <a:sym typeface="Times New Roman"/>
              </a:rPr>
              <a:t> Shaikh</a:t>
            </a:r>
            <a:r>
              <a:rPr lang="en-IN" sz="2000" i="0" u="none" strike="noStrike" cap="none" dirty="0">
                <a:solidFill>
                  <a:schemeClr val="dk1"/>
                </a:solidFill>
                <a:latin typeface="Times New Roman"/>
                <a:ea typeface="Times New Roman"/>
                <a:cs typeface="Times New Roman"/>
                <a:sym typeface="Times New Roman"/>
              </a:rPr>
              <a:t>– 4SF22CI061</a:t>
            </a:r>
            <a:endParaRPr sz="200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687787" y="23853"/>
            <a:ext cx="7613374" cy="557346"/>
          </a:xfrm>
        </p:spPr>
        <p:txBody>
          <a:bodyPr>
            <a:normAutofit fontScale="90000"/>
          </a:bodyPr>
          <a:lstStyle/>
          <a:p>
            <a:pPr lvl="0"/>
            <a:r>
              <a:rPr lang="en-GB" b="1" i="0" u="none" strike="noStrike" cap="none" dirty="0">
                <a:solidFill>
                  <a:srgbClr val="000000"/>
                </a:solidFill>
                <a:latin typeface="Times New Roman"/>
                <a:ea typeface="Times New Roman"/>
                <a:cs typeface="Times New Roman"/>
                <a:sym typeface="Times New Roman"/>
              </a:rPr>
              <a:t>Contents</a:t>
            </a:r>
            <a:endParaRPr lang="en-IN" dirty="0"/>
          </a:p>
        </p:txBody>
      </p:sp>
      <p:sp>
        <p:nvSpPr>
          <p:cNvPr id="73" name="Google Shape;73;p2"/>
          <p:cNvSpPr txBox="1">
            <a:spLocks noGrp="1"/>
          </p:cNvSpPr>
          <p:nvPr>
            <p:ph idx="1"/>
          </p:nvPr>
        </p:nvSpPr>
        <p:spPr>
          <a:xfrm>
            <a:off x="286247" y="572499"/>
            <a:ext cx="8400553" cy="4198283"/>
          </a:xfrm>
          <a:prstGeom prst="rect">
            <a:avLst/>
          </a:prstGeom>
          <a:noFill/>
          <a:ln>
            <a:noFill/>
          </a:ln>
        </p:spPr>
        <p:txBody>
          <a:bodyPr spcFirstLastPara="1" wrap="square" lIns="91425" tIns="91425" rIns="91425" bIns="91425" anchor="t" anchorCtr="0">
            <a:noAutofit/>
          </a:bodyPr>
          <a:lstStyle/>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About the Company</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Vision, Mission of the Company</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Customer and Products </a:t>
            </a:r>
            <a:endParaRPr dirty="0"/>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Internship Objectives</a:t>
            </a:r>
            <a:endParaRPr dirty="0"/>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Internship Details (Week wise)</a:t>
            </a:r>
            <a:endParaRPr dirty="0"/>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About Training</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Technical Knowledge Gained  </a:t>
            </a:r>
            <a:endParaRPr sz="2000" dirty="0">
              <a:solidFill>
                <a:srgbClr val="212121"/>
              </a:solidFill>
              <a:latin typeface="Times New Roman"/>
              <a:ea typeface="Times New Roman"/>
              <a:cs typeface="Times New Roman"/>
              <a:sym typeface="Times New Roman"/>
            </a:endParaRP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Internship Outcomes</a:t>
            </a:r>
          </a:p>
          <a:p>
            <a:pPr marL="457200" lvl="0" indent="-355600" algn="l" rtl="0">
              <a:lnSpc>
                <a:spcPct val="150000"/>
              </a:lnSpc>
              <a:spcBef>
                <a:spcPts val="0"/>
              </a:spcBef>
              <a:spcAft>
                <a:spcPts val="0"/>
              </a:spcAft>
              <a:buClr>
                <a:schemeClr val="dk2"/>
              </a:buClr>
              <a:buSzPts val="2000"/>
              <a:buFont typeface="Arial"/>
              <a:buChar char="•"/>
            </a:pPr>
            <a:r>
              <a:rPr lang="en-GB" sz="2000" dirty="0">
                <a:solidFill>
                  <a:srgbClr val="212121"/>
                </a:solidFill>
                <a:latin typeface="Times New Roman"/>
                <a:ea typeface="Times New Roman"/>
                <a:cs typeface="Times New Roman"/>
                <a:sym typeface="Times New Roman"/>
              </a:rPr>
              <a:t>References</a:t>
            </a:r>
            <a:endParaRPr sz="2000" dirty="0">
              <a:solidFill>
                <a:srgbClr val="212121"/>
              </a:solidFill>
              <a:latin typeface="Times New Roman"/>
              <a:ea typeface="Times New Roman"/>
              <a:cs typeface="Times New Roman"/>
              <a:sym typeface="Times New Roman"/>
            </a:endParaRPr>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a:t>
            </a:fld>
            <a:endParaRPr>
              <a:latin typeface="Times New Roman"/>
              <a:ea typeface="Times New Roman"/>
              <a:cs typeface="Times New Roman"/>
              <a:sym typeface="Times New Roman"/>
            </a:endParaRPr>
          </a:p>
        </p:txBody>
      </p:sp>
      <p:sp>
        <p:nvSpPr>
          <p:cNvPr id="4" name="Footer Placeholder 3"/>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About the Company</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3</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dirty="0"/>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6" name="Rectangle 2">
            <a:extLst>
              <a:ext uri="{FF2B5EF4-FFF2-40B4-BE49-F238E27FC236}">
                <a16:creationId xmlns:a16="http://schemas.microsoft.com/office/drawing/2014/main" id="{EA439E8A-CA93-E600-0577-956848E97FDE}"/>
              </a:ext>
            </a:extLst>
          </p:cNvPr>
          <p:cNvSpPr>
            <a:spLocks noGrp="1" noChangeArrowheads="1"/>
          </p:cNvSpPr>
          <p:nvPr>
            <p:ph idx="1"/>
          </p:nvPr>
        </p:nvSpPr>
        <p:spPr bwMode="auto">
          <a:xfrm>
            <a:off x="0" y="580944"/>
            <a:ext cx="8821860" cy="42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Kakunje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Software Private Limited is a tech company based in Mangaluru that focuses on solving real-life problems using modern technology.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businesses grow by providing digital services and guiding them through their</a:t>
            </a:r>
            <a:r>
              <a:rPr lang="en-US" alt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transformation.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company builds smart solutions like AI-based software, websites, mobile apps, and ERP systems . </a:t>
            </a:r>
          </a:p>
        </p:txBody>
      </p:sp>
    </p:spTree>
    <p:extLst>
      <p:ext uri="{BB962C8B-B14F-4D97-AF65-F5344CB8AC3E}">
        <p14:creationId xmlns:p14="http://schemas.microsoft.com/office/powerpoint/2010/main" val="639521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854DFFC7-E2F6-E633-EF1E-AE294EB966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1C644B-CB84-A7EE-9097-F7B27925E480}"/>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About the Company (</a:t>
            </a:r>
            <a:r>
              <a:rPr lang="en-GB" sz="1800" i="0" u="none" strike="noStrike" cap="none" dirty="0">
                <a:solidFill>
                  <a:srgbClr val="000000"/>
                </a:solidFill>
                <a:latin typeface="Times New Roman"/>
                <a:ea typeface="Times New Roman"/>
                <a:cs typeface="Times New Roman"/>
                <a:sym typeface="Times New Roman"/>
              </a:rPr>
              <a:t>Cont’d..</a:t>
            </a:r>
            <a:r>
              <a:rPr lang="en-GB" sz="2800" b="1" i="0" u="none" strike="noStrike" cap="none" dirty="0">
                <a:solidFill>
                  <a:srgbClr val="000000"/>
                </a:solidFill>
                <a:latin typeface="Times New Roman"/>
                <a:ea typeface="Times New Roman"/>
                <a:cs typeface="Times New Roman"/>
                <a:sym typeface="Times New Roman"/>
              </a:rPr>
              <a:t>)</a:t>
            </a:r>
            <a:endParaRPr lang="en-IN" sz="2800" dirty="0"/>
          </a:p>
        </p:txBody>
      </p:sp>
      <p:sp>
        <p:nvSpPr>
          <p:cNvPr id="74" name="Google Shape;74;p2">
            <a:extLst>
              <a:ext uri="{FF2B5EF4-FFF2-40B4-BE49-F238E27FC236}">
                <a16:creationId xmlns:a16="http://schemas.microsoft.com/office/drawing/2014/main" id="{1FCBCBDE-1374-9C69-8A50-33D3BA74E41C}"/>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4</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6FF7C6F6-64AF-ED7D-D2EE-9CC271E179CA}"/>
              </a:ext>
            </a:extLst>
          </p:cNvPr>
          <p:cNvSpPr>
            <a:spLocks noGrp="1"/>
          </p:cNvSpPr>
          <p:nvPr>
            <p:ph type="ftr" sz="quarter" idx="11"/>
          </p:nvPr>
        </p:nvSpPr>
        <p:spPr/>
        <p:txBody>
          <a:bodyPr/>
          <a:lstStyle/>
          <a:p>
            <a:r>
              <a:rPr lang="en-IN" dirty="0"/>
              <a:t>Dept. of CSE(AI&amp;ML)</a:t>
            </a:r>
          </a:p>
        </p:txBody>
      </p:sp>
      <p:sp>
        <p:nvSpPr>
          <p:cNvPr id="5" name="Date Placeholder 4">
            <a:extLst>
              <a:ext uri="{FF2B5EF4-FFF2-40B4-BE49-F238E27FC236}">
                <a16:creationId xmlns:a16="http://schemas.microsoft.com/office/drawing/2014/main" id="{F4EE9CB2-30A2-6919-DFA5-6EB0CFC8A04D}"/>
              </a:ext>
            </a:extLst>
          </p:cNvPr>
          <p:cNvSpPr>
            <a:spLocks noGrp="1"/>
          </p:cNvSpPr>
          <p:nvPr>
            <p:ph type="dt" sz="half" idx="10"/>
          </p:nvPr>
        </p:nvSpPr>
        <p:spPr/>
        <p:txBody>
          <a:bodyPr/>
          <a:lstStyle/>
          <a:p>
            <a:r>
              <a:rPr lang="en-US" dirty="0"/>
              <a:t>21/04/2026</a:t>
            </a:r>
            <a:endParaRPr lang="en-IN" dirty="0"/>
          </a:p>
        </p:txBody>
      </p:sp>
      <p:sp>
        <p:nvSpPr>
          <p:cNvPr id="7" name="Rectangle 2">
            <a:extLst>
              <a:ext uri="{FF2B5EF4-FFF2-40B4-BE49-F238E27FC236}">
                <a16:creationId xmlns:a16="http://schemas.microsoft.com/office/drawing/2014/main" id="{24865835-1EB9-791B-96F7-476FD0B812B7}"/>
              </a:ext>
            </a:extLst>
          </p:cNvPr>
          <p:cNvSpPr>
            <a:spLocks noGrp="1" noChangeArrowheads="1"/>
          </p:cNvSpPr>
          <p:nvPr>
            <p:ph idx="1"/>
          </p:nvPr>
        </p:nvSpPr>
        <p:spPr bwMode="auto">
          <a:xfrm>
            <a:off x="0" y="667910"/>
            <a:ext cx="8921557" cy="3626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also develop platforms like CRM, CMS, and e-commerce systems to meet different business needs. </a:t>
            </a:r>
          </a:p>
          <a:p>
            <a:pPr algn="just" eaLnBrk="0" fontAlgn="base" hangingPunct="0">
              <a:lnSpc>
                <a:spcPct val="150000"/>
              </a:lnSpc>
              <a:spcBef>
                <a:spcPct val="0"/>
              </a:spcBef>
              <a:spcAft>
                <a:spcPct val="0"/>
              </a:spcAft>
            </a:pP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Kakunje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works in areas like healthcare, agriculture, automation, and electronics.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They create advanced technologies such as IoT devices, embedded systems, and AI-powered robotics. </a:t>
            </a:r>
          </a:p>
        </p:txBody>
      </p:sp>
    </p:spTree>
    <p:extLst>
      <p:ext uri="{BB962C8B-B14F-4D97-AF65-F5344CB8AC3E}">
        <p14:creationId xmlns:p14="http://schemas.microsoft.com/office/powerpoint/2010/main" val="220753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3E017C8C-29BB-C197-1A79-E4B5123E12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04F61F-5DD8-39BA-01D0-E50F094CC0A9}"/>
              </a:ext>
            </a:extLst>
          </p:cNvPr>
          <p:cNvSpPr>
            <a:spLocks noGrp="1"/>
          </p:cNvSpPr>
          <p:nvPr>
            <p:ph type="title"/>
          </p:nvPr>
        </p:nvSpPr>
        <p:spPr>
          <a:xfrm>
            <a:off x="87464" y="78758"/>
            <a:ext cx="8945218" cy="589152"/>
          </a:xfrm>
        </p:spPr>
        <p:txBody>
          <a:bodyPr>
            <a:normAutofit fontScale="90000"/>
          </a:bodyPr>
          <a:lstStyle/>
          <a:p>
            <a:pPr lvl="0"/>
            <a:r>
              <a:rPr lang="en-GB" sz="3100" b="1" i="0" u="none" strike="noStrike" cap="none" dirty="0">
                <a:solidFill>
                  <a:srgbClr val="000000"/>
                </a:solidFill>
                <a:latin typeface="Times New Roman"/>
                <a:ea typeface="Times New Roman"/>
                <a:cs typeface="Times New Roman"/>
                <a:sym typeface="Times New Roman"/>
              </a:rPr>
              <a:t>About the Company</a:t>
            </a:r>
            <a:r>
              <a:rPr lang="en-GB" sz="3100" dirty="0">
                <a:solidFill>
                  <a:srgbClr val="000000"/>
                </a:solidFill>
                <a:latin typeface="Times New Roman"/>
                <a:ea typeface="Times New Roman"/>
                <a:cs typeface="Times New Roman"/>
                <a:sym typeface="Times New Roman"/>
              </a:rPr>
              <a:t> </a:t>
            </a:r>
            <a:r>
              <a:rPr lang="en-GB" sz="4000" b="1" dirty="0">
                <a:solidFill>
                  <a:srgbClr val="000000"/>
                </a:solidFill>
                <a:latin typeface="Times New Roman"/>
                <a:ea typeface="Times New Roman"/>
                <a:cs typeface="Times New Roman"/>
                <a:sym typeface="Times New Roman"/>
              </a:rPr>
              <a:t>(</a:t>
            </a:r>
            <a:r>
              <a:rPr lang="en-GB" sz="2800" dirty="0">
                <a:solidFill>
                  <a:srgbClr val="000000"/>
                </a:solidFill>
                <a:latin typeface="Times New Roman"/>
                <a:ea typeface="Times New Roman"/>
                <a:cs typeface="Times New Roman"/>
                <a:sym typeface="Times New Roman"/>
              </a:rPr>
              <a:t>Cont’d..</a:t>
            </a:r>
            <a:r>
              <a:rPr lang="en-GB" sz="4000" b="1" dirty="0">
                <a:solidFill>
                  <a:srgbClr val="000000"/>
                </a:solidFill>
                <a:latin typeface="Times New Roman"/>
                <a:ea typeface="Times New Roman"/>
                <a:cs typeface="Times New Roman"/>
                <a:sym typeface="Times New Roman"/>
              </a:rPr>
              <a:t>)</a:t>
            </a:r>
            <a:endParaRPr lang="en-IN" sz="1800" dirty="0"/>
          </a:p>
        </p:txBody>
      </p:sp>
      <p:sp>
        <p:nvSpPr>
          <p:cNvPr id="74" name="Google Shape;74;p2">
            <a:extLst>
              <a:ext uri="{FF2B5EF4-FFF2-40B4-BE49-F238E27FC236}">
                <a16:creationId xmlns:a16="http://schemas.microsoft.com/office/drawing/2014/main" id="{C5989AC3-C021-A92B-B990-E5C8C68CD309}"/>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5</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0F12AAF0-20A7-C6B3-D6CD-336C5729BB3C}"/>
              </a:ext>
            </a:extLst>
          </p:cNvPr>
          <p:cNvSpPr>
            <a:spLocks noGrp="1"/>
          </p:cNvSpPr>
          <p:nvPr>
            <p:ph type="ftr" sz="quarter" idx="11"/>
          </p:nvPr>
        </p:nvSpPr>
        <p:spPr/>
        <p:txBody>
          <a:bodyPr/>
          <a:lstStyle/>
          <a:p>
            <a:r>
              <a:rPr lang="en-IN" dirty="0"/>
              <a:t>Dept. of CSE(AI&amp;ML)</a:t>
            </a:r>
          </a:p>
        </p:txBody>
      </p:sp>
      <p:sp>
        <p:nvSpPr>
          <p:cNvPr id="5" name="Date Placeholder 4">
            <a:extLst>
              <a:ext uri="{FF2B5EF4-FFF2-40B4-BE49-F238E27FC236}">
                <a16:creationId xmlns:a16="http://schemas.microsoft.com/office/drawing/2014/main" id="{DCCC7637-7A67-51BA-579B-25DA3A3FFE0B}"/>
              </a:ext>
            </a:extLst>
          </p:cNvPr>
          <p:cNvSpPr>
            <a:spLocks noGrp="1"/>
          </p:cNvSpPr>
          <p:nvPr>
            <p:ph type="dt" sz="half" idx="10"/>
          </p:nvPr>
        </p:nvSpPr>
        <p:spPr/>
        <p:txBody>
          <a:bodyPr/>
          <a:lstStyle/>
          <a:p>
            <a:r>
              <a:rPr lang="en-US" dirty="0"/>
              <a:t>21/04/2026</a:t>
            </a:r>
            <a:endParaRPr lang="en-IN" dirty="0"/>
          </a:p>
        </p:txBody>
      </p:sp>
      <p:sp>
        <p:nvSpPr>
          <p:cNvPr id="6" name="Rectangle 2">
            <a:extLst>
              <a:ext uri="{FF2B5EF4-FFF2-40B4-BE49-F238E27FC236}">
                <a16:creationId xmlns:a16="http://schemas.microsoft.com/office/drawing/2014/main" id="{CD27E09B-0B40-88CE-24DB-FCCEF043E0E8}"/>
              </a:ext>
            </a:extLst>
          </p:cNvPr>
          <p:cNvSpPr>
            <a:spLocks noGrp="1" noChangeArrowheads="1"/>
          </p:cNvSpPr>
          <p:nvPr>
            <p:ph idx="1"/>
          </p:nvPr>
        </p:nvSpPr>
        <p:spPr bwMode="auto">
          <a:xfrm>
            <a:off x="111125" y="534777"/>
            <a:ext cx="8921557" cy="2518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Along with development, they support students through internships, training, and project guidance.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Their goal is to give hands-on experience and help learners build practical skills through workshops and real-world projects. </a:t>
            </a:r>
          </a:p>
        </p:txBody>
      </p:sp>
    </p:spTree>
    <p:extLst>
      <p:ext uri="{BB962C8B-B14F-4D97-AF65-F5344CB8AC3E}">
        <p14:creationId xmlns:p14="http://schemas.microsoft.com/office/powerpoint/2010/main" val="3210538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6002-0807-0C29-335A-914801E280BA}"/>
              </a:ext>
            </a:extLst>
          </p:cNvPr>
          <p:cNvSpPr>
            <a:spLocks noGrp="1"/>
          </p:cNvSpPr>
          <p:nvPr>
            <p:ph type="title"/>
          </p:nvPr>
        </p:nvSpPr>
        <p:spPr>
          <a:xfrm>
            <a:off x="457200" y="205979"/>
            <a:ext cx="8229600" cy="545689"/>
          </a:xfrm>
        </p:spPr>
        <p:txBody>
          <a:bodyPr>
            <a:noAutofit/>
          </a:bodyPr>
          <a:lstStyle/>
          <a:p>
            <a:pPr marL="101600" lvl="0">
              <a:lnSpc>
                <a:spcPct val="150000"/>
              </a:lnSpc>
              <a:spcBef>
                <a:spcPts val="0"/>
              </a:spcBef>
              <a:buClr>
                <a:schemeClr val="dk2"/>
              </a:buClr>
              <a:buSzPts val="2000"/>
            </a:pPr>
            <a:r>
              <a:rPr lang="en-GB" sz="2800" b="1" dirty="0">
                <a:solidFill>
                  <a:srgbClr val="212121"/>
                </a:solidFill>
                <a:latin typeface="Times New Roman"/>
                <a:ea typeface="Times New Roman"/>
                <a:cs typeface="Times New Roman"/>
                <a:sym typeface="Times New Roman"/>
              </a:rPr>
              <a:t>Vision, Mission of the Company</a:t>
            </a:r>
          </a:p>
        </p:txBody>
      </p:sp>
      <p:sp>
        <p:nvSpPr>
          <p:cNvPr id="3" name="Content Placeholder 2">
            <a:extLst>
              <a:ext uri="{FF2B5EF4-FFF2-40B4-BE49-F238E27FC236}">
                <a16:creationId xmlns:a16="http://schemas.microsoft.com/office/drawing/2014/main" id="{D2AC0E8E-123C-4A45-D72A-88423DB8E036}"/>
              </a:ext>
            </a:extLst>
          </p:cNvPr>
          <p:cNvSpPr>
            <a:spLocks noGrp="1"/>
          </p:cNvSpPr>
          <p:nvPr>
            <p:ph idx="1"/>
          </p:nvPr>
        </p:nvSpPr>
        <p:spPr>
          <a:xfrm>
            <a:off x="457200" y="751668"/>
            <a:ext cx="8229600" cy="3842955"/>
          </a:xfrm>
        </p:spPr>
        <p:txBody>
          <a:bodyPr>
            <a:normAutofit/>
          </a:bodyPr>
          <a:lstStyle/>
          <a:p>
            <a:r>
              <a:rPr lang="en-US" sz="2400" b="1" dirty="0">
                <a:latin typeface="Times New Roman" panose="02020603050405020304" pitchFamily="18" charset="0"/>
                <a:cs typeface="Times New Roman" panose="02020603050405020304" pitchFamily="18" charset="0"/>
              </a:rPr>
              <a:t>Vision:</a:t>
            </a: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rPr>
              <a:t>To lead the next generation of technological innovation by engineering innovative ideas into intelligent products and solutions that empower industries</a:t>
            </a:r>
          </a:p>
          <a:p>
            <a:pPr marL="0" indent="0">
              <a:buNone/>
            </a:pPr>
            <a:endParaRPr lang="en-IN" sz="24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C5DF8F2-491C-DBE6-C57B-F879B08232FF}"/>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C792EC43-6AD1-1F95-9433-862604FF4A61}"/>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F11151D0-A339-B226-FAB2-AD125A4DAC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spTree>
    <p:extLst>
      <p:ext uri="{BB962C8B-B14F-4D97-AF65-F5344CB8AC3E}">
        <p14:creationId xmlns:p14="http://schemas.microsoft.com/office/powerpoint/2010/main" val="99167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DC1D6-DBD2-BED7-E7E3-347A9EE73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10D9A9-8897-77A3-DA20-92D36A2CBD58}"/>
              </a:ext>
            </a:extLst>
          </p:cNvPr>
          <p:cNvSpPr>
            <a:spLocks noGrp="1"/>
          </p:cNvSpPr>
          <p:nvPr>
            <p:ph type="title"/>
          </p:nvPr>
        </p:nvSpPr>
        <p:spPr>
          <a:xfrm>
            <a:off x="457200" y="205979"/>
            <a:ext cx="8229600" cy="545689"/>
          </a:xfrm>
        </p:spPr>
        <p:txBody>
          <a:bodyPr>
            <a:noAutofit/>
          </a:bodyPr>
          <a:lstStyle/>
          <a:p>
            <a:pPr marL="101600" lvl="0">
              <a:lnSpc>
                <a:spcPct val="150000"/>
              </a:lnSpc>
              <a:spcBef>
                <a:spcPts val="0"/>
              </a:spcBef>
              <a:buClr>
                <a:schemeClr val="dk2"/>
              </a:buClr>
              <a:buSzPts val="2000"/>
            </a:pPr>
            <a:r>
              <a:rPr lang="en-GB" sz="2800" b="1" dirty="0">
                <a:solidFill>
                  <a:srgbClr val="212121"/>
                </a:solidFill>
                <a:latin typeface="Times New Roman"/>
                <a:ea typeface="Times New Roman"/>
                <a:cs typeface="Times New Roman"/>
                <a:sym typeface="Times New Roman"/>
              </a:rPr>
              <a:t>Vision, Mission of the Company</a:t>
            </a:r>
          </a:p>
        </p:txBody>
      </p:sp>
      <p:sp>
        <p:nvSpPr>
          <p:cNvPr id="3" name="Content Placeholder 2">
            <a:extLst>
              <a:ext uri="{FF2B5EF4-FFF2-40B4-BE49-F238E27FC236}">
                <a16:creationId xmlns:a16="http://schemas.microsoft.com/office/drawing/2014/main" id="{627708B7-C3DE-F56C-FBD0-75F66C414CC2}"/>
              </a:ext>
            </a:extLst>
          </p:cNvPr>
          <p:cNvSpPr>
            <a:spLocks noGrp="1"/>
          </p:cNvSpPr>
          <p:nvPr>
            <p:ph idx="1"/>
          </p:nvPr>
        </p:nvSpPr>
        <p:spPr>
          <a:xfrm>
            <a:off x="457200" y="751668"/>
            <a:ext cx="8229600" cy="3842955"/>
          </a:xfrm>
        </p:spPr>
        <p:txBody>
          <a:bodyPr>
            <a:normAutofit/>
          </a:bodyPr>
          <a:lstStyle/>
          <a:p>
            <a:r>
              <a:rPr lang="en-US" sz="2400" b="1" dirty="0">
                <a:latin typeface="Times New Roman" panose="02020603050405020304" pitchFamily="18" charset="0"/>
                <a:cs typeface="Times New Roman" panose="02020603050405020304" pitchFamily="18" charset="0"/>
              </a:rPr>
              <a:t>Mission:</a:t>
            </a:r>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r>
              <a:rPr lang="en-US" sz="2400" dirty="0">
                <a:latin typeface="Times New Roman" panose="02020603050405020304" pitchFamily="18" charset="0"/>
                <a:cs typeface="Times New Roman" panose="02020603050405020304" pitchFamily="18" charset="0"/>
              </a:rPr>
              <a:t>To apply innovative engineering </a:t>
            </a:r>
            <a:r>
              <a:rPr lang="en-US" sz="2400" dirty="0" err="1">
                <a:latin typeface="Times New Roman" panose="02020603050405020304" pitchFamily="18" charset="0"/>
                <a:cs typeface="Times New Roman" panose="02020603050405020304" pitchFamily="18" charset="0"/>
              </a:rPr>
              <a:t>principles,modern</a:t>
            </a:r>
            <a:r>
              <a:rPr lang="en-US" sz="2400" dirty="0">
                <a:latin typeface="Times New Roman" panose="02020603050405020304" pitchFamily="18" charset="0"/>
                <a:cs typeface="Times New Roman" panose="02020603050405020304" pitchFamily="18" charset="0"/>
              </a:rPr>
              <a:t> technologies, and advanced </a:t>
            </a:r>
            <a:r>
              <a:rPr lang="en-US" sz="2400" dirty="0" err="1">
                <a:latin typeface="Times New Roman" panose="02020603050405020304" pitchFamily="18" charset="0"/>
                <a:cs typeface="Times New Roman" panose="02020603050405020304" pitchFamily="18" charset="0"/>
              </a:rPr>
              <a:t>toolsthrough</a:t>
            </a:r>
            <a:r>
              <a:rPr lang="en-US" sz="2400" dirty="0">
                <a:latin typeface="Times New Roman" panose="02020603050405020304" pitchFamily="18" charset="0"/>
                <a:cs typeface="Times New Roman" panose="02020603050405020304" pitchFamily="18" charset="0"/>
              </a:rPr>
              <a:t> a unique project development cycle to create smart, reliable solutions that solve real-world challenges, empower industries.</a:t>
            </a:r>
            <a:endParaRPr lang="en-IN" sz="24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AF64F79-9C27-1F18-4F2D-B6DEFEEA5CD1}"/>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8D8B3E39-7B86-9400-CD73-CB1FBCB8C7EA}"/>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3A78DCA1-AD07-B021-714D-608F60E5F2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spTree>
    <p:extLst>
      <p:ext uri="{BB962C8B-B14F-4D97-AF65-F5344CB8AC3E}">
        <p14:creationId xmlns:p14="http://schemas.microsoft.com/office/powerpoint/2010/main" val="446942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6FF56-7FAC-7FA0-36C0-3C2507AC077B}"/>
              </a:ext>
            </a:extLst>
          </p:cNvPr>
          <p:cNvSpPr>
            <a:spLocks noGrp="1"/>
          </p:cNvSpPr>
          <p:nvPr>
            <p:ph type="title"/>
          </p:nvPr>
        </p:nvSpPr>
        <p:spPr>
          <a:xfrm>
            <a:off x="457200" y="470418"/>
            <a:ext cx="8229600" cy="342898"/>
          </a:xfrm>
        </p:spPr>
        <p:txBody>
          <a:bodyPr>
            <a:normAutofit fontScale="90000"/>
          </a:bodyPr>
          <a:lstStyle/>
          <a:p>
            <a:r>
              <a:rPr lang="en-GB" sz="3100" b="1" dirty="0">
                <a:solidFill>
                  <a:srgbClr val="212121"/>
                </a:solidFill>
                <a:latin typeface="Times New Roman"/>
                <a:ea typeface="Times New Roman"/>
                <a:cs typeface="Times New Roman"/>
                <a:sym typeface="Times New Roman"/>
              </a:rPr>
              <a:t>Customers  </a:t>
            </a:r>
            <a:br>
              <a:rPr lang="en-GB" dirty="0"/>
            </a:br>
            <a:endParaRPr lang="en-IN" dirty="0"/>
          </a:p>
        </p:txBody>
      </p:sp>
      <p:pic>
        <p:nvPicPr>
          <p:cNvPr id="8" name="Content Placeholder 7">
            <a:extLst>
              <a:ext uri="{FF2B5EF4-FFF2-40B4-BE49-F238E27FC236}">
                <a16:creationId xmlns:a16="http://schemas.microsoft.com/office/drawing/2014/main" id="{0CB7C622-F384-6223-8F9C-8BF2E82071EB}"/>
              </a:ext>
            </a:extLst>
          </p:cNvPr>
          <p:cNvPicPr>
            <a:picLocks noGrp="1" noChangeAspect="1"/>
          </p:cNvPicPr>
          <p:nvPr>
            <p:ph idx="1"/>
          </p:nvPr>
        </p:nvPicPr>
        <p:blipFill>
          <a:blip r:embed="rId2"/>
          <a:stretch>
            <a:fillRect/>
          </a:stretch>
        </p:blipFill>
        <p:spPr>
          <a:xfrm>
            <a:off x="1100379" y="557213"/>
            <a:ext cx="7431437" cy="4037012"/>
          </a:xfrm>
          <a:prstGeom prst="rect">
            <a:avLst/>
          </a:prstGeom>
        </p:spPr>
      </p:pic>
      <p:sp>
        <p:nvSpPr>
          <p:cNvPr id="4" name="Date Placeholder 3">
            <a:extLst>
              <a:ext uri="{FF2B5EF4-FFF2-40B4-BE49-F238E27FC236}">
                <a16:creationId xmlns:a16="http://schemas.microsoft.com/office/drawing/2014/main" id="{FD34A2CA-DAC2-D0D0-B358-D54BF358F15A}"/>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11D790C4-D03D-A73C-57C8-C3C2DD6791BA}"/>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699A305C-614C-971A-EC3A-B2E72A4CBFE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spTree>
    <p:extLst>
      <p:ext uri="{BB962C8B-B14F-4D97-AF65-F5344CB8AC3E}">
        <p14:creationId xmlns:p14="http://schemas.microsoft.com/office/powerpoint/2010/main" val="1112359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AD7D3-18D4-5ED6-724A-F79E8993E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E7572-77E1-DC4A-C1E1-A0069287703F}"/>
              </a:ext>
            </a:extLst>
          </p:cNvPr>
          <p:cNvSpPr>
            <a:spLocks noGrp="1"/>
          </p:cNvSpPr>
          <p:nvPr>
            <p:ph type="title"/>
          </p:nvPr>
        </p:nvSpPr>
        <p:spPr>
          <a:xfrm>
            <a:off x="457200" y="470418"/>
            <a:ext cx="8229600" cy="342898"/>
          </a:xfrm>
        </p:spPr>
        <p:txBody>
          <a:bodyPr>
            <a:normAutofit fontScale="90000"/>
          </a:bodyPr>
          <a:lstStyle/>
          <a:p>
            <a:r>
              <a:rPr lang="en-GB" sz="3100" b="1" dirty="0">
                <a:solidFill>
                  <a:srgbClr val="212121"/>
                </a:solidFill>
                <a:latin typeface="Times New Roman"/>
                <a:ea typeface="Times New Roman"/>
                <a:cs typeface="Times New Roman"/>
                <a:sym typeface="Times New Roman"/>
              </a:rPr>
              <a:t>Customers </a:t>
            </a:r>
            <a:r>
              <a:rPr lang="en-GB" sz="3100" dirty="0">
                <a:solidFill>
                  <a:srgbClr val="212121"/>
                </a:solidFill>
                <a:latin typeface="Times New Roman"/>
                <a:ea typeface="Times New Roman"/>
                <a:cs typeface="Times New Roman"/>
                <a:sym typeface="Times New Roman"/>
              </a:rPr>
              <a:t>(Cont’d)</a:t>
            </a:r>
            <a:r>
              <a:rPr lang="en-GB" sz="3100" b="1" dirty="0">
                <a:solidFill>
                  <a:srgbClr val="212121"/>
                </a:solidFill>
                <a:latin typeface="Times New Roman"/>
                <a:ea typeface="Times New Roman"/>
                <a:cs typeface="Times New Roman"/>
                <a:sym typeface="Times New Roman"/>
              </a:rPr>
              <a:t> </a:t>
            </a:r>
            <a:br>
              <a:rPr lang="en-GB" dirty="0"/>
            </a:br>
            <a:endParaRPr lang="en-IN" dirty="0"/>
          </a:p>
        </p:txBody>
      </p:sp>
      <p:sp>
        <p:nvSpPr>
          <p:cNvPr id="4" name="Date Placeholder 3">
            <a:extLst>
              <a:ext uri="{FF2B5EF4-FFF2-40B4-BE49-F238E27FC236}">
                <a16:creationId xmlns:a16="http://schemas.microsoft.com/office/drawing/2014/main" id="{30D5CE8C-F951-5DC4-CF11-190A75987F77}"/>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FFFC5498-34F5-D249-D4DB-0095638BE1E0}"/>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CBD2A486-8915-0B5E-11A1-8D5C36E67A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pic>
        <p:nvPicPr>
          <p:cNvPr id="10" name="Content Placeholder 9">
            <a:extLst>
              <a:ext uri="{FF2B5EF4-FFF2-40B4-BE49-F238E27FC236}">
                <a16:creationId xmlns:a16="http://schemas.microsoft.com/office/drawing/2014/main" id="{78A279BF-E931-D82F-99D3-74E62B79E08D}"/>
              </a:ext>
            </a:extLst>
          </p:cNvPr>
          <p:cNvPicPr>
            <a:picLocks noGrp="1" noChangeAspect="1"/>
          </p:cNvPicPr>
          <p:nvPr>
            <p:ph idx="1"/>
          </p:nvPr>
        </p:nvPicPr>
        <p:blipFill>
          <a:blip r:embed="rId2"/>
          <a:stretch>
            <a:fillRect/>
          </a:stretch>
        </p:blipFill>
        <p:spPr>
          <a:xfrm>
            <a:off x="798163" y="1006421"/>
            <a:ext cx="7377193" cy="3394075"/>
          </a:xfrm>
          <a:prstGeom prst="rect">
            <a:avLst/>
          </a:prstGeom>
        </p:spPr>
      </p:pic>
    </p:spTree>
    <p:extLst>
      <p:ext uri="{BB962C8B-B14F-4D97-AF65-F5344CB8AC3E}">
        <p14:creationId xmlns:p14="http://schemas.microsoft.com/office/powerpoint/2010/main" val="8168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C5EE8-41CD-2656-557A-681C5FC7B37E}"/>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Products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DCBCF8D-1937-D79F-B3F8-E4A31FB2E053}"/>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3253B887-0F72-E0C2-F850-C932371AE33F}"/>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7A34FE78-DC5E-5B12-4D65-2BC04C6D129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10</a:t>
            </a:fld>
            <a:endParaRPr lang="en-GB"/>
          </a:p>
        </p:txBody>
      </p:sp>
      <p:sp>
        <p:nvSpPr>
          <p:cNvPr id="7" name="Rectangle 1">
            <a:extLst>
              <a:ext uri="{FF2B5EF4-FFF2-40B4-BE49-F238E27FC236}">
                <a16:creationId xmlns:a16="http://schemas.microsoft.com/office/drawing/2014/main" id="{6A4104D3-75D2-07F3-3E99-D80EE73E17CA}"/>
              </a:ext>
            </a:extLst>
          </p:cNvPr>
          <p:cNvSpPr>
            <a:spLocks noGrp="1" noChangeArrowheads="1"/>
          </p:cNvSpPr>
          <p:nvPr>
            <p:ph idx="1"/>
          </p:nvPr>
        </p:nvSpPr>
        <p:spPr bwMode="auto">
          <a:xfrm>
            <a:off x="457200" y="633958"/>
            <a:ext cx="842554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Enabled Soil Tester:</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device checks soil quality by measuring important factors like pH, moisture, and nutrients. It helps farmers understand what the soil needs for better crop growth. It saves time and supports smarter farming decisions.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Water Quality Monitor System: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system tests water quality by checking parameters like pH, turbidity, and dissolved solids. It can be monitored remotely in real time from anywhere. It is useful for homes, industries, and water treatment plants. </a:t>
            </a:r>
          </a:p>
        </p:txBody>
      </p:sp>
    </p:spTree>
    <p:extLst>
      <p:ext uri="{BB962C8B-B14F-4D97-AF65-F5344CB8AC3E}">
        <p14:creationId xmlns:p14="http://schemas.microsoft.com/office/powerpoint/2010/main" val="374909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F4CED-2CFF-9AB8-75A8-97BCCE47B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E3E96F-A7A1-A00F-2A27-52D18858B7EE}"/>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Products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55CDAC-942A-0F35-9316-6CB7A9A3CDC5}"/>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47D1B43E-011A-BBD2-1FCE-B32514E33382}"/>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97E6DE33-D036-4762-ABE0-E19CDD1740A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sp>
        <p:nvSpPr>
          <p:cNvPr id="3" name="Rectangle 1">
            <a:extLst>
              <a:ext uri="{FF2B5EF4-FFF2-40B4-BE49-F238E27FC236}">
                <a16:creationId xmlns:a16="http://schemas.microsoft.com/office/drawing/2014/main" id="{80FFD266-193F-924C-9145-880D675B5EA8}"/>
              </a:ext>
            </a:extLst>
          </p:cNvPr>
          <p:cNvSpPr>
            <a:spLocks noGrp="1" noChangeArrowheads="1"/>
          </p:cNvSpPr>
          <p:nvPr>
            <p:ph idx="1"/>
          </p:nvPr>
        </p:nvSpPr>
        <p:spPr bwMode="auto">
          <a:xfrm>
            <a:off x="457200" y="633959"/>
            <a:ext cx="8472311"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Reverse Vending Machine (RVM)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smart machine collects recyclable items like plastic bottles, cans, and glass. In return, users can receive rewards or incentives. It promotes recycling and helps keep the environment clean.</a:t>
            </a:r>
          </a:p>
          <a:p>
            <a:pPr marL="0" indent="0" algn="just" eaLnBrk="0" fontAlgn="base" hangingPunct="0">
              <a:spcBef>
                <a:spcPct val="0"/>
              </a:spcBef>
              <a:spcAft>
                <a:spcPct val="0"/>
              </a:spcAft>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GSM Based Truck Tracking System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system tracks the live location of trucks using GPS technology. Owners can also monitor speed, route history, and movement updates. It improves safety, delivery management, and transport efficiency. </a:t>
            </a:r>
          </a:p>
        </p:txBody>
      </p:sp>
    </p:spTree>
    <p:extLst>
      <p:ext uri="{BB962C8B-B14F-4D97-AF65-F5344CB8AC3E}">
        <p14:creationId xmlns:p14="http://schemas.microsoft.com/office/powerpoint/2010/main" val="4183461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E1483-22D3-F82F-4A60-617921554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6C3AB-C695-6006-9CC5-A662B7B34A3F}"/>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Products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518849C-6B89-15EE-9D0C-4A24A2EFE2F8}"/>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381D3D43-DED2-C538-146B-B75E980CF68C}"/>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C966EF30-B584-394D-C46B-E5123D73A95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sp>
        <p:nvSpPr>
          <p:cNvPr id="8" name="Rectangle 2">
            <a:extLst>
              <a:ext uri="{FF2B5EF4-FFF2-40B4-BE49-F238E27FC236}">
                <a16:creationId xmlns:a16="http://schemas.microsoft.com/office/drawing/2014/main" id="{359A8A9B-9AD9-40E5-70B7-96BF30E3C13E}"/>
              </a:ext>
            </a:extLst>
          </p:cNvPr>
          <p:cNvSpPr>
            <a:spLocks noGrp="1" noChangeArrowheads="1"/>
          </p:cNvSpPr>
          <p:nvPr>
            <p:ph idx="1"/>
          </p:nvPr>
        </p:nvSpPr>
        <p:spPr bwMode="auto">
          <a:xfrm>
            <a:off x="457201" y="818625"/>
            <a:ext cx="842415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Enabled Spirometer</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device helps measure lung health and breathing performance using a smartphone. It can detect problems like asthma or COPD at an early stage. It makes health monitoring easier and more accessible.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Enabled Water Meter &amp; Billing System</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smart solution measures water usage accurately and automates billing. It can also control water supply valves when needed. It is ideal for apartments, malls, and shared buildings. </a:t>
            </a:r>
          </a:p>
        </p:txBody>
      </p:sp>
    </p:spTree>
    <p:extLst>
      <p:ext uri="{BB962C8B-B14F-4D97-AF65-F5344CB8AC3E}">
        <p14:creationId xmlns:p14="http://schemas.microsoft.com/office/powerpoint/2010/main" val="4145119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52F7A-09C1-CBB5-B575-01E38E9C6951}"/>
              </a:ext>
            </a:extLst>
          </p:cNvPr>
          <p:cNvSpPr>
            <a:spLocks noGrp="1"/>
          </p:cNvSpPr>
          <p:nvPr>
            <p:ph type="title"/>
          </p:nvPr>
        </p:nvSpPr>
        <p:spPr>
          <a:xfrm>
            <a:off x="457200" y="205979"/>
            <a:ext cx="8229600" cy="438077"/>
          </a:xfrm>
        </p:spPr>
        <p:txBody>
          <a:bodyPr>
            <a:noAutofit/>
          </a:bodyPr>
          <a:lstStyle/>
          <a:p>
            <a:r>
              <a:rPr lang="en-US" sz="2800" b="1" dirty="0">
                <a:latin typeface="Times New Roman" panose="02020603050405020304" pitchFamily="18" charset="0"/>
                <a:cs typeface="Times New Roman" panose="02020603050405020304" pitchFamily="18" charset="0"/>
              </a:rPr>
              <a:t>Internship Objectives</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5FC4406-8915-4364-F4F4-56044CFCC8FA}"/>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28BA40A5-8B8C-046D-40FF-B88D1CC67387}"/>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EB8A4582-0E8E-93F2-1AA6-41831D64B61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13</a:t>
            </a:fld>
            <a:endParaRPr lang="en-GB"/>
          </a:p>
        </p:txBody>
      </p:sp>
      <p:sp>
        <p:nvSpPr>
          <p:cNvPr id="7" name="Rectangle 1">
            <a:extLst>
              <a:ext uri="{FF2B5EF4-FFF2-40B4-BE49-F238E27FC236}">
                <a16:creationId xmlns:a16="http://schemas.microsoft.com/office/drawing/2014/main" id="{8DD08EED-3737-A1A9-2C72-ADBF5D082172}"/>
              </a:ext>
            </a:extLst>
          </p:cNvPr>
          <p:cNvSpPr>
            <a:spLocks noGrp="1" noChangeArrowheads="1"/>
          </p:cNvSpPr>
          <p:nvPr>
            <p:ph idx="1"/>
          </p:nvPr>
        </p:nvSpPr>
        <p:spPr bwMode="auto">
          <a:xfrm>
            <a:off x="457200" y="384380"/>
            <a:ext cx="8349343" cy="42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gain practical knowledge of Python, Machine Learning, Deep Learning, OCR, NLP, and GUI development.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coding, analytical thinking, and problem-solving skills through hands on tasks.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how real time software applications are designed and implemented.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apply learned concepts in given project. </a:t>
            </a:r>
          </a:p>
        </p:txBody>
      </p:sp>
    </p:spTree>
    <p:extLst>
      <p:ext uri="{BB962C8B-B14F-4D97-AF65-F5344CB8AC3E}">
        <p14:creationId xmlns:p14="http://schemas.microsoft.com/office/powerpoint/2010/main" val="3048148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Week-1</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14</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8" name="Rectangle 4">
            <a:extLst>
              <a:ext uri="{FF2B5EF4-FFF2-40B4-BE49-F238E27FC236}">
                <a16:creationId xmlns:a16="http://schemas.microsoft.com/office/drawing/2014/main" id="{644F700A-D1AB-FDD6-88BE-22D12A317517}"/>
              </a:ext>
            </a:extLst>
          </p:cNvPr>
          <p:cNvSpPr>
            <a:spLocks noGrp="1" noChangeArrowheads="1"/>
          </p:cNvSpPr>
          <p:nvPr>
            <p:ph idx="1"/>
          </p:nvPr>
        </p:nvSpPr>
        <p:spPr bwMode="auto">
          <a:xfrm>
            <a:off x="114300" y="379392"/>
            <a:ext cx="8942236" cy="371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Got introduced to the company, internship objectives, and training schedule.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Installed Python, VS Code, and required software tools.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basic Python concepts like variables, loops, and functions.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Practiced simple programs for better understanding.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Understood how the internship would progress week by week. </a:t>
            </a:r>
          </a:p>
        </p:txBody>
      </p:sp>
    </p:spTree>
    <p:extLst>
      <p:ext uri="{BB962C8B-B14F-4D97-AF65-F5344CB8AC3E}">
        <p14:creationId xmlns:p14="http://schemas.microsoft.com/office/powerpoint/2010/main" val="926594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Week-2</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15</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66305ADE-47A9-C1ED-6079-5659C630676B}"/>
              </a:ext>
            </a:extLst>
          </p:cNvPr>
          <p:cNvSpPr>
            <a:spLocks noGrp="1" noChangeArrowheads="1"/>
          </p:cNvSpPr>
          <p:nvPr>
            <p:ph idx="1"/>
          </p:nvPr>
        </p:nvSpPr>
        <p:spPr bwMode="auto">
          <a:xfrm>
            <a:off x="179705" y="234612"/>
            <a:ext cx="8507095"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advanced Python concepts like lists, dictionaries, and file handling.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Practiced problem solving programs using Python.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Improved coding logic through hands on exercises.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Understood error handling and debugging basics.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Worked on small tasks to strengthen fundamentals. </a:t>
            </a:r>
          </a:p>
        </p:txBody>
      </p:sp>
    </p:spTree>
    <p:extLst>
      <p:ext uri="{BB962C8B-B14F-4D97-AF65-F5344CB8AC3E}">
        <p14:creationId xmlns:p14="http://schemas.microsoft.com/office/powerpoint/2010/main" val="2124802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Week-3</a:t>
            </a:r>
            <a:endParaRPr lang="en-IN" sz="2800" dirty="0"/>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16</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87F1B7F0-12D6-B51E-42AA-0369D4401F76}"/>
              </a:ext>
            </a:extLst>
          </p:cNvPr>
          <p:cNvSpPr>
            <a:spLocks noGrp="1" noChangeArrowheads="1"/>
          </p:cNvSpPr>
          <p:nvPr>
            <p:ph idx="1"/>
          </p:nvPr>
        </p:nvSpPr>
        <p:spPr bwMode="auto">
          <a:xfrm>
            <a:off x="202565" y="177655"/>
            <a:ext cx="7564891"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NumPy for numerical operations and arrays.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Studied Pandas for data handling and analysis.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Practiced cleaning datasets and handling missing values.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Worked on sorting, filtering, and transforming data.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Learnt about advanced matplotlib operations</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the importance of preprocessing data. </a:t>
            </a:r>
          </a:p>
        </p:txBody>
      </p:sp>
    </p:spTree>
    <p:extLst>
      <p:ext uri="{BB962C8B-B14F-4D97-AF65-F5344CB8AC3E}">
        <p14:creationId xmlns:p14="http://schemas.microsoft.com/office/powerpoint/2010/main" val="924521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26B9E20F-7B9F-931D-318F-BD2948DDA1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0BADA2A-1476-EC32-0F70-A89D5A1CBC5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Week-4</a:t>
            </a:r>
            <a:endParaRPr lang="en-IN" sz="2800" dirty="0"/>
          </a:p>
        </p:txBody>
      </p:sp>
      <p:sp>
        <p:nvSpPr>
          <p:cNvPr id="74" name="Google Shape;74;p2">
            <a:extLst>
              <a:ext uri="{FF2B5EF4-FFF2-40B4-BE49-F238E27FC236}">
                <a16:creationId xmlns:a16="http://schemas.microsoft.com/office/drawing/2014/main" id="{05ECAC5D-7096-EEA5-07FA-2AF34EEFF693}"/>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17</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3228095F-D7E5-F332-07EE-1B906E3628F5}"/>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54490B9E-9C3A-AB53-B209-F3FE7D5AA111}"/>
              </a:ext>
            </a:extLst>
          </p:cNvPr>
          <p:cNvSpPr>
            <a:spLocks noGrp="1"/>
          </p:cNvSpPr>
          <p:nvPr>
            <p:ph type="dt" sz="half" idx="10"/>
          </p:nvPr>
        </p:nvSpPr>
        <p:spPr/>
        <p:txBody>
          <a:bodyPr/>
          <a:lstStyle/>
          <a:p>
            <a:r>
              <a:rPr lang="en-US" dirty="0"/>
              <a:t>21/04/2026</a:t>
            </a:r>
            <a:endParaRPr lang="en-IN" dirty="0"/>
          </a:p>
        </p:txBody>
      </p:sp>
      <p:sp>
        <p:nvSpPr>
          <p:cNvPr id="7" name="Rectangle 2">
            <a:extLst>
              <a:ext uri="{FF2B5EF4-FFF2-40B4-BE49-F238E27FC236}">
                <a16:creationId xmlns:a16="http://schemas.microsoft.com/office/drawing/2014/main" id="{ED51D5E7-1834-CD76-3B73-47B760128B7C}"/>
              </a:ext>
            </a:extLst>
          </p:cNvPr>
          <p:cNvSpPr>
            <a:spLocks noGrp="1" noChangeArrowheads="1"/>
          </p:cNvSpPr>
          <p:nvPr>
            <p:ph idx="1"/>
          </p:nvPr>
        </p:nvSpPr>
        <p:spPr bwMode="auto">
          <a:xfrm>
            <a:off x="369888" y="145905"/>
            <a:ext cx="8731493"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 to Machine Learning concepts and workflow.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Learned supervised and unsupervised learning basics.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Studied algorithms like KNN, Decision Tree, and Random Forest.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Trained models using sample datasets.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accuracy and compared model results. </a:t>
            </a:r>
          </a:p>
          <a:p>
            <a:pPr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Understood how machines learn from data. </a:t>
            </a:r>
          </a:p>
        </p:txBody>
      </p:sp>
    </p:spTree>
    <p:extLst>
      <p:ext uri="{BB962C8B-B14F-4D97-AF65-F5344CB8AC3E}">
        <p14:creationId xmlns:p14="http://schemas.microsoft.com/office/powerpoint/2010/main" val="170835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DE29C5BA-56C3-FC98-B507-12FE228715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EB3D5DA-24E9-6E84-4486-1B5FA0E29D02}"/>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Week-5</a:t>
            </a:r>
            <a:endParaRPr lang="en-IN" sz="2800" dirty="0"/>
          </a:p>
        </p:txBody>
      </p:sp>
      <p:sp>
        <p:nvSpPr>
          <p:cNvPr id="74" name="Google Shape;74;p2">
            <a:extLst>
              <a:ext uri="{FF2B5EF4-FFF2-40B4-BE49-F238E27FC236}">
                <a16:creationId xmlns:a16="http://schemas.microsoft.com/office/drawing/2014/main" id="{83A2D21A-BD21-2892-FB1D-ACF32AE604BA}"/>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18</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651BE552-DC16-114B-C4A6-0DC4CCAA0283}"/>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00365EA9-2E08-965E-686D-64AF1433CF77}"/>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97C5FEEE-77B2-0C5B-8729-F99F91801C1A}"/>
              </a:ext>
            </a:extLst>
          </p:cNvPr>
          <p:cNvSpPr>
            <a:spLocks noGrp="1" noChangeArrowheads="1"/>
          </p:cNvSpPr>
          <p:nvPr>
            <p:ph idx="1"/>
          </p:nvPr>
        </p:nvSpPr>
        <p:spPr bwMode="auto">
          <a:xfrm>
            <a:off x="225425" y="667910"/>
            <a:ext cx="7684924"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more ML algorithms like SVM and Naive Bayes.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classification and prediction tasks.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Understood training and testing data split.</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model evaluation methods.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Improved problem-solving using ML techniques.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Gained practical experience in implementing models.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887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AB3FEE9F-1826-04D4-0B72-DFBBFD4A93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A531EA-49C9-AEE2-D495-C8E2018EB5F3}"/>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Week-6</a:t>
            </a:r>
            <a:endParaRPr lang="en-IN" sz="2800" dirty="0"/>
          </a:p>
        </p:txBody>
      </p:sp>
      <p:sp>
        <p:nvSpPr>
          <p:cNvPr id="74" name="Google Shape;74;p2">
            <a:extLst>
              <a:ext uri="{FF2B5EF4-FFF2-40B4-BE49-F238E27FC236}">
                <a16:creationId xmlns:a16="http://schemas.microsoft.com/office/drawing/2014/main" id="{3B6C6F63-A8CD-DE88-22B5-4EC99DE987C3}"/>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19</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969770B9-FDEF-A710-EE23-006578897FC1}"/>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8914B3BA-D6F7-EBA5-4504-67B65C978E79}"/>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8A193ACB-B083-F7E4-3AEC-BAA330B791C7}"/>
              </a:ext>
            </a:extLst>
          </p:cNvPr>
          <p:cNvSpPr>
            <a:spLocks noGrp="1" noChangeArrowheads="1"/>
          </p:cNvSpPr>
          <p:nvPr>
            <p:ph idx="1"/>
          </p:nvPr>
        </p:nvSpPr>
        <p:spPr bwMode="auto">
          <a:xfrm>
            <a:off x="225425" y="384155"/>
            <a:ext cx="7223452"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Introduction to Deep Learning and neural networks.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Worked with TensorFlow and </a:t>
            </a:r>
            <a:r>
              <a:rPr lang="en-US" altLang="en-US" sz="2400" dirty="0" err="1">
                <a:latin typeface="Times New Roman" panose="02020603050405020304" pitchFamily="18" charset="0"/>
                <a:cs typeface="Times New Roman" panose="02020603050405020304" pitchFamily="18" charset="0"/>
              </a:rPr>
              <a:t>Keras</a:t>
            </a:r>
            <a:r>
              <a:rPr lang="en-US" altLang="en-US" sz="2400" dirty="0">
                <a:latin typeface="Times New Roman" panose="02020603050405020304" pitchFamily="18" charset="0"/>
                <a:cs typeface="Times New Roman" panose="02020603050405020304" pitchFamily="18" charset="0"/>
              </a:rPr>
              <a:t> libraries.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Built neural network models.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about layers, epochs and activation functions.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prediction using trained models.</a:t>
            </a:r>
          </a:p>
        </p:txBody>
      </p:sp>
    </p:spTree>
    <p:extLst>
      <p:ext uri="{BB962C8B-B14F-4D97-AF65-F5344CB8AC3E}">
        <p14:creationId xmlns:p14="http://schemas.microsoft.com/office/powerpoint/2010/main" val="3009834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446E773A-D632-3531-8879-570BC01BF5F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9B3D9E-941E-2A8F-0029-112B9BA314C6}"/>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Week-7</a:t>
            </a:r>
            <a:endParaRPr lang="en-IN" sz="2800" dirty="0"/>
          </a:p>
        </p:txBody>
      </p:sp>
      <p:sp>
        <p:nvSpPr>
          <p:cNvPr id="74" name="Google Shape;74;p2">
            <a:extLst>
              <a:ext uri="{FF2B5EF4-FFF2-40B4-BE49-F238E27FC236}">
                <a16:creationId xmlns:a16="http://schemas.microsoft.com/office/drawing/2014/main" id="{7847DE3E-253A-95CB-B3C2-B4647131F1C1}"/>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20</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6B36ADE6-E361-BA48-E4B2-9D503CAFCA8D}"/>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12B5D0FC-168F-CBCA-EDD4-77366CDD8201}"/>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15D2C542-78F8-1F49-D3E1-16CE999A1FAD}"/>
              </a:ext>
            </a:extLst>
          </p:cNvPr>
          <p:cNvSpPr>
            <a:spLocks noGrp="1" noChangeArrowheads="1"/>
          </p:cNvSpPr>
          <p:nvPr>
            <p:ph idx="1"/>
          </p:nvPr>
        </p:nvSpPr>
        <p:spPr bwMode="auto">
          <a:xfrm>
            <a:off x="225425" y="667910"/>
            <a:ext cx="8752717"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image processing basics using Python libraries.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Worked on reading, resizing, and enhancing images.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Understood feature extraction techniques.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handling image datasets.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Specially applied CNN for many datasets and understood it clearly.</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Gained practical exposure to computer vision basics.</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1223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0F2E4BE0-954E-57CA-2EA2-1630AE272A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0269BB2-9FF4-B99F-2BCB-72448DAB789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Week-8</a:t>
            </a:r>
            <a:endParaRPr lang="en-IN" sz="2800" dirty="0"/>
          </a:p>
        </p:txBody>
      </p:sp>
      <p:sp>
        <p:nvSpPr>
          <p:cNvPr id="74" name="Google Shape;74;p2">
            <a:extLst>
              <a:ext uri="{FF2B5EF4-FFF2-40B4-BE49-F238E27FC236}">
                <a16:creationId xmlns:a16="http://schemas.microsoft.com/office/drawing/2014/main" id="{BD1E1FC1-4A29-BB55-47F1-C8B8E527C5AC}"/>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21</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910C6E11-91DC-B176-204F-7803D39A4FB3}"/>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84F4AA41-0C9A-4CA0-0F7D-9D1C1E950797}"/>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92E4517A-A7D4-CE41-D15A-5FCAD87C3A88}"/>
              </a:ext>
            </a:extLst>
          </p:cNvPr>
          <p:cNvSpPr>
            <a:spLocks noGrp="1" noChangeArrowheads="1"/>
          </p:cNvSpPr>
          <p:nvPr>
            <p:ph idx="1"/>
          </p:nvPr>
        </p:nvSpPr>
        <p:spPr bwMode="auto">
          <a:xfrm>
            <a:off x="276449" y="488611"/>
            <a:ext cx="8293735"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OCR for extracting text from images and scanned documents.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Practiced converting image text into editable digital data.</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Studied NLP for text cleaning and processing.</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keyword extraction and data structuring.</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Assigned with project, team formation and divided the modules.</a:t>
            </a:r>
          </a:p>
          <a:p>
            <a:pPr marL="0" indent="0" eaLnBrk="0" fontAlgn="base" hangingPunct="0">
              <a:lnSpc>
                <a:spcPct val="150000"/>
              </a:lnSpc>
              <a:spcBef>
                <a:spcPct val="0"/>
              </a:spcBef>
              <a:spcAft>
                <a:spcPct val="0"/>
              </a:spcAft>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1945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87380024-B636-E16F-4725-822083DF61F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4C31CE-75C6-AABE-30CE-D1C69F97760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Week-9</a:t>
            </a:r>
            <a:endParaRPr lang="en-IN" sz="2800" dirty="0"/>
          </a:p>
        </p:txBody>
      </p:sp>
      <p:sp>
        <p:nvSpPr>
          <p:cNvPr id="74" name="Google Shape;74;p2">
            <a:extLst>
              <a:ext uri="{FF2B5EF4-FFF2-40B4-BE49-F238E27FC236}">
                <a16:creationId xmlns:a16="http://schemas.microsoft.com/office/drawing/2014/main" id="{05EFF714-60E5-B4F1-6833-89E6D70E4509}"/>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22</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2D4E4AB5-03A3-644C-1E27-6F1AB939560A}"/>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68BF1948-202D-4C5D-3307-A25E3BE84A37}"/>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2E89DD7C-D738-6DBC-C939-A714C69483F8}"/>
              </a:ext>
            </a:extLst>
          </p:cNvPr>
          <p:cNvSpPr>
            <a:spLocks noGrp="1" noChangeArrowheads="1"/>
          </p:cNvSpPr>
          <p:nvPr>
            <p:ph idx="1"/>
          </p:nvPr>
        </p:nvSpPr>
        <p:spPr bwMode="auto">
          <a:xfrm>
            <a:off x="207962" y="896772"/>
            <a:ext cx="8728075"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a:t>
            </a:r>
            <a:r>
              <a:rPr lang="en-US" altLang="en-US" sz="2400" dirty="0" err="1">
                <a:latin typeface="Times New Roman" panose="02020603050405020304" pitchFamily="18" charset="0"/>
                <a:cs typeface="Times New Roman" panose="02020603050405020304" pitchFamily="18" charset="0"/>
              </a:rPr>
              <a:t>PyQt</a:t>
            </a:r>
            <a:r>
              <a:rPr lang="en-US" altLang="en-US" sz="2400" dirty="0">
                <a:latin typeface="Times New Roman" panose="02020603050405020304" pitchFamily="18" charset="0"/>
                <a:cs typeface="Times New Roman" panose="02020603050405020304" pitchFamily="18" charset="0"/>
              </a:rPr>
              <a:t> for creating desktop applications.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Designed simple user interfaces for project modules.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Understood integration of frontend and backend logic.</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Started working on AI-Based Intelligent ERP System project.</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Started with requirement analysis for the project</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Prepared the structure for final project development.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4725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2EC6C8B-142D-AF3C-24CC-67CF4D0EA01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F4CD2DA-4FEB-1FA9-668E-E1110244F3FC}"/>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Week-10</a:t>
            </a:r>
            <a:endParaRPr lang="en-IN" sz="2800" dirty="0"/>
          </a:p>
        </p:txBody>
      </p:sp>
      <p:sp>
        <p:nvSpPr>
          <p:cNvPr id="74" name="Google Shape;74;p2">
            <a:extLst>
              <a:ext uri="{FF2B5EF4-FFF2-40B4-BE49-F238E27FC236}">
                <a16:creationId xmlns:a16="http://schemas.microsoft.com/office/drawing/2014/main" id="{CDB368DF-9446-4C32-1082-11BCF3F63B6A}"/>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23</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81B0273D-6F81-7ED0-A313-2FCAD4D42AE6}"/>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32AF8728-C8F3-99B0-1311-43BCCAE6BE6B}"/>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03CAF04B-DCF5-4B1D-B856-FC9F86B03EC9}"/>
              </a:ext>
            </a:extLst>
          </p:cNvPr>
          <p:cNvSpPr>
            <a:spLocks noGrp="1" noChangeArrowheads="1"/>
          </p:cNvSpPr>
          <p:nvPr>
            <p:ph idx="1"/>
          </p:nvPr>
        </p:nvSpPr>
        <p:spPr bwMode="auto">
          <a:xfrm>
            <a:off x="225425" y="435107"/>
            <a:ext cx="8461375" cy="4273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Implemented alert logic for:</a:t>
            </a:r>
          </a:p>
          <a:p>
            <a:pPr lvl="1"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Low Stock Alerts</a:t>
            </a:r>
          </a:p>
          <a:p>
            <a:pPr lvl="1"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Expiry Alerts</a:t>
            </a:r>
          </a:p>
          <a:p>
            <a:pPr lvl="1" eaLnBrk="0" fontAlgn="base" hangingPunct="0">
              <a:lnSpc>
                <a:spcPct val="15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Demand Surge &amp; Sales Drop Alerts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Integrated Python system with MySQL database</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Fetched real-time data (inventory, sales, expiry)</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Generated alerts based on business rules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Stored alerts in database for further processing</a:t>
            </a:r>
          </a:p>
        </p:txBody>
      </p:sp>
    </p:spTree>
    <p:extLst>
      <p:ext uri="{BB962C8B-B14F-4D97-AF65-F5344CB8AC3E}">
        <p14:creationId xmlns:p14="http://schemas.microsoft.com/office/powerpoint/2010/main" val="1212349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171D6D71-DB79-1923-0504-474CF1395D6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15CDAF1-3C88-E64B-CB7F-7E406B264A4F}"/>
              </a:ext>
            </a:extLst>
          </p:cNvPr>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Week-11</a:t>
            </a:r>
            <a:endParaRPr lang="en-IN" sz="2800" dirty="0"/>
          </a:p>
        </p:txBody>
      </p:sp>
      <p:sp>
        <p:nvSpPr>
          <p:cNvPr id="74" name="Google Shape;74;p2">
            <a:extLst>
              <a:ext uri="{FF2B5EF4-FFF2-40B4-BE49-F238E27FC236}">
                <a16:creationId xmlns:a16="http://schemas.microsoft.com/office/drawing/2014/main" id="{5D19D5F3-A167-4781-755F-3D5CEFF12302}"/>
              </a:ext>
            </a:extLst>
          </p:cNvPr>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24</a:t>
            </a:fld>
            <a:endParaRPr>
              <a:latin typeface="Times New Roman"/>
              <a:ea typeface="Times New Roman"/>
              <a:cs typeface="Times New Roman"/>
              <a:sym typeface="Times New Roman"/>
            </a:endParaRPr>
          </a:p>
        </p:txBody>
      </p:sp>
      <p:sp>
        <p:nvSpPr>
          <p:cNvPr id="2" name="Footer Placeholder 1">
            <a:extLst>
              <a:ext uri="{FF2B5EF4-FFF2-40B4-BE49-F238E27FC236}">
                <a16:creationId xmlns:a16="http://schemas.microsoft.com/office/drawing/2014/main" id="{C6E1CD29-75A3-EAAF-7C5D-B57A60D6251A}"/>
              </a:ext>
            </a:extLst>
          </p:cNvPr>
          <p:cNvSpPr>
            <a:spLocks noGrp="1"/>
          </p:cNvSpPr>
          <p:nvPr>
            <p:ph type="ftr" sz="quarter" idx="11"/>
          </p:nvPr>
        </p:nvSpPr>
        <p:spPr/>
        <p:txBody>
          <a:bodyPr/>
          <a:lstStyle/>
          <a:p>
            <a:r>
              <a:rPr lang="en-IN"/>
              <a:t>Dept. of CSE(AI&amp;ML)</a:t>
            </a:r>
          </a:p>
        </p:txBody>
      </p:sp>
      <p:sp>
        <p:nvSpPr>
          <p:cNvPr id="5" name="Date Placeholder 4">
            <a:extLst>
              <a:ext uri="{FF2B5EF4-FFF2-40B4-BE49-F238E27FC236}">
                <a16:creationId xmlns:a16="http://schemas.microsoft.com/office/drawing/2014/main" id="{0B88CE8E-F4ED-0EDB-C70E-BC1BD2A477EA}"/>
              </a:ext>
            </a:extLst>
          </p:cNvPr>
          <p:cNvSpPr>
            <a:spLocks noGrp="1"/>
          </p:cNvSpPr>
          <p:nvPr>
            <p:ph type="dt" sz="half" idx="10"/>
          </p:nvPr>
        </p:nvSpPr>
        <p:spPr/>
        <p:txBody>
          <a:bodyPr/>
          <a:lstStyle/>
          <a:p>
            <a:r>
              <a:rPr lang="en-US" dirty="0"/>
              <a:t>21/04/2026</a:t>
            </a:r>
            <a:endParaRPr lang="en-IN" dirty="0"/>
          </a:p>
        </p:txBody>
      </p:sp>
      <p:sp>
        <p:nvSpPr>
          <p:cNvPr id="4" name="Rectangle 1">
            <a:extLst>
              <a:ext uri="{FF2B5EF4-FFF2-40B4-BE49-F238E27FC236}">
                <a16:creationId xmlns:a16="http://schemas.microsoft.com/office/drawing/2014/main" id="{C8F7C118-5AAE-8589-FA71-9ADE3C4AB55A}"/>
              </a:ext>
            </a:extLst>
          </p:cNvPr>
          <p:cNvSpPr>
            <a:spLocks noGrp="1" noChangeArrowheads="1"/>
          </p:cNvSpPr>
          <p:nvPr>
            <p:ph idx="1"/>
          </p:nvPr>
        </p:nvSpPr>
        <p:spPr bwMode="auto">
          <a:xfrm>
            <a:off x="249375" y="1036349"/>
            <a:ext cx="8621395" cy="2795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Developed backend APIs for alert retrieval</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Integrated alerts with frontend dashboard</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Implemented filtering &amp; sorting features</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Performed end-to-end testing (DB → Backend → UI)</a:t>
            </a:r>
          </a:p>
          <a:p>
            <a:pPr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Fixed bugs and optimized system performance.</a:t>
            </a:r>
          </a:p>
        </p:txBody>
      </p:sp>
    </p:spTree>
    <p:extLst>
      <p:ext uri="{BB962C8B-B14F-4D97-AF65-F5344CB8AC3E}">
        <p14:creationId xmlns:p14="http://schemas.microsoft.com/office/powerpoint/2010/main" val="1054966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E67E0-DABC-23C5-2851-795F2178E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74639-0227-5BDE-5055-0C208459CC9C}"/>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About Training</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D8BC739-1571-55EC-DAFC-270597701082}"/>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ADA9C9DF-6B32-5E65-3467-0483142D94AA}"/>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C26DB54C-4661-79F5-C884-1953FDE4595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25</a:t>
            </a:fld>
            <a:endParaRPr lang="en-GB"/>
          </a:p>
        </p:txBody>
      </p:sp>
      <p:sp>
        <p:nvSpPr>
          <p:cNvPr id="7" name="Rectangle 1">
            <a:extLst>
              <a:ext uri="{FF2B5EF4-FFF2-40B4-BE49-F238E27FC236}">
                <a16:creationId xmlns:a16="http://schemas.microsoft.com/office/drawing/2014/main" id="{50F4602F-403E-8167-BF75-36AB93F3C446}"/>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The training was practical, interactive and well structured.</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Each topic was explained with examples and coding practice.</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Trainers were very helping and was reachable at any time.</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Training covered both fundamentals and advanced concepts.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Tasks were given each day related to the topics covered on that day.</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29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7B38A-F845-DF52-8B8B-01A1AB800B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83D94F-53B4-EBB8-0D3E-996BDA475962}"/>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Technical Knowledge Gained</a:t>
            </a:r>
            <a:endParaRPr lang="en-IN" sz="28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1E6A2C0-5070-946F-CE58-047796F7E4FF}"/>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156D4A6E-2F92-228D-7979-5CDBAD472B88}"/>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DF382BA7-B854-AC0A-D6C7-D288A94FB59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26</a:t>
            </a:fld>
            <a:endParaRPr lang="en-GB"/>
          </a:p>
        </p:txBody>
      </p:sp>
      <p:sp>
        <p:nvSpPr>
          <p:cNvPr id="7" name="Rectangle 1">
            <a:extLst>
              <a:ext uri="{FF2B5EF4-FFF2-40B4-BE49-F238E27FC236}">
                <a16:creationId xmlns:a16="http://schemas.microsoft.com/office/drawing/2014/main" id="{E6E8B27B-D962-27BE-0C7A-59E505860C9D}"/>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Python Programming</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NumPy and Pandas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Data Visualization</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Machine Learning Algorithms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Deep Learning Basics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TensorFlow and </a:t>
            </a:r>
            <a:r>
              <a:rPr lang="en-US" altLang="en-US" sz="2400" dirty="0" err="1">
                <a:latin typeface="Times New Roman" panose="02020603050405020304" pitchFamily="18" charset="0"/>
                <a:cs typeface="Times New Roman" panose="02020603050405020304" pitchFamily="18" charset="0"/>
              </a:rPr>
              <a:t>Keras</a:t>
            </a: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3135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1CE88-BC56-8236-4333-C12F8C3FD7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669E6-BC6D-7B45-7917-1A6510FFEE12}"/>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Technical Knowledge Gained </a:t>
            </a:r>
            <a:r>
              <a:rPr lang="en-US" sz="2800" dirty="0">
                <a:latin typeface="Times New Roman" panose="02020603050405020304" pitchFamily="18" charset="0"/>
                <a:cs typeface="Times New Roman" panose="02020603050405020304" pitchFamily="18" charset="0"/>
              </a:rPr>
              <a:t>(Cont’d)</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DEBB8BE-5C82-236F-F634-D43DFE87E93B}"/>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5FE1D086-5886-3F1A-0471-9102795C02C1}"/>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14579929-D457-1EB8-9BCA-CEC3BBF9F95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27</a:t>
            </a:fld>
            <a:endParaRPr lang="en-GB"/>
          </a:p>
        </p:txBody>
      </p:sp>
      <p:sp>
        <p:nvSpPr>
          <p:cNvPr id="7" name="Rectangle 1">
            <a:extLst>
              <a:ext uri="{FF2B5EF4-FFF2-40B4-BE49-F238E27FC236}">
                <a16:creationId xmlns:a16="http://schemas.microsoft.com/office/drawing/2014/main" id="{455B4F76-23F7-8F06-ECC7-6FC1866E2DAA}"/>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OCR </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NLP</a:t>
            </a:r>
          </a:p>
          <a:p>
            <a:pPr algn="just" eaLnBrk="0" fontAlgn="base" hangingPunct="0">
              <a:lnSpc>
                <a:spcPct val="150000"/>
              </a:lnSpc>
              <a:spcBef>
                <a:spcPct val="0"/>
              </a:spcBef>
              <a:spcAft>
                <a:spcPct val="0"/>
              </a:spcAft>
            </a:pPr>
            <a:r>
              <a:rPr lang="en-US" altLang="en-US" sz="2400" dirty="0" err="1">
                <a:latin typeface="Times New Roman" panose="02020603050405020304" pitchFamily="18" charset="0"/>
                <a:cs typeface="Times New Roman" panose="02020603050405020304" pitchFamily="18" charset="0"/>
              </a:rPr>
              <a:t>PyQt</a:t>
            </a:r>
            <a:r>
              <a:rPr lang="en-US" altLang="en-US" sz="2400" dirty="0">
                <a:latin typeface="Times New Roman" panose="02020603050405020304" pitchFamily="18" charset="0"/>
                <a:cs typeface="Times New Roman" panose="02020603050405020304" pitchFamily="18" charset="0"/>
              </a:rPr>
              <a:t> GUI Development</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Model Evaluation and Testing</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Project Development Workflow</a:t>
            </a:r>
          </a:p>
          <a:p>
            <a:pPr algn="just" eaLnBrk="0" fontAlgn="base" hangingPunct="0">
              <a:lnSpc>
                <a:spcPct val="150000"/>
              </a:lnSpc>
              <a:spcBef>
                <a:spcPct val="0"/>
              </a:spcBef>
              <a:spcAft>
                <a:spcPct val="0"/>
              </a:spcAft>
            </a:pPr>
            <a:r>
              <a:rPr lang="en-US" altLang="en-US" sz="2400" dirty="0" err="1">
                <a:latin typeface="Times New Roman" panose="02020603050405020304" pitchFamily="18" charset="0"/>
                <a:cs typeface="Times New Roman" panose="02020603050405020304" pitchFamily="18" charset="0"/>
              </a:rPr>
              <a:t>Github</a:t>
            </a:r>
            <a:r>
              <a:rPr lang="en-US" altLang="en-US" sz="2400" dirty="0">
                <a:latin typeface="Times New Roman" panose="02020603050405020304" pitchFamily="18" charset="0"/>
                <a:cs typeface="Times New Roman" panose="02020603050405020304" pitchFamily="18" charset="0"/>
              </a:rPr>
              <a:t> collaboration</a:t>
            </a:r>
          </a:p>
        </p:txBody>
      </p:sp>
    </p:spTree>
    <p:extLst>
      <p:ext uri="{BB962C8B-B14F-4D97-AF65-F5344CB8AC3E}">
        <p14:creationId xmlns:p14="http://schemas.microsoft.com/office/powerpoint/2010/main" val="21385641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93E08-F355-3B85-AF52-EF501CB8A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02012-19B6-1E69-DAF2-31B88120258D}"/>
              </a:ext>
            </a:extLst>
          </p:cNvPr>
          <p:cNvSpPr>
            <a:spLocks noGrp="1"/>
          </p:cNvSpPr>
          <p:nvPr>
            <p:ph type="title"/>
          </p:nvPr>
        </p:nvSpPr>
        <p:spPr>
          <a:xfrm>
            <a:off x="457200" y="205980"/>
            <a:ext cx="8229600" cy="460448"/>
          </a:xfrm>
        </p:spPr>
        <p:txBody>
          <a:bodyPr>
            <a:noAutofit/>
          </a:bodyPr>
          <a:lstStyle/>
          <a:p>
            <a:r>
              <a:rPr lang="en-US" sz="2800" b="1" dirty="0">
                <a:latin typeface="Times New Roman" panose="02020603050405020304" pitchFamily="18" charset="0"/>
                <a:cs typeface="Times New Roman" panose="02020603050405020304" pitchFamily="18" charset="0"/>
              </a:rPr>
              <a:t>Internship Outcomes</a:t>
            </a: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2FD59DD-5FBC-AEFB-B012-188945425791}"/>
              </a:ext>
            </a:extLst>
          </p:cNvPr>
          <p:cNvSpPr>
            <a:spLocks noGrp="1"/>
          </p:cNvSpPr>
          <p:nvPr>
            <p:ph type="dt" sz="half" idx="10"/>
          </p:nvPr>
        </p:nvSpPr>
        <p:spPr/>
        <p:txBody>
          <a:bodyPr/>
          <a:lstStyle/>
          <a:p>
            <a:r>
              <a:rPr lang="en-US" dirty="0"/>
              <a:t>21/04/2026</a:t>
            </a:r>
            <a:endParaRPr lang="en-IN" dirty="0"/>
          </a:p>
        </p:txBody>
      </p:sp>
      <p:sp>
        <p:nvSpPr>
          <p:cNvPr id="5" name="Footer Placeholder 4">
            <a:extLst>
              <a:ext uri="{FF2B5EF4-FFF2-40B4-BE49-F238E27FC236}">
                <a16:creationId xmlns:a16="http://schemas.microsoft.com/office/drawing/2014/main" id="{5C408059-6977-1620-F073-1C6A1A70FDB3}"/>
              </a:ext>
            </a:extLst>
          </p:cNvPr>
          <p:cNvSpPr>
            <a:spLocks noGrp="1"/>
          </p:cNvSpPr>
          <p:nvPr>
            <p:ph type="ftr" sz="quarter" idx="11"/>
          </p:nvPr>
        </p:nvSpPr>
        <p:spPr/>
        <p:txBody>
          <a:bodyPr/>
          <a:lstStyle/>
          <a:p>
            <a:r>
              <a:rPr lang="en-IN"/>
              <a:t>Dept. of CSE(AI&amp;ML)</a:t>
            </a:r>
          </a:p>
        </p:txBody>
      </p:sp>
      <p:sp>
        <p:nvSpPr>
          <p:cNvPr id="6" name="Slide Number Placeholder 5">
            <a:extLst>
              <a:ext uri="{FF2B5EF4-FFF2-40B4-BE49-F238E27FC236}">
                <a16:creationId xmlns:a16="http://schemas.microsoft.com/office/drawing/2014/main" id="{E5846DFB-9F4E-4000-9B02-E64FC22E549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GB" smtClean="0"/>
              <a:t>28</a:t>
            </a:fld>
            <a:endParaRPr lang="en-GB"/>
          </a:p>
        </p:txBody>
      </p:sp>
      <p:sp>
        <p:nvSpPr>
          <p:cNvPr id="7" name="Rectangle 1">
            <a:extLst>
              <a:ext uri="{FF2B5EF4-FFF2-40B4-BE49-F238E27FC236}">
                <a16:creationId xmlns:a16="http://schemas.microsoft.com/office/drawing/2014/main" id="{C0EF8BBB-83AE-1DF0-C9D8-6ED1AE25A7A6}"/>
              </a:ext>
            </a:extLst>
          </p:cNvPr>
          <p:cNvSpPr>
            <a:spLocks noGrp="1" noChangeArrowheads="1"/>
          </p:cNvSpPr>
          <p:nvPr>
            <p:ph idx="1"/>
          </p:nvPr>
        </p:nvSpPr>
        <p:spPr bwMode="auto">
          <a:xfrm>
            <a:off x="457200" y="1036472"/>
            <a:ext cx="8425543" cy="334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Improved coding and technical knowledge in multiple domains.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Gained more practical experience in AI and ML concepts.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Learned how to build intelligent real time applications.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Working on AI-Based Intelligent ERP System project.</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Improved communication skill and leadership skills.</a:t>
            </a:r>
          </a:p>
          <a:p>
            <a:pPr algn="just" eaLnBrk="0" fontAlgn="base" hangingPunct="0">
              <a:lnSpc>
                <a:spcPct val="150000"/>
              </a:lnSpc>
              <a:spcBef>
                <a:spcPct val="0"/>
              </a:spcBef>
              <a:spcAft>
                <a:spcPct val="0"/>
              </a:spcAft>
            </a:pPr>
            <a:r>
              <a:rPr lang="en-US" altLang="en-US" sz="2400" dirty="0">
                <a:latin typeface="Times New Roman" panose="02020603050405020304" pitchFamily="18" charset="0"/>
                <a:cs typeface="Times New Roman" panose="02020603050405020304" pitchFamily="18" charset="0"/>
              </a:rPr>
              <a:t>Got to learn new libraries and modules in python.</a:t>
            </a:r>
          </a:p>
        </p:txBody>
      </p:sp>
    </p:spTree>
    <p:extLst>
      <p:ext uri="{BB962C8B-B14F-4D97-AF65-F5344CB8AC3E}">
        <p14:creationId xmlns:p14="http://schemas.microsoft.com/office/powerpoint/2010/main" val="1810583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3" name="Title 2"/>
          <p:cNvSpPr>
            <a:spLocks noGrp="1"/>
          </p:cNvSpPr>
          <p:nvPr>
            <p:ph type="title"/>
          </p:nvPr>
        </p:nvSpPr>
        <p:spPr>
          <a:xfrm>
            <a:off x="87464" y="78758"/>
            <a:ext cx="8945218" cy="589152"/>
          </a:xfrm>
        </p:spPr>
        <p:txBody>
          <a:bodyPr>
            <a:normAutofit/>
          </a:bodyPr>
          <a:lstStyle/>
          <a:p>
            <a:pPr lvl="0"/>
            <a:r>
              <a:rPr lang="en-GB" sz="2800" b="1" i="0" u="none" strike="noStrike" cap="none" dirty="0">
                <a:solidFill>
                  <a:srgbClr val="000000"/>
                </a:solidFill>
                <a:latin typeface="Times New Roman"/>
                <a:ea typeface="Times New Roman"/>
                <a:cs typeface="Times New Roman"/>
                <a:sym typeface="Times New Roman"/>
              </a:rPr>
              <a:t>References</a:t>
            </a:r>
            <a:endParaRPr lang="en-IN" sz="2800" dirty="0"/>
          </a:p>
        </p:txBody>
      </p:sp>
      <p:sp>
        <p:nvSpPr>
          <p:cNvPr id="73" name="Google Shape;73;p2"/>
          <p:cNvSpPr txBox="1">
            <a:spLocks noGrp="1"/>
          </p:cNvSpPr>
          <p:nvPr>
            <p:ph idx="1"/>
          </p:nvPr>
        </p:nvSpPr>
        <p:spPr>
          <a:xfrm>
            <a:off x="247153" y="751730"/>
            <a:ext cx="8881607" cy="3776869"/>
          </a:xfrm>
          <a:prstGeom prst="rect">
            <a:avLst/>
          </a:prstGeom>
          <a:noFill/>
          <a:ln>
            <a:noFill/>
          </a:ln>
        </p:spPr>
        <p:txBody>
          <a:bodyPr spcFirstLastPara="1" wrap="square" lIns="91425" tIns="91425" rIns="91425" bIns="91425" anchor="t" anchorCtr="0">
            <a:noAutofit/>
          </a:bodyPr>
          <a:lstStyle/>
          <a:p>
            <a:pPr marL="101600" indent="0" algn="just">
              <a:lnSpc>
                <a:spcPct val="150000"/>
              </a:lnSpc>
              <a:spcBef>
                <a:spcPts val="0"/>
              </a:spcBef>
              <a:buClr>
                <a:schemeClr val="dk2"/>
              </a:buClr>
              <a:buSzPts val="2000"/>
              <a:buNone/>
            </a:pPr>
            <a:r>
              <a:rPr lang="en-US" sz="1400" dirty="0">
                <a:latin typeface="Times New Roman" pitchFamily="18" charset="0"/>
                <a:cs typeface="Times New Roman" pitchFamily="18" charset="0"/>
                <a:hlinkClick r:id="rId3">
                  <a:extLst>
                    <a:ext uri="{A12FA001-AC4F-418D-AE19-62706E023703}">
                      <ahyp:hlinkClr xmlns:ahyp="http://schemas.microsoft.com/office/drawing/2018/hyperlinkcolor" val="tx"/>
                    </a:ext>
                  </a:extLst>
                </a:hlinkClick>
              </a:rPr>
              <a:t>[1]  https://kakunjesoftware.com/#about</a:t>
            </a:r>
            <a:endParaRPr lang="en-US" sz="1400" dirty="0">
              <a:latin typeface="Times New Roman" pitchFamily="18" charset="0"/>
              <a:cs typeface="Times New Roman" pitchFamily="18" charset="0"/>
            </a:endParaRPr>
          </a:p>
          <a:p>
            <a:pPr marL="101600" lvl="0" indent="0" algn="just">
              <a:lnSpc>
                <a:spcPct val="150000"/>
              </a:lnSpc>
              <a:spcBef>
                <a:spcPts val="0"/>
              </a:spcBef>
              <a:buClr>
                <a:schemeClr val="dk2"/>
              </a:buClr>
              <a:buSzPts val="2000"/>
              <a:buNone/>
            </a:pPr>
            <a:r>
              <a:rPr lang="en-US" sz="1400" u="sng" dirty="0">
                <a:latin typeface="Times New Roman"/>
                <a:ea typeface="Times New Roman"/>
                <a:cs typeface="Times New Roman"/>
                <a:sym typeface="Times New Roman"/>
              </a:rPr>
              <a:t>[2] </a:t>
            </a:r>
            <a:r>
              <a:rPr lang="en-US" sz="1400"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https://github.com/NehanShaikh/Kakunje_Internship</a:t>
            </a:r>
            <a:endParaRPr lang="en-US" sz="1400" dirty="0">
              <a:latin typeface="Times New Roman"/>
              <a:ea typeface="Times New Roman"/>
              <a:cs typeface="Times New Roman"/>
              <a:sym typeface="Times New Roman"/>
            </a:endParaRPr>
          </a:p>
          <a:p>
            <a:pPr marL="101600" lvl="0" indent="0" algn="just">
              <a:lnSpc>
                <a:spcPct val="150000"/>
              </a:lnSpc>
              <a:spcBef>
                <a:spcPts val="0"/>
              </a:spcBef>
              <a:buClr>
                <a:schemeClr val="dk2"/>
              </a:buClr>
              <a:buSzPts val="2000"/>
              <a:buNone/>
            </a:pPr>
            <a:r>
              <a:rPr lang="en-US" sz="1400" u="sng" dirty="0">
                <a:solidFill>
                  <a:srgbClr val="212121"/>
                </a:solidFill>
                <a:latin typeface="Times New Roman"/>
                <a:ea typeface="Times New Roman"/>
                <a:cs typeface="Times New Roman"/>
                <a:sym typeface="Times New Roman"/>
              </a:rPr>
              <a:t>[3] https://github.com/Nithin3302/AI-ERP-PROJECT.git</a:t>
            </a:r>
          </a:p>
          <a:p>
            <a:pPr marL="101600" lvl="0" indent="0" algn="just">
              <a:lnSpc>
                <a:spcPct val="150000"/>
              </a:lnSpc>
              <a:spcBef>
                <a:spcPts val="0"/>
              </a:spcBef>
              <a:buClr>
                <a:schemeClr val="dk2"/>
              </a:buClr>
              <a:buSzPts val="2000"/>
              <a:buNone/>
            </a:pPr>
            <a:endParaRPr lang="en-US" sz="1400" dirty="0">
              <a:solidFill>
                <a:srgbClr val="212121"/>
              </a:solidFill>
              <a:latin typeface="Times New Roman"/>
              <a:ea typeface="Times New Roman"/>
              <a:cs typeface="Times New Roman"/>
              <a:sym typeface="Times New Roman"/>
            </a:endParaRPr>
          </a:p>
        </p:txBody>
      </p:sp>
      <p:sp>
        <p:nvSpPr>
          <p:cNvPr id="74" name="Google Shape;74;p2"/>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latin typeface="Times New Roman"/>
                <a:ea typeface="Times New Roman"/>
                <a:cs typeface="Times New Roman"/>
                <a:sym typeface="Times New Roman"/>
              </a:rPr>
              <a:t>29</a:t>
            </a:fld>
            <a:endParaRPr>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5" name="Date Placeholder 4"/>
          <p:cNvSpPr>
            <a:spLocks noGrp="1"/>
          </p:cNvSpPr>
          <p:nvPr>
            <p:ph type="dt" sz="half" idx="10"/>
          </p:nvPr>
        </p:nvSpPr>
        <p:spPr/>
        <p:txBody>
          <a:bodyPr/>
          <a:lstStyle/>
          <a:p>
            <a:r>
              <a:rPr lang="en-US" dirty="0"/>
              <a:t>21/04/2026</a:t>
            </a:r>
            <a:endParaRPr lang="en-IN" dirty="0"/>
          </a:p>
        </p:txBody>
      </p:sp>
    </p:spTree>
    <p:extLst>
      <p:ext uri="{BB962C8B-B14F-4D97-AF65-F5344CB8AC3E}">
        <p14:creationId xmlns:p14="http://schemas.microsoft.com/office/powerpoint/2010/main" val="1325249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30" name="Google Shape;130;p10"/>
          <p:cNvSpPr txBox="1">
            <a:spLocks noGrp="1"/>
          </p:cNvSpPr>
          <p:nvPr>
            <p:ph type="sldNum" sz="quarter" idx="12"/>
          </p:nvPr>
        </p:nvSpPr>
        <p:spPr>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000"/>
              <a:buNone/>
            </a:pPr>
            <a:fld id="{00000000-1234-1234-1234-123412341234}" type="slidenum">
              <a:rPr lang="en-GB"/>
              <a:t>30</a:t>
            </a:fld>
            <a:endParaRPr/>
          </a:p>
        </p:txBody>
      </p:sp>
      <p:sp>
        <p:nvSpPr>
          <p:cNvPr id="129" name="Google Shape;129;p10"/>
          <p:cNvSpPr txBox="1">
            <a:spLocks noGrp="1"/>
          </p:cNvSpPr>
          <p:nvPr>
            <p:ph type="title" idx="4294967295"/>
          </p:nvPr>
        </p:nvSpPr>
        <p:spPr>
          <a:xfrm>
            <a:off x="0" y="2008188"/>
            <a:ext cx="9144000" cy="762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200"/>
              <a:buNone/>
            </a:pPr>
            <a:r>
              <a:rPr lang="en-GB" sz="4000" b="1" dirty="0">
                <a:solidFill>
                  <a:srgbClr val="212121"/>
                </a:solidFill>
                <a:latin typeface="Times New Roman"/>
                <a:ea typeface="Times New Roman"/>
                <a:cs typeface="Times New Roman"/>
                <a:sym typeface="Times New Roman"/>
              </a:rPr>
              <a:t>Thank You</a:t>
            </a:r>
            <a:endParaRPr sz="4000" b="1" dirty="0">
              <a:solidFill>
                <a:srgbClr val="212121"/>
              </a:solidFill>
              <a:latin typeface="Times New Roman"/>
              <a:ea typeface="Times New Roman"/>
              <a:cs typeface="Times New Roman"/>
              <a:sym typeface="Times New Roman"/>
            </a:endParaRPr>
          </a:p>
        </p:txBody>
      </p:sp>
      <p:sp>
        <p:nvSpPr>
          <p:cNvPr id="2" name="Footer Placeholder 1"/>
          <p:cNvSpPr>
            <a:spLocks noGrp="1"/>
          </p:cNvSpPr>
          <p:nvPr>
            <p:ph type="ftr" sz="quarter" idx="11"/>
          </p:nvPr>
        </p:nvSpPr>
        <p:spPr/>
        <p:txBody>
          <a:bodyPr/>
          <a:lstStyle/>
          <a:p>
            <a:r>
              <a:rPr lang="en-IN"/>
              <a:t>Dept. of CSE(AI&amp;ML)</a:t>
            </a:r>
          </a:p>
        </p:txBody>
      </p:sp>
      <p:sp>
        <p:nvSpPr>
          <p:cNvPr id="4" name="Date Placeholder 3"/>
          <p:cNvSpPr>
            <a:spLocks noGrp="1"/>
          </p:cNvSpPr>
          <p:nvPr>
            <p:ph type="dt" sz="half" idx="10"/>
          </p:nvPr>
        </p:nvSpPr>
        <p:spPr/>
        <p:txBody>
          <a:bodyPr/>
          <a:lstStyle/>
          <a:p>
            <a:r>
              <a:rPr lang="en-US" dirty="0"/>
              <a:t>21/04/2026</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320</TotalTime>
  <Words>1652</Words>
  <Application>Microsoft Office PowerPoint</Application>
  <PresentationFormat>On-screen Show (16:9)</PresentationFormat>
  <Paragraphs>265</Paragraphs>
  <Slides>30</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Times New Roman</vt:lpstr>
      <vt:lpstr>Roboto</vt:lpstr>
      <vt:lpstr>Calibri</vt:lpstr>
      <vt:lpstr>Arial</vt:lpstr>
      <vt:lpstr>Office Theme</vt:lpstr>
      <vt:lpstr>PowerPoint Presentation</vt:lpstr>
      <vt:lpstr>Contents</vt:lpstr>
      <vt:lpstr>About the Company</vt:lpstr>
      <vt:lpstr>About the Company (Cont’d..)</vt:lpstr>
      <vt:lpstr>About the Company (Cont’d..)</vt:lpstr>
      <vt:lpstr>Vision, Mission of the Company</vt:lpstr>
      <vt:lpstr>Vision, Mission of the Company</vt:lpstr>
      <vt:lpstr>Customers   </vt:lpstr>
      <vt:lpstr>Customers (Cont’d)  </vt:lpstr>
      <vt:lpstr>Products</vt:lpstr>
      <vt:lpstr>Products</vt:lpstr>
      <vt:lpstr>Products</vt:lpstr>
      <vt:lpstr>Internship Objectives</vt:lpstr>
      <vt:lpstr>Week-1</vt:lpstr>
      <vt:lpstr>Week-2</vt:lpstr>
      <vt:lpstr>Week-3</vt:lpstr>
      <vt:lpstr>Week-4</vt:lpstr>
      <vt:lpstr>Week-5</vt:lpstr>
      <vt:lpstr>Week-6</vt:lpstr>
      <vt:lpstr>Week-7</vt:lpstr>
      <vt:lpstr>Week-8</vt:lpstr>
      <vt:lpstr>Week-9</vt:lpstr>
      <vt:lpstr>Week-10</vt:lpstr>
      <vt:lpstr>Week-11</vt:lpstr>
      <vt:lpstr>About Training</vt:lpstr>
      <vt:lpstr>Technical Knowledge Gained</vt:lpstr>
      <vt:lpstr>Technical Knowledge Gained (Cont’d)</vt:lpstr>
      <vt:lpstr>Internship Outcomes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SHAMYA SHETTY</dc:creator>
  <cp:lastModifiedBy>NEHAN SHAIKH</cp:lastModifiedBy>
  <cp:revision>18</cp:revision>
  <cp:lastPrinted>2026-03-31T05:37:07Z</cp:lastPrinted>
  <dcterms:created xsi:type="dcterms:W3CDTF">2024-04-11T04:22:00Z</dcterms:created>
  <dcterms:modified xsi:type="dcterms:W3CDTF">2026-04-18T16:39:50Z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71D32CDC191445F0832B92B5025A1D3C_13</vt:lpwstr>
  </property>
  <property fmtid="{D5CDD505-2E9C-101B-9397-08002B2CF9AE}" pid="3" name="KSOProductBuildVer">
    <vt:lpwstr>1033-12.2.0.16731</vt:lpwstr>
  </property>
</Properties>
</file>