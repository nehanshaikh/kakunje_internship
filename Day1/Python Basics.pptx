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85"/>
  </p:notesMasterIdLst>
  <p:sldIdLst>
    <p:sldId id="256" r:id="rId2"/>
    <p:sldId id="349" r:id="rId3"/>
    <p:sldId id="257" r:id="rId4"/>
    <p:sldId id="582" r:id="rId5"/>
    <p:sldId id="580" r:id="rId6"/>
    <p:sldId id="586" r:id="rId7"/>
    <p:sldId id="261" r:id="rId8"/>
    <p:sldId id="583" r:id="rId9"/>
    <p:sldId id="351" r:id="rId10"/>
    <p:sldId id="584" r:id="rId11"/>
    <p:sldId id="587" r:id="rId12"/>
    <p:sldId id="589" r:id="rId13"/>
    <p:sldId id="591" r:id="rId14"/>
    <p:sldId id="262" r:id="rId15"/>
    <p:sldId id="590" r:id="rId16"/>
    <p:sldId id="265" r:id="rId17"/>
    <p:sldId id="266" r:id="rId18"/>
    <p:sldId id="263" r:id="rId19"/>
    <p:sldId id="592" r:id="rId20"/>
    <p:sldId id="593" r:id="rId21"/>
    <p:sldId id="594" r:id="rId22"/>
    <p:sldId id="267" r:id="rId23"/>
    <p:sldId id="270" r:id="rId24"/>
    <p:sldId id="595" r:id="rId25"/>
    <p:sldId id="268" r:id="rId26"/>
    <p:sldId id="269" r:id="rId27"/>
    <p:sldId id="272" r:id="rId28"/>
    <p:sldId id="597" r:id="rId29"/>
    <p:sldId id="277" r:id="rId30"/>
    <p:sldId id="278" r:id="rId31"/>
    <p:sldId id="279" r:id="rId32"/>
    <p:sldId id="280" r:id="rId33"/>
    <p:sldId id="281" r:id="rId34"/>
    <p:sldId id="283" r:id="rId35"/>
    <p:sldId id="284" r:id="rId36"/>
    <p:sldId id="285" r:id="rId37"/>
    <p:sldId id="286" r:id="rId38"/>
    <p:sldId id="287" r:id="rId39"/>
    <p:sldId id="288" r:id="rId40"/>
    <p:sldId id="291" r:id="rId41"/>
    <p:sldId id="292" r:id="rId42"/>
    <p:sldId id="293" r:id="rId43"/>
    <p:sldId id="294" r:id="rId44"/>
    <p:sldId id="295" r:id="rId45"/>
    <p:sldId id="296" r:id="rId46"/>
    <p:sldId id="297" r:id="rId47"/>
    <p:sldId id="298" r:id="rId48"/>
    <p:sldId id="299" r:id="rId49"/>
    <p:sldId id="301" r:id="rId50"/>
    <p:sldId id="302" r:id="rId51"/>
    <p:sldId id="325" r:id="rId52"/>
    <p:sldId id="326" r:id="rId53"/>
    <p:sldId id="327" r:id="rId54"/>
    <p:sldId id="328" r:id="rId55"/>
    <p:sldId id="329" r:id="rId56"/>
    <p:sldId id="330" r:id="rId57"/>
    <p:sldId id="331" r:id="rId58"/>
    <p:sldId id="332" r:id="rId59"/>
    <p:sldId id="333" r:id="rId60"/>
    <p:sldId id="334" r:id="rId61"/>
    <p:sldId id="335" r:id="rId62"/>
    <p:sldId id="336" r:id="rId63"/>
    <p:sldId id="337" r:id="rId64"/>
    <p:sldId id="338" r:id="rId65"/>
    <p:sldId id="339" r:id="rId66"/>
    <p:sldId id="340" r:id="rId67"/>
    <p:sldId id="341" r:id="rId68"/>
    <p:sldId id="342" r:id="rId69"/>
    <p:sldId id="344" r:id="rId70"/>
    <p:sldId id="345" r:id="rId71"/>
    <p:sldId id="346" r:id="rId72"/>
    <p:sldId id="400" r:id="rId73"/>
    <p:sldId id="401" r:id="rId74"/>
    <p:sldId id="402" r:id="rId75"/>
    <p:sldId id="403" r:id="rId76"/>
    <p:sldId id="404" r:id="rId77"/>
    <p:sldId id="405" r:id="rId78"/>
    <p:sldId id="347" r:id="rId79"/>
    <p:sldId id="348" r:id="rId80"/>
    <p:sldId id="352" r:id="rId81"/>
    <p:sldId id="354" r:id="rId82"/>
    <p:sldId id="356" r:id="rId83"/>
    <p:sldId id="357" r:id="rId84"/>
    <p:sldId id="359" r:id="rId85"/>
    <p:sldId id="361" r:id="rId86"/>
    <p:sldId id="362" r:id="rId87"/>
    <p:sldId id="363" r:id="rId88"/>
    <p:sldId id="365" r:id="rId89"/>
    <p:sldId id="366" r:id="rId90"/>
    <p:sldId id="367" r:id="rId91"/>
    <p:sldId id="368" r:id="rId92"/>
    <p:sldId id="369" r:id="rId93"/>
    <p:sldId id="370" r:id="rId94"/>
    <p:sldId id="372" r:id="rId95"/>
    <p:sldId id="373" r:id="rId96"/>
    <p:sldId id="374" r:id="rId97"/>
    <p:sldId id="376" r:id="rId98"/>
    <p:sldId id="377" r:id="rId99"/>
    <p:sldId id="379" r:id="rId100"/>
    <p:sldId id="380" r:id="rId101"/>
    <p:sldId id="390" r:id="rId102"/>
    <p:sldId id="381" r:id="rId103"/>
    <p:sldId id="382" r:id="rId104"/>
    <p:sldId id="383" r:id="rId105"/>
    <p:sldId id="384" r:id="rId106"/>
    <p:sldId id="385" r:id="rId107"/>
    <p:sldId id="386" r:id="rId108"/>
    <p:sldId id="387" r:id="rId109"/>
    <p:sldId id="388" r:id="rId110"/>
    <p:sldId id="389" r:id="rId111"/>
    <p:sldId id="391" r:id="rId112"/>
    <p:sldId id="392" r:id="rId113"/>
    <p:sldId id="394" r:id="rId114"/>
    <p:sldId id="393" r:id="rId115"/>
    <p:sldId id="304" r:id="rId116"/>
    <p:sldId id="305" r:id="rId117"/>
    <p:sldId id="306" r:id="rId118"/>
    <p:sldId id="307" r:id="rId119"/>
    <p:sldId id="598" r:id="rId120"/>
    <p:sldId id="310" r:id="rId121"/>
    <p:sldId id="312" r:id="rId122"/>
    <p:sldId id="311" r:id="rId123"/>
    <p:sldId id="313" r:id="rId124"/>
    <p:sldId id="314" r:id="rId125"/>
    <p:sldId id="315" r:id="rId126"/>
    <p:sldId id="316" r:id="rId127"/>
    <p:sldId id="318" r:id="rId128"/>
    <p:sldId id="319" r:id="rId129"/>
    <p:sldId id="320" r:id="rId130"/>
    <p:sldId id="321" r:id="rId131"/>
    <p:sldId id="322" r:id="rId132"/>
    <p:sldId id="323" r:id="rId133"/>
    <p:sldId id="398" r:id="rId134"/>
    <p:sldId id="399" r:id="rId135"/>
    <p:sldId id="406" r:id="rId136"/>
    <p:sldId id="407" r:id="rId137"/>
    <p:sldId id="408" r:id="rId138"/>
    <p:sldId id="409" r:id="rId139"/>
    <p:sldId id="410" r:id="rId140"/>
    <p:sldId id="411" r:id="rId141"/>
    <p:sldId id="413" r:id="rId142"/>
    <p:sldId id="415" r:id="rId143"/>
    <p:sldId id="416" r:id="rId144"/>
    <p:sldId id="419" r:id="rId145"/>
    <p:sldId id="421" r:id="rId146"/>
    <p:sldId id="422" r:id="rId147"/>
    <p:sldId id="423" r:id="rId148"/>
    <p:sldId id="424" r:id="rId149"/>
    <p:sldId id="425" r:id="rId150"/>
    <p:sldId id="426" r:id="rId151"/>
    <p:sldId id="427" r:id="rId152"/>
    <p:sldId id="428" r:id="rId153"/>
    <p:sldId id="429" r:id="rId154"/>
    <p:sldId id="432" r:id="rId155"/>
    <p:sldId id="599" r:id="rId156"/>
    <p:sldId id="600" r:id="rId157"/>
    <p:sldId id="601" r:id="rId158"/>
    <p:sldId id="602" r:id="rId159"/>
    <p:sldId id="603" r:id="rId160"/>
    <p:sldId id="604" r:id="rId161"/>
    <p:sldId id="605" r:id="rId162"/>
    <p:sldId id="606" r:id="rId163"/>
    <p:sldId id="607" r:id="rId164"/>
    <p:sldId id="608" r:id="rId165"/>
    <p:sldId id="609" r:id="rId166"/>
    <p:sldId id="610" r:id="rId167"/>
    <p:sldId id="611" r:id="rId168"/>
    <p:sldId id="612" r:id="rId169"/>
    <p:sldId id="613" r:id="rId170"/>
    <p:sldId id="614" r:id="rId171"/>
    <p:sldId id="455" r:id="rId172"/>
    <p:sldId id="456" r:id="rId173"/>
    <p:sldId id="457" r:id="rId174"/>
    <p:sldId id="458" r:id="rId175"/>
    <p:sldId id="459" r:id="rId176"/>
    <p:sldId id="460" r:id="rId177"/>
    <p:sldId id="461" r:id="rId178"/>
    <p:sldId id="463" r:id="rId179"/>
    <p:sldId id="464" r:id="rId180"/>
    <p:sldId id="465" r:id="rId181"/>
    <p:sldId id="467" r:id="rId182"/>
    <p:sldId id="468" r:id="rId183"/>
    <p:sldId id="470" r:id="rId18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CC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56" autoAdjust="0"/>
    <p:restoredTop sz="94660"/>
  </p:normalViewPr>
  <p:slideViewPr>
    <p:cSldViewPr snapToGrid="0">
      <p:cViewPr varScale="1">
        <p:scale>
          <a:sx n="78" d="100"/>
          <a:sy n="78" d="100"/>
        </p:scale>
        <p:origin x="72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0" Type="http://schemas.microsoft.com/office/2016/11/relationships/changesInfo" Target="changesInfos/changesInfo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presProps" Target="pres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viewProps" Target="viewProps.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gathi Puthran" userId="6579d6400e065975" providerId="LiveId" clId="{E51C0345-44CB-407C-9236-3E01702C5133}"/>
    <pc:docChg chg="undo custSel modSld">
      <pc:chgData name="Pragathi Puthran" userId="6579d6400e065975" providerId="LiveId" clId="{E51C0345-44CB-407C-9236-3E01702C5133}" dt="2025-06-11T11:12:50.417" v="170" actId="20577"/>
      <pc:docMkLst>
        <pc:docMk/>
      </pc:docMkLst>
      <pc:sldChg chg="modSp mod">
        <pc:chgData name="Pragathi Puthran" userId="6579d6400e065975" providerId="LiveId" clId="{E51C0345-44CB-407C-9236-3E01702C5133}" dt="2025-06-04T09:29:14.411" v="12" actId="20577"/>
        <pc:sldMkLst>
          <pc:docMk/>
          <pc:sldMk cId="483048720" sldId="348"/>
        </pc:sldMkLst>
        <pc:spChg chg="mod">
          <ac:chgData name="Pragathi Puthran" userId="6579d6400e065975" providerId="LiveId" clId="{E51C0345-44CB-407C-9236-3E01702C5133}" dt="2025-06-04T09:29:14.411" v="12" actId="20577"/>
          <ac:spMkLst>
            <pc:docMk/>
            <pc:sldMk cId="483048720" sldId="348"/>
            <ac:spMk id="6" creationId="{63AC71D9-82D6-12AE-CEFD-ABCCBF47E6C1}"/>
          </ac:spMkLst>
        </pc:spChg>
      </pc:sldChg>
      <pc:sldChg chg="modSp mod">
        <pc:chgData name="Pragathi Puthran" userId="6579d6400e065975" providerId="LiveId" clId="{E51C0345-44CB-407C-9236-3E01702C5133}" dt="2025-06-05T09:13:48.803" v="17" actId="1038"/>
        <pc:sldMkLst>
          <pc:docMk/>
          <pc:sldMk cId="1581956880" sldId="372"/>
        </pc:sldMkLst>
        <pc:spChg chg="mod">
          <ac:chgData name="Pragathi Puthran" userId="6579d6400e065975" providerId="LiveId" clId="{E51C0345-44CB-407C-9236-3E01702C5133}" dt="2025-06-05T09:13:48.803" v="17" actId="1038"/>
          <ac:spMkLst>
            <pc:docMk/>
            <pc:sldMk cId="1581956880" sldId="372"/>
            <ac:spMk id="5" creationId="{7094F445-FBE2-1968-5BA1-AC8C6C8ED60B}"/>
          </ac:spMkLst>
        </pc:spChg>
      </pc:sldChg>
      <pc:sldChg chg="modSp mod">
        <pc:chgData name="Pragathi Puthran" userId="6579d6400e065975" providerId="LiveId" clId="{E51C0345-44CB-407C-9236-3E01702C5133}" dt="2025-06-04T11:16:57.942" v="16" actId="20577"/>
        <pc:sldMkLst>
          <pc:docMk/>
          <pc:sldMk cId="1495450512" sldId="373"/>
        </pc:sldMkLst>
        <pc:spChg chg="mod">
          <ac:chgData name="Pragathi Puthran" userId="6579d6400e065975" providerId="LiveId" clId="{E51C0345-44CB-407C-9236-3E01702C5133}" dt="2025-06-04T11:16:57.942" v="16" actId="20577"/>
          <ac:spMkLst>
            <pc:docMk/>
            <pc:sldMk cId="1495450512" sldId="373"/>
            <ac:spMk id="6" creationId="{85FFA5E8-97F8-4184-7719-536770AF826A}"/>
          </ac:spMkLst>
        </pc:spChg>
      </pc:sldChg>
      <pc:sldChg chg="modSp mod">
        <pc:chgData name="Pragathi Puthran" userId="6579d6400e065975" providerId="LiveId" clId="{E51C0345-44CB-407C-9236-3E01702C5133}" dt="2025-06-06T09:03:02.678" v="36" actId="20577"/>
        <pc:sldMkLst>
          <pc:docMk/>
          <pc:sldMk cId="1829376826" sldId="409"/>
        </pc:sldMkLst>
        <pc:spChg chg="mod">
          <ac:chgData name="Pragathi Puthran" userId="6579d6400e065975" providerId="LiveId" clId="{E51C0345-44CB-407C-9236-3E01702C5133}" dt="2025-06-06T09:03:02.678" v="36" actId="20577"/>
          <ac:spMkLst>
            <pc:docMk/>
            <pc:sldMk cId="1829376826" sldId="409"/>
            <ac:spMk id="5" creationId="{E2B3F60B-CD60-7E9B-3784-EEE41BA8247D}"/>
          </ac:spMkLst>
        </pc:spChg>
      </pc:sldChg>
      <pc:sldChg chg="modSp mod">
        <pc:chgData name="Pragathi Puthran" userId="6579d6400e065975" providerId="LiveId" clId="{E51C0345-44CB-407C-9236-3E01702C5133}" dt="2025-06-06T10:35:51.911" v="66" actId="20577"/>
        <pc:sldMkLst>
          <pc:docMk/>
          <pc:sldMk cId="2166682050" sldId="429"/>
        </pc:sldMkLst>
        <pc:spChg chg="mod">
          <ac:chgData name="Pragathi Puthran" userId="6579d6400e065975" providerId="LiveId" clId="{E51C0345-44CB-407C-9236-3E01702C5133}" dt="2025-06-06T10:35:51.911" v="66" actId="20577"/>
          <ac:spMkLst>
            <pc:docMk/>
            <pc:sldMk cId="2166682050" sldId="429"/>
            <ac:spMk id="2" creationId="{61CFEF04-BD7B-6318-7041-924FF7D645AC}"/>
          </ac:spMkLst>
        </pc:spChg>
      </pc:sldChg>
      <pc:sldChg chg="modSp mod">
        <pc:chgData name="Pragathi Puthran" userId="6579d6400e065975" providerId="LiveId" clId="{E51C0345-44CB-407C-9236-3E01702C5133}" dt="2025-06-11T11:12:50.417" v="170" actId="20577"/>
        <pc:sldMkLst>
          <pc:docMk/>
          <pc:sldMk cId="677037362" sldId="456"/>
        </pc:sldMkLst>
        <pc:spChg chg="mod">
          <ac:chgData name="Pragathi Puthran" userId="6579d6400e065975" providerId="LiveId" clId="{E51C0345-44CB-407C-9236-3E01702C5133}" dt="2025-06-11T11:12:50.417" v="170" actId="20577"/>
          <ac:spMkLst>
            <pc:docMk/>
            <pc:sldMk cId="677037362" sldId="456"/>
            <ac:spMk id="5" creationId="{8851DAAF-E4A2-5BA3-22DA-670B381FCD7B}"/>
          </ac:spMkLst>
        </pc:spChg>
      </pc:sldChg>
      <pc:sldChg chg="modSp mod">
        <pc:chgData name="Pragathi Puthran" userId="6579d6400e065975" providerId="LiveId" clId="{E51C0345-44CB-407C-9236-3E01702C5133}" dt="2025-06-11T09:06:26.298" v="100" actId="20577"/>
        <pc:sldMkLst>
          <pc:docMk/>
          <pc:sldMk cId="3593142491" sldId="608"/>
        </pc:sldMkLst>
        <pc:spChg chg="mod">
          <ac:chgData name="Pragathi Puthran" userId="6579d6400e065975" providerId="LiveId" clId="{E51C0345-44CB-407C-9236-3E01702C5133}" dt="2025-06-11T09:06:26.298" v="100" actId="20577"/>
          <ac:spMkLst>
            <pc:docMk/>
            <pc:sldMk cId="3593142491" sldId="608"/>
            <ac:spMk id="6" creationId="{04836136-EAB7-D118-DF47-5FC0E7A23DBA}"/>
          </ac:spMkLst>
        </pc:spChg>
      </pc:sldChg>
      <pc:sldChg chg="modSp mod">
        <pc:chgData name="Pragathi Puthran" userId="6579d6400e065975" providerId="LiveId" clId="{E51C0345-44CB-407C-9236-3E01702C5133}" dt="2025-06-11T10:48:18.229" v="101" actId="1076"/>
        <pc:sldMkLst>
          <pc:docMk/>
          <pc:sldMk cId="2323520472" sldId="610"/>
        </pc:sldMkLst>
        <pc:spChg chg="mod">
          <ac:chgData name="Pragathi Puthran" userId="6579d6400e065975" providerId="LiveId" clId="{E51C0345-44CB-407C-9236-3E01702C5133}" dt="2025-06-11T10:48:18.229" v="101" actId="1076"/>
          <ac:spMkLst>
            <pc:docMk/>
            <pc:sldMk cId="2323520472" sldId="610"/>
            <ac:spMk id="6" creationId="{42F175C9-EC26-E730-A024-6547AA7B5696}"/>
          </ac:spMkLst>
        </pc:spChg>
      </pc:sldChg>
      <pc:sldChg chg="modSp mod">
        <pc:chgData name="Pragathi Puthran" userId="6579d6400e065975" providerId="LiveId" clId="{E51C0345-44CB-407C-9236-3E01702C5133}" dt="2025-06-11T10:54:03.654" v="149" actId="20577"/>
        <pc:sldMkLst>
          <pc:docMk/>
          <pc:sldMk cId="1176422802" sldId="614"/>
        </pc:sldMkLst>
        <pc:spChg chg="mod">
          <ac:chgData name="Pragathi Puthran" userId="6579d6400e065975" providerId="LiveId" clId="{E51C0345-44CB-407C-9236-3E01702C5133}" dt="2025-06-11T10:54:03.654" v="149" actId="20577"/>
          <ac:spMkLst>
            <pc:docMk/>
            <pc:sldMk cId="1176422802" sldId="614"/>
            <ac:spMk id="4" creationId="{DB52E996-9922-AB45-9A3D-B254C6C0BAB3}"/>
          </ac:spMkLst>
        </pc:spChg>
      </pc:sldChg>
    </pc:docChg>
  </pc:docChgLst>
  <pc:docChgLst>
    <pc:chgData name="Pragathi Puthran" userId="6579d6400e065975" providerId="LiveId" clId="{5B3CA7D9-639E-418D-A32B-44D9FE5B1001}"/>
    <pc:docChg chg="modSld">
      <pc:chgData name="Pragathi Puthran" userId="6579d6400e065975" providerId="LiveId" clId="{5B3CA7D9-639E-418D-A32B-44D9FE5B1001}" dt="2025-07-18T11:00:44.662" v="0" actId="20577"/>
      <pc:docMkLst>
        <pc:docMk/>
      </pc:docMkLst>
      <pc:sldChg chg="modSp mod">
        <pc:chgData name="Pragathi Puthran" userId="6579d6400e065975" providerId="LiveId" clId="{5B3CA7D9-639E-418D-A32B-44D9FE5B1001}" dt="2025-07-18T11:00:44.662" v="0" actId="20577"/>
        <pc:sldMkLst>
          <pc:docMk/>
          <pc:sldMk cId="2323520472" sldId="610"/>
        </pc:sldMkLst>
        <pc:spChg chg="mod">
          <ac:chgData name="Pragathi Puthran" userId="6579d6400e065975" providerId="LiveId" clId="{5B3CA7D9-639E-418D-A32B-44D9FE5B1001}" dt="2025-07-18T11:00:44.662" v="0" actId="20577"/>
          <ac:spMkLst>
            <pc:docMk/>
            <pc:sldMk cId="2323520472" sldId="610"/>
            <ac:spMk id="4" creationId="{A5340D69-BFC0-25B7-5582-7383497DF94F}"/>
          </ac:spMkLst>
        </pc:spChg>
      </pc:sldChg>
    </pc:docChg>
  </pc:docChgLst>
  <pc:docChgLst>
    <pc:chgData name="Pragathi Puthran" userId="6579d6400e065975" providerId="LiveId" clId="{11F731AC-70A4-492C-90A1-AF73B94E267D}"/>
    <pc:docChg chg="undo redo custSel addSld delSld modSld sldOrd">
      <pc:chgData name="Pragathi Puthran" userId="6579d6400e065975" providerId="LiveId" clId="{11F731AC-70A4-492C-90A1-AF73B94E267D}" dt="2025-03-01T10:18:09.513" v="12142" actId="680"/>
      <pc:docMkLst>
        <pc:docMk/>
      </pc:docMkLst>
      <pc:sldChg chg="modSp mod">
        <pc:chgData name="Pragathi Puthran" userId="6579d6400e065975" providerId="LiveId" clId="{11F731AC-70A4-492C-90A1-AF73B94E267D}" dt="2025-01-31T05:17:26.247" v="6881" actId="20577"/>
        <pc:sldMkLst>
          <pc:docMk/>
          <pc:sldMk cId="144050589" sldId="257"/>
        </pc:sldMkLst>
      </pc:sldChg>
      <pc:sldChg chg="addSp delSp modSp mod">
        <pc:chgData name="Pragathi Puthran" userId="6579d6400e065975" providerId="LiveId" clId="{11F731AC-70A4-492C-90A1-AF73B94E267D}" dt="2025-01-30T15:05:40.548" v="6772" actId="14100"/>
        <pc:sldMkLst>
          <pc:docMk/>
          <pc:sldMk cId="3760645609" sldId="261"/>
        </pc:sldMkLst>
      </pc:sldChg>
      <pc:sldChg chg="addSp delSp modSp mod">
        <pc:chgData name="Pragathi Puthran" userId="6579d6400e065975" providerId="LiveId" clId="{11F731AC-70A4-492C-90A1-AF73B94E267D}" dt="2025-01-31T09:16:46.683" v="11160" actId="255"/>
        <pc:sldMkLst>
          <pc:docMk/>
          <pc:sldMk cId="1398052907" sldId="262"/>
        </pc:sldMkLst>
      </pc:sldChg>
      <pc:sldChg chg="addSp delSp modSp mod">
        <pc:chgData name="Pragathi Puthran" userId="6579d6400e065975" providerId="LiveId" clId="{11F731AC-70A4-492C-90A1-AF73B94E267D}" dt="2025-01-31T09:17:08.719" v="11163" actId="255"/>
        <pc:sldMkLst>
          <pc:docMk/>
          <pc:sldMk cId="4175556750" sldId="263"/>
        </pc:sldMkLst>
      </pc:sldChg>
      <pc:sldChg chg="addSp delSp modSp del mod">
        <pc:chgData name="Pragathi Puthran" userId="6579d6400e065975" providerId="LiveId" clId="{11F731AC-70A4-492C-90A1-AF73B94E267D}" dt="2025-01-31T06:02:37.344" v="7534" actId="47"/>
        <pc:sldMkLst>
          <pc:docMk/>
          <pc:sldMk cId="1676256344" sldId="264"/>
        </pc:sldMkLst>
      </pc:sldChg>
      <pc:sldChg chg="addSp delSp modSp mod ord">
        <pc:chgData name="Pragathi Puthran" userId="6579d6400e065975" providerId="LiveId" clId="{11F731AC-70A4-492C-90A1-AF73B94E267D}" dt="2025-01-31T09:17:00.985" v="11162" actId="255"/>
        <pc:sldMkLst>
          <pc:docMk/>
          <pc:sldMk cId="233621119" sldId="265"/>
        </pc:sldMkLst>
      </pc:sldChg>
      <pc:sldChg chg="addSp delSp modSp mod ord">
        <pc:chgData name="Pragathi Puthran" userId="6579d6400e065975" providerId="LiveId" clId="{11F731AC-70A4-492C-90A1-AF73B94E267D}" dt="2025-02-02T04:12:10.343" v="11233" actId="20577"/>
        <pc:sldMkLst>
          <pc:docMk/>
          <pc:sldMk cId="4223869985" sldId="266"/>
        </pc:sldMkLst>
      </pc:sldChg>
      <pc:sldChg chg="delSp modSp mod">
        <pc:chgData name="Pragathi Puthran" userId="6579d6400e065975" providerId="LiveId" clId="{11F731AC-70A4-492C-90A1-AF73B94E267D}" dt="2025-01-31T09:17:29.544" v="11165" actId="255"/>
        <pc:sldMkLst>
          <pc:docMk/>
          <pc:sldMk cId="1121946582" sldId="267"/>
        </pc:sldMkLst>
      </pc:sldChg>
      <pc:sldChg chg="modSp mod">
        <pc:chgData name="Pragathi Puthran" userId="6579d6400e065975" providerId="LiveId" clId="{11F731AC-70A4-492C-90A1-AF73B94E267D}" dt="2025-02-13T07:06:03.788" v="12072" actId="207"/>
        <pc:sldMkLst>
          <pc:docMk/>
          <pc:sldMk cId="1265734479" sldId="269"/>
        </pc:sldMkLst>
      </pc:sldChg>
      <pc:sldChg chg="addSp delSp modSp mod ord">
        <pc:chgData name="Pragathi Puthran" userId="6579d6400e065975" providerId="LiveId" clId="{11F731AC-70A4-492C-90A1-AF73B94E267D}" dt="2025-01-31T09:17:46.822" v="11166" actId="255"/>
        <pc:sldMkLst>
          <pc:docMk/>
          <pc:sldMk cId="1066075601" sldId="270"/>
        </pc:sldMkLst>
      </pc:sldChg>
      <pc:sldChg chg="addSp delSp modSp del mod">
        <pc:chgData name="Pragathi Puthran" userId="6579d6400e065975" providerId="LiveId" clId="{11F731AC-70A4-492C-90A1-AF73B94E267D}" dt="2025-01-31T06:50:06.489" v="8916" actId="47"/>
        <pc:sldMkLst>
          <pc:docMk/>
          <pc:sldMk cId="3560978328" sldId="271"/>
        </pc:sldMkLst>
      </pc:sldChg>
      <pc:sldChg chg="addSp delSp modSp mod">
        <pc:chgData name="Pragathi Puthran" userId="6579d6400e065975" providerId="LiveId" clId="{11F731AC-70A4-492C-90A1-AF73B94E267D}" dt="2025-01-31T06:52:41.505" v="9005" actId="20577"/>
        <pc:sldMkLst>
          <pc:docMk/>
          <pc:sldMk cId="93307968" sldId="272"/>
        </pc:sldMkLst>
      </pc:sldChg>
      <pc:sldChg chg="addSp delSp modSp add del mod">
        <pc:chgData name="Pragathi Puthran" userId="6579d6400e065975" providerId="LiveId" clId="{11F731AC-70A4-492C-90A1-AF73B94E267D}" dt="2025-02-13T06:52:42.115" v="12067" actId="2696"/>
        <pc:sldMkLst>
          <pc:docMk/>
          <pc:sldMk cId="1327313741" sldId="273"/>
        </pc:sldMkLst>
      </pc:sldChg>
      <pc:sldChg chg="addSp delSp modSp del mod">
        <pc:chgData name="Pragathi Puthran" userId="6579d6400e065975" providerId="LiveId" clId="{11F731AC-70A4-492C-90A1-AF73B94E267D}" dt="2025-01-31T07:07:26.438" v="9399" actId="2696"/>
        <pc:sldMkLst>
          <pc:docMk/>
          <pc:sldMk cId="2036306967" sldId="275"/>
        </pc:sldMkLst>
      </pc:sldChg>
      <pc:sldChg chg="del">
        <pc:chgData name="Pragathi Puthran" userId="6579d6400e065975" providerId="LiveId" clId="{11F731AC-70A4-492C-90A1-AF73B94E267D}" dt="2025-01-31T07:10:34.749" v="9452" actId="2696"/>
        <pc:sldMkLst>
          <pc:docMk/>
          <pc:sldMk cId="2857028515" sldId="276"/>
        </pc:sldMkLst>
      </pc:sldChg>
      <pc:sldChg chg="addSp delSp modSp mod">
        <pc:chgData name="Pragathi Puthran" userId="6579d6400e065975" providerId="LiveId" clId="{11F731AC-70A4-492C-90A1-AF73B94E267D}" dt="2025-01-31T09:25:47.930" v="11211" actId="20577"/>
        <pc:sldMkLst>
          <pc:docMk/>
          <pc:sldMk cId="1322802136" sldId="277"/>
        </pc:sldMkLst>
      </pc:sldChg>
      <pc:sldChg chg="addSp delSp modSp mod">
        <pc:chgData name="Pragathi Puthran" userId="6579d6400e065975" providerId="LiveId" clId="{11F731AC-70A4-492C-90A1-AF73B94E267D}" dt="2025-02-02T04:29:18.986" v="11582" actId="20577"/>
        <pc:sldMkLst>
          <pc:docMk/>
          <pc:sldMk cId="3102279298" sldId="278"/>
        </pc:sldMkLst>
      </pc:sldChg>
      <pc:sldChg chg="addSp delSp modSp mod">
        <pc:chgData name="Pragathi Puthran" userId="6579d6400e065975" providerId="LiveId" clId="{11F731AC-70A4-492C-90A1-AF73B94E267D}" dt="2025-02-02T04:30:34.199" v="11615" actId="20577"/>
        <pc:sldMkLst>
          <pc:docMk/>
          <pc:sldMk cId="1515424684" sldId="279"/>
        </pc:sldMkLst>
      </pc:sldChg>
      <pc:sldChg chg="addSp delSp modSp mod">
        <pc:chgData name="Pragathi Puthran" userId="6579d6400e065975" providerId="LiveId" clId="{11F731AC-70A4-492C-90A1-AF73B94E267D}" dt="2025-02-02T04:31:55.937" v="11646" actId="20577"/>
        <pc:sldMkLst>
          <pc:docMk/>
          <pc:sldMk cId="2059889747" sldId="280"/>
        </pc:sldMkLst>
      </pc:sldChg>
      <pc:sldChg chg="addSp delSp modSp mod">
        <pc:chgData name="Pragathi Puthran" userId="6579d6400e065975" providerId="LiveId" clId="{11F731AC-70A4-492C-90A1-AF73B94E267D}" dt="2025-01-30T13:40:00.730" v="5862" actId="255"/>
        <pc:sldMkLst>
          <pc:docMk/>
          <pc:sldMk cId="881434225" sldId="281"/>
        </pc:sldMkLst>
      </pc:sldChg>
      <pc:sldChg chg="addSp delSp modSp mod">
        <pc:chgData name="Pragathi Puthran" userId="6579d6400e065975" providerId="LiveId" clId="{11F731AC-70A4-492C-90A1-AF73B94E267D}" dt="2025-02-02T04:33:45.952" v="11648" actId="20577"/>
        <pc:sldMkLst>
          <pc:docMk/>
          <pc:sldMk cId="83457454" sldId="283"/>
        </pc:sldMkLst>
      </pc:sldChg>
      <pc:sldChg chg="addSp delSp modSp mod">
        <pc:chgData name="Pragathi Puthran" userId="6579d6400e065975" providerId="LiveId" clId="{11F731AC-70A4-492C-90A1-AF73B94E267D}" dt="2025-01-31T07:15:05.518" v="9522" actId="1036"/>
        <pc:sldMkLst>
          <pc:docMk/>
          <pc:sldMk cId="3021811356" sldId="284"/>
        </pc:sldMkLst>
      </pc:sldChg>
      <pc:sldChg chg="modSp mod">
        <pc:chgData name="Pragathi Puthran" userId="6579d6400e065975" providerId="LiveId" clId="{11F731AC-70A4-492C-90A1-AF73B94E267D}" dt="2025-01-29T10:44:58.936" v="1724" actId="20577"/>
        <pc:sldMkLst>
          <pc:docMk/>
          <pc:sldMk cId="358049426" sldId="285"/>
        </pc:sldMkLst>
      </pc:sldChg>
      <pc:sldChg chg="addSp delSp modSp mod">
        <pc:chgData name="Pragathi Puthran" userId="6579d6400e065975" providerId="LiveId" clId="{11F731AC-70A4-492C-90A1-AF73B94E267D}" dt="2025-02-13T10:02:05.340" v="12087" actId="20577"/>
        <pc:sldMkLst>
          <pc:docMk/>
          <pc:sldMk cId="1122659074" sldId="287"/>
        </pc:sldMkLst>
      </pc:sldChg>
      <pc:sldChg chg="addSp delSp modSp mod">
        <pc:chgData name="Pragathi Puthran" userId="6579d6400e065975" providerId="LiveId" clId="{11F731AC-70A4-492C-90A1-AF73B94E267D}" dt="2025-01-31T07:20:26.041" v="9634" actId="14100"/>
        <pc:sldMkLst>
          <pc:docMk/>
          <pc:sldMk cId="3809519362" sldId="288"/>
        </pc:sldMkLst>
      </pc:sldChg>
      <pc:sldChg chg="addSp delSp modSp del mod">
        <pc:chgData name="Pragathi Puthran" userId="6579d6400e065975" providerId="LiveId" clId="{11F731AC-70A4-492C-90A1-AF73B94E267D}" dt="2025-01-31T07:20:41.377" v="9635" actId="2696"/>
        <pc:sldMkLst>
          <pc:docMk/>
          <pc:sldMk cId="3456212898" sldId="289"/>
        </pc:sldMkLst>
      </pc:sldChg>
      <pc:sldChg chg="addSp delSp modSp del mod">
        <pc:chgData name="Pragathi Puthran" userId="6579d6400e065975" providerId="LiveId" clId="{11F731AC-70A4-492C-90A1-AF73B94E267D}" dt="2025-01-31T07:20:45.647" v="9636" actId="2696"/>
        <pc:sldMkLst>
          <pc:docMk/>
          <pc:sldMk cId="1274809868" sldId="290"/>
        </pc:sldMkLst>
      </pc:sldChg>
      <pc:sldChg chg="addSp delSp modSp mod">
        <pc:chgData name="Pragathi Puthran" userId="6579d6400e065975" providerId="LiveId" clId="{11F731AC-70A4-492C-90A1-AF73B94E267D}" dt="2025-01-31T07:21:31.792" v="9658" actId="255"/>
        <pc:sldMkLst>
          <pc:docMk/>
          <pc:sldMk cId="2408710935" sldId="291"/>
        </pc:sldMkLst>
      </pc:sldChg>
      <pc:sldChg chg="addSp delSp modSp mod">
        <pc:chgData name="Pragathi Puthran" userId="6579d6400e065975" providerId="LiveId" clId="{11F731AC-70A4-492C-90A1-AF73B94E267D}" dt="2025-02-02T04:44:34.447" v="11650" actId="1036"/>
        <pc:sldMkLst>
          <pc:docMk/>
          <pc:sldMk cId="98079955" sldId="292"/>
        </pc:sldMkLst>
      </pc:sldChg>
      <pc:sldChg chg="addSp delSp modSp mod">
        <pc:chgData name="Pragathi Puthran" userId="6579d6400e065975" providerId="LiveId" clId="{11F731AC-70A4-492C-90A1-AF73B94E267D}" dt="2025-01-31T09:19:40.538" v="11194" actId="14100"/>
        <pc:sldMkLst>
          <pc:docMk/>
          <pc:sldMk cId="1816233475" sldId="293"/>
        </pc:sldMkLst>
      </pc:sldChg>
      <pc:sldChg chg="addSp delSp modSp mod ord">
        <pc:chgData name="Pragathi Puthran" userId="6579d6400e065975" providerId="LiveId" clId="{11F731AC-70A4-492C-90A1-AF73B94E267D}" dt="2025-03-01T10:18:08.010" v="12141" actId="20578"/>
        <pc:sldMkLst>
          <pc:docMk/>
          <pc:sldMk cId="39140349" sldId="294"/>
        </pc:sldMkLst>
      </pc:sldChg>
      <pc:sldChg chg="addSp delSp modSp mod">
        <pc:chgData name="Pragathi Puthran" userId="6579d6400e065975" providerId="LiveId" clId="{11F731AC-70A4-492C-90A1-AF73B94E267D}" dt="2025-01-31T07:22:59.745" v="9713" actId="255"/>
        <pc:sldMkLst>
          <pc:docMk/>
          <pc:sldMk cId="2357602853" sldId="295"/>
        </pc:sldMkLst>
      </pc:sldChg>
      <pc:sldChg chg="addSp delSp modSp mod">
        <pc:chgData name="Pragathi Puthran" userId="6579d6400e065975" providerId="LiveId" clId="{11F731AC-70A4-492C-90A1-AF73B94E267D}" dt="2025-02-02T04:48:52.905" v="11651" actId="20577"/>
        <pc:sldMkLst>
          <pc:docMk/>
          <pc:sldMk cId="56665698" sldId="296"/>
        </pc:sldMkLst>
      </pc:sldChg>
      <pc:sldChg chg="addSp delSp modSp mod">
        <pc:chgData name="Pragathi Puthran" userId="6579d6400e065975" providerId="LiveId" clId="{11F731AC-70A4-492C-90A1-AF73B94E267D}" dt="2025-02-02T04:53:05.409" v="11654" actId="20577"/>
        <pc:sldMkLst>
          <pc:docMk/>
          <pc:sldMk cId="1371445912" sldId="297"/>
        </pc:sldMkLst>
      </pc:sldChg>
      <pc:sldChg chg="addSp delSp modSp mod">
        <pc:chgData name="Pragathi Puthran" userId="6579d6400e065975" providerId="LiveId" clId="{11F731AC-70A4-492C-90A1-AF73B94E267D}" dt="2025-02-02T04:52:55.584" v="11652" actId="20577"/>
        <pc:sldMkLst>
          <pc:docMk/>
          <pc:sldMk cId="1419875970" sldId="298"/>
        </pc:sldMkLst>
      </pc:sldChg>
      <pc:sldChg chg="addSp delSp modSp mod">
        <pc:chgData name="Pragathi Puthran" userId="6579d6400e065975" providerId="LiveId" clId="{11F731AC-70A4-492C-90A1-AF73B94E267D}" dt="2025-01-31T07:25:11.452" v="9802" actId="255"/>
        <pc:sldMkLst>
          <pc:docMk/>
          <pc:sldMk cId="2003351142" sldId="299"/>
        </pc:sldMkLst>
      </pc:sldChg>
      <pc:sldChg chg="addSp delSp modSp del mod">
        <pc:chgData name="Pragathi Puthran" userId="6579d6400e065975" providerId="LiveId" clId="{11F731AC-70A4-492C-90A1-AF73B94E267D}" dt="2025-01-31T07:25:15.660" v="9803" actId="2696"/>
        <pc:sldMkLst>
          <pc:docMk/>
          <pc:sldMk cId="2365290968" sldId="300"/>
        </pc:sldMkLst>
      </pc:sldChg>
      <pc:sldChg chg="addSp delSp modSp mod">
        <pc:chgData name="Pragathi Puthran" userId="6579d6400e065975" providerId="LiveId" clId="{11F731AC-70A4-492C-90A1-AF73B94E267D}" dt="2025-01-31T07:27:21.337" v="9844" actId="255"/>
        <pc:sldMkLst>
          <pc:docMk/>
          <pc:sldMk cId="1624018577" sldId="301"/>
        </pc:sldMkLst>
      </pc:sldChg>
      <pc:sldChg chg="addSp delSp modSp mod">
        <pc:chgData name="Pragathi Puthran" userId="6579d6400e065975" providerId="LiveId" clId="{11F731AC-70A4-492C-90A1-AF73B94E267D}" dt="2025-02-17T05:22:24.035" v="12088" actId="20577"/>
        <pc:sldMkLst>
          <pc:docMk/>
          <pc:sldMk cId="2859530751" sldId="302"/>
        </pc:sldMkLst>
      </pc:sldChg>
      <pc:sldChg chg="addSp delSp modSp del mod">
        <pc:chgData name="Pragathi Puthran" userId="6579d6400e065975" providerId="LiveId" clId="{11F731AC-70A4-492C-90A1-AF73B94E267D}" dt="2025-01-31T07:28:38.456" v="9889" actId="2696"/>
        <pc:sldMkLst>
          <pc:docMk/>
          <pc:sldMk cId="3416694414" sldId="303"/>
        </pc:sldMkLst>
      </pc:sldChg>
      <pc:sldChg chg="addSp delSp modSp del mod">
        <pc:chgData name="Pragathi Puthran" userId="6579d6400e065975" providerId="LiveId" clId="{11F731AC-70A4-492C-90A1-AF73B94E267D}" dt="2025-01-31T07:49:30.122" v="10122" actId="2696"/>
        <pc:sldMkLst>
          <pc:docMk/>
          <pc:sldMk cId="3950965376" sldId="304"/>
        </pc:sldMkLst>
      </pc:sldChg>
      <pc:sldChg chg="modSp add del mod">
        <pc:chgData name="Pragathi Puthran" userId="6579d6400e065975" providerId="LiveId" clId="{11F731AC-70A4-492C-90A1-AF73B94E267D}" dt="2025-01-31T07:51:24.809" v="10127" actId="2696"/>
        <pc:sldMkLst>
          <pc:docMk/>
          <pc:sldMk cId="4040367683" sldId="304"/>
        </pc:sldMkLst>
      </pc:sldChg>
      <pc:sldChg chg="modSp mod">
        <pc:chgData name="Pragathi Puthran" userId="6579d6400e065975" providerId="LiveId" clId="{11F731AC-70A4-492C-90A1-AF73B94E267D}" dt="2025-01-31T07:54:33.663" v="10143" actId="12"/>
        <pc:sldMkLst>
          <pc:docMk/>
          <pc:sldMk cId="43418772" sldId="305"/>
        </pc:sldMkLst>
      </pc:sldChg>
      <pc:sldChg chg="addSp delSp modSp add del mod">
        <pc:chgData name="Pragathi Puthran" userId="6579d6400e065975" providerId="LiveId" clId="{11F731AC-70A4-492C-90A1-AF73B94E267D}" dt="2025-01-31T07:52:59.148" v="10134" actId="2696"/>
        <pc:sldMkLst>
          <pc:docMk/>
          <pc:sldMk cId="3780169278" sldId="305"/>
        </pc:sldMkLst>
      </pc:sldChg>
      <pc:sldChg chg="addSp delSp modSp del mod">
        <pc:chgData name="Pragathi Puthran" userId="6579d6400e065975" providerId="LiveId" clId="{11F731AC-70A4-492C-90A1-AF73B94E267D}" dt="2025-01-31T07:53:51.662" v="10137" actId="2696"/>
        <pc:sldMkLst>
          <pc:docMk/>
          <pc:sldMk cId="1698784308" sldId="306"/>
        </pc:sldMkLst>
      </pc:sldChg>
      <pc:sldChg chg="modSp mod">
        <pc:chgData name="Pragathi Puthran" userId="6579d6400e065975" providerId="LiveId" clId="{11F731AC-70A4-492C-90A1-AF73B94E267D}" dt="2025-01-31T07:54:39.711" v="10144" actId="255"/>
        <pc:sldMkLst>
          <pc:docMk/>
          <pc:sldMk cId="3294504222" sldId="306"/>
        </pc:sldMkLst>
      </pc:sldChg>
      <pc:sldChg chg="addSp delSp modSp mod">
        <pc:chgData name="Pragathi Puthran" userId="6579d6400e065975" providerId="LiveId" clId="{11F731AC-70A4-492C-90A1-AF73B94E267D}" dt="2025-01-31T08:00:55.941" v="10175" actId="313"/>
        <pc:sldMkLst>
          <pc:docMk/>
          <pc:sldMk cId="1199132340" sldId="307"/>
        </pc:sldMkLst>
      </pc:sldChg>
      <pc:sldChg chg="addSp delSp modSp del mod">
        <pc:chgData name="Pragathi Puthran" userId="6579d6400e065975" providerId="LiveId" clId="{11F731AC-70A4-492C-90A1-AF73B94E267D}" dt="2025-01-31T07:58:14.621" v="10155" actId="2696"/>
        <pc:sldMkLst>
          <pc:docMk/>
          <pc:sldMk cId="2269511493" sldId="307"/>
        </pc:sldMkLst>
      </pc:sldChg>
      <pc:sldChg chg="addSp delSp modSp del mod">
        <pc:chgData name="Pragathi Puthran" userId="6579d6400e065975" providerId="LiveId" clId="{11F731AC-70A4-492C-90A1-AF73B94E267D}" dt="2025-01-31T07:58:42.812" v="10156" actId="2696"/>
        <pc:sldMkLst>
          <pc:docMk/>
          <pc:sldMk cId="846438697" sldId="309"/>
        </pc:sldMkLst>
      </pc:sldChg>
      <pc:sldChg chg="del">
        <pc:chgData name="Pragathi Puthran" userId="6579d6400e065975" providerId="LiveId" clId="{11F731AC-70A4-492C-90A1-AF73B94E267D}" dt="2025-01-31T08:03:08.388" v="10208" actId="2696"/>
        <pc:sldMkLst>
          <pc:docMk/>
          <pc:sldMk cId="1946401735" sldId="309"/>
        </pc:sldMkLst>
      </pc:sldChg>
      <pc:sldChg chg="addSp delSp modSp del mod">
        <pc:chgData name="Pragathi Puthran" userId="6579d6400e065975" providerId="LiveId" clId="{11F731AC-70A4-492C-90A1-AF73B94E267D}" dt="2025-01-31T08:01:22.992" v="10176" actId="2696"/>
        <pc:sldMkLst>
          <pc:docMk/>
          <pc:sldMk cId="2683233733" sldId="310"/>
        </pc:sldMkLst>
      </pc:sldChg>
      <pc:sldChg chg="modSp mod">
        <pc:chgData name="Pragathi Puthran" userId="6579d6400e065975" providerId="LiveId" clId="{11F731AC-70A4-492C-90A1-AF73B94E267D}" dt="2025-01-31T08:02:12.302" v="10206" actId="20577"/>
        <pc:sldMkLst>
          <pc:docMk/>
          <pc:sldMk cId="3612291597" sldId="310"/>
        </pc:sldMkLst>
      </pc:sldChg>
      <pc:sldChg chg="addSp delSp modSp del mod">
        <pc:chgData name="Pragathi Puthran" userId="6579d6400e065975" providerId="LiveId" clId="{11F731AC-70A4-492C-90A1-AF73B94E267D}" dt="2025-01-31T08:23:22.482" v="10224" actId="2696"/>
        <pc:sldMkLst>
          <pc:docMk/>
          <pc:sldMk cId="422349751" sldId="311"/>
        </pc:sldMkLst>
      </pc:sldChg>
      <pc:sldChg chg="addSp delSp modSp del mod">
        <pc:chgData name="Pragathi Puthran" userId="6579d6400e065975" providerId="LiveId" clId="{11F731AC-70A4-492C-90A1-AF73B94E267D}" dt="2025-01-31T08:02:29.479" v="10207" actId="2696"/>
        <pc:sldMkLst>
          <pc:docMk/>
          <pc:sldMk cId="423965277" sldId="312"/>
        </pc:sldMkLst>
      </pc:sldChg>
      <pc:sldChg chg="modSp mod">
        <pc:chgData name="Pragathi Puthran" userId="6579d6400e065975" providerId="LiveId" clId="{11F731AC-70A4-492C-90A1-AF73B94E267D}" dt="2025-01-31T08:03:31.980" v="10223" actId="20577"/>
        <pc:sldMkLst>
          <pc:docMk/>
          <pc:sldMk cId="1225414778" sldId="312"/>
        </pc:sldMkLst>
      </pc:sldChg>
      <pc:sldChg chg="modSp mod">
        <pc:chgData name="Pragathi Puthran" userId="6579d6400e065975" providerId="LiveId" clId="{11F731AC-70A4-492C-90A1-AF73B94E267D}" dt="2025-01-31T08:25:20.060" v="10243" actId="5793"/>
        <pc:sldMkLst>
          <pc:docMk/>
          <pc:sldMk cId="1781180266" sldId="313"/>
        </pc:sldMkLst>
      </pc:sldChg>
      <pc:sldChg chg="addSp delSp modSp del mod">
        <pc:chgData name="Pragathi Puthran" userId="6579d6400e065975" providerId="LiveId" clId="{11F731AC-70A4-492C-90A1-AF73B94E267D}" dt="2025-01-31T08:23:22.482" v="10224" actId="2696"/>
        <pc:sldMkLst>
          <pc:docMk/>
          <pc:sldMk cId="3860609511" sldId="313"/>
        </pc:sldMkLst>
      </pc:sldChg>
      <pc:sldChg chg="addSp delSp modSp del mod">
        <pc:chgData name="Pragathi Puthran" userId="6579d6400e065975" providerId="LiveId" clId="{11F731AC-70A4-492C-90A1-AF73B94E267D}" dt="2025-01-31T08:23:22.482" v="10224" actId="2696"/>
        <pc:sldMkLst>
          <pc:docMk/>
          <pc:sldMk cId="558060516" sldId="314"/>
        </pc:sldMkLst>
      </pc:sldChg>
      <pc:sldChg chg="modSp mod">
        <pc:chgData name="Pragathi Puthran" userId="6579d6400e065975" providerId="LiveId" clId="{11F731AC-70A4-492C-90A1-AF73B94E267D}" dt="2025-01-31T08:25:43.471" v="10249" actId="14100"/>
        <pc:sldMkLst>
          <pc:docMk/>
          <pc:sldMk cId="720010608" sldId="314"/>
        </pc:sldMkLst>
      </pc:sldChg>
      <pc:sldChg chg="addSp delSp modSp del mod">
        <pc:chgData name="Pragathi Puthran" userId="6579d6400e065975" providerId="LiveId" clId="{11F731AC-70A4-492C-90A1-AF73B94E267D}" dt="2025-01-31T08:23:22.482" v="10224" actId="2696"/>
        <pc:sldMkLst>
          <pc:docMk/>
          <pc:sldMk cId="3484669649" sldId="315"/>
        </pc:sldMkLst>
      </pc:sldChg>
      <pc:sldChg chg="addSp delSp modSp del mod">
        <pc:chgData name="Pragathi Puthran" userId="6579d6400e065975" providerId="LiveId" clId="{11F731AC-70A4-492C-90A1-AF73B94E267D}" dt="2025-01-31T08:23:22.482" v="10224" actId="2696"/>
        <pc:sldMkLst>
          <pc:docMk/>
          <pc:sldMk cId="2164181256" sldId="316"/>
        </pc:sldMkLst>
      </pc:sldChg>
      <pc:sldChg chg="modSp del mod">
        <pc:chgData name="Pragathi Puthran" userId="6579d6400e065975" providerId="LiveId" clId="{11F731AC-70A4-492C-90A1-AF73B94E267D}" dt="2025-01-30T13:56:22.532" v="6086" actId="2696"/>
        <pc:sldMkLst>
          <pc:docMk/>
          <pc:sldMk cId="740315669" sldId="317"/>
        </pc:sldMkLst>
      </pc:sldChg>
      <pc:sldChg chg="modSp mod">
        <pc:chgData name="Pragathi Puthran" userId="6579d6400e065975" providerId="LiveId" clId="{11F731AC-70A4-492C-90A1-AF73B94E267D}" dt="2025-01-31T08:26:01.977" v="10253" actId="20577"/>
        <pc:sldMkLst>
          <pc:docMk/>
          <pc:sldMk cId="1545658847" sldId="318"/>
        </pc:sldMkLst>
      </pc:sldChg>
      <pc:sldChg chg="addSp delSp modSp del mod">
        <pc:chgData name="Pragathi Puthran" userId="6579d6400e065975" providerId="LiveId" clId="{11F731AC-70A4-492C-90A1-AF73B94E267D}" dt="2025-01-31T08:23:22.482" v="10224" actId="2696"/>
        <pc:sldMkLst>
          <pc:docMk/>
          <pc:sldMk cId="3710619201" sldId="318"/>
        </pc:sldMkLst>
      </pc:sldChg>
      <pc:sldChg chg="modSp mod">
        <pc:chgData name="Pragathi Puthran" userId="6579d6400e065975" providerId="LiveId" clId="{11F731AC-70A4-492C-90A1-AF73B94E267D}" dt="2025-01-31T08:24:42.782" v="10227" actId="255"/>
        <pc:sldMkLst>
          <pc:docMk/>
          <pc:sldMk cId="612989453" sldId="319"/>
        </pc:sldMkLst>
      </pc:sldChg>
      <pc:sldChg chg="addSp delSp modSp del mod">
        <pc:chgData name="Pragathi Puthran" userId="6579d6400e065975" providerId="LiveId" clId="{11F731AC-70A4-492C-90A1-AF73B94E267D}" dt="2025-01-31T08:23:22.482" v="10224" actId="2696"/>
        <pc:sldMkLst>
          <pc:docMk/>
          <pc:sldMk cId="2856244698" sldId="319"/>
        </pc:sldMkLst>
      </pc:sldChg>
      <pc:sldChg chg="addSp delSp modSp del mod">
        <pc:chgData name="Pragathi Puthran" userId="6579d6400e065975" providerId="LiveId" clId="{11F731AC-70A4-492C-90A1-AF73B94E267D}" dt="2025-01-31T08:23:22.482" v="10224" actId="2696"/>
        <pc:sldMkLst>
          <pc:docMk/>
          <pc:sldMk cId="2149666268" sldId="320"/>
        </pc:sldMkLst>
      </pc:sldChg>
      <pc:sldChg chg="modSp mod">
        <pc:chgData name="Pragathi Puthran" userId="6579d6400e065975" providerId="LiveId" clId="{11F731AC-70A4-492C-90A1-AF73B94E267D}" dt="2025-01-31T08:26:19.953" v="10266" actId="20577"/>
        <pc:sldMkLst>
          <pc:docMk/>
          <pc:sldMk cId="3509075355" sldId="320"/>
        </pc:sldMkLst>
      </pc:sldChg>
      <pc:sldChg chg="addSp delSp modSp del mod">
        <pc:chgData name="Pragathi Puthran" userId="6579d6400e065975" providerId="LiveId" clId="{11F731AC-70A4-492C-90A1-AF73B94E267D}" dt="2025-01-31T08:23:22.482" v="10224" actId="2696"/>
        <pc:sldMkLst>
          <pc:docMk/>
          <pc:sldMk cId="1171224916" sldId="321"/>
        </pc:sldMkLst>
      </pc:sldChg>
      <pc:sldChg chg="modSp mod">
        <pc:chgData name="Pragathi Puthran" userId="6579d6400e065975" providerId="LiveId" clId="{11F731AC-70A4-492C-90A1-AF73B94E267D}" dt="2025-01-31T08:26:39.866" v="10273" actId="20577"/>
        <pc:sldMkLst>
          <pc:docMk/>
          <pc:sldMk cId="1256929638" sldId="321"/>
        </pc:sldMkLst>
      </pc:sldChg>
      <pc:sldChg chg="del">
        <pc:chgData name="Pragathi Puthran" userId="6579d6400e065975" providerId="LiveId" clId="{11F731AC-70A4-492C-90A1-AF73B94E267D}" dt="2025-01-31T08:23:22.482" v="10224" actId="2696"/>
        <pc:sldMkLst>
          <pc:docMk/>
          <pc:sldMk cId="3436076952" sldId="322"/>
        </pc:sldMkLst>
      </pc:sldChg>
      <pc:sldChg chg="modSp mod">
        <pc:chgData name="Pragathi Puthran" userId="6579d6400e065975" providerId="LiveId" clId="{11F731AC-70A4-492C-90A1-AF73B94E267D}" dt="2025-01-31T08:27:10.620" v="10274" actId="255"/>
        <pc:sldMkLst>
          <pc:docMk/>
          <pc:sldMk cId="2454920617" sldId="323"/>
        </pc:sldMkLst>
      </pc:sldChg>
      <pc:sldChg chg="addSp delSp modSp del mod">
        <pc:chgData name="Pragathi Puthran" userId="6579d6400e065975" providerId="LiveId" clId="{11F731AC-70A4-492C-90A1-AF73B94E267D}" dt="2025-01-31T08:23:22.482" v="10224" actId="2696"/>
        <pc:sldMkLst>
          <pc:docMk/>
          <pc:sldMk cId="2943465941" sldId="323"/>
        </pc:sldMkLst>
      </pc:sldChg>
      <pc:sldChg chg="addSp delSp modSp del mod">
        <pc:chgData name="Pragathi Puthran" userId="6579d6400e065975" providerId="LiveId" clId="{11F731AC-70A4-492C-90A1-AF73B94E267D}" dt="2025-01-31T07:31:53.173" v="9890" actId="2696"/>
        <pc:sldMkLst>
          <pc:docMk/>
          <pc:sldMk cId="1443535207" sldId="324"/>
        </pc:sldMkLst>
      </pc:sldChg>
      <pc:sldChg chg="addSp delSp modSp mod">
        <pc:chgData name="Pragathi Puthran" userId="6579d6400e065975" providerId="LiveId" clId="{11F731AC-70A4-492C-90A1-AF73B94E267D}" dt="2025-01-31T09:19:57.618" v="11195" actId="255"/>
        <pc:sldMkLst>
          <pc:docMk/>
          <pc:sldMk cId="1218628938" sldId="325"/>
        </pc:sldMkLst>
      </pc:sldChg>
      <pc:sldChg chg="addSp delSp modSp mod">
        <pc:chgData name="Pragathi Puthran" userId="6579d6400e065975" providerId="LiveId" clId="{11F731AC-70A4-492C-90A1-AF73B94E267D}" dt="2025-02-17T06:17:10.247" v="12089" actId="12"/>
        <pc:sldMkLst>
          <pc:docMk/>
          <pc:sldMk cId="2783257388" sldId="326"/>
        </pc:sldMkLst>
      </pc:sldChg>
      <pc:sldChg chg="addSp delSp modSp mod">
        <pc:chgData name="Pragathi Puthran" userId="6579d6400e065975" providerId="LiveId" clId="{11F731AC-70A4-492C-90A1-AF73B94E267D}" dt="2025-01-31T07:34:40.403" v="9943" actId="255"/>
        <pc:sldMkLst>
          <pc:docMk/>
          <pc:sldMk cId="4141238278" sldId="327"/>
        </pc:sldMkLst>
      </pc:sldChg>
      <pc:sldChg chg="addSp delSp modSp mod">
        <pc:chgData name="Pragathi Puthran" userId="6579d6400e065975" providerId="LiveId" clId="{11F731AC-70A4-492C-90A1-AF73B94E267D}" dt="2025-01-31T07:33:16.054" v="9922" actId="12"/>
        <pc:sldMkLst>
          <pc:docMk/>
          <pc:sldMk cId="1313455822" sldId="328"/>
        </pc:sldMkLst>
      </pc:sldChg>
      <pc:sldChg chg="addSp delSp modSp mod">
        <pc:chgData name="Pragathi Puthran" userId="6579d6400e065975" providerId="LiveId" clId="{11F731AC-70A4-492C-90A1-AF73B94E267D}" dt="2025-02-02T05:08:15.267" v="11656"/>
        <pc:sldMkLst>
          <pc:docMk/>
          <pc:sldMk cId="4168152725" sldId="329"/>
        </pc:sldMkLst>
      </pc:sldChg>
      <pc:sldChg chg="addSp delSp modSp mod">
        <pc:chgData name="Pragathi Puthran" userId="6579d6400e065975" providerId="LiveId" clId="{11F731AC-70A4-492C-90A1-AF73B94E267D}" dt="2025-02-02T05:13:11.462" v="11657" actId="20577"/>
        <pc:sldMkLst>
          <pc:docMk/>
          <pc:sldMk cId="1671361357" sldId="330"/>
        </pc:sldMkLst>
      </pc:sldChg>
      <pc:sldChg chg="addSp delSp modSp mod">
        <pc:chgData name="Pragathi Puthran" userId="6579d6400e065975" providerId="LiveId" clId="{11F731AC-70A4-492C-90A1-AF73B94E267D}" dt="2025-01-31T07:34:22.261" v="9940" actId="255"/>
        <pc:sldMkLst>
          <pc:docMk/>
          <pc:sldMk cId="4081066697" sldId="331"/>
        </pc:sldMkLst>
      </pc:sldChg>
      <pc:sldChg chg="addSp delSp modSp mod">
        <pc:chgData name="Pragathi Puthran" userId="6579d6400e065975" providerId="LiveId" clId="{11F731AC-70A4-492C-90A1-AF73B94E267D}" dt="2025-01-31T07:34:16.142" v="9939" actId="14100"/>
        <pc:sldMkLst>
          <pc:docMk/>
          <pc:sldMk cId="1010409785" sldId="332"/>
        </pc:sldMkLst>
      </pc:sldChg>
      <pc:sldChg chg="addSp delSp modSp mod">
        <pc:chgData name="Pragathi Puthran" userId="6579d6400e065975" providerId="LiveId" clId="{11F731AC-70A4-492C-90A1-AF73B94E267D}" dt="2025-01-31T07:34:58.492" v="9944" actId="255"/>
        <pc:sldMkLst>
          <pc:docMk/>
          <pc:sldMk cId="3498647627" sldId="333"/>
        </pc:sldMkLst>
      </pc:sldChg>
      <pc:sldChg chg="addSp delSp modSp mod">
        <pc:chgData name="Pragathi Puthran" userId="6579d6400e065975" providerId="LiveId" clId="{11F731AC-70A4-492C-90A1-AF73B94E267D}" dt="2025-01-31T07:35:18.973" v="9952" actId="255"/>
        <pc:sldMkLst>
          <pc:docMk/>
          <pc:sldMk cId="20895898" sldId="334"/>
        </pc:sldMkLst>
      </pc:sldChg>
      <pc:sldChg chg="addSp delSp modSp mod">
        <pc:chgData name="Pragathi Puthran" userId="6579d6400e065975" providerId="LiveId" clId="{11F731AC-70A4-492C-90A1-AF73B94E267D}" dt="2025-01-31T07:35:55.687" v="9971" actId="12"/>
        <pc:sldMkLst>
          <pc:docMk/>
          <pc:sldMk cId="2377474541" sldId="335"/>
        </pc:sldMkLst>
      </pc:sldChg>
      <pc:sldChg chg="addSp delSp modSp mod">
        <pc:chgData name="Pragathi Puthran" userId="6579d6400e065975" providerId="LiveId" clId="{11F731AC-70A4-492C-90A1-AF73B94E267D}" dt="2025-01-31T07:36:13.670" v="9976" actId="255"/>
        <pc:sldMkLst>
          <pc:docMk/>
          <pc:sldMk cId="2973490988" sldId="336"/>
        </pc:sldMkLst>
      </pc:sldChg>
      <pc:sldChg chg="addSp delSp modSp mod">
        <pc:chgData name="Pragathi Puthran" userId="6579d6400e065975" providerId="LiveId" clId="{11F731AC-70A4-492C-90A1-AF73B94E267D}" dt="2025-01-31T07:36:21.394" v="9977" actId="255"/>
        <pc:sldMkLst>
          <pc:docMk/>
          <pc:sldMk cId="2964159289" sldId="337"/>
        </pc:sldMkLst>
      </pc:sldChg>
      <pc:sldChg chg="addSp delSp modSp mod">
        <pc:chgData name="Pragathi Puthran" userId="6579d6400e065975" providerId="LiveId" clId="{11F731AC-70A4-492C-90A1-AF73B94E267D}" dt="2025-01-31T07:36:36.926" v="9982" actId="207"/>
        <pc:sldMkLst>
          <pc:docMk/>
          <pc:sldMk cId="2186203190" sldId="338"/>
        </pc:sldMkLst>
      </pc:sldChg>
      <pc:sldChg chg="addSp delSp modSp mod">
        <pc:chgData name="Pragathi Puthran" userId="6579d6400e065975" providerId="LiveId" clId="{11F731AC-70A4-492C-90A1-AF73B94E267D}" dt="2025-01-31T07:36:44.872" v="9983" actId="255"/>
        <pc:sldMkLst>
          <pc:docMk/>
          <pc:sldMk cId="3896985224" sldId="339"/>
        </pc:sldMkLst>
      </pc:sldChg>
      <pc:sldChg chg="addSp delSp modSp mod">
        <pc:chgData name="Pragathi Puthran" userId="6579d6400e065975" providerId="LiveId" clId="{11F731AC-70A4-492C-90A1-AF73B94E267D}" dt="2025-01-31T07:36:57.359" v="9988" actId="207"/>
        <pc:sldMkLst>
          <pc:docMk/>
          <pc:sldMk cId="3917116032" sldId="340"/>
        </pc:sldMkLst>
      </pc:sldChg>
      <pc:sldChg chg="addSp delSp modSp mod">
        <pc:chgData name="Pragathi Puthran" userId="6579d6400e065975" providerId="LiveId" clId="{11F731AC-70A4-492C-90A1-AF73B94E267D}" dt="2025-01-31T07:37:09.207" v="9989" actId="255"/>
        <pc:sldMkLst>
          <pc:docMk/>
          <pc:sldMk cId="333881629" sldId="341"/>
        </pc:sldMkLst>
      </pc:sldChg>
      <pc:sldChg chg="addSp delSp modSp mod">
        <pc:chgData name="Pragathi Puthran" userId="6579d6400e065975" providerId="LiveId" clId="{11F731AC-70A4-492C-90A1-AF73B94E267D}" dt="2025-01-31T07:37:14.285" v="9990" actId="255"/>
        <pc:sldMkLst>
          <pc:docMk/>
          <pc:sldMk cId="1826267437" sldId="342"/>
        </pc:sldMkLst>
      </pc:sldChg>
      <pc:sldChg chg="addSp delSp modSp mod">
        <pc:chgData name="Pragathi Puthran" userId="6579d6400e065975" providerId="LiveId" clId="{11F731AC-70A4-492C-90A1-AF73B94E267D}" dt="2025-01-31T07:37:19.894" v="9991" actId="255"/>
        <pc:sldMkLst>
          <pc:docMk/>
          <pc:sldMk cId="2997004526" sldId="344"/>
        </pc:sldMkLst>
      </pc:sldChg>
      <pc:sldChg chg="addSp delSp modSp mod">
        <pc:chgData name="Pragathi Puthran" userId="6579d6400e065975" providerId="LiveId" clId="{11F731AC-70A4-492C-90A1-AF73B94E267D}" dt="2025-01-31T07:37:26.368" v="9992" actId="255"/>
        <pc:sldMkLst>
          <pc:docMk/>
          <pc:sldMk cId="1027071772" sldId="345"/>
        </pc:sldMkLst>
      </pc:sldChg>
      <pc:sldChg chg="addSp delSp modSp mod">
        <pc:chgData name="Pragathi Puthran" userId="6579d6400e065975" providerId="LiveId" clId="{11F731AC-70A4-492C-90A1-AF73B94E267D}" dt="2025-01-31T07:37:32.990" v="9993" actId="255"/>
        <pc:sldMkLst>
          <pc:docMk/>
          <pc:sldMk cId="2639724353" sldId="346"/>
        </pc:sldMkLst>
      </pc:sldChg>
      <pc:sldChg chg="addSp delSp modSp mod">
        <pc:chgData name="Pragathi Puthran" userId="6579d6400e065975" providerId="LiveId" clId="{11F731AC-70A4-492C-90A1-AF73B94E267D}" dt="2025-01-31T07:37:46.756" v="9994" actId="255"/>
        <pc:sldMkLst>
          <pc:docMk/>
          <pc:sldMk cId="2766950321" sldId="347"/>
        </pc:sldMkLst>
      </pc:sldChg>
      <pc:sldChg chg="addSp delSp modSp mod">
        <pc:chgData name="Pragathi Puthran" userId="6579d6400e065975" providerId="LiveId" clId="{11F731AC-70A4-492C-90A1-AF73B94E267D}" dt="2025-01-31T07:37:54.917" v="9995" actId="255"/>
        <pc:sldMkLst>
          <pc:docMk/>
          <pc:sldMk cId="483048720" sldId="348"/>
        </pc:sldMkLst>
      </pc:sldChg>
      <pc:sldChg chg="addSp delSp modSp mod">
        <pc:chgData name="Pragathi Puthran" userId="6579d6400e065975" providerId="LiveId" clId="{11F731AC-70A4-492C-90A1-AF73B94E267D}" dt="2025-01-30T11:43:58.971" v="4491" actId="208"/>
        <pc:sldMkLst>
          <pc:docMk/>
          <pc:sldMk cId="373381966" sldId="349"/>
        </pc:sldMkLst>
      </pc:sldChg>
      <pc:sldChg chg="addSp delSp modSp mod">
        <pc:chgData name="Pragathi Puthran" userId="6579d6400e065975" providerId="LiveId" clId="{11F731AC-70A4-492C-90A1-AF73B94E267D}" dt="2025-01-30T15:05:49.433" v="6775" actId="1076"/>
        <pc:sldMkLst>
          <pc:docMk/>
          <pc:sldMk cId="2411591734" sldId="351"/>
        </pc:sldMkLst>
      </pc:sldChg>
      <pc:sldChg chg="addSp delSp modSp mod">
        <pc:chgData name="Pragathi Puthran" userId="6579d6400e065975" providerId="LiveId" clId="{11F731AC-70A4-492C-90A1-AF73B94E267D}" dt="2025-01-31T07:38:25.935" v="10000" actId="14100"/>
        <pc:sldMkLst>
          <pc:docMk/>
          <pc:sldMk cId="1082341644" sldId="352"/>
        </pc:sldMkLst>
      </pc:sldChg>
      <pc:sldChg chg="modSp del mod">
        <pc:chgData name="Pragathi Puthran" userId="6579d6400e065975" providerId="LiveId" clId="{11F731AC-70A4-492C-90A1-AF73B94E267D}" dt="2025-01-30T14:07:53.428" v="6286" actId="2696"/>
        <pc:sldMkLst>
          <pc:docMk/>
          <pc:sldMk cId="3396050070" sldId="353"/>
        </pc:sldMkLst>
      </pc:sldChg>
      <pc:sldChg chg="addSp delSp modSp mod">
        <pc:chgData name="Pragathi Puthran" userId="6579d6400e065975" providerId="LiveId" clId="{11F731AC-70A4-492C-90A1-AF73B94E267D}" dt="2025-01-31T07:40:11.104" v="10004" actId="20577"/>
        <pc:sldMkLst>
          <pc:docMk/>
          <pc:sldMk cId="3138567327" sldId="354"/>
        </pc:sldMkLst>
      </pc:sldChg>
      <pc:sldChg chg="modSp del mod">
        <pc:chgData name="Pragathi Puthran" userId="6579d6400e065975" providerId="LiveId" clId="{11F731AC-70A4-492C-90A1-AF73B94E267D}" dt="2025-01-30T14:09:09.189" v="6306" actId="2696"/>
        <pc:sldMkLst>
          <pc:docMk/>
          <pc:sldMk cId="483487104" sldId="355"/>
        </pc:sldMkLst>
      </pc:sldChg>
      <pc:sldChg chg="addSp delSp modSp mod">
        <pc:chgData name="Pragathi Puthran" userId="6579d6400e065975" providerId="LiveId" clId="{11F731AC-70A4-492C-90A1-AF73B94E267D}" dt="2025-01-31T07:40:37.083" v="10010" actId="5793"/>
        <pc:sldMkLst>
          <pc:docMk/>
          <pc:sldMk cId="3057048470" sldId="356"/>
        </pc:sldMkLst>
      </pc:sldChg>
      <pc:sldChg chg="addSp delSp modSp mod">
        <pc:chgData name="Pragathi Puthran" userId="6579d6400e065975" providerId="LiveId" clId="{11F731AC-70A4-492C-90A1-AF73B94E267D}" dt="2025-02-02T06:11:45.816" v="11670" actId="20577"/>
        <pc:sldMkLst>
          <pc:docMk/>
          <pc:sldMk cId="2723146912" sldId="357"/>
        </pc:sldMkLst>
      </pc:sldChg>
      <pc:sldChg chg="modSp del mod">
        <pc:chgData name="Pragathi Puthran" userId="6579d6400e065975" providerId="LiveId" clId="{11F731AC-70A4-492C-90A1-AF73B94E267D}" dt="2025-01-30T14:11:11.056" v="6321" actId="2696"/>
        <pc:sldMkLst>
          <pc:docMk/>
          <pc:sldMk cId="292481980" sldId="358"/>
        </pc:sldMkLst>
      </pc:sldChg>
      <pc:sldChg chg="addSp delSp modSp mod">
        <pc:chgData name="Pragathi Puthran" userId="6579d6400e065975" providerId="LiveId" clId="{11F731AC-70A4-492C-90A1-AF73B94E267D}" dt="2025-01-31T07:40:52.948" v="10012" actId="207"/>
        <pc:sldMkLst>
          <pc:docMk/>
          <pc:sldMk cId="3066076298" sldId="359"/>
        </pc:sldMkLst>
      </pc:sldChg>
      <pc:sldChg chg="addSp delSp modSp del mod">
        <pc:chgData name="Pragathi Puthran" userId="6579d6400e065975" providerId="LiveId" clId="{11F731AC-70A4-492C-90A1-AF73B94E267D}" dt="2025-01-29T11:07:25.483" v="2006" actId="47"/>
        <pc:sldMkLst>
          <pc:docMk/>
          <pc:sldMk cId="621433396" sldId="360"/>
        </pc:sldMkLst>
      </pc:sldChg>
      <pc:sldChg chg="addSp delSp modSp mod">
        <pc:chgData name="Pragathi Puthran" userId="6579d6400e065975" providerId="LiveId" clId="{11F731AC-70A4-492C-90A1-AF73B94E267D}" dt="2025-01-30T14:12:35.318" v="6337" actId="14100"/>
        <pc:sldMkLst>
          <pc:docMk/>
          <pc:sldMk cId="4213147558" sldId="361"/>
        </pc:sldMkLst>
      </pc:sldChg>
      <pc:sldChg chg="addSp delSp modSp mod">
        <pc:chgData name="Pragathi Puthran" userId="6579d6400e065975" providerId="LiveId" clId="{11F731AC-70A4-492C-90A1-AF73B94E267D}" dt="2025-01-31T07:41:01.233" v="10013" actId="207"/>
        <pc:sldMkLst>
          <pc:docMk/>
          <pc:sldMk cId="206860025" sldId="362"/>
        </pc:sldMkLst>
      </pc:sldChg>
      <pc:sldChg chg="addSp delSp modSp mod">
        <pc:chgData name="Pragathi Puthran" userId="6579d6400e065975" providerId="LiveId" clId="{11F731AC-70A4-492C-90A1-AF73B94E267D}" dt="2025-01-30T14:15:02.971" v="6350" actId="14100"/>
        <pc:sldMkLst>
          <pc:docMk/>
          <pc:sldMk cId="3085044266" sldId="363"/>
        </pc:sldMkLst>
      </pc:sldChg>
      <pc:sldChg chg="modSp del mod">
        <pc:chgData name="Pragathi Puthran" userId="6579d6400e065975" providerId="LiveId" clId="{11F731AC-70A4-492C-90A1-AF73B94E267D}" dt="2025-01-30T14:15:06.491" v="6351" actId="2696"/>
        <pc:sldMkLst>
          <pc:docMk/>
          <pc:sldMk cId="4286340961" sldId="364"/>
        </pc:sldMkLst>
      </pc:sldChg>
      <pc:sldChg chg="addSp delSp modSp mod">
        <pc:chgData name="Pragathi Puthran" userId="6579d6400e065975" providerId="LiveId" clId="{11F731AC-70A4-492C-90A1-AF73B94E267D}" dt="2025-01-31T07:41:25.620" v="10014" actId="255"/>
        <pc:sldMkLst>
          <pc:docMk/>
          <pc:sldMk cId="3698704601" sldId="365"/>
        </pc:sldMkLst>
      </pc:sldChg>
      <pc:sldChg chg="addSp delSp modSp mod">
        <pc:chgData name="Pragathi Puthran" userId="6579d6400e065975" providerId="LiveId" clId="{11F731AC-70A4-492C-90A1-AF73B94E267D}" dt="2025-01-31T07:43:30.459" v="10026" actId="255"/>
        <pc:sldMkLst>
          <pc:docMk/>
          <pc:sldMk cId="3545937351" sldId="366"/>
        </pc:sldMkLst>
      </pc:sldChg>
      <pc:sldChg chg="addSp delSp modSp mod">
        <pc:chgData name="Pragathi Puthran" userId="6579d6400e065975" providerId="LiveId" clId="{11F731AC-70A4-492C-90A1-AF73B94E267D}" dt="2025-01-31T07:43:35.514" v="10027" actId="255"/>
        <pc:sldMkLst>
          <pc:docMk/>
          <pc:sldMk cId="2012483900" sldId="367"/>
        </pc:sldMkLst>
      </pc:sldChg>
      <pc:sldChg chg="addSp delSp modSp mod">
        <pc:chgData name="Pragathi Puthran" userId="6579d6400e065975" providerId="LiveId" clId="{11F731AC-70A4-492C-90A1-AF73B94E267D}" dt="2025-01-31T07:43:52.707" v="10032" actId="20577"/>
        <pc:sldMkLst>
          <pc:docMk/>
          <pc:sldMk cId="4144889651" sldId="368"/>
        </pc:sldMkLst>
      </pc:sldChg>
      <pc:sldChg chg="addSp delSp modSp mod">
        <pc:chgData name="Pragathi Puthran" userId="6579d6400e065975" providerId="LiveId" clId="{11F731AC-70A4-492C-90A1-AF73B94E267D}" dt="2025-01-31T07:44:01.650" v="10033" actId="255"/>
        <pc:sldMkLst>
          <pc:docMk/>
          <pc:sldMk cId="3949560680" sldId="369"/>
        </pc:sldMkLst>
      </pc:sldChg>
      <pc:sldChg chg="addSp delSp modSp mod">
        <pc:chgData name="Pragathi Puthran" userId="6579d6400e065975" providerId="LiveId" clId="{11F731AC-70A4-492C-90A1-AF73B94E267D}" dt="2025-01-31T07:44:14.549" v="10035" actId="207"/>
        <pc:sldMkLst>
          <pc:docMk/>
          <pc:sldMk cId="1759316790" sldId="370"/>
        </pc:sldMkLst>
      </pc:sldChg>
      <pc:sldChg chg="modSp del mod">
        <pc:chgData name="Pragathi Puthran" userId="6579d6400e065975" providerId="LiveId" clId="{11F731AC-70A4-492C-90A1-AF73B94E267D}" dt="2025-01-30T14:18:39.129" v="6395" actId="2696"/>
        <pc:sldMkLst>
          <pc:docMk/>
          <pc:sldMk cId="1131303537" sldId="371"/>
        </pc:sldMkLst>
      </pc:sldChg>
      <pc:sldChg chg="addSp delSp modSp mod">
        <pc:chgData name="Pragathi Puthran" userId="6579d6400e065975" providerId="LiveId" clId="{11F731AC-70A4-492C-90A1-AF73B94E267D}" dt="2025-01-31T07:44:21.327" v="10036" actId="255"/>
        <pc:sldMkLst>
          <pc:docMk/>
          <pc:sldMk cId="1581956880" sldId="372"/>
        </pc:sldMkLst>
      </pc:sldChg>
      <pc:sldChg chg="addSp delSp modSp mod">
        <pc:chgData name="Pragathi Puthran" userId="6579d6400e065975" providerId="LiveId" clId="{11F731AC-70A4-492C-90A1-AF73B94E267D}" dt="2025-01-31T07:44:27.300" v="10037" actId="255"/>
        <pc:sldMkLst>
          <pc:docMk/>
          <pc:sldMk cId="1495450512" sldId="373"/>
        </pc:sldMkLst>
      </pc:sldChg>
      <pc:sldChg chg="addSp delSp modSp mod">
        <pc:chgData name="Pragathi Puthran" userId="6579d6400e065975" providerId="LiveId" clId="{11F731AC-70A4-492C-90A1-AF73B94E267D}" dt="2025-01-30T14:19:47.838" v="6417" actId="14100"/>
        <pc:sldMkLst>
          <pc:docMk/>
          <pc:sldMk cId="4057353950" sldId="374"/>
        </pc:sldMkLst>
      </pc:sldChg>
      <pc:sldChg chg="modSp del mod">
        <pc:chgData name="Pragathi Puthran" userId="6579d6400e065975" providerId="LiveId" clId="{11F731AC-70A4-492C-90A1-AF73B94E267D}" dt="2025-01-30T14:19:50.469" v="6418" actId="2696"/>
        <pc:sldMkLst>
          <pc:docMk/>
          <pc:sldMk cId="68440977" sldId="375"/>
        </pc:sldMkLst>
      </pc:sldChg>
      <pc:sldChg chg="addSp delSp modSp mod">
        <pc:chgData name="Pragathi Puthran" userId="6579d6400e065975" providerId="LiveId" clId="{11F731AC-70A4-492C-90A1-AF73B94E267D}" dt="2025-01-31T07:44:37.114" v="10038" actId="255"/>
        <pc:sldMkLst>
          <pc:docMk/>
          <pc:sldMk cId="885998922" sldId="376"/>
        </pc:sldMkLst>
      </pc:sldChg>
      <pc:sldChg chg="addSp delSp modSp mod">
        <pc:chgData name="Pragathi Puthran" userId="6579d6400e065975" providerId="LiveId" clId="{11F731AC-70A4-492C-90A1-AF73B94E267D}" dt="2025-01-31T07:44:55.513" v="10041" actId="207"/>
        <pc:sldMkLst>
          <pc:docMk/>
          <pc:sldMk cId="1405169039" sldId="377"/>
        </pc:sldMkLst>
      </pc:sldChg>
      <pc:sldChg chg="modSp del mod">
        <pc:chgData name="Pragathi Puthran" userId="6579d6400e065975" providerId="LiveId" clId="{11F731AC-70A4-492C-90A1-AF73B94E267D}" dt="2025-01-30T14:20:56.909" v="6440" actId="2696"/>
        <pc:sldMkLst>
          <pc:docMk/>
          <pc:sldMk cId="2094256970" sldId="378"/>
        </pc:sldMkLst>
      </pc:sldChg>
      <pc:sldChg chg="addSp delSp modSp mod">
        <pc:chgData name="Pragathi Puthran" userId="6579d6400e065975" providerId="LiveId" clId="{11F731AC-70A4-492C-90A1-AF73B94E267D}" dt="2025-01-31T07:45:00.711" v="10042" actId="255"/>
        <pc:sldMkLst>
          <pc:docMk/>
          <pc:sldMk cId="1991956926" sldId="379"/>
        </pc:sldMkLst>
      </pc:sldChg>
      <pc:sldChg chg="addSp delSp modSp mod">
        <pc:chgData name="Pragathi Puthran" userId="6579d6400e065975" providerId="LiveId" clId="{11F731AC-70A4-492C-90A1-AF73B94E267D}" dt="2025-01-31T07:45:26.315" v="10063" actId="20577"/>
        <pc:sldMkLst>
          <pc:docMk/>
          <pc:sldMk cId="1939122142" sldId="380"/>
        </pc:sldMkLst>
      </pc:sldChg>
      <pc:sldChg chg="addSp delSp modSp mod">
        <pc:chgData name="Pragathi Puthran" userId="6579d6400e065975" providerId="LiveId" clId="{11F731AC-70A4-492C-90A1-AF73B94E267D}" dt="2025-01-31T07:46:21.151" v="10079" actId="12"/>
        <pc:sldMkLst>
          <pc:docMk/>
          <pc:sldMk cId="3780770031" sldId="381"/>
        </pc:sldMkLst>
      </pc:sldChg>
      <pc:sldChg chg="addSp delSp modSp mod">
        <pc:chgData name="Pragathi Puthran" userId="6579d6400e065975" providerId="LiveId" clId="{11F731AC-70A4-492C-90A1-AF73B94E267D}" dt="2025-01-31T07:46:52.370" v="10105" actId="12"/>
        <pc:sldMkLst>
          <pc:docMk/>
          <pc:sldMk cId="4176743842" sldId="382"/>
        </pc:sldMkLst>
      </pc:sldChg>
      <pc:sldChg chg="modSp mod">
        <pc:chgData name="Pragathi Puthran" userId="6579d6400e065975" providerId="LiveId" clId="{11F731AC-70A4-492C-90A1-AF73B94E267D}" dt="2025-01-31T07:47:16.253" v="10106" actId="122"/>
        <pc:sldMkLst>
          <pc:docMk/>
          <pc:sldMk cId="3790901550" sldId="383"/>
        </pc:sldMkLst>
      </pc:sldChg>
      <pc:sldChg chg="addSp delSp modSp mod">
        <pc:chgData name="Pragathi Puthran" userId="6579d6400e065975" providerId="LiveId" clId="{11F731AC-70A4-492C-90A1-AF73B94E267D}" dt="2025-01-31T07:47:31.058" v="10107" actId="255"/>
        <pc:sldMkLst>
          <pc:docMk/>
          <pc:sldMk cId="1393334155" sldId="384"/>
        </pc:sldMkLst>
      </pc:sldChg>
      <pc:sldChg chg="addSp delSp modSp mod">
        <pc:chgData name="Pragathi Puthran" userId="6579d6400e065975" providerId="LiveId" clId="{11F731AC-70A4-492C-90A1-AF73B94E267D}" dt="2025-01-31T07:47:38.600" v="10108" actId="255"/>
        <pc:sldMkLst>
          <pc:docMk/>
          <pc:sldMk cId="1010230634" sldId="385"/>
        </pc:sldMkLst>
      </pc:sldChg>
      <pc:sldChg chg="addSp delSp modSp mod">
        <pc:chgData name="Pragathi Puthran" userId="6579d6400e065975" providerId="LiveId" clId="{11F731AC-70A4-492C-90A1-AF73B94E267D}" dt="2025-01-31T07:47:43.905" v="10109" actId="255"/>
        <pc:sldMkLst>
          <pc:docMk/>
          <pc:sldMk cId="1555967022" sldId="386"/>
        </pc:sldMkLst>
      </pc:sldChg>
      <pc:sldChg chg="addSp delSp modSp mod">
        <pc:chgData name="Pragathi Puthran" userId="6579d6400e065975" providerId="LiveId" clId="{11F731AC-70A4-492C-90A1-AF73B94E267D}" dt="2025-01-31T07:47:49.735" v="10110" actId="255"/>
        <pc:sldMkLst>
          <pc:docMk/>
          <pc:sldMk cId="587734297" sldId="387"/>
        </pc:sldMkLst>
      </pc:sldChg>
      <pc:sldChg chg="addSp delSp modSp mod">
        <pc:chgData name="Pragathi Puthran" userId="6579d6400e065975" providerId="LiveId" clId="{11F731AC-70A4-492C-90A1-AF73B94E267D}" dt="2025-02-02T07:06:16.696" v="11672" actId="20577"/>
        <pc:sldMkLst>
          <pc:docMk/>
          <pc:sldMk cId="3328657752" sldId="388"/>
        </pc:sldMkLst>
      </pc:sldChg>
      <pc:sldChg chg="addSp delSp modSp mod">
        <pc:chgData name="Pragathi Puthran" userId="6579d6400e065975" providerId="LiveId" clId="{11F731AC-70A4-492C-90A1-AF73B94E267D}" dt="2025-02-02T07:06:38.085" v="11674" actId="20577"/>
        <pc:sldMkLst>
          <pc:docMk/>
          <pc:sldMk cId="310671808" sldId="389"/>
        </pc:sldMkLst>
      </pc:sldChg>
      <pc:sldChg chg="addSp delSp modSp mod">
        <pc:chgData name="Pragathi Puthran" userId="6579d6400e065975" providerId="LiveId" clId="{11F731AC-70A4-492C-90A1-AF73B94E267D}" dt="2025-01-31T07:46:01.113" v="10072" actId="14100"/>
        <pc:sldMkLst>
          <pc:docMk/>
          <pc:sldMk cId="3327603809" sldId="390"/>
        </pc:sldMkLst>
      </pc:sldChg>
      <pc:sldChg chg="addSp delSp modSp mod">
        <pc:chgData name="Pragathi Puthran" userId="6579d6400e065975" providerId="LiveId" clId="{11F731AC-70A4-492C-90A1-AF73B94E267D}" dt="2025-01-31T07:48:30.601" v="10118" actId="255"/>
        <pc:sldMkLst>
          <pc:docMk/>
          <pc:sldMk cId="1055195260" sldId="391"/>
        </pc:sldMkLst>
      </pc:sldChg>
      <pc:sldChg chg="addSp delSp modSp mod">
        <pc:chgData name="Pragathi Puthran" userId="6579d6400e065975" providerId="LiveId" clId="{11F731AC-70A4-492C-90A1-AF73B94E267D}" dt="2025-02-18T06:24:44.155" v="12091" actId="14100"/>
        <pc:sldMkLst>
          <pc:docMk/>
          <pc:sldMk cId="3563262598" sldId="392"/>
        </pc:sldMkLst>
      </pc:sldChg>
      <pc:sldChg chg="addSp delSp modSp mod ord">
        <pc:chgData name="Pragathi Puthran" userId="6579d6400e065975" providerId="LiveId" clId="{11F731AC-70A4-492C-90A1-AF73B94E267D}" dt="2025-01-31T07:53:13.467" v="10136"/>
        <pc:sldMkLst>
          <pc:docMk/>
          <pc:sldMk cId="2752158809" sldId="393"/>
        </pc:sldMkLst>
      </pc:sldChg>
      <pc:sldChg chg="addSp delSp modSp mod">
        <pc:chgData name="Pragathi Puthran" userId="6579d6400e065975" providerId="LiveId" clId="{11F731AC-70A4-492C-90A1-AF73B94E267D}" dt="2025-01-29T11:21:03.425" v="2177" actId="14100"/>
        <pc:sldMkLst>
          <pc:docMk/>
          <pc:sldMk cId="2576651574" sldId="394"/>
        </pc:sldMkLst>
      </pc:sldChg>
      <pc:sldChg chg="addSp delSp modSp del mod">
        <pc:chgData name="Pragathi Puthran" userId="6579d6400e065975" providerId="LiveId" clId="{11F731AC-70A4-492C-90A1-AF73B94E267D}" dt="2025-02-18T07:17:21.365" v="12092" actId="47"/>
        <pc:sldMkLst>
          <pc:docMk/>
          <pc:sldMk cId="4287019051" sldId="395"/>
        </pc:sldMkLst>
      </pc:sldChg>
      <pc:sldChg chg="addSp delSp modSp del mod">
        <pc:chgData name="Pragathi Puthran" userId="6579d6400e065975" providerId="LiveId" clId="{11F731AC-70A4-492C-90A1-AF73B94E267D}" dt="2025-02-18T07:17:22.168" v="12093" actId="47"/>
        <pc:sldMkLst>
          <pc:docMk/>
          <pc:sldMk cId="1152447703" sldId="396"/>
        </pc:sldMkLst>
      </pc:sldChg>
      <pc:sldChg chg="modSp del mod">
        <pc:chgData name="Pragathi Puthran" userId="6579d6400e065975" providerId="LiveId" clId="{11F731AC-70A4-492C-90A1-AF73B94E267D}" dt="2025-01-30T14:26:02.481" v="6527" actId="2696"/>
        <pc:sldMkLst>
          <pc:docMk/>
          <pc:sldMk cId="2484623345" sldId="397"/>
        </pc:sldMkLst>
      </pc:sldChg>
      <pc:sldChg chg="addSp delSp modSp mod">
        <pc:chgData name="Pragathi Puthran" userId="6579d6400e065975" providerId="LiveId" clId="{11F731AC-70A4-492C-90A1-AF73B94E267D}" dt="2025-01-31T08:27:31.976" v="10276" actId="12"/>
        <pc:sldMkLst>
          <pc:docMk/>
          <pc:sldMk cId="3341254488" sldId="398"/>
        </pc:sldMkLst>
      </pc:sldChg>
      <pc:sldChg chg="addSp delSp modSp mod">
        <pc:chgData name="Pragathi Puthran" userId="6579d6400e065975" providerId="LiveId" clId="{11F731AC-70A4-492C-90A1-AF73B94E267D}" dt="2025-01-31T08:27:46.512" v="10277" actId="255"/>
        <pc:sldMkLst>
          <pc:docMk/>
          <pc:sldMk cId="895467773" sldId="399"/>
        </pc:sldMkLst>
      </pc:sldChg>
      <pc:sldChg chg="addSp delSp modSp mod">
        <pc:chgData name="Pragathi Puthran" userId="6579d6400e065975" providerId="LiveId" clId="{11F731AC-70A4-492C-90A1-AF73B94E267D}" dt="2025-02-18T07:17:40.656" v="12097" actId="20577"/>
        <pc:sldMkLst>
          <pc:docMk/>
          <pc:sldMk cId="2092251076" sldId="400"/>
        </pc:sldMkLst>
      </pc:sldChg>
      <pc:sldChg chg="addSp delSp modSp mod">
        <pc:chgData name="Pragathi Puthran" userId="6579d6400e065975" providerId="LiveId" clId="{11F731AC-70A4-492C-90A1-AF73B94E267D}" dt="2025-01-30T14:26:29.735" v="6534" actId="21"/>
        <pc:sldMkLst>
          <pc:docMk/>
          <pc:sldMk cId="2908569316" sldId="401"/>
        </pc:sldMkLst>
      </pc:sldChg>
      <pc:sldChg chg="addSp delSp modSp mod">
        <pc:chgData name="Pragathi Puthran" userId="6579d6400e065975" providerId="LiveId" clId="{11F731AC-70A4-492C-90A1-AF73B94E267D}" dt="2025-01-31T07:56:06.630" v="10150" actId="255"/>
        <pc:sldMkLst>
          <pc:docMk/>
          <pc:sldMk cId="2488440328" sldId="402"/>
        </pc:sldMkLst>
      </pc:sldChg>
      <pc:sldChg chg="addSp delSp modSp mod">
        <pc:chgData name="Pragathi Puthran" userId="6579d6400e065975" providerId="LiveId" clId="{11F731AC-70A4-492C-90A1-AF73B94E267D}" dt="2025-01-31T07:56:12.807" v="10151" actId="255"/>
        <pc:sldMkLst>
          <pc:docMk/>
          <pc:sldMk cId="2128035537" sldId="403"/>
        </pc:sldMkLst>
      </pc:sldChg>
      <pc:sldChg chg="addSp delSp modSp mod">
        <pc:chgData name="Pragathi Puthran" userId="6579d6400e065975" providerId="LiveId" clId="{11F731AC-70A4-492C-90A1-AF73B94E267D}" dt="2025-02-02T07:35:43.891" v="11681" actId="20577"/>
        <pc:sldMkLst>
          <pc:docMk/>
          <pc:sldMk cId="381372028" sldId="404"/>
        </pc:sldMkLst>
      </pc:sldChg>
      <pc:sldChg chg="addSp delSp modSp mod">
        <pc:chgData name="Pragathi Puthran" userId="6579d6400e065975" providerId="LiveId" clId="{11F731AC-70A4-492C-90A1-AF73B94E267D}" dt="2025-01-31T07:56:30.867" v="10154" actId="14100"/>
        <pc:sldMkLst>
          <pc:docMk/>
          <pc:sldMk cId="148791429" sldId="405"/>
        </pc:sldMkLst>
      </pc:sldChg>
      <pc:sldChg chg="addSp delSp modSp mod">
        <pc:chgData name="Pragathi Puthran" userId="6579d6400e065975" providerId="LiveId" clId="{11F731AC-70A4-492C-90A1-AF73B94E267D}" dt="2025-01-31T08:28:11.465" v="10280"/>
        <pc:sldMkLst>
          <pc:docMk/>
          <pc:sldMk cId="541966423" sldId="406"/>
        </pc:sldMkLst>
      </pc:sldChg>
      <pc:sldChg chg="addSp delSp modSp mod">
        <pc:chgData name="Pragathi Puthran" userId="6579d6400e065975" providerId="LiveId" clId="{11F731AC-70A4-492C-90A1-AF73B94E267D}" dt="2025-01-31T08:28:37.727" v="10281" actId="255"/>
        <pc:sldMkLst>
          <pc:docMk/>
          <pc:sldMk cId="1707888986" sldId="407"/>
        </pc:sldMkLst>
      </pc:sldChg>
      <pc:sldChg chg="addSp delSp modSp mod">
        <pc:chgData name="Pragathi Puthran" userId="6579d6400e065975" providerId="LiveId" clId="{11F731AC-70A4-492C-90A1-AF73B94E267D}" dt="2025-01-31T08:29:24.587" v="10286" actId="20577"/>
        <pc:sldMkLst>
          <pc:docMk/>
          <pc:sldMk cId="488854225" sldId="408"/>
        </pc:sldMkLst>
      </pc:sldChg>
      <pc:sldChg chg="addSp delSp modSp mod">
        <pc:chgData name="Pragathi Puthran" userId="6579d6400e065975" providerId="LiveId" clId="{11F731AC-70A4-492C-90A1-AF73B94E267D}" dt="2025-01-31T08:29:35.216" v="10288" actId="14100"/>
        <pc:sldMkLst>
          <pc:docMk/>
          <pc:sldMk cId="1829376826" sldId="409"/>
        </pc:sldMkLst>
      </pc:sldChg>
      <pc:sldChg chg="addSp delSp modSp mod">
        <pc:chgData name="Pragathi Puthran" userId="6579d6400e065975" providerId="LiveId" clId="{11F731AC-70A4-492C-90A1-AF73B94E267D}" dt="2025-01-31T08:29:44.028" v="10290" actId="14100"/>
        <pc:sldMkLst>
          <pc:docMk/>
          <pc:sldMk cId="3146686396" sldId="410"/>
        </pc:sldMkLst>
      </pc:sldChg>
      <pc:sldChg chg="addSp delSp modSp mod">
        <pc:chgData name="Pragathi Puthran" userId="6579d6400e065975" providerId="LiveId" clId="{11F731AC-70A4-492C-90A1-AF73B94E267D}" dt="2025-01-29T11:27:06.775" v="2271" actId="14100"/>
        <pc:sldMkLst>
          <pc:docMk/>
          <pc:sldMk cId="1737691554" sldId="411"/>
        </pc:sldMkLst>
      </pc:sldChg>
      <pc:sldChg chg="addSp delSp modSp mod">
        <pc:chgData name="Pragathi Puthran" userId="6579d6400e065975" providerId="LiveId" clId="{11F731AC-70A4-492C-90A1-AF73B94E267D}" dt="2025-01-31T08:29:55.598" v="10291" actId="255"/>
        <pc:sldMkLst>
          <pc:docMk/>
          <pc:sldMk cId="3239592683" sldId="412"/>
        </pc:sldMkLst>
      </pc:sldChg>
      <pc:sldChg chg="addSp delSp modSp mod">
        <pc:chgData name="Pragathi Puthran" userId="6579d6400e065975" providerId="LiveId" clId="{11F731AC-70A4-492C-90A1-AF73B94E267D}" dt="2025-01-31T08:30:48.133" v="10296" actId="14100"/>
        <pc:sldMkLst>
          <pc:docMk/>
          <pc:sldMk cId="1335773957" sldId="413"/>
        </pc:sldMkLst>
      </pc:sldChg>
      <pc:sldChg chg="addSp delSp modSp add del mod">
        <pc:chgData name="Pragathi Puthran" userId="6579d6400e065975" providerId="LiveId" clId="{11F731AC-70A4-492C-90A1-AF73B94E267D}" dt="2025-01-30T14:31:11.117" v="6604" actId="2696"/>
        <pc:sldMkLst>
          <pc:docMk/>
          <pc:sldMk cId="829838084" sldId="414"/>
        </pc:sldMkLst>
      </pc:sldChg>
      <pc:sldChg chg="addSp delSp modSp mod">
        <pc:chgData name="Pragathi Puthran" userId="6579d6400e065975" providerId="LiveId" clId="{11F731AC-70A4-492C-90A1-AF73B94E267D}" dt="2025-01-31T08:31:15.618" v="10300" actId="20577"/>
        <pc:sldMkLst>
          <pc:docMk/>
          <pc:sldMk cId="1798296914" sldId="415"/>
        </pc:sldMkLst>
      </pc:sldChg>
      <pc:sldChg chg="addSp delSp modSp mod">
        <pc:chgData name="Pragathi Puthran" userId="6579d6400e065975" providerId="LiveId" clId="{11F731AC-70A4-492C-90A1-AF73B94E267D}" dt="2025-02-02T09:27:29.403" v="11683" actId="20577"/>
        <pc:sldMkLst>
          <pc:docMk/>
          <pc:sldMk cId="403883548" sldId="416"/>
        </pc:sldMkLst>
      </pc:sldChg>
      <pc:sldChg chg="modSp del mod">
        <pc:chgData name="Pragathi Puthran" userId="6579d6400e065975" providerId="LiveId" clId="{11F731AC-70A4-492C-90A1-AF73B94E267D}" dt="2025-01-30T14:31:56.175" v="6616" actId="2696"/>
        <pc:sldMkLst>
          <pc:docMk/>
          <pc:sldMk cId="336239883" sldId="417"/>
        </pc:sldMkLst>
      </pc:sldChg>
      <pc:sldChg chg="addSp delSp modSp mod">
        <pc:chgData name="Pragathi Puthran" userId="6579d6400e065975" providerId="LiveId" clId="{11F731AC-70A4-492C-90A1-AF73B94E267D}" dt="2025-01-31T08:32:12.113" v="10334" actId="255"/>
        <pc:sldMkLst>
          <pc:docMk/>
          <pc:sldMk cId="796684921" sldId="418"/>
        </pc:sldMkLst>
      </pc:sldChg>
      <pc:sldChg chg="addSp delSp modSp mod">
        <pc:chgData name="Pragathi Puthran" userId="6579d6400e065975" providerId="LiveId" clId="{11F731AC-70A4-492C-90A1-AF73B94E267D}" dt="2025-01-31T08:32:41.387" v="10341" actId="255"/>
        <pc:sldMkLst>
          <pc:docMk/>
          <pc:sldMk cId="3182259464" sldId="419"/>
        </pc:sldMkLst>
      </pc:sldChg>
      <pc:sldChg chg="modSp del mod">
        <pc:chgData name="Pragathi Puthran" userId="6579d6400e065975" providerId="LiveId" clId="{11F731AC-70A4-492C-90A1-AF73B94E267D}" dt="2025-01-30T14:32:39.268" v="6631" actId="2696"/>
        <pc:sldMkLst>
          <pc:docMk/>
          <pc:sldMk cId="782782065" sldId="420"/>
        </pc:sldMkLst>
      </pc:sldChg>
      <pc:sldChg chg="addSp delSp modSp mod">
        <pc:chgData name="Pragathi Puthran" userId="6579d6400e065975" providerId="LiveId" clId="{11F731AC-70A4-492C-90A1-AF73B94E267D}" dt="2025-01-31T08:32:51.610" v="10342" actId="255"/>
        <pc:sldMkLst>
          <pc:docMk/>
          <pc:sldMk cId="3119300629" sldId="421"/>
        </pc:sldMkLst>
      </pc:sldChg>
      <pc:sldChg chg="addSp delSp modSp mod">
        <pc:chgData name="Pragathi Puthran" userId="6579d6400e065975" providerId="LiveId" clId="{11F731AC-70A4-492C-90A1-AF73B94E267D}" dt="2025-01-31T08:32:59.177" v="10343" actId="14100"/>
        <pc:sldMkLst>
          <pc:docMk/>
          <pc:sldMk cId="436345801" sldId="422"/>
        </pc:sldMkLst>
      </pc:sldChg>
      <pc:sldChg chg="addSp delSp modSp mod">
        <pc:chgData name="Pragathi Puthran" userId="6579d6400e065975" providerId="LiveId" clId="{11F731AC-70A4-492C-90A1-AF73B94E267D}" dt="2025-01-29T11:31:43.512" v="2342" actId="14100"/>
        <pc:sldMkLst>
          <pc:docMk/>
          <pc:sldMk cId="3389676174" sldId="423"/>
        </pc:sldMkLst>
      </pc:sldChg>
      <pc:sldChg chg="addSp delSp modSp mod">
        <pc:chgData name="Pragathi Puthran" userId="6579d6400e065975" providerId="LiveId" clId="{11F731AC-70A4-492C-90A1-AF73B94E267D}" dt="2025-01-30T14:32:59.997" v="6636" actId="20577"/>
        <pc:sldMkLst>
          <pc:docMk/>
          <pc:sldMk cId="3919100303" sldId="424"/>
        </pc:sldMkLst>
      </pc:sldChg>
      <pc:sldChg chg="addSp delSp modSp mod">
        <pc:chgData name="Pragathi Puthran" userId="6579d6400e065975" providerId="LiveId" clId="{11F731AC-70A4-492C-90A1-AF73B94E267D}" dt="2025-02-02T09:40:10.121" v="11711" actId="20577"/>
        <pc:sldMkLst>
          <pc:docMk/>
          <pc:sldMk cId="3353765636" sldId="425"/>
        </pc:sldMkLst>
      </pc:sldChg>
      <pc:sldChg chg="addSp delSp modSp mod">
        <pc:chgData name="Pragathi Puthran" userId="6579d6400e065975" providerId="LiveId" clId="{11F731AC-70A4-492C-90A1-AF73B94E267D}" dt="2025-01-31T08:33:23.472" v="10345" actId="255"/>
        <pc:sldMkLst>
          <pc:docMk/>
          <pc:sldMk cId="4089392461" sldId="426"/>
        </pc:sldMkLst>
      </pc:sldChg>
      <pc:sldChg chg="addSp delSp modSp mod">
        <pc:chgData name="Pragathi Puthran" userId="6579d6400e065975" providerId="LiveId" clId="{11F731AC-70A4-492C-90A1-AF73B94E267D}" dt="2025-01-30T14:59:21.282" v="6648" actId="21"/>
        <pc:sldMkLst>
          <pc:docMk/>
          <pc:sldMk cId="3062089831" sldId="427"/>
        </pc:sldMkLst>
      </pc:sldChg>
      <pc:sldChg chg="addSp delSp modSp mod">
        <pc:chgData name="Pragathi Puthran" userId="6579d6400e065975" providerId="LiveId" clId="{11F731AC-70A4-492C-90A1-AF73B94E267D}" dt="2025-01-30T14:59:25.974" v="6650" actId="21"/>
        <pc:sldMkLst>
          <pc:docMk/>
          <pc:sldMk cId="2310175190" sldId="428"/>
        </pc:sldMkLst>
      </pc:sldChg>
      <pc:sldChg chg="addSp delSp modSp mod">
        <pc:chgData name="Pragathi Puthran" userId="6579d6400e065975" providerId="LiveId" clId="{11F731AC-70A4-492C-90A1-AF73B94E267D}" dt="2025-02-02T09:52:55.355" v="12026" actId="20577"/>
        <pc:sldMkLst>
          <pc:docMk/>
          <pc:sldMk cId="2166682050" sldId="429"/>
        </pc:sldMkLst>
      </pc:sldChg>
      <pc:sldChg chg="addSp delSp modSp mod">
        <pc:chgData name="Pragathi Puthran" userId="6579d6400e065975" providerId="LiveId" clId="{11F731AC-70A4-492C-90A1-AF73B94E267D}" dt="2025-01-30T14:59:34.130" v="6652" actId="21"/>
        <pc:sldMkLst>
          <pc:docMk/>
          <pc:sldMk cId="182627300" sldId="432"/>
        </pc:sldMkLst>
      </pc:sldChg>
      <pc:sldChg chg="addSp delSp modSp del mod">
        <pc:chgData name="Pragathi Puthran" userId="6579d6400e065975" providerId="LiveId" clId="{11F731AC-70A4-492C-90A1-AF73B94E267D}" dt="2025-01-31T09:21:35.134" v="11202" actId="2696"/>
        <pc:sldMkLst>
          <pc:docMk/>
          <pc:sldMk cId="2864080" sldId="433"/>
        </pc:sldMkLst>
      </pc:sldChg>
      <pc:sldChg chg="addSp delSp modSp del mod">
        <pc:chgData name="Pragathi Puthran" userId="6579d6400e065975" providerId="LiveId" clId="{11F731AC-70A4-492C-90A1-AF73B94E267D}" dt="2025-01-31T09:12:06.923" v="11095" actId="47"/>
        <pc:sldMkLst>
          <pc:docMk/>
          <pc:sldMk cId="629377154" sldId="434"/>
        </pc:sldMkLst>
      </pc:sldChg>
      <pc:sldChg chg="addSp delSp modSp del mod">
        <pc:chgData name="Pragathi Puthran" userId="6579d6400e065975" providerId="LiveId" clId="{11F731AC-70A4-492C-90A1-AF73B94E267D}" dt="2025-01-31T09:12:08.199" v="11096" actId="47"/>
        <pc:sldMkLst>
          <pc:docMk/>
          <pc:sldMk cId="1337978799" sldId="435"/>
        </pc:sldMkLst>
      </pc:sldChg>
      <pc:sldChg chg="addSp delSp modSp del mod">
        <pc:chgData name="Pragathi Puthran" userId="6579d6400e065975" providerId="LiveId" clId="{11F731AC-70A4-492C-90A1-AF73B94E267D}" dt="2025-01-31T09:12:09.092" v="11097" actId="47"/>
        <pc:sldMkLst>
          <pc:docMk/>
          <pc:sldMk cId="4009825743" sldId="436"/>
        </pc:sldMkLst>
      </pc:sldChg>
      <pc:sldChg chg="addSp delSp modSp del mod">
        <pc:chgData name="Pragathi Puthran" userId="6579d6400e065975" providerId="LiveId" clId="{11F731AC-70A4-492C-90A1-AF73B94E267D}" dt="2025-01-31T09:12:09.741" v="11098" actId="47"/>
        <pc:sldMkLst>
          <pc:docMk/>
          <pc:sldMk cId="3739274571" sldId="437"/>
        </pc:sldMkLst>
      </pc:sldChg>
      <pc:sldChg chg="addSp delSp modSp del mod">
        <pc:chgData name="Pragathi Puthran" userId="6579d6400e065975" providerId="LiveId" clId="{11F731AC-70A4-492C-90A1-AF73B94E267D}" dt="2025-01-31T09:12:10.523" v="11099" actId="47"/>
        <pc:sldMkLst>
          <pc:docMk/>
          <pc:sldMk cId="91328421" sldId="438"/>
        </pc:sldMkLst>
      </pc:sldChg>
      <pc:sldChg chg="addSp delSp modSp del mod">
        <pc:chgData name="Pragathi Puthran" userId="6579d6400e065975" providerId="LiveId" clId="{11F731AC-70A4-492C-90A1-AF73B94E267D}" dt="2025-01-31T09:12:11.510" v="11100" actId="47"/>
        <pc:sldMkLst>
          <pc:docMk/>
          <pc:sldMk cId="1240860177" sldId="439"/>
        </pc:sldMkLst>
      </pc:sldChg>
      <pc:sldChg chg="addSp delSp modSp del mod">
        <pc:chgData name="Pragathi Puthran" userId="6579d6400e065975" providerId="LiveId" clId="{11F731AC-70A4-492C-90A1-AF73B94E267D}" dt="2025-01-31T09:12:12.231" v="11101" actId="47"/>
        <pc:sldMkLst>
          <pc:docMk/>
          <pc:sldMk cId="3109671564" sldId="440"/>
        </pc:sldMkLst>
      </pc:sldChg>
      <pc:sldChg chg="addSp delSp modSp del mod">
        <pc:chgData name="Pragathi Puthran" userId="6579d6400e065975" providerId="LiveId" clId="{11F731AC-70A4-492C-90A1-AF73B94E267D}" dt="2025-01-31T09:12:13.610" v="11102" actId="47"/>
        <pc:sldMkLst>
          <pc:docMk/>
          <pc:sldMk cId="1334651111" sldId="441"/>
        </pc:sldMkLst>
      </pc:sldChg>
      <pc:sldChg chg="addSp delSp modSp del mod">
        <pc:chgData name="Pragathi Puthran" userId="6579d6400e065975" providerId="LiveId" clId="{11F731AC-70A4-492C-90A1-AF73B94E267D}" dt="2025-01-31T09:12:15.376" v="11103" actId="47"/>
        <pc:sldMkLst>
          <pc:docMk/>
          <pc:sldMk cId="2531480664" sldId="442"/>
        </pc:sldMkLst>
      </pc:sldChg>
      <pc:sldChg chg="addSp delSp modSp del mod">
        <pc:chgData name="Pragathi Puthran" userId="6579d6400e065975" providerId="LiveId" clId="{11F731AC-70A4-492C-90A1-AF73B94E267D}" dt="2025-01-31T09:12:16.016" v="11104" actId="47"/>
        <pc:sldMkLst>
          <pc:docMk/>
          <pc:sldMk cId="3157706321" sldId="443"/>
        </pc:sldMkLst>
      </pc:sldChg>
      <pc:sldChg chg="addSp delSp modSp del mod">
        <pc:chgData name="Pragathi Puthran" userId="6579d6400e065975" providerId="LiveId" clId="{11F731AC-70A4-492C-90A1-AF73B94E267D}" dt="2025-01-31T09:12:16.877" v="11105" actId="47"/>
        <pc:sldMkLst>
          <pc:docMk/>
          <pc:sldMk cId="542471487" sldId="444"/>
        </pc:sldMkLst>
      </pc:sldChg>
      <pc:sldChg chg="addSp delSp modSp del mod">
        <pc:chgData name="Pragathi Puthran" userId="6579d6400e065975" providerId="LiveId" clId="{11F731AC-70A4-492C-90A1-AF73B94E267D}" dt="2025-01-31T09:12:17.811" v="11106" actId="47"/>
        <pc:sldMkLst>
          <pc:docMk/>
          <pc:sldMk cId="1441152087" sldId="445"/>
        </pc:sldMkLst>
      </pc:sldChg>
      <pc:sldChg chg="addSp delSp modSp del mod">
        <pc:chgData name="Pragathi Puthran" userId="6579d6400e065975" providerId="LiveId" clId="{11F731AC-70A4-492C-90A1-AF73B94E267D}" dt="2025-01-31T09:12:18.524" v="11107" actId="47"/>
        <pc:sldMkLst>
          <pc:docMk/>
          <pc:sldMk cId="3649643458" sldId="446"/>
        </pc:sldMkLst>
      </pc:sldChg>
      <pc:sldChg chg="addSp delSp modSp del mod">
        <pc:chgData name="Pragathi Puthran" userId="6579d6400e065975" providerId="LiveId" clId="{11F731AC-70A4-492C-90A1-AF73B94E267D}" dt="2025-01-31T09:12:19.589" v="11108" actId="47"/>
        <pc:sldMkLst>
          <pc:docMk/>
          <pc:sldMk cId="2576018971" sldId="447"/>
        </pc:sldMkLst>
      </pc:sldChg>
      <pc:sldChg chg="addSp delSp modSp del mod">
        <pc:chgData name="Pragathi Puthran" userId="6579d6400e065975" providerId="LiveId" clId="{11F731AC-70A4-492C-90A1-AF73B94E267D}" dt="2025-01-31T09:12:20.470" v="11109" actId="47"/>
        <pc:sldMkLst>
          <pc:docMk/>
          <pc:sldMk cId="3107429668" sldId="448"/>
        </pc:sldMkLst>
      </pc:sldChg>
      <pc:sldChg chg="addSp delSp modSp del mod">
        <pc:chgData name="Pragathi Puthran" userId="6579d6400e065975" providerId="LiveId" clId="{11F731AC-70A4-492C-90A1-AF73B94E267D}" dt="2025-01-31T09:12:21.289" v="11110" actId="47"/>
        <pc:sldMkLst>
          <pc:docMk/>
          <pc:sldMk cId="4025831903" sldId="449"/>
        </pc:sldMkLst>
      </pc:sldChg>
      <pc:sldChg chg="addSp delSp modSp del mod">
        <pc:chgData name="Pragathi Puthran" userId="6579d6400e065975" providerId="LiveId" clId="{11F731AC-70A4-492C-90A1-AF73B94E267D}" dt="2025-01-31T09:12:22.626" v="11111" actId="47"/>
        <pc:sldMkLst>
          <pc:docMk/>
          <pc:sldMk cId="1600368454" sldId="450"/>
        </pc:sldMkLst>
      </pc:sldChg>
      <pc:sldChg chg="addSp delSp modSp del mod">
        <pc:chgData name="Pragathi Puthran" userId="6579d6400e065975" providerId="LiveId" clId="{11F731AC-70A4-492C-90A1-AF73B94E267D}" dt="2025-01-31T09:12:23.371" v="11112" actId="47"/>
        <pc:sldMkLst>
          <pc:docMk/>
          <pc:sldMk cId="2443003946" sldId="451"/>
        </pc:sldMkLst>
      </pc:sldChg>
      <pc:sldChg chg="addSp delSp modSp del mod">
        <pc:chgData name="Pragathi Puthran" userId="6579d6400e065975" providerId="LiveId" clId="{11F731AC-70A4-492C-90A1-AF73B94E267D}" dt="2025-01-31T09:12:23.931" v="11113" actId="47"/>
        <pc:sldMkLst>
          <pc:docMk/>
          <pc:sldMk cId="3689001391" sldId="452"/>
        </pc:sldMkLst>
      </pc:sldChg>
      <pc:sldChg chg="addSp delSp modSp del mod">
        <pc:chgData name="Pragathi Puthran" userId="6579d6400e065975" providerId="LiveId" clId="{11F731AC-70A4-492C-90A1-AF73B94E267D}" dt="2025-01-31T09:12:24.839" v="11114" actId="47"/>
        <pc:sldMkLst>
          <pc:docMk/>
          <pc:sldMk cId="2798090345" sldId="453"/>
        </pc:sldMkLst>
      </pc:sldChg>
      <pc:sldChg chg="addSp delSp modSp del mod">
        <pc:chgData name="Pragathi Puthran" userId="6579d6400e065975" providerId="LiveId" clId="{11F731AC-70A4-492C-90A1-AF73B94E267D}" dt="2025-01-31T09:12:25.747" v="11115" actId="47"/>
        <pc:sldMkLst>
          <pc:docMk/>
          <pc:sldMk cId="1019839159" sldId="454"/>
        </pc:sldMkLst>
      </pc:sldChg>
      <pc:sldChg chg="addSp delSp modSp mod">
        <pc:chgData name="Pragathi Puthran" userId="6579d6400e065975" providerId="LiveId" clId="{11F731AC-70A4-492C-90A1-AF73B94E267D}" dt="2025-01-31T09:14:20.671" v="11142" actId="14100"/>
        <pc:sldMkLst>
          <pc:docMk/>
          <pc:sldMk cId="2014125210" sldId="455"/>
        </pc:sldMkLst>
      </pc:sldChg>
      <pc:sldChg chg="addSp delSp modSp mod">
        <pc:chgData name="Pragathi Puthran" userId="6579d6400e065975" providerId="LiveId" clId="{11F731AC-70A4-492C-90A1-AF73B94E267D}" dt="2025-01-30T15:02:27.030" v="6712" actId="21"/>
        <pc:sldMkLst>
          <pc:docMk/>
          <pc:sldMk cId="677037362" sldId="456"/>
        </pc:sldMkLst>
      </pc:sldChg>
      <pc:sldChg chg="addSp delSp modSp mod">
        <pc:chgData name="Pragathi Puthran" userId="6579d6400e065975" providerId="LiveId" clId="{11F731AC-70A4-492C-90A1-AF73B94E267D}" dt="2025-02-02T10:16:22.127" v="12055" actId="20577"/>
        <pc:sldMkLst>
          <pc:docMk/>
          <pc:sldMk cId="2119059378" sldId="457"/>
        </pc:sldMkLst>
      </pc:sldChg>
      <pc:sldChg chg="addSp delSp modSp mod">
        <pc:chgData name="Pragathi Puthran" userId="6579d6400e065975" providerId="LiveId" clId="{11F731AC-70A4-492C-90A1-AF73B94E267D}" dt="2025-02-20T07:19:02.439" v="12105" actId="12"/>
        <pc:sldMkLst>
          <pc:docMk/>
          <pc:sldMk cId="3617097978" sldId="458"/>
        </pc:sldMkLst>
      </pc:sldChg>
      <pc:sldChg chg="addSp delSp modSp mod">
        <pc:chgData name="Pragathi Puthran" userId="6579d6400e065975" providerId="LiveId" clId="{11F731AC-70A4-492C-90A1-AF73B94E267D}" dt="2025-01-31T09:14:50.389" v="11149" actId="20577"/>
        <pc:sldMkLst>
          <pc:docMk/>
          <pc:sldMk cId="782549241" sldId="459"/>
        </pc:sldMkLst>
      </pc:sldChg>
      <pc:sldChg chg="addSp delSp modSp mod">
        <pc:chgData name="Pragathi Puthran" userId="6579d6400e065975" providerId="LiveId" clId="{11F731AC-70A4-492C-90A1-AF73B94E267D}" dt="2025-01-31T09:15:08.777" v="11151" actId="12"/>
        <pc:sldMkLst>
          <pc:docMk/>
          <pc:sldMk cId="3963358300" sldId="460"/>
        </pc:sldMkLst>
      </pc:sldChg>
      <pc:sldChg chg="addSp delSp modSp mod">
        <pc:chgData name="Pragathi Puthran" userId="6579d6400e065975" providerId="LiveId" clId="{11F731AC-70A4-492C-90A1-AF73B94E267D}" dt="2025-01-31T09:15:31.360" v="11154" actId="14100"/>
        <pc:sldMkLst>
          <pc:docMk/>
          <pc:sldMk cId="2947285070" sldId="461"/>
        </pc:sldMkLst>
      </pc:sldChg>
      <pc:sldChg chg="modSp del mod">
        <pc:chgData name="Pragathi Puthran" userId="6579d6400e065975" providerId="LiveId" clId="{11F731AC-70A4-492C-90A1-AF73B94E267D}" dt="2025-01-30T15:03:09.098" v="6730" actId="2696"/>
        <pc:sldMkLst>
          <pc:docMk/>
          <pc:sldMk cId="1512982508" sldId="462"/>
        </pc:sldMkLst>
      </pc:sldChg>
      <pc:sldChg chg="addSp delSp modSp mod">
        <pc:chgData name="Pragathi Puthran" userId="6579d6400e065975" providerId="LiveId" clId="{11F731AC-70A4-492C-90A1-AF73B94E267D}" dt="2025-02-20T08:48:15.860" v="12119" actId="20577"/>
        <pc:sldMkLst>
          <pc:docMk/>
          <pc:sldMk cId="2035418970" sldId="463"/>
        </pc:sldMkLst>
      </pc:sldChg>
      <pc:sldChg chg="addSp delSp modSp mod">
        <pc:chgData name="Pragathi Puthran" userId="6579d6400e065975" providerId="LiveId" clId="{11F731AC-70A4-492C-90A1-AF73B94E267D}" dt="2025-02-20T08:47:11.245" v="12115" actId="20577"/>
        <pc:sldMkLst>
          <pc:docMk/>
          <pc:sldMk cId="3101326716" sldId="464"/>
        </pc:sldMkLst>
      </pc:sldChg>
      <pc:sldChg chg="addSp delSp modSp mod">
        <pc:chgData name="Pragathi Puthran" userId="6579d6400e065975" providerId="LiveId" clId="{11F731AC-70A4-492C-90A1-AF73B94E267D}" dt="2025-02-02T10:38:31.465" v="12059" actId="20577"/>
        <pc:sldMkLst>
          <pc:docMk/>
          <pc:sldMk cId="329277345" sldId="465"/>
        </pc:sldMkLst>
      </pc:sldChg>
      <pc:sldChg chg="addSp delSp modSp del mod">
        <pc:chgData name="Pragathi Puthran" userId="6579d6400e065975" providerId="LiveId" clId="{11F731AC-70A4-492C-90A1-AF73B94E267D}" dt="2025-01-30T15:03:59.095" v="6749" actId="2696"/>
        <pc:sldMkLst>
          <pc:docMk/>
          <pc:sldMk cId="1396387513" sldId="466"/>
        </pc:sldMkLst>
      </pc:sldChg>
      <pc:sldChg chg="addSp delSp modSp mod">
        <pc:chgData name="Pragathi Puthran" userId="6579d6400e065975" providerId="LiveId" clId="{11F731AC-70A4-492C-90A1-AF73B94E267D}" dt="2025-02-02T10:41:12.409" v="12060" actId="20577"/>
        <pc:sldMkLst>
          <pc:docMk/>
          <pc:sldMk cId="2302470604" sldId="467"/>
        </pc:sldMkLst>
      </pc:sldChg>
      <pc:sldChg chg="addSp delSp modSp mod">
        <pc:chgData name="Pragathi Puthran" userId="6579d6400e065975" providerId="LiveId" clId="{11F731AC-70A4-492C-90A1-AF73B94E267D}" dt="2025-01-31T09:15:59.387" v="11158" actId="14100"/>
        <pc:sldMkLst>
          <pc:docMk/>
          <pc:sldMk cId="480437694" sldId="468"/>
        </pc:sldMkLst>
      </pc:sldChg>
      <pc:sldChg chg="modSp del mod">
        <pc:chgData name="Pragathi Puthran" userId="6579d6400e065975" providerId="LiveId" clId="{11F731AC-70A4-492C-90A1-AF73B94E267D}" dt="2025-01-30T15:04:34.725" v="6762" actId="2696"/>
        <pc:sldMkLst>
          <pc:docMk/>
          <pc:sldMk cId="2246007036" sldId="469"/>
        </pc:sldMkLst>
      </pc:sldChg>
      <pc:sldChg chg="addSp delSp modSp mod">
        <pc:chgData name="Pragathi Puthran" userId="6579d6400e065975" providerId="LiveId" clId="{11F731AC-70A4-492C-90A1-AF73B94E267D}" dt="2025-01-30T15:04:38.798" v="6764" actId="21"/>
        <pc:sldMkLst>
          <pc:docMk/>
          <pc:sldMk cId="532412744" sldId="470"/>
        </pc:sldMkLst>
      </pc:sldChg>
      <pc:sldChg chg="addSp delSp modSp del mod">
        <pc:chgData name="Pragathi Puthran" userId="6579d6400e065975" providerId="LiveId" clId="{11F731AC-70A4-492C-90A1-AF73B94E267D}" dt="2025-02-20T10:06:26.802" v="12135" actId="47"/>
        <pc:sldMkLst>
          <pc:docMk/>
          <pc:sldMk cId="2984432456" sldId="471"/>
        </pc:sldMkLst>
      </pc:sldChg>
      <pc:sldChg chg="modSp mod">
        <pc:chgData name="Pragathi Puthran" userId="6579d6400e065975" providerId="LiveId" clId="{11F731AC-70A4-492C-90A1-AF73B94E267D}" dt="2025-01-29T08:18:59.810" v="226" actId="20577"/>
        <pc:sldMkLst>
          <pc:docMk/>
          <pc:sldMk cId="3443532176" sldId="580"/>
        </pc:sldMkLst>
      </pc:sldChg>
      <pc:sldChg chg="addSp delSp modSp mod">
        <pc:chgData name="Pragathi Puthran" userId="6579d6400e065975" providerId="LiveId" clId="{11F731AC-70A4-492C-90A1-AF73B94E267D}" dt="2025-01-30T15:05:46.676" v="6774" actId="14100"/>
        <pc:sldMkLst>
          <pc:docMk/>
          <pc:sldMk cId="3955202718" sldId="583"/>
        </pc:sldMkLst>
      </pc:sldChg>
      <pc:sldChg chg="addSp delSp modSp mod">
        <pc:chgData name="Pragathi Puthran" userId="6579d6400e065975" providerId="LiveId" clId="{11F731AC-70A4-492C-90A1-AF73B94E267D}" dt="2025-01-30T13:31:13.274" v="5775" actId="20577"/>
        <pc:sldMkLst>
          <pc:docMk/>
          <pc:sldMk cId="837503658" sldId="584"/>
        </pc:sldMkLst>
      </pc:sldChg>
      <pc:sldChg chg="addSp delSp modSp del mod">
        <pc:chgData name="Pragathi Puthran" userId="6579d6400e065975" providerId="LiveId" clId="{11F731AC-70A4-492C-90A1-AF73B94E267D}" dt="2025-01-30T13:33:41.361" v="5781" actId="2696"/>
        <pc:sldMkLst>
          <pc:docMk/>
          <pc:sldMk cId="1938906712" sldId="585"/>
        </pc:sldMkLst>
      </pc:sldChg>
      <pc:sldChg chg="addSp delSp modSp new mod">
        <pc:chgData name="Pragathi Puthran" userId="6579d6400e065975" providerId="LiveId" clId="{11F731AC-70A4-492C-90A1-AF73B94E267D}" dt="2025-01-31T05:58:24.324" v="7457" actId="20577"/>
        <pc:sldMkLst>
          <pc:docMk/>
          <pc:sldMk cId="1129641940" sldId="586"/>
        </pc:sldMkLst>
      </pc:sldChg>
      <pc:sldChg chg="addSp delSp modSp new del mod">
        <pc:chgData name="Pragathi Puthran" userId="6579d6400e065975" providerId="LiveId" clId="{11F731AC-70A4-492C-90A1-AF73B94E267D}" dt="2025-01-30T11:07:45.559" v="4438" actId="47"/>
        <pc:sldMkLst>
          <pc:docMk/>
          <pc:sldMk cId="2553386858" sldId="586"/>
        </pc:sldMkLst>
      </pc:sldChg>
      <pc:sldChg chg="addSp delSp modSp new mod">
        <pc:chgData name="Pragathi Puthran" userId="6579d6400e065975" providerId="LiveId" clId="{11F731AC-70A4-492C-90A1-AF73B94E267D}" dt="2025-01-30T13:17:40.786" v="5593" actId="20577"/>
        <pc:sldMkLst>
          <pc:docMk/>
          <pc:sldMk cId="789363450" sldId="587"/>
        </pc:sldMkLst>
      </pc:sldChg>
      <pc:sldChg chg="addSp delSp modSp new mod">
        <pc:chgData name="Pragathi Puthran" userId="6579d6400e065975" providerId="LiveId" clId="{11F731AC-70A4-492C-90A1-AF73B94E267D}" dt="2025-01-30T13:30:51.712" v="5772" actId="5793"/>
        <pc:sldMkLst>
          <pc:docMk/>
          <pc:sldMk cId="329847966" sldId="588"/>
        </pc:sldMkLst>
      </pc:sldChg>
      <pc:sldChg chg="addSp modSp new mod chgLayout">
        <pc:chgData name="Pragathi Puthran" userId="6579d6400e065975" providerId="LiveId" clId="{11F731AC-70A4-492C-90A1-AF73B94E267D}" dt="2025-01-31T06:21:04.759" v="8094" actId="700"/>
        <pc:sldMkLst>
          <pc:docMk/>
          <pc:sldMk cId="2063496383" sldId="589"/>
        </pc:sldMkLst>
      </pc:sldChg>
      <pc:sldChg chg="addSp delSp modSp new mod ord">
        <pc:chgData name="Pragathi Puthran" userId="6579d6400e065975" providerId="LiveId" clId="{11F731AC-70A4-492C-90A1-AF73B94E267D}" dt="2025-01-31T09:16:54.418" v="11161" actId="255"/>
        <pc:sldMkLst>
          <pc:docMk/>
          <pc:sldMk cId="2874505695" sldId="590"/>
        </pc:sldMkLst>
      </pc:sldChg>
      <pc:sldChg chg="addSp modSp new mod">
        <pc:chgData name="Pragathi Puthran" userId="6579d6400e065975" providerId="LiveId" clId="{11F731AC-70A4-492C-90A1-AF73B94E267D}" dt="2025-01-31T06:21:55.582" v="8116" actId="14100"/>
        <pc:sldMkLst>
          <pc:docMk/>
          <pc:sldMk cId="3641319788" sldId="591"/>
        </pc:sldMkLst>
      </pc:sldChg>
      <pc:sldChg chg="addSp delSp modSp new mod">
        <pc:chgData name="Pragathi Puthran" userId="6579d6400e065975" providerId="LiveId" clId="{11F731AC-70A4-492C-90A1-AF73B94E267D}" dt="2025-02-02T04:15:14.700" v="11331" actId="20577"/>
        <pc:sldMkLst>
          <pc:docMk/>
          <pc:sldMk cId="2897332957" sldId="592"/>
        </pc:sldMkLst>
      </pc:sldChg>
      <pc:sldChg chg="addSp delSp modSp new mod">
        <pc:chgData name="Pragathi Puthran" userId="6579d6400e065975" providerId="LiveId" clId="{11F731AC-70A4-492C-90A1-AF73B94E267D}" dt="2025-02-02T04:21:57.513" v="11545" actId="20577"/>
        <pc:sldMkLst>
          <pc:docMk/>
          <pc:sldMk cId="3967187363" sldId="593"/>
        </pc:sldMkLst>
      </pc:sldChg>
      <pc:sldChg chg="addSp delSp modSp new mod ord">
        <pc:chgData name="Pragathi Puthran" userId="6579d6400e065975" providerId="LiveId" clId="{11F731AC-70A4-492C-90A1-AF73B94E267D}" dt="2025-02-13T06:52:48.641" v="12071" actId="20577"/>
        <pc:sldMkLst>
          <pc:docMk/>
          <pc:sldMk cId="991673166" sldId="594"/>
        </pc:sldMkLst>
      </pc:sldChg>
      <pc:sldChg chg="addSp delSp modSp new mod">
        <pc:chgData name="Pragathi Puthran" userId="6579d6400e065975" providerId="LiveId" clId="{11F731AC-70A4-492C-90A1-AF73B94E267D}" dt="2025-01-31T06:49:22.126" v="8915"/>
        <pc:sldMkLst>
          <pc:docMk/>
          <pc:sldMk cId="3763132595" sldId="595"/>
        </pc:sldMkLst>
      </pc:sldChg>
      <pc:sldChg chg="addSp delSp modSp new del mod">
        <pc:chgData name="Pragathi Puthran" userId="6579d6400e065975" providerId="LiveId" clId="{11F731AC-70A4-492C-90A1-AF73B94E267D}" dt="2025-01-31T07:10:02.028" v="9451" actId="2696"/>
        <pc:sldMkLst>
          <pc:docMk/>
          <pc:sldMk cId="1598773780" sldId="596"/>
        </pc:sldMkLst>
      </pc:sldChg>
      <pc:sldChg chg="addSp delSp modSp new mod">
        <pc:chgData name="Pragathi Puthran" userId="6579d6400e065975" providerId="LiveId" clId="{11F731AC-70A4-492C-90A1-AF73B94E267D}" dt="2025-01-31T07:42:51.872" v="10025" actId="14100"/>
        <pc:sldMkLst>
          <pc:docMk/>
          <pc:sldMk cId="1275536658" sldId="597"/>
        </pc:sldMkLst>
      </pc:sldChg>
      <pc:sldChg chg="add del">
        <pc:chgData name="Pragathi Puthran" userId="6579d6400e065975" providerId="LiveId" clId="{11F731AC-70A4-492C-90A1-AF73B94E267D}" dt="2025-01-31T07:52:08.283" v="10130"/>
        <pc:sldMkLst>
          <pc:docMk/>
          <pc:sldMk cId="2141354223" sldId="598"/>
        </pc:sldMkLst>
      </pc:sldChg>
      <pc:sldChg chg="add">
        <pc:chgData name="Pragathi Puthran" userId="6579d6400e065975" providerId="LiveId" clId="{11F731AC-70A4-492C-90A1-AF73B94E267D}" dt="2025-01-31T07:59:47.031" v="10159"/>
        <pc:sldMkLst>
          <pc:docMk/>
          <pc:sldMk cId="2505751257" sldId="598"/>
        </pc:sldMkLst>
      </pc:sldChg>
      <pc:sldChg chg="addSp delSp modSp new mod">
        <pc:chgData name="Pragathi Puthran" userId="6579d6400e065975" providerId="LiveId" clId="{11F731AC-70A4-492C-90A1-AF73B94E267D}" dt="2025-01-31T09:21:12.485" v="11199"/>
        <pc:sldMkLst>
          <pc:docMk/>
          <pc:sldMk cId="1011627512" sldId="599"/>
        </pc:sldMkLst>
      </pc:sldChg>
      <pc:sldChg chg="addSp modSp new mod ord">
        <pc:chgData name="Pragathi Puthran" userId="6579d6400e065975" providerId="LiveId" clId="{11F731AC-70A4-492C-90A1-AF73B94E267D}" dt="2025-01-31T09:21:22.440" v="11201"/>
        <pc:sldMkLst>
          <pc:docMk/>
          <pc:sldMk cId="1096019630" sldId="600"/>
        </pc:sldMkLst>
      </pc:sldChg>
      <pc:sldChg chg="addSp modSp new mod">
        <pc:chgData name="Pragathi Puthran" userId="6579d6400e065975" providerId="LiveId" clId="{11F731AC-70A4-492C-90A1-AF73B94E267D}" dt="2025-01-31T08:47:30.908" v="10559" actId="255"/>
        <pc:sldMkLst>
          <pc:docMk/>
          <pc:sldMk cId="1174457473" sldId="601"/>
        </pc:sldMkLst>
      </pc:sldChg>
      <pc:sldChg chg="addSp modSp new mod">
        <pc:chgData name="Pragathi Puthran" userId="6579d6400e065975" providerId="LiveId" clId="{11F731AC-70A4-492C-90A1-AF73B94E267D}" dt="2025-01-31T08:44:47.433" v="10522" actId="20577"/>
        <pc:sldMkLst>
          <pc:docMk/>
          <pc:sldMk cId="3223352226" sldId="602"/>
        </pc:sldMkLst>
      </pc:sldChg>
      <pc:sldChg chg="addSp modSp new mod">
        <pc:chgData name="Pragathi Puthran" userId="6579d6400e065975" providerId="LiveId" clId="{11F731AC-70A4-492C-90A1-AF73B94E267D}" dt="2025-01-31T08:47:38.441" v="10560" actId="255"/>
        <pc:sldMkLst>
          <pc:docMk/>
          <pc:sldMk cId="1768730802" sldId="603"/>
        </pc:sldMkLst>
      </pc:sldChg>
      <pc:sldChg chg="addSp modSp new mod">
        <pc:chgData name="Pragathi Puthran" userId="6579d6400e065975" providerId="LiveId" clId="{11F731AC-70A4-492C-90A1-AF73B94E267D}" dt="2025-02-20T05:55:36.056" v="12104" actId="20577"/>
        <pc:sldMkLst>
          <pc:docMk/>
          <pc:sldMk cId="1741275573" sldId="604"/>
        </pc:sldMkLst>
      </pc:sldChg>
      <pc:sldChg chg="addSp modSp new mod">
        <pc:chgData name="Pragathi Puthran" userId="6579d6400e065975" providerId="LiveId" clId="{11F731AC-70A4-492C-90A1-AF73B94E267D}" dt="2025-01-31T08:51:18.043" v="10684" actId="2711"/>
        <pc:sldMkLst>
          <pc:docMk/>
          <pc:sldMk cId="723012089" sldId="605"/>
        </pc:sldMkLst>
      </pc:sldChg>
      <pc:sldChg chg="addSp delSp modSp new mod">
        <pc:chgData name="Pragathi Puthran" userId="6579d6400e065975" providerId="LiveId" clId="{11F731AC-70A4-492C-90A1-AF73B94E267D}" dt="2025-01-31T08:54:48.762" v="10826" actId="207"/>
        <pc:sldMkLst>
          <pc:docMk/>
          <pc:sldMk cId="3172253452" sldId="606"/>
        </pc:sldMkLst>
      </pc:sldChg>
      <pc:sldChg chg="addSp modSp new mod">
        <pc:chgData name="Pragathi Puthran" userId="6579d6400e065975" providerId="LiveId" clId="{11F731AC-70A4-492C-90A1-AF73B94E267D}" dt="2025-01-31T08:57:01.631" v="10857" actId="20577"/>
        <pc:sldMkLst>
          <pc:docMk/>
          <pc:sldMk cId="1579978231" sldId="607"/>
        </pc:sldMkLst>
      </pc:sldChg>
      <pc:sldChg chg="addSp modSp new mod">
        <pc:chgData name="Pragathi Puthran" userId="6579d6400e065975" providerId="LiveId" clId="{11F731AC-70A4-492C-90A1-AF73B94E267D}" dt="2025-02-02T10:03:46.259" v="12054" actId="20577"/>
        <pc:sldMkLst>
          <pc:docMk/>
          <pc:sldMk cId="3593142491" sldId="608"/>
        </pc:sldMkLst>
      </pc:sldChg>
      <pc:sldChg chg="addSp delSp modSp new mod">
        <pc:chgData name="Pragathi Puthran" userId="6579d6400e065975" providerId="LiveId" clId="{11F731AC-70A4-492C-90A1-AF73B94E267D}" dt="2025-01-31T09:01:32.598" v="10914" actId="20577"/>
        <pc:sldMkLst>
          <pc:docMk/>
          <pc:sldMk cId="71442589" sldId="609"/>
        </pc:sldMkLst>
      </pc:sldChg>
      <pc:sldChg chg="addSp modSp new mod">
        <pc:chgData name="Pragathi Puthran" userId="6579d6400e065975" providerId="LiveId" clId="{11F731AC-70A4-492C-90A1-AF73B94E267D}" dt="2025-02-08T04:39:23.803" v="12066"/>
        <pc:sldMkLst>
          <pc:docMk/>
          <pc:sldMk cId="2323520472" sldId="610"/>
        </pc:sldMkLst>
      </pc:sldChg>
      <pc:sldChg chg="addSp modSp new mod">
        <pc:chgData name="Pragathi Puthran" userId="6579d6400e065975" providerId="LiveId" clId="{11F731AC-70A4-492C-90A1-AF73B94E267D}" dt="2025-01-31T09:09:16.443" v="10993" actId="255"/>
        <pc:sldMkLst>
          <pc:docMk/>
          <pc:sldMk cId="1024425569" sldId="611"/>
        </pc:sldMkLst>
      </pc:sldChg>
      <pc:sldChg chg="addSp modSp new mod">
        <pc:chgData name="Pragathi Puthran" userId="6579d6400e065975" providerId="LiveId" clId="{11F731AC-70A4-492C-90A1-AF73B94E267D}" dt="2025-01-31T09:08:11.319" v="10991" actId="13822"/>
        <pc:sldMkLst>
          <pc:docMk/>
          <pc:sldMk cId="629891339" sldId="612"/>
        </pc:sldMkLst>
      </pc:sldChg>
      <pc:sldChg chg="addSp modSp new mod">
        <pc:chgData name="Pragathi Puthran" userId="6579d6400e065975" providerId="LiveId" clId="{11F731AC-70A4-492C-90A1-AF73B94E267D}" dt="2025-01-31T09:21:57.343" v="11204" actId="255"/>
        <pc:sldMkLst>
          <pc:docMk/>
          <pc:sldMk cId="3732005942" sldId="613"/>
        </pc:sldMkLst>
      </pc:sldChg>
      <pc:sldChg chg="addSp modSp new mod">
        <pc:chgData name="Pragathi Puthran" userId="6579d6400e065975" providerId="LiveId" clId="{11F731AC-70A4-492C-90A1-AF73B94E267D}" dt="2025-01-31T09:11:52.899" v="11094" actId="14100"/>
        <pc:sldMkLst>
          <pc:docMk/>
          <pc:sldMk cId="1176422802" sldId="614"/>
        </pc:sldMkLst>
      </pc:sldChg>
      <pc:sldChg chg="new add del">
        <pc:chgData name="Pragathi Puthran" userId="6579d6400e065975" providerId="LiveId" clId="{11F731AC-70A4-492C-90A1-AF73B94E267D}" dt="2025-03-01T10:18:09.513" v="12142" actId="680"/>
        <pc:sldMkLst>
          <pc:docMk/>
          <pc:sldMk cId="742242759" sldId="61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96E06F-9F40-4B8C-B545-76859E863E33}" type="datetimeFigureOut">
              <a:rPr lang="en-IN" smtClean="0"/>
              <a:t>18-07-2025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3CC9A4-1C64-493C-9968-A07A64F2D49D}" type="slidenum">
              <a:rPr lang="en-IN" smtClean="0"/>
              <a:t>‹#›</a:t>
            </a:fld>
            <a:endParaRPr lang="en-IN"/>
          </a:p>
        </p:txBody>
      </p:sp>
    </p:spTree>
    <p:extLst>
      <p:ext uri="{BB962C8B-B14F-4D97-AF65-F5344CB8AC3E}">
        <p14:creationId xmlns:p14="http://schemas.microsoft.com/office/powerpoint/2010/main" val="32796406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0FA0D-86A3-4BC5-485C-8156BB713A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A9B218-5F10-4A3E-1E4C-7E6EB1A699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C445B-50C3-69EB-1E5F-DD5695D7555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9D0E697-A2EA-F408-B1BA-22C3A45C5F11}"/>
              </a:ext>
            </a:extLst>
          </p:cNvPr>
          <p:cNvSpPr>
            <a:spLocks noGrp="1"/>
          </p:cNvSpPr>
          <p:nvPr>
            <p:ph type="sldNum" sz="quarter" idx="5"/>
          </p:nvPr>
        </p:nvSpPr>
        <p:spPr/>
        <p:txBody>
          <a:bodyPr/>
          <a:lstStyle/>
          <a:p>
            <a:fld id="{403CC9A4-1C64-493C-9968-A07A64F2D49D}" type="slidenum">
              <a:rPr lang="en-IN" smtClean="0"/>
              <a:t>4</a:t>
            </a:fld>
            <a:endParaRPr lang="en-IN"/>
          </a:p>
        </p:txBody>
      </p:sp>
    </p:spTree>
    <p:extLst>
      <p:ext uri="{BB962C8B-B14F-4D97-AF65-F5344CB8AC3E}">
        <p14:creationId xmlns:p14="http://schemas.microsoft.com/office/powerpoint/2010/main" val="21705642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03CC9A4-1C64-493C-9968-A07A64F2D49D}" type="slidenum">
              <a:rPr lang="en-IN" smtClean="0"/>
              <a:t>5</a:t>
            </a:fld>
            <a:endParaRPr lang="en-IN"/>
          </a:p>
        </p:txBody>
      </p:sp>
    </p:spTree>
    <p:extLst>
      <p:ext uri="{BB962C8B-B14F-4D97-AF65-F5344CB8AC3E}">
        <p14:creationId xmlns:p14="http://schemas.microsoft.com/office/powerpoint/2010/main" val="344028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03CC9A4-1C64-493C-9968-A07A64F2D49D}" type="slidenum">
              <a:rPr lang="en-IN" smtClean="0"/>
              <a:t>17</a:t>
            </a:fld>
            <a:endParaRPr lang="en-IN"/>
          </a:p>
        </p:txBody>
      </p:sp>
    </p:spTree>
    <p:extLst>
      <p:ext uri="{BB962C8B-B14F-4D97-AF65-F5344CB8AC3E}">
        <p14:creationId xmlns:p14="http://schemas.microsoft.com/office/powerpoint/2010/main" val="11320578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02B2B48-7E70-4E3D-92A7-6A17184D1823}" type="datetimeFigureOut">
              <a:rPr lang="en-IN" smtClean="0"/>
              <a:t>18-07-2025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0FC622-5E1D-4070-B2C3-187DC0EFB1E2}" type="slidenum">
              <a:rPr lang="en-IN" smtClean="0"/>
              <a:t>‹#›</a:t>
            </a:fld>
            <a:endParaRPr lang="en-IN"/>
          </a:p>
        </p:txBody>
      </p:sp>
    </p:spTree>
    <p:extLst>
      <p:ext uri="{BB962C8B-B14F-4D97-AF65-F5344CB8AC3E}">
        <p14:creationId xmlns:p14="http://schemas.microsoft.com/office/powerpoint/2010/main" val="37036748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2B2B48-7E70-4E3D-92A7-6A17184D1823}" type="datetimeFigureOut">
              <a:rPr lang="en-IN" smtClean="0"/>
              <a:t>18-07-2025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0FC622-5E1D-4070-B2C3-187DC0EFB1E2}" type="slidenum">
              <a:rPr lang="en-IN" smtClean="0"/>
              <a:t>‹#›</a:t>
            </a:fld>
            <a:endParaRPr lang="en-IN"/>
          </a:p>
        </p:txBody>
      </p:sp>
    </p:spTree>
    <p:extLst>
      <p:ext uri="{BB962C8B-B14F-4D97-AF65-F5344CB8AC3E}">
        <p14:creationId xmlns:p14="http://schemas.microsoft.com/office/powerpoint/2010/main" val="254539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2B2B48-7E70-4E3D-92A7-6A17184D1823}" type="datetimeFigureOut">
              <a:rPr lang="en-IN" smtClean="0"/>
              <a:t>18-07-2025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0FC622-5E1D-4070-B2C3-187DC0EFB1E2}" type="slidenum">
              <a:rPr lang="en-IN" smtClean="0"/>
              <a:t>‹#›</a:t>
            </a:fld>
            <a:endParaRPr lang="en-IN"/>
          </a:p>
        </p:txBody>
      </p:sp>
    </p:spTree>
    <p:extLst>
      <p:ext uri="{BB962C8B-B14F-4D97-AF65-F5344CB8AC3E}">
        <p14:creationId xmlns:p14="http://schemas.microsoft.com/office/powerpoint/2010/main" val="34444706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2B2B48-7E70-4E3D-92A7-6A17184D1823}" type="datetimeFigureOut">
              <a:rPr lang="en-IN" smtClean="0"/>
              <a:t>18-07-2025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F0FC622-5E1D-4070-B2C3-187DC0EFB1E2}" type="slidenum">
              <a:rPr lang="en-IN" smtClean="0"/>
              <a:t>‹#›</a:t>
            </a:fld>
            <a:endParaRPr lang="en-IN"/>
          </a:p>
        </p:txBody>
      </p:sp>
    </p:spTree>
    <p:extLst>
      <p:ext uri="{BB962C8B-B14F-4D97-AF65-F5344CB8AC3E}">
        <p14:creationId xmlns:p14="http://schemas.microsoft.com/office/powerpoint/2010/main" val="34463875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2B2B48-7E70-4E3D-92A7-6A17184D1823}" type="datetimeFigureOut">
              <a:rPr lang="en-IN" smtClean="0"/>
              <a:t>18-07-2025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F0FC622-5E1D-4070-B2C3-187DC0EFB1E2}" type="slidenum">
              <a:rPr lang="en-IN" smtClean="0"/>
              <a:t>‹#›</a:t>
            </a:fld>
            <a:endParaRPr lang="en-IN"/>
          </a:p>
        </p:txBody>
      </p:sp>
    </p:spTree>
    <p:extLst>
      <p:ext uri="{BB962C8B-B14F-4D97-AF65-F5344CB8AC3E}">
        <p14:creationId xmlns:p14="http://schemas.microsoft.com/office/powerpoint/2010/main" val="187922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2B2B48-7E70-4E3D-92A7-6A17184D1823}" type="datetimeFigureOut">
              <a:rPr lang="en-IN" smtClean="0"/>
              <a:t>18-07-2025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F0FC622-5E1D-4070-B2C3-187DC0EFB1E2}" type="slidenum">
              <a:rPr lang="en-IN" smtClean="0"/>
              <a:t>‹#›</a:t>
            </a:fld>
            <a:endParaRPr lang="en-IN"/>
          </a:p>
        </p:txBody>
      </p:sp>
    </p:spTree>
    <p:extLst>
      <p:ext uri="{BB962C8B-B14F-4D97-AF65-F5344CB8AC3E}">
        <p14:creationId xmlns:p14="http://schemas.microsoft.com/office/powerpoint/2010/main" val="3634065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2B2B48-7E70-4E3D-92A7-6A17184D1823}" type="datetimeFigureOut">
              <a:rPr lang="en-IN" smtClean="0"/>
              <a:t>18-07-2025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F0FC622-5E1D-4070-B2C3-187DC0EFB1E2}" type="slidenum">
              <a:rPr lang="en-IN" smtClean="0"/>
              <a:t>‹#›</a:t>
            </a:fld>
            <a:endParaRPr lang="en-IN"/>
          </a:p>
        </p:txBody>
      </p:sp>
    </p:spTree>
    <p:extLst>
      <p:ext uri="{BB962C8B-B14F-4D97-AF65-F5344CB8AC3E}">
        <p14:creationId xmlns:p14="http://schemas.microsoft.com/office/powerpoint/2010/main" val="12763578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2B2B48-7E70-4E3D-92A7-6A17184D1823}" type="datetimeFigureOut">
              <a:rPr lang="en-IN" smtClean="0"/>
              <a:t>18-07-2025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F0FC622-5E1D-4070-B2C3-187DC0EFB1E2}" type="slidenum">
              <a:rPr lang="en-IN" smtClean="0"/>
              <a:t>‹#›</a:t>
            </a:fld>
            <a:endParaRPr lang="en-IN"/>
          </a:p>
        </p:txBody>
      </p:sp>
    </p:spTree>
    <p:extLst>
      <p:ext uri="{BB962C8B-B14F-4D97-AF65-F5344CB8AC3E}">
        <p14:creationId xmlns:p14="http://schemas.microsoft.com/office/powerpoint/2010/main" val="1018348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2B2B48-7E70-4E3D-92A7-6A17184D1823}" type="datetimeFigureOut">
              <a:rPr lang="en-IN" smtClean="0"/>
              <a:t>18-07-2025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F0FC622-5E1D-4070-B2C3-187DC0EFB1E2}" type="slidenum">
              <a:rPr lang="en-IN" smtClean="0"/>
              <a:t>‹#›</a:t>
            </a:fld>
            <a:endParaRPr lang="en-IN"/>
          </a:p>
        </p:txBody>
      </p:sp>
    </p:spTree>
    <p:extLst>
      <p:ext uri="{BB962C8B-B14F-4D97-AF65-F5344CB8AC3E}">
        <p14:creationId xmlns:p14="http://schemas.microsoft.com/office/powerpoint/2010/main" val="34882887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2B2B48-7E70-4E3D-92A7-6A17184D1823}" type="datetimeFigureOut">
              <a:rPr lang="en-IN" smtClean="0"/>
              <a:t>18-07-2025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0FC622-5E1D-4070-B2C3-187DC0EFB1E2}" type="slidenum">
              <a:rPr lang="en-IN" smtClean="0"/>
              <a:t>‹#›</a:t>
            </a:fld>
            <a:endParaRPr lang="en-IN"/>
          </a:p>
        </p:txBody>
      </p:sp>
    </p:spTree>
    <p:extLst>
      <p:ext uri="{BB962C8B-B14F-4D97-AF65-F5344CB8AC3E}">
        <p14:creationId xmlns:p14="http://schemas.microsoft.com/office/powerpoint/2010/main" val="3719840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2B2B48-7E70-4E3D-92A7-6A17184D1823}" type="datetimeFigureOut">
              <a:rPr lang="en-IN" smtClean="0"/>
              <a:t>18-07-2025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0FC622-5E1D-4070-B2C3-187DC0EFB1E2}" type="slidenum">
              <a:rPr lang="en-IN" smtClean="0"/>
              <a:t>‹#›</a:t>
            </a:fld>
            <a:endParaRPr lang="en-IN"/>
          </a:p>
        </p:txBody>
      </p:sp>
    </p:spTree>
    <p:extLst>
      <p:ext uri="{BB962C8B-B14F-4D97-AF65-F5344CB8AC3E}">
        <p14:creationId xmlns:p14="http://schemas.microsoft.com/office/powerpoint/2010/main" val="11366842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68000">
              <a:schemeClr val="bg1"/>
            </a:gs>
            <a:gs pos="74000">
              <a:schemeClr val="bg1"/>
            </a:gs>
            <a:gs pos="83000">
              <a:schemeClr val="bg1"/>
            </a:gs>
            <a:gs pos="100000">
              <a:schemeClr val="bg1"/>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2B2B48-7E70-4E3D-92A7-6A17184D1823}" type="datetimeFigureOut">
              <a:rPr lang="en-IN" smtClean="0"/>
              <a:t>18-07-2025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0FC622-5E1D-4070-B2C3-187DC0EFB1E2}" type="slidenum">
              <a:rPr lang="en-IN" smtClean="0"/>
              <a:t>‹#›</a:t>
            </a:fld>
            <a:endParaRPr lang="en-IN"/>
          </a:p>
        </p:txBody>
      </p:sp>
    </p:spTree>
    <p:extLst>
      <p:ext uri="{BB962C8B-B14F-4D97-AF65-F5344CB8AC3E}">
        <p14:creationId xmlns:p14="http://schemas.microsoft.com/office/powerpoint/2010/main" val="103367830"/>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3.jpe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https://www.python.org/).&#8203;"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https://code.visualstudio.com/"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hyperlink" Target="https://colab.research.google.com/"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https://www.jetbrains.com/pycharm"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17FDE1-6FC0-1866-526F-B68C92978DE6}"/>
              </a:ext>
            </a:extLst>
          </p:cNvPr>
          <p:cNvPicPr>
            <a:picLocks noChangeAspect="1"/>
          </p:cNvPicPr>
          <p:nvPr/>
        </p:nvPicPr>
        <p:blipFill>
          <a:blip r:embed="rId2"/>
          <a:stretch>
            <a:fillRect/>
          </a:stretch>
        </p:blipFill>
        <p:spPr>
          <a:xfrm>
            <a:off x="1836821" y="1848391"/>
            <a:ext cx="8518358" cy="3161217"/>
          </a:xfrm>
          <a:prstGeom prst="rect">
            <a:avLst/>
          </a:prstGeom>
        </p:spPr>
      </p:pic>
    </p:spTree>
    <p:extLst>
      <p:ext uri="{BB962C8B-B14F-4D97-AF65-F5344CB8AC3E}">
        <p14:creationId xmlns:p14="http://schemas.microsoft.com/office/powerpoint/2010/main" val="3641766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24440-937B-8847-DE83-27D79C9F275D}"/>
              </a:ext>
            </a:extLst>
          </p:cNvPr>
          <p:cNvSpPr>
            <a:spLocks noGrp="1"/>
          </p:cNvSpPr>
          <p:nvPr>
            <p:ph type="ctrTitle"/>
          </p:nvPr>
        </p:nvSpPr>
        <p:spPr>
          <a:xfrm>
            <a:off x="1524000" y="1122363"/>
            <a:ext cx="9144000" cy="1129224"/>
          </a:xfrm>
        </p:spPr>
        <p:txBody>
          <a:bodyPr>
            <a:normAutofit/>
          </a:bodyPr>
          <a:lstStyle/>
          <a:p>
            <a:r>
              <a:rPr lang="en-IN" b="1" i="1" u="sng" dirty="0">
                <a:solidFill>
                  <a:schemeClr val="accent1">
                    <a:lumMod val="75000"/>
                  </a:schemeClr>
                </a:solidFill>
                <a:effectLst>
                  <a:outerShdw blurRad="38100" dist="38100" dir="2700000" algn="tl">
                    <a:srgbClr val="000000">
                      <a:alpha val="43137"/>
                    </a:srgbClr>
                  </a:outerShdw>
                </a:effectLst>
                <a:latin typeface="+mn-lt"/>
                <a:cs typeface="Times New Roman" panose="02020603050405020304" pitchFamily="18" charset="0"/>
              </a:rPr>
              <a:t>INTRODUCTION TO PYTHON</a:t>
            </a:r>
            <a:endParaRPr lang="en-IN" dirty="0">
              <a:latin typeface="+mn-lt"/>
            </a:endParaRPr>
          </a:p>
        </p:txBody>
      </p:sp>
      <p:pic>
        <p:nvPicPr>
          <p:cNvPr id="4" name="Picture 3">
            <a:extLst>
              <a:ext uri="{FF2B5EF4-FFF2-40B4-BE49-F238E27FC236}">
                <a16:creationId xmlns:a16="http://schemas.microsoft.com/office/drawing/2014/main" id="{512F06DE-26F7-417E-3AEA-4014216F5E61}"/>
              </a:ext>
            </a:extLst>
          </p:cNvPr>
          <p:cNvPicPr/>
          <p:nvPr/>
        </p:nvPicPr>
        <p:blipFill>
          <a:blip r:embed="rId2" cstate="print"/>
          <a:stretch/>
        </p:blipFill>
        <p:spPr>
          <a:xfrm>
            <a:off x="11407920" y="91107"/>
            <a:ext cx="688680" cy="689040"/>
          </a:xfrm>
          <a:prstGeom prst="rect">
            <a:avLst/>
          </a:prstGeom>
          <a:ln w="0">
            <a:noFill/>
          </a:ln>
        </p:spPr>
      </p:pic>
      <p:pic>
        <p:nvPicPr>
          <p:cNvPr id="1026" name="Picture 2" descr="Python">
            <a:extLst>
              <a:ext uri="{FF2B5EF4-FFF2-40B4-BE49-F238E27FC236}">
                <a16:creationId xmlns:a16="http://schemas.microsoft.com/office/drawing/2014/main" id="{8ED809EB-05AB-4264-9FB4-4FC9ACBCA3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1858" y="2433482"/>
            <a:ext cx="6449961" cy="3431459"/>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48EFA2CD-CB36-25B2-51E1-58C45F13D8D6}"/>
              </a:ext>
            </a:extLst>
          </p:cNvPr>
          <p:cNvSpPr/>
          <p:nvPr/>
        </p:nvSpPr>
        <p:spPr>
          <a:xfrm>
            <a:off x="7678994" y="4817806"/>
            <a:ext cx="216309" cy="11798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33819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E6D66-5E81-3D28-3E1D-D307D79DB886}"/>
              </a:ext>
            </a:extLst>
          </p:cNvPr>
          <p:cNvSpPr>
            <a:spLocks noGrp="1"/>
          </p:cNvSpPr>
          <p:nvPr>
            <p:ph type="ctrTitle"/>
          </p:nvPr>
        </p:nvSpPr>
        <p:spPr>
          <a:xfrm>
            <a:off x="1838632" y="373627"/>
            <a:ext cx="8829368" cy="835741"/>
          </a:xfrm>
        </p:spPr>
        <p:txBody>
          <a:bodyPr>
            <a:normAutofit/>
          </a:bodyPr>
          <a:lstStyle/>
          <a:p>
            <a:r>
              <a:rPr lang="en-IN" sz="4000"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About Python </a:t>
            </a:r>
          </a:p>
        </p:txBody>
      </p:sp>
      <p:sp>
        <p:nvSpPr>
          <p:cNvPr id="3" name="Subtitle 2">
            <a:extLst>
              <a:ext uri="{FF2B5EF4-FFF2-40B4-BE49-F238E27FC236}">
                <a16:creationId xmlns:a16="http://schemas.microsoft.com/office/drawing/2014/main" id="{A3D4133B-4AB1-6C4B-D912-1EC0F3F02402}"/>
              </a:ext>
            </a:extLst>
          </p:cNvPr>
          <p:cNvSpPr>
            <a:spLocks noGrp="1"/>
          </p:cNvSpPr>
          <p:nvPr>
            <p:ph type="subTitle" idx="1"/>
          </p:nvPr>
        </p:nvSpPr>
        <p:spPr>
          <a:xfrm>
            <a:off x="1130710" y="1681315"/>
            <a:ext cx="10353367" cy="4395019"/>
          </a:xfrm>
        </p:spPr>
        <p:txBody>
          <a:bodyPr>
            <a:normAutofit/>
          </a:bodyPr>
          <a:lstStyle/>
          <a:p>
            <a:pPr marL="457200" indent="-457200" algn="just">
              <a:buFont typeface="Arial" panose="020B0604020202020204" pitchFamily="34" charset="0"/>
              <a:buChar char="•"/>
            </a:pPr>
            <a:r>
              <a:rPr lang="en-IN" sz="2000" dirty="0">
                <a:cs typeface="Times New Roman" panose="02020603050405020304" pitchFamily="18" charset="0"/>
              </a:rPr>
              <a:t>Python is a high-level, interpreted, object-oriented programming language.</a:t>
            </a:r>
          </a:p>
          <a:p>
            <a:pPr marL="457200" indent="-457200" algn="just">
              <a:buFont typeface="Arial" panose="020B0604020202020204" pitchFamily="34" charset="0"/>
              <a:buChar char="•"/>
            </a:pPr>
            <a:r>
              <a:rPr lang="en-IN" sz="2000" dirty="0">
                <a:cs typeface="Times New Roman" panose="02020603050405020304" pitchFamily="18" charset="0"/>
              </a:rPr>
              <a:t>Python was developed by </a:t>
            </a:r>
            <a:r>
              <a:rPr lang="en-IN" sz="2000" b="1" dirty="0">
                <a:cs typeface="Times New Roman" panose="02020603050405020304" pitchFamily="18" charset="0"/>
              </a:rPr>
              <a:t>Guido Van Rossum </a:t>
            </a:r>
            <a:r>
              <a:rPr lang="en-IN" sz="2000" dirty="0">
                <a:cs typeface="Times New Roman" panose="02020603050405020304" pitchFamily="18" charset="0"/>
              </a:rPr>
              <a:t>in 1989 and was released in 1991.</a:t>
            </a:r>
          </a:p>
          <a:p>
            <a:pPr marL="457200" indent="-457200" algn="just">
              <a:buFont typeface="Arial" panose="020B0604020202020204" pitchFamily="34" charset="0"/>
              <a:buChar char="•"/>
            </a:pPr>
            <a:r>
              <a:rPr lang="en-IN" sz="2000" dirty="0">
                <a:cs typeface="Times New Roman" panose="02020603050405020304" pitchFamily="18" charset="0"/>
              </a:rPr>
              <a:t>The name Python was taken from the popular BBC comedy show of the time, </a:t>
            </a:r>
            <a:r>
              <a:rPr lang="en-IN" sz="2000" b="1" dirty="0">
                <a:cs typeface="Times New Roman" panose="02020603050405020304" pitchFamily="18" charset="0"/>
              </a:rPr>
              <a:t>“Monty Python’s Flying Circus”</a:t>
            </a:r>
            <a:r>
              <a:rPr lang="en-IN" sz="2000" dirty="0">
                <a:cs typeface="Times New Roman" panose="02020603050405020304" pitchFamily="18" charset="0"/>
              </a:rPr>
              <a:t>.</a:t>
            </a:r>
          </a:p>
          <a:p>
            <a:pPr marL="457200" indent="-457200" algn="just">
              <a:buFont typeface="Arial" panose="020B0604020202020204" pitchFamily="34" charset="0"/>
              <a:buChar char="•"/>
            </a:pPr>
            <a:r>
              <a:rPr lang="en-IN" sz="2000" dirty="0">
                <a:cs typeface="Times New Roman" panose="02020603050405020304" pitchFamily="18" charset="0"/>
              </a:rPr>
              <a:t>Support multiple programming paradigms (procedural, object-oriented, functional).</a:t>
            </a:r>
          </a:p>
        </p:txBody>
      </p:sp>
      <p:pic>
        <p:nvPicPr>
          <p:cNvPr id="4" name="Picture 3">
            <a:extLst>
              <a:ext uri="{FF2B5EF4-FFF2-40B4-BE49-F238E27FC236}">
                <a16:creationId xmlns:a16="http://schemas.microsoft.com/office/drawing/2014/main" id="{7D414B58-C6D5-3267-2DF6-E8CF549F59A5}"/>
              </a:ext>
            </a:extLst>
          </p:cNvPr>
          <p:cNvPicPr/>
          <p:nvPr/>
        </p:nvPicPr>
        <p:blipFill>
          <a:blip r:embed="rId2" cstate="print"/>
          <a:stretch/>
        </p:blipFill>
        <p:spPr>
          <a:xfrm>
            <a:off x="11378423" y="102457"/>
            <a:ext cx="688680" cy="689040"/>
          </a:xfrm>
          <a:prstGeom prst="rect">
            <a:avLst/>
          </a:prstGeom>
          <a:ln w="0">
            <a:noFill/>
          </a:ln>
        </p:spPr>
      </p:pic>
    </p:spTree>
    <p:extLst>
      <p:ext uri="{BB962C8B-B14F-4D97-AF65-F5344CB8AC3E}">
        <p14:creationId xmlns:p14="http://schemas.microsoft.com/office/powerpoint/2010/main" val="1440505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9EDEF-C489-7C7B-95B9-144280D33A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276AE5-6585-32E6-C7B9-E3118A6F6F90}"/>
              </a:ext>
            </a:extLst>
          </p:cNvPr>
          <p:cNvSpPr>
            <a:spLocks noGrp="1"/>
          </p:cNvSpPr>
          <p:nvPr>
            <p:ph type="title"/>
          </p:nvPr>
        </p:nvSpPr>
        <p:spPr>
          <a:xfrm>
            <a:off x="838200" y="226143"/>
            <a:ext cx="10515600" cy="785311"/>
          </a:xfrm>
        </p:spPr>
        <p:txBody>
          <a:bodyPr>
            <a:normAutofit/>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Features of Python</a:t>
            </a:r>
            <a:endParaRPr lang="en-IN" dirty="0"/>
          </a:p>
        </p:txBody>
      </p:sp>
      <p:pic>
        <p:nvPicPr>
          <p:cNvPr id="4" name="Picture 3">
            <a:extLst>
              <a:ext uri="{FF2B5EF4-FFF2-40B4-BE49-F238E27FC236}">
                <a16:creationId xmlns:a16="http://schemas.microsoft.com/office/drawing/2014/main" id="{94A3FD8F-1A32-2CBC-1E44-7AA778650BFD}"/>
              </a:ext>
            </a:extLst>
          </p:cNvPr>
          <p:cNvPicPr/>
          <p:nvPr/>
        </p:nvPicPr>
        <p:blipFill>
          <a:blip r:embed="rId3" cstate="print"/>
          <a:stretch/>
        </p:blipFill>
        <p:spPr>
          <a:xfrm>
            <a:off x="11503320" y="0"/>
            <a:ext cx="688680" cy="689040"/>
          </a:xfrm>
          <a:prstGeom prst="rect">
            <a:avLst/>
          </a:prstGeom>
          <a:ln w="0">
            <a:noFill/>
          </a:ln>
        </p:spPr>
      </p:pic>
      <p:sp>
        <p:nvSpPr>
          <p:cNvPr id="6" name="Rectangle 5">
            <a:extLst>
              <a:ext uri="{FF2B5EF4-FFF2-40B4-BE49-F238E27FC236}">
                <a16:creationId xmlns:a16="http://schemas.microsoft.com/office/drawing/2014/main" id="{A4603BFE-65AA-AD97-0F0F-ABAAD7A1E800}"/>
              </a:ext>
            </a:extLst>
          </p:cNvPr>
          <p:cNvSpPr/>
          <p:nvPr/>
        </p:nvSpPr>
        <p:spPr>
          <a:xfrm>
            <a:off x="1520507" y="2729575"/>
            <a:ext cx="4270692" cy="1032383"/>
          </a:xfrm>
          <a:prstGeom prst="rect">
            <a:avLst/>
          </a:prstGeom>
          <a:ln>
            <a:solidFill>
              <a:schemeClr val="accent1">
                <a:lumMod val="75000"/>
              </a:schemeClr>
            </a:solidFill>
          </a:ln>
          <a:effectLst>
            <a:glow rad="63500">
              <a:schemeClr val="accent1">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t>
            </a:r>
            <a:endParaRPr lang="en-IN" dirty="0"/>
          </a:p>
        </p:txBody>
      </p:sp>
      <p:pic>
        <p:nvPicPr>
          <p:cNvPr id="10" name="Picture 9">
            <a:extLst>
              <a:ext uri="{FF2B5EF4-FFF2-40B4-BE49-F238E27FC236}">
                <a16:creationId xmlns:a16="http://schemas.microsoft.com/office/drawing/2014/main" id="{0B45C146-F818-A99D-BEAF-B0FA28388D30}"/>
              </a:ext>
            </a:extLst>
          </p:cNvPr>
          <p:cNvPicPr>
            <a:picLocks noChangeAspect="1"/>
          </p:cNvPicPr>
          <p:nvPr/>
        </p:nvPicPr>
        <p:blipFill>
          <a:blip r:embed="rId4"/>
          <a:stretch>
            <a:fillRect/>
          </a:stretch>
        </p:blipFill>
        <p:spPr>
          <a:xfrm>
            <a:off x="1832221" y="2875479"/>
            <a:ext cx="720000" cy="720000"/>
          </a:xfrm>
          <a:prstGeom prst="rect">
            <a:avLst/>
          </a:prstGeom>
        </p:spPr>
      </p:pic>
      <p:sp>
        <p:nvSpPr>
          <p:cNvPr id="11" name="TextBox 10">
            <a:extLst>
              <a:ext uri="{FF2B5EF4-FFF2-40B4-BE49-F238E27FC236}">
                <a16:creationId xmlns:a16="http://schemas.microsoft.com/office/drawing/2014/main" id="{96488219-5C21-1934-777A-A3CAFD33E6EB}"/>
              </a:ext>
            </a:extLst>
          </p:cNvPr>
          <p:cNvSpPr txBox="1"/>
          <p:nvPr/>
        </p:nvSpPr>
        <p:spPr>
          <a:xfrm>
            <a:off x="2616757" y="2949148"/>
            <a:ext cx="2797072" cy="830997"/>
          </a:xfrm>
          <a:prstGeom prst="rect">
            <a:avLst/>
          </a:prstGeom>
          <a:noFill/>
        </p:spPr>
        <p:txBody>
          <a:bodyPr wrap="square" rtlCol="0">
            <a:spAutoFit/>
          </a:bodyPr>
          <a:lstStyle/>
          <a:p>
            <a:pPr algn="ctr"/>
            <a:r>
              <a:rPr lang="en-IN" sz="2400" dirty="0"/>
              <a:t>Free and open source</a:t>
            </a:r>
          </a:p>
        </p:txBody>
      </p:sp>
      <p:sp>
        <p:nvSpPr>
          <p:cNvPr id="15" name="Rectangle 14">
            <a:extLst>
              <a:ext uri="{FF2B5EF4-FFF2-40B4-BE49-F238E27FC236}">
                <a16:creationId xmlns:a16="http://schemas.microsoft.com/office/drawing/2014/main" id="{A0A1B2E1-EDB0-D904-9FB4-2A047A9BB286}"/>
              </a:ext>
            </a:extLst>
          </p:cNvPr>
          <p:cNvSpPr/>
          <p:nvPr/>
        </p:nvSpPr>
        <p:spPr>
          <a:xfrm>
            <a:off x="6232985" y="2767780"/>
            <a:ext cx="4510829" cy="1032383"/>
          </a:xfrm>
          <a:prstGeom prst="rect">
            <a:avLst/>
          </a:prstGeom>
          <a:ln>
            <a:solidFill>
              <a:schemeClr val="accent1">
                <a:lumMod val="75000"/>
              </a:schemeClr>
            </a:solidFill>
          </a:ln>
          <a:effectLst>
            <a:glow rad="63500">
              <a:schemeClr val="accent1">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6" name="Rectangle 15">
            <a:extLst>
              <a:ext uri="{FF2B5EF4-FFF2-40B4-BE49-F238E27FC236}">
                <a16:creationId xmlns:a16="http://schemas.microsoft.com/office/drawing/2014/main" id="{D5CED0F3-B72A-AC4A-02EE-D5784F992D50}"/>
              </a:ext>
            </a:extLst>
          </p:cNvPr>
          <p:cNvSpPr/>
          <p:nvPr/>
        </p:nvSpPr>
        <p:spPr>
          <a:xfrm>
            <a:off x="1553497" y="4355432"/>
            <a:ext cx="4237702" cy="1009187"/>
          </a:xfrm>
          <a:prstGeom prst="rect">
            <a:avLst/>
          </a:prstGeom>
          <a:ln>
            <a:solidFill>
              <a:schemeClr val="accent1">
                <a:lumMod val="75000"/>
              </a:schemeClr>
            </a:solidFill>
          </a:ln>
          <a:effectLst>
            <a:glow rad="63500">
              <a:schemeClr val="accent1">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7" name="Rectangle 16">
            <a:extLst>
              <a:ext uri="{FF2B5EF4-FFF2-40B4-BE49-F238E27FC236}">
                <a16:creationId xmlns:a16="http://schemas.microsoft.com/office/drawing/2014/main" id="{FE3A2687-1057-D897-1BA9-089022111933}"/>
              </a:ext>
            </a:extLst>
          </p:cNvPr>
          <p:cNvSpPr/>
          <p:nvPr/>
        </p:nvSpPr>
        <p:spPr>
          <a:xfrm>
            <a:off x="6309253" y="4355432"/>
            <a:ext cx="4510829" cy="1009187"/>
          </a:xfrm>
          <a:prstGeom prst="rect">
            <a:avLst/>
          </a:prstGeom>
          <a:ln>
            <a:solidFill>
              <a:schemeClr val="accent1">
                <a:lumMod val="75000"/>
              </a:schemeClr>
            </a:solidFill>
          </a:ln>
          <a:effectLst>
            <a:glow rad="63500">
              <a:schemeClr val="accent1">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2" name="TextBox 21">
            <a:extLst>
              <a:ext uri="{FF2B5EF4-FFF2-40B4-BE49-F238E27FC236}">
                <a16:creationId xmlns:a16="http://schemas.microsoft.com/office/drawing/2014/main" id="{EE4D2EA1-7E8D-4A2C-6B74-EE23A899BFBA}"/>
              </a:ext>
            </a:extLst>
          </p:cNvPr>
          <p:cNvSpPr txBox="1"/>
          <p:nvPr/>
        </p:nvSpPr>
        <p:spPr>
          <a:xfrm>
            <a:off x="3098786" y="4520711"/>
            <a:ext cx="2610894" cy="830997"/>
          </a:xfrm>
          <a:prstGeom prst="rect">
            <a:avLst/>
          </a:prstGeom>
          <a:noFill/>
        </p:spPr>
        <p:txBody>
          <a:bodyPr wrap="square" rtlCol="0">
            <a:spAutoFit/>
          </a:bodyPr>
          <a:lstStyle/>
          <a:p>
            <a:r>
              <a:rPr lang="en-US" sz="2400" dirty="0"/>
              <a:t>Object oriented language</a:t>
            </a:r>
            <a:endParaRPr lang="en-IN" sz="2400" dirty="0"/>
          </a:p>
        </p:txBody>
      </p:sp>
      <p:pic>
        <p:nvPicPr>
          <p:cNvPr id="26" name="Picture 2" descr="Globe ">
            <a:extLst>
              <a:ext uri="{FF2B5EF4-FFF2-40B4-BE49-F238E27FC236}">
                <a16:creationId xmlns:a16="http://schemas.microsoft.com/office/drawing/2014/main" id="{E0C831FD-F7FC-6998-A853-CD810291FA9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91870" y="4560871"/>
            <a:ext cx="660352" cy="593474"/>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64F563DC-62AB-7052-8602-EE909F42E235}"/>
              </a:ext>
            </a:extLst>
          </p:cNvPr>
          <p:cNvSpPr txBox="1"/>
          <p:nvPr/>
        </p:nvSpPr>
        <p:spPr>
          <a:xfrm>
            <a:off x="7642001" y="2999879"/>
            <a:ext cx="2973023" cy="461665"/>
          </a:xfrm>
          <a:prstGeom prst="rect">
            <a:avLst/>
          </a:prstGeom>
          <a:noFill/>
        </p:spPr>
        <p:txBody>
          <a:bodyPr wrap="square" rtlCol="0">
            <a:spAutoFit/>
          </a:bodyPr>
          <a:lstStyle/>
          <a:p>
            <a:r>
              <a:rPr lang="en-US" sz="2400" dirty="0"/>
              <a:t>Large Standard Library</a:t>
            </a:r>
            <a:endParaRPr lang="en-IN" sz="2400" dirty="0"/>
          </a:p>
        </p:txBody>
      </p:sp>
      <p:sp>
        <p:nvSpPr>
          <p:cNvPr id="30" name="TextBox 29">
            <a:extLst>
              <a:ext uri="{FF2B5EF4-FFF2-40B4-BE49-F238E27FC236}">
                <a16:creationId xmlns:a16="http://schemas.microsoft.com/office/drawing/2014/main" id="{74807B6E-7833-6AA2-9DFC-4AC1961E810D}"/>
              </a:ext>
            </a:extLst>
          </p:cNvPr>
          <p:cNvSpPr txBox="1"/>
          <p:nvPr/>
        </p:nvSpPr>
        <p:spPr>
          <a:xfrm>
            <a:off x="8043619" y="4442109"/>
            <a:ext cx="2776463" cy="830997"/>
          </a:xfrm>
          <a:prstGeom prst="rect">
            <a:avLst/>
          </a:prstGeom>
          <a:noFill/>
        </p:spPr>
        <p:txBody>
          <a:bodyPr wrap="square" rtlCol="0">
            <a:spAutoFit/>
          </a:bodyPr>
          <a:lstStyle/>
          <a:p>
            <a:r>
              <a:rPr lang="en-US" sz="2400" dirty="0"/>
              <a:t>Memory Management</a:t>
            </a:r>
            <a:endParaRPr lang="en-IN" sz="2400" dirty="0"/>
          </a:p>
        </p:txBody>
      </p:sp>
      <p:pic>
        <p:nvPicPr>
          <p:cNvPr id="1028" name="Picture 4" descr="Paper ">
            <a:extLst>
              <a:ext uri="{FF2B5EF4-FFF2-40B4-BE49-F238E27FC236}">
                <a16:creationId xmlns:a16="http://schemas.microsoft.com/office/drawing/2014/main" id="{831FE7E7-0C86-0615-10B7-BABBA67C160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73504" y="2930389"/>
            <a:ext cx="727978" cy="78531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torage device ">
            <a:extLst>
              <a:ext uri="{FF2B5EF4-FFF2-40B4-BE49-F238E27FC236}">
                <a16:creationId xmlns:a16="http://schemas.microsoft.com/office/drawing/2014/main" id="{03071BCE-0042-22FE-D211-683E84EBE61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59223" y="4508002"/>
            <a:ext cx="754689" cy="64634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CBA0786F-49C7-70A3-FE55-C76FF2E42E46}"/>
              </a:ext>
            </a:extLst>
          </p:cNvPr>
          <p:cNvSpPr/>
          <p:nvPr/>
        </p:nvSpPr>
        <p:spPr>
          <a:xfrm>
            <a:off x="1540234" y="1427952"/>
            <a:ext cx="4250965" cy="963713"/>
          </a:xfrm>
          <a:prstGeom prst="rect">
            <a:avLst/>
          </a:prstGeom>
          <a:ln>
            <a:solidFill>
              <a:schemeClr val="accent1">
                <a:lumMod val="75000"/>
              </a:schemeClr>
            </a:solidFill>
          </a:ln>
          <a:effectLst>
            <a:glow rad="63500">
              <a:schemeClr val="accent1">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7" name="TextBox 6">
            <a:extLst>
              <a:ext uri="{FF2B5EF4-FFF2-40B4-BE49-F238E27FC236}">
                <a16:creationId xmlns:a16="http://schemas.microsoft.com/office/drawing/2014/main" id="{5883A122-04CE-7316-FF5B-37B86A96BF40}"/>
              </a:ext>
            </a:extLst>
          </p:cNvPr>
          <p:cNvSpPr txBox="1"/>
          <p:nvPr/>
        </p:nvSpPr>
        <p:spPr>
          <a:xfrm>
            <a:off x="2651169" y="1723243"/>
            <a:ext cx="2878774" cy="738664"/>
          </a:xfrm>
          <a:prstGeom prst="rect">
            <a:avLst/>
          </a:prstGeom>
          <a:noFill/>
        </p:spPr>
        <p:txBody>
          <a:bodyPr wrap="square" rtlCol="0">
            <a:spAutoFit/>
          </a:bodyPr>
          <a:lstStyle/>
          <a:p>
            <a:r>
              <a:rPr lang="en-IN" sz="2400" dirty="0"/>
              <a:t>Easy to learn and use</a:t>
            </a:r>
          </a:p>
          <a:p>
            <a:endParaRPr lang="en-IN" dirty="0"/>
          </a:p>
        </p:txBody>
      </p:sp>
      <p:sp>
        <p:nvSpPr>
          <p:cNvPr id="9" name="TextBox 8">
            <a:extLst>
              <a:ext uri="{FF2B5EF4-FFF2-40B4-BE49-F238E27FC236}">
                <a16:creationId xmlns:a16="http://schemas.microsoft.com/office/drawing/2014/main" id="{B64B00C8-9540-E2F0-262F-09211B8AF94C}"/>
              </a:ext>
            </a:extLst>
          </p:cNvPr>
          <p:cNvSpPr txBox="1"/>
          <p:nvPr/>
        </p:nvSpPr>
        <p:spPr>
          <a:xfrm>
            <a:off x="1815230" y="1723243"/>
            <a:ext cx="784587" cy="412858"/>
          </a:xfrm>
          <a:prstGeom prst="rect">
            <a:avLst/>
          </a:prstGeom>
          <a:noFill/>
        </p:spPr>
        <p:txBody>
          <a:bodyPr wrap="square" rtlCol="0">
            <a:spAutoFit/>
          </a:bodyPr>
          <a:lstStyle/>
          <a:p>
            <a:endParaRPr lang="en-IN" dirty="0"/>
          </a:p>
        </p:txBody>
      </p:sp>
      <p:pic>
        <p:nvPicPr>
          <p:cNvPr id="12" name="Picture 11">
            <a:extLst>
              <a:ext uri="{FF2B5EF4-FFF2-40B4-BE49-F238E27FC236}">
                <a16:creationId xmlns:a16="http://schemas.microsoft.com/office/drawing/2014/main" id="{A5E772F2-2A29-3357-BB5E-7C52B0F6FFAA}"/>
              </a:ext>
            </a:extLst>
          </p:cNvPr>
          <p:cNvPicPr>
            <a:picLocks noChangeAspect="1"/>
          </p:cNvPicPr>
          <p:nvPr/>
        </p:nvPicPr>
        <p:blipFill>
          <a:blip r:embed="rId8"/>
          <a:stretch>
            <a:fillRect/>
          </a:stretch>
        </p:blipFill>
        <p:spPr>
          <a:xfrm>
            <a:off x="1871700" y="1562025"/>
            <a:ext cx="671645" cy="720000"/>
          </a:xfrm>
          <a:prstGeom prst="rect">
            <a:avLst/>
          </a:prstGeom>
        </p:spPr>
      </p:pic>
      <p:sp>
        <p:nvSpPr>
          <p:cNvPr id="13" name="Rectangle 12">
            <a:extLst>
              <a:ext uri="{FF2B5EF4-FFF2-40B4-BE49-F238E27FC236}">
                <a16:creationId xmlns:a16="http://schemas.microsoft.com/office/drawing/2014/main" id="{E62415A3-1B94-7A64-5AE4-7B10CB249472}"/>
              </a:ext>
            </a:extLst>
          </p:cNvPr>
          <p:cNvSpPr/>
          <p:nvPr/>
        </p:nvSpPr>
        <p:spPr>
          <a:xfrm>
            <a:off x="6197600" y="1349448"/>
            <a:ext cx="4510829" cy="1032383"/>
          </a:xfrm>
          <a:prstGeom prst="rect">
            <a:avLst/>
          </a:prstGeom>
          <a:ln>
            <a:solidFill>
              <a:schemeClr val="accent1">
                <a:lumMod val="75000"/>
              </a:schemeClr>
            </a:solidFill>
          </a:ln>
          <a:effectLst>
            <a:glow rad="63500">
              <a:schemeClr val="accent1">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14" name="TextBox 13">
            <a:extLst>
              <a:ext uri="{FF2B5EF4-FFF2-40B4-BE49-F238E27FC236}">
                <a16:creationId xmlns:a16="http://schemas.microsoft.com/office/drawing/2014/main" id="{5C7799E4-ACA7-37EA-DE75-36327C1468F7}"/>
              </a:ext>
            </a:extLst>
          </p:cNvPr>
          <p:cNvSpPr txBox="1"/>
          <p:nvPr/>
        </p:nvSpPr>
        <p:spPr>
          <a:xfrm>
            <a:off x="7403691" y="1394360"/>
            <a:ext cx="3248074" cy="830997"/>
          </a:xfrm>
          <a:prstGeom prst="rect">
            <a:avLst/>
          </a:prstGeom>
          <a:noFill/>
        </p:spPr>
        <p:txBody>
          <a:bodyPr wrap="square" rtlCol="0">
            <a:spAutoFit/>
          </a:bodyPr>
          <a:lstStyle/>
          <a:p>
            <a:pPr algn="ctr"/>
            <a:r>
              <a:rPr lang="en-IN" sz="2400" dirty="0"/>
              <a:t>Cross platform</a:t>
            </a:r>
          </a:p>
          <a:p>
            <a:pPr algn="ctr"/>
            <a:r>
              <a:rPr lang="en-IN" sz="2400" dirty="0"/>
              <a:t>(Platform Independent)</a:t>
            </a:r>
          </a:p>
        </p:txBody>
      </p:sp>
      <p:pic>
        <p:nvPicPr>
          <p:cNvPr id="21" name="Picture 20">
            <a:extLst>
              <a:ext uri="{FF2B5EF4-FFF2-40B4-BE49-F238E27FC236}">
                <a16:creationId xmlns:a16="http://schemas.microsoft.com/office/drawing/2014/main" id="{4EEE4CFD-B274-3202-1E05-B9B28CABCDF4}"/>
              </a:ext>
            </a:extLst>
          </p:cNvPr>
          <p:cNvPicPr>
            <a:picLocks noChangeAspect="1"/>
          </p:cNvPicPr>
          <p:nvPr/>
        </p:nvPicPr>
        <p:blipFill>
          <a:blip r:embed="rId9"/>
          <a:stretch>
            <a:fillRect/>
          </a:stretch>
        </p:blipFill>
        <p:spPr>
          <a:xfrm>
            <a:off x="6628047" y="1510514"/>
            <a:ext cx="775644" cy="720000"/>
          </a:xfrm>
          <a:prstGeom prst="rect">
            <a:avLst/>
          </a:prstGeom>
        </p:spPr>
      </p:pic>
    </p:spTree>
    <p:extLst>
      <p:ext uri="{BB962C8B-B14F-4D97-AF65-F5344CB8AC3E}">
        <p14:creationId xmlns:p14="http://schemas.microsoft.com/office/powerpoint/2010/main" val="3341426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228D6-1097-98CE-E069-472FCD3847E5}"/>
              </a:ext>
            </a:extLst>
          </p:cNvPr>
          <p:cNvSpPr>
            <a:spLocks noGrp="1"/>
          </p:cNvSpPr>
          <p:nvPr>
            <p:ph type="title"/>
          </p:nvPr>
        </p:nvSpPr>
        <p:spPr>
          <a:xfrm>
            <a:off x="838200" y="226143"/>
            <a:ext cx="10515600" cy="785311"/>
          </a:xfrm>
        </p:spPr>
        <p:txBody>
          <a:bodyPr>
            <a:normAutofit/>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Uses of Python</a:t>
            </a:r>
            <a:endParaRPr lang="en-IN" dirty="0"/>
          </a:p>
        </p:txBody>
      </p:sp>
      <p:pic>
        <p:nvPicPr>
          <p:cNvPr id="4" name="Picture 3">
            <a:extLst>
              <a:ext uri="{FF2B5EF4-FFF2-40B4-BE49-F238E27FC236}">
                <a16:creationId xmlns:a16="http://schemas.microsoft.com/office/drawing/2014/main" id="{9C46B4D4-30BD-EF6E-55FA-4C8D9CFFE620}"/>
              </a:ext>
            </a:extLst>
          </p:cNvPr>
          <p:cNvPicPr/>
          <p:nvPr/>
        </p:nvPicPr>
        <p:blipFill>
          <a:blip r:embed="rId3" cstate="print"/>
          <a:stretch/>
        </p:blipFill>
        <p:spPr>
          <a:xfrm>
            <a:off x="11404998" y="100987"/>
            <a:ext cx="688680" cy="689040"/>
          </a:xfrm>
          <a:prstGeom prst="rect">
            <a:avLst/>
          </a:prstGeom>
          <a:ln w="0">
            <a:noFill/>
          </a:ln>
        </p:spPr>
      </p:pic>
      <p:sp>
        <p:nvSpPr>
          <p:cNvPr id="6" name="Rectangle 5">
            <a:extLst>
              <a:ext uri="{FF2B5EF4-FFF2-40B4-BE49-F238E27FC236}">
                <a16:creationId xmlns:a16="http://schemas.microsoft.com/office/drawing/2014/main" id="{8A17B97D-109A-3C2A-D272-08FE3EEA38FD}"/>
              </a:ext>
            </a:extLst>
          </p:cNvPr>
          <p:cNvSpPr/>
          <p:nvPr/>
        </p:nvSpPr>
        <p:spPr>
          <a:xfrm>
            <a:off x="8099683" y="1317263"/>
            <a:ext cx="3122917" cy="1032383"/>
          </a:xfrm>
          <a:prstGeom prst="rect">
            <a:avLst/>
          </a:prstGeom>
          <a:ln>
            <a:solidFill>
              <a:schemeClr val="accent1">
                <a:lumMod val="75000"/>
              </a:schemeClr>
            </a:solidFill>
          </a:ln>
          <a:effectLst>
            <a:glow rad="63500">
              <a:schemeClr val="accent1">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15" name="Rectangle 14">
            <a:extLst>
              <a:ext uri="{FF2B5EF4-FFF2-40B4-BE49-F238E27FC236}">
                <a16:creationId xmlns:a16="http://schemas.microsoft.com/office/drawing/2014/main" id="{4E53409C-A2D5-CBB1-EA11-55643128CEC9}"/>
              </a:ext>
            </a:extLst>
          </p:cNvPr>
          <p:cNvSpPr/>
          <p:nvPr/>
        </p:nvSpPr>
        <p:spPr>
          <a:xfrm>
            <a:off x="4446984" y="3042279"/>
            <a:ext cx="3117802" cy="1032383"/>
          </a:xfrm>
          <a:prstGeom prst="rect">
            <a:avLst/>
          </a:prstGeom>
          <a:ln>
            <a:solidFill>
              <a:schemeClr val="accent1">
                <a:lumMod val="75000"/>
              </a:schemeClr>
            </a:solidFill>
          </a:ln>
          <a:effectLst>
            <a:glow rad="63500">
              <a:schemeClr val="accent1">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6" name="Rectangle 15">
            <a:extLst>
              <a:ext uri="{FF2B5EF4-FFF2-40B4-BE49-F238E27FC236}">
                <a16:creationId xmlns:a16="http://schemas.microsoft.com/office/drawing/2014/main" id="{2BEC2A10-3524-A477-ACD2-A3DB6BD48EAC}"/>
              </a:ext>
            </a:extLst>
          </p:cNvPr>
          <p:cNvSpPr/>
          <p:nvPr/>
        </p:nvSpPr>
        <p:spPr>
          <a:xfrm>
            <a:off x="564699" y="3044862"/>
            <a:ext cx="3307132" cy="1009187"/>
          </a:xfrm>
          <a:prstGeom prst="rect">
            <a:avLst/>
          </a:prstGeom>
          <a:ln>
            <a:solidFill>
              <a:schemeClr val="accent1">
                <a:lumMod val="75000"/>
              </a:schemeClr>
            </a:solidFill>
          </a:ln>
          <a:effectLst>
            <a:glow rad="63500">
              <a:schemeClr val="accent1">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7" name="Rectangle 16">
            <a:extLst>
              <a:ext uri="{FF2B5EF4-FFF2-40B4-BE49-F238E27FC236}">
                <a16:creationId xmlns:a16="http://schemas.microsoft.com/office/drawing/2014/main" id="{44B4925D-85B6-D7EF-DE4C-25FE1CF4AF92}"/>
              </a:ext>
            </a:extLst>
          </p:cNvPr>
          <p:cNvSpPr/>
          <p:nvPr/>
        </p:nvSpPr>
        <p:spPr>
          <a:xfrm>
            <a:off x="8099683" y="3040075"/>
            <a:ext cx="3117802" cy="1009187"/>
          </a:xfrm>
          <a:prstGeom prst="rect">
            <a:avLst/>
          </a:prstGeom>
          <a:ln>
            <a:solidFill>
              <a:schemeClr val="accent1">
                <a:lumMod val="75000"/>
              </a:schemeClr>
            </a:solidFill>
          </a:ln>
          <a:effectLst>
            <a:glow rad="63500">
              <a:schemeClr val="accent1">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4" name="Rectangle 33">
            <a:extLst>
              <a:ext uri="{FF2B5EF4-FFF2-40B4-BE49-F238E27FC236}">
                <a16:creationId xmlns:a16="http://schemas.microsoft.com/office/drawing/2014/main" id="{7DD307C3-D7FD-A0E1-A0E3-61400A7B3937}"/>
              </a:ext>
            </a:extLst>
          </p:cNvPr>
          <p:cNvSpPr/>
          <p:nvPr/>
        </p:nvSpPr>
        <p:spPr>
          <a:xfrm>
            <a:off x="4482099" y="1324115"/>
            <a:ext cx="3122917" cy="1072424"/>
          </a:xfrm>
          <a:prstGeom prst="rect">
            <a:avLst/>
          </a:prstGeom>
          <a:ln>
            <a:solidFill>
              <a:schemeClr val="accent1">
                <a:lumMod val="75000"/>
              </a:schemeClr>
            </a:solidFill>
          </a:ln>
          <a:effectLst>
            <a:glow rad="63500">
              <a:schemeClr val="accent1">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6" name="Rectangle 35">
            <a:extLst>
              <a:ext uri="{FF2B5EF4-FFF2-40B4-BE49-F238E27FC236}">
                <a16:creationId xmlns:a16="http://schemas.microsoft.com/office/drawing/2014/main" id="{D7563141-70A7-035A-41A6-254D7104AC4A}"/>
              </a:ext>
            </a:extLst>
          </p:cNvPr>
          <p:cNvSpPr/>
          <p:nvPr/>
        </p:nvSpPr>
        <p:spPr>
          <a:xfrm>
            <a:off x="584814" y="1306001"/>
            <a:ext cx="3307133" cy="1079858"/>
          </a:xfrm>
          <a:prstGeom prst="rect">
            <a:avLst/>
          </a:prstGeom>
          <a:ln>
            <a:solidFill>
              <a:schemeClr val="accent1">
                <a:lumMod val="75000"/>
              </a:schemeClr>
            </a:solidFill>
          </a:ln>
          <a:effectLst>
            <a:glow rad="63500">
              <a:schemeClr val="accent1">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0" name="Rectangle 39">
            <a:extLst>
              <a:ext uri="{FF2B5EF4-FFF2-40B4-BE49-F238E27FC236}">
                <a16:creationId xmlns:a16="http://schemas.microsoft.com/office/drawing/2014/main" id="{84E2DFD4-6161-D90C-C760-453074878CF5}"/>
              </a:ext>
            </a:extLst>
          </p:cNvPr>
          <p:cNvSpPr/>
          <p:nvPr/>
        </p:nvSpPr>
        <p:spPr>
          <a:xfrm>
            <a:off x="569800" y="4702372"/>
            <a:ext cx="3307133" cy="1079858"/>
          </a:xfrm>
          <a:prstGeom prst="rect">
            <a:avLst/>
          </a:prstGeom>
          <a:ln>
            <a:solidFill>
              <a:schemeClr val="accent1">
                <a:lumMod val="75000"/>
              </a:schemeClr>
            </a:solidFill>
          </a:ln>
          <a:effectLst>
            <a:glow rad="63500">
              <a:schemeClr val="accent1">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3" name="TextBox 42">
            <a:extLst>
              <a:ext uri="{FF2B5EF4-FFF2-40B4-BE49-F238E27FC236}">
                <a16:creationId xmlns:a16="http://schemas.microsoft.com/office/drawing/2014/main" id="{B433475D-F088-0FB2-2C06-E9FF68509883}"/>
              </a:ext>
            </a:extLst>
          </p:cNvPr>
          <p:cNvSpPr txBox="1"/>
          <p:nvPr/>
        </p:nvSpPr>
        <p:spPr>
          <a:xfrm>
            <a:off x="1979882" y="1512594"/>
            <a:ext cx="1784130" cy="984885"/>
          </a:xfrm>
          <a:prstGeom prst="rect">
            <a:avLst/>
          </a:prstGeom>
          <a:noFill/>
        </p:spPr>
        <p:txBody>
          <a:bodyPr wrap="square" rtlCol="0">
            <a:spAutoFit/>
          </a:bodyPr>
          <a:lstStyle/>
          <a:p>
            <a:r>
              <a:rPr lang="en-US" sz="2000" dirty="0"/>
              <a:t>W</a:t>
            </a:r>
            <a:r>
              <a:rPr lang="en-IN" sz="2000" dirty="0" err="1"/>
              <a:t>eb</a:t>
            </a:r>
            <a:r>
              <a:rPr lang="en-IN" sz="2000" dirty="0"/>
              <a:t> Applications</a:t>
            </a:r>
          </a:p>
          <a:p>
            <a:endParaRPr lang="en-IN" dirty="0"/>
          </a:p>
        </p:txBody>
      </p:sp>
      <p:sp>
        <p:nvSpPr>
          <p:cNvPr id="45" name="TextBox 44">
            <a:extLst>
              <a:ext uri="{FF2B5EF4-FFF2-40B4-BE49-F238E27FC236}">
                <a16:creationId xmlns:a16="http://schemas.microsoft.com/office/drawing/2014/main" id="{B55BC9F5-666C-E9CD-092B-61156E2D3A38}"/>
              </a:ext>
            </a:extLst>
          </p:cNvPr>
          <p:cNvSpPr txBox="1"/>
          <p:nvPr/>
        </p:nvSpPr>
        <p:spPr>
          <a:xfrm>
            <a:off x="5629886" y="1683224"/>
            <a:ext cx="2172119" cy="400110"/>
          </a:xfrm>
          <a:prstGeom prst="rect">
            <a:avLst/>
          </a:prstGeom>
          <a:noFill/>
        </p:spPr>
        <p:txBody>
          <a:bodyPr wrap="square" rtlCol="0">
            <a:spAutoFit/>
          </a:bodyPr>
          <a:lstStyle/>
          <a:p>
            <a:r>
              <a:rPr lang="en-US" sz="2000" dirty="0"/>
              <a:t>Machine learning</a:t>
            </a:r>
            <a:endParaRPr lang="en-IN" sz="2000" dirty="0"/>
          </a:p>
        </p:txBody>
      </p:sp>
      <p:sp>
        <p:nvSpPr>
          <p:cNvPr id="48" name="TextBox 47">
            <a:extLst>
              <a:ext uri="{FF2B5EF4-FFF2-40B4-BE49-F238E27FC236}">
                <a16:creationId xmlns:a16="http://schemas.microsoft.com/office/drawing/2014/main" id="{E140EB87-437A-460E-2CFF-B50C823BE31E}"/>
              </a:ext>
            </a:extLst>
          </p:cNvPr>
          <p:cNvSpPr txBox="1"/>
          <p:nvPr/>
        </p:nvSpPr>
        <p:spPr>
          <a:xfrm>
            <a:off x="9398135" y="1470421"/>
            <a:ext cx="1819350" cy="707886"/>
          </a:xfrm>
          <a:prstGeom prst="rect">
            <a:avLst/>
          </a:prstGeom>
          <a:noFill/>
        </p:spPr>
        <p:txBody>
          <a:bodyPr wrap="square" rtlCol="0">
            <a:spAutoFit/>
          </a:bodyPr>
          <a:lstStyle/>
          <a:p>
            <a:r>
              <a:rPr lang="en-US" sz="2000" dirty="0"/>
              <a:t>Game Developments</a:t>
            </a:r>
            <a:endParaRPr lang="en-IN" sz="2000" dirty="0"/>
          </a:p>
        </p:txBody>
      </p:sp>
      <p:sp>
        <p:nvSpPr>
          <p:cNvPr id="49" name="TextBox 48">
            <a:extLst>
              <a:ext uri="{FF2B5EF4-FFF2-40B4-BE49-F238E27FC236}">
                <a16:creationId xmlns:a16="http://schemas.microsoft.com/office/drawing/2014/main" id="{E3EE9800-11C0-83D1-FF54-26F261123753}"/>
              </a:ext>
            </a:extLst>
          </p:cNvPr>
          <p:cNvSpPr txBox="1"/>
          <p:nvPr/>
        </p:nvSpPr>
        <p:spPr>
          <a:xfrm>
            <a:off x="2008207" y="3200801"/>
            <a:ext cx="1903880" cy="984885"/>
          </a:xfrm>
          <a:prstGeom prst="rect">
            <a:avLst/>
          </a:prstGeom>
          <a:noFill/>
        </p:spPr>
        <p:txBody>
          <a:bodyPr wrap="square" rtlCol="0">
            <a:spAutoFit/>
          </a:bodyPr>
          <a:lstStyle/>
          <a:p>
            <a:r>
              <a:rPr lang="en-US" sz="2000" dirty="0"/>
              <a:t>Artificial Intelligence</a:t>
            </a:r>
            <a:endParaRPr lang="en-IN" sz="2000" dirty="0"/>
          </a:p>
          <a:p>
            <a:endParaRPr lang="en-IN" dirty="0"/>
          </a:p>
        </p:txBody>
      </p:sp>
      <p:sp>
        <p:nvSpPr>
          <p:cNvPr id="50" name="TextBox 49">
            <a:extLst>
              <a:ext uri="{FF2B5EF4-FFF2-40B4-BE49-F238E27FC236}">
                <a16:creationId xmlns:a16="http://schemas.microsoft.com/office/drawing/2014/main" id="{274BAABE-FFB1-E51E-4FEE-2F09F29915C4}"/>
              </a:ext>
            </a:extLst>
          </p:cNvPr>
          <p:cNvSpPr txBox="1"/>
          <p:nvPr/>
        </p:nvSpPr>
        <p:spPr>
          <a:xfrm>
            <a:off x="5515428" y="3200801"/>
            <a:ext cx="1999157" cy="707886"/>
          </a:xfrm>
          <a:prstGeom prst="rect">
            <a:avLst/>
          </a:prstGeom>
          <a:noFill/>
        </p:spPr>
        <p:txBody>
          <a:bodyPr wrap="square" rtlCol="0">
            <a:spAutoFit/>
          </a:bodyPr>
          <a:lstStyle/>
          <a:p>
            <a:pPr algn="ctr"/>
            <a:r>
              <a:rPr lang="en-IN" sz="2000" dirty="0"/>
              <a:t>Desktop Applications</a:t>
            </a:r>
          </a:p>
        </p:txBody>
      </p:sp>
      <p:sp>
        <p:nvSpPr>
          <p:cNvPr id="51" name="TextBox 50">
            <a:extLst>
              <a:ext uri="{FF2B5EF4-FFF2-40B4-BE49-F238E27FC236}">
                <a16:creationId xmlns:a16="http://schemas.microsoft.com/office/drawing/2014/main" id="{72FC9F8B-A4C8-FEB0-D3DE-9BB368CE5CC8}"/>
              </a:ext>
            </a:extLst>
          </p:cNvPr>
          <p:cNvSpPr txBox="1"/>
          <p:nvPr/>
        </p:nvSpPr>
        <p:spPr>
          <a:xfrm>
            <a:off x="9256256" y="3360001"/>
            <a:ext cx="1719624" cy="400110"/>
          </a:xfrm>
          <a:prstGeom prst="rect">
            <a:avLst/>
          </a:prstGeom>
          <a:noFill/>
        </p:spPr>
        <p:txBody>
          <a:bodyPr wrap="square" rtlCol="0">
            <a:spAutoFit/>
          </a:bodyPr>
          <a:lstStyle/>
          <a:p>
            <a:r>
              <a:rPr lang="en-US" sz="2000" dirty="0"/>
              <a:t>Data Sciences</a:t>
            </a:r>
            <a:endParaRPr lang="en-IN" sz="2000" dirty="0"/>
          </a:p>
        </p:txBody>
      </p:sp>
      <p:sp>
        <p:nvSpPr>
          <p:cNvPr id="52" name="TextBox 51">
            <a:extLst>
              <a:ext uri="{FF2B5EF4-FFF2-40B4-BE49-F238E27FC236}">
                <a16:creationId xmlns:a16="http://schemas.microsoft.com/office/drawing/2014/main" id="{91534600-F719-945F-C5DE-E9A4016EA1EE}"/>
              </a:ext>
            </a:extLst>
          </p:cNvPr>
          <p:cNvSpPr txBox="1"/>
          <p:nvPr/>
        </p:nvSpPr>
        <p:spPr>
          <a:xfrm>
            <a:off x="1708372" y="4996919"/>
            <a:ext cx="2055639" cy="400110"/>
          </a:xfrm>
          <a:prstGeom prst="rect">
            <a:avLst/>
          </a:prstGeom>
          <a:noFill/>
        </p:spPr>
        <p:txBody>
          <a:bodyPr wrap="square" rtlCol="0">
            <a:spAutoFit/>
          </a:bodyPr>
          <a:lstStyle/>
          <a:p>
            <a:r>
              <a:rPr lang="en-US" sz="2000" dirty="0"/>
              <a:t>Internet of things</a:t>
            </a:r>
            <a:endParaRPr lang="en-IN" sz="2000" dirty="0"/>
          </a:p>
        </p:txBody>
      </p:sp>
      <p:sp>
        <p:nvSpPr>
          <p:cNvPr id="53" name="Rectangle 52">
            <a:extLst>
              <a:ext uri="{FF2B5EF4-FFF2-40B4-BE49-F238E27FC236}">
                <a16:creationId xmlns:a16="http://schemas.microsoft.com/office/drawing/2014/main" id="{4BB70043-E9F4-F844-1C81-AB0B8C697776}"/>
              </a:ext>
            </a:extLst>
          </p:cNvPr>
          <p:cNvSpPr/>
          <p:nvPr/>
        </p:nvSpPr>
        <p:spPr>
          <a:xfrm>
            <a:off x="4476984" y="4746432"/>
            <a:ext cx="3087802" cy="1032383"/>
          </a:xfrm>
          <a:prstGeom prst="rect">
            <a:avLst/>
          </a:prstGeom>
          <a:ln>
            <a:solidFill>
              <a:schemeClr val="accent1">
                <a:lumMod val="75000"/>
              </a:schemeClr>
            </a:solidFill>
          </a:ln>
          <a:effectLst>
            <a:glow rad="63500">
              <a:schemeClr val="accent1">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4" name="Rectangle 53">
            <a:extLst>
              <a:ext uri="{FF2B5EF4-FFF2-40B4-BE49-F238E27FC236}">
                <a16:creationId xmlns:a16="http://schemas.microsoft.com/office/drawing/2014/main" id="{17DB88C5-FBDB-ECDA-5258-AA54E33DD7B3}"/>
              </a:ext>
            </a:extLst>
          </p:cNvPr>
          <p:cNvSpPr/>
          <p:nvPr/>
        </p:nvSpPr>
        <p:spPr>
          <a:xfrm>
            <a:off x="8164837" y="4746432"/>
            <a:ext cx="3052648" cy="1032383"/>
          </a:xfrm>
          <a:prstGeom prst="rect">
            <a:avLst/>
          </a:prstGeom>
          <a:ln>
            <a:solidFill>
              <a:schemeClr val="accent1">
                <a:lumMod val="75000"/>
              </a:schemeClr>
            </a:solidFill>
          </a:ln>
          <a:effectLst>
            <a:glow rad="63500">
              <a:schemeClr val="accent1">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5" name="TextBox 54">
            <a:extLst>
              <a:ext uri="{FF2B5EF4-FFF2-40B4-BE49-F238E27FC236}">
                <a16:creationId xmlns:a16="http://schemas.microsoft.com/office/drawing/2014/main" id="{7449868A-48FC-5F57-1917-D66F45CF0384}"/>
              </a:ext>
            </a:extLst>
          </p:cNvPr>
          <p:cNvSpPr txBox="1"/>
          <p:nvPr/>
        </p:nvSpPr>
        <p:spPr>
          <a:xfrm>
            <a:off x="5805714" y="4793200"/>
            <a:ext cx="1708871" cy="707886"/>
          </a:xfrm>
          <a:prstGeom prst="rect">
            <a:avLst/>
          </a:prstGeom>
          <a:noFill/>
        </p:spPr>
        <p:txBody>
          <a:bodyPr wrap="square" rtlCol="0">
            <a:spAutoFit/>
          </a:bodyPr>
          <a:lstStyle/>
          <a:p>
            <a:r>
              <a:rPr lang="en-US" sz="2000" dirty="0"/>
              <a:t>Embedded system</a:t>
            </a:r>
            <a:endParaRPr lang="en-IN" sz="2000" dirty="0"/>
          </a:p>
        </p:txBody>
      </p:sp>
      <p:sp>
        <p:nvSpPr>
          <p:cNvPr id="56" name="TextBox 55">
            <a:extLst>
              <a:ext uri="{FF2B5EF4-FFF2-40B4-BE49-F238E27FC236}">
                <a16:creationId xmlns:a16="http://schemas.microsoft.com/office/drawing/2014/main" id="{50E9605E-274D-498C-0D3C-AC5B604BFD01}"/>
              </a:ext>
            </a:extLst>
          </p:cNvPr>
          <p:cNvSpPr txBox="1"/>
          <p:nvPr/>
        </p:nvSpPr>
        <p:spPr>
          <a:xfrm>
            <a:off x="9518937" y="5018247"/>
            <a:ext cx="1577745" cy="400110"/>
          </a:xfrm>
          <a:prstGeom prst="rect">
            <a:avLst/>
          </a:prstGeom>
          <a:noFill/>
        </p:spPr>
        <p:txBody>
          <a:bodyPr wrap="square" rtlCol="0">
            <a:spAutoFit/>
          </a:bodyPr>
          <a:lstStyle/>
          <a:p>
            <a:r>
              <a:rPr lang="en-US" sz="2000" dirty="0"/>
              <a:t>Automation</a:t>
            </a:r>
            <a:endParaRPr lang="en-IN" sz="2000" dirty="0"/>
          </a:p>
        </p:txBody>
      </p:sp>
      <p:pic>
        <p:nvPicPr>
          <p:cNvPr id="1032" name="Picture 8" descr="Application ">
            <a:extLst>
              <a:ext uri="{FF2B5EF4-FFF2-40B4-BE49-F238E27FC236}">
                <a16:creationId xmlns:a16="http://schemas.microsoft.com/office/drawing/2014/main" id="{FD8E5CEE-7C1A-2358-D07E-9F1A89FD3C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5855" y="1544648"/>
            <a:ext cx="682517" cy="683916"/>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Ml ">
            <a:extLst>
              <a:ext uri="{FF2B5EF4-FFF2-40B4-BE49-F238E27FC236}">
                <a16:creationId xmlns:a16="http://schemas.microsoft.com/office/drawing/2014/main" id="{90BFD41D-4E22-7A2C-BCE3-67B4CC39F3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20589" y="1544648"/>
            <a:ext cx="694839" cy="683916"/>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Game development ">
            <a:extLst>
              <a:ext uri="{FF2B5EF4-FFF2-40B4-BE49-F238E27FC236}">
                <a16:creationId xmlns:a16="http://schemas.microsoft.com/office/drawing/2014/main" id="{BA913579-31D1-67F9-E342-687AFA2E963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94759" y="1554280"/>
            <a:ext cx="705698" cy="646331"/>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Artificial intelligence ">
            <a:extLst>
              <a:ext uri="{FF2B5EF4-FFF2-40B4-BE49-F238E27FC236}">
                <a16:creationId xmlns:a16="http://schemas.microsoft.com/office/drawing/2014/main" id="{AD8987D1-C873-289F-2723-251780263B0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3974" y="3231430"/>
            <a:ext cx="794398" cy="646331"/>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58">
            <a:extLst>
              <a:ext uri="{FF2B5EF4-FFF2-40B4-BE49-F238E27FC236}">
                <a16:creationId xmlns:a16="http://schemas.microsoft.com/office/drawing/2014/main" id="{4F4E61DF-1CB7-E450-7E32-255E44DCCA90}"/>
              </a:ext>
            </a:extLst>
          </p:cNvPr>
          <p:cNvPicPr>
            <a:picLocks noChangeAspect="1"/>
          </p:cNvPicPr>
          <p:nvPr/>
        </p:nvPicPr>
        <p:blipFill>
          <a:blip r:embed="rId8"/>
          <a:stretch>
            <a:fillRect/>
          </a:stretch>
        </p:blipFill>
        <p:spPr>
          <a:xfrm>
            <a:off x="4806581" y="3231113"/>
            <a:ext cx="814842" cy="627105"/>
          </a:xfrm>
          <a:prstGeom prst="rect">
            <a:avLst/>
          </a:prstGeom>
        </p:spPr>
      </p:pic>
      <p:pic>
        <p:nvPicPr>
          <p:cNvPr id="1042" name="Picture 18" descr="Software development ">
            <a:extLst>
              <a:ext uri="{FF2B5EF4-FFF2-40B4-BE49-F238E27FC236}">
                <a16:creationId xmlns:a16="http://schemas.microsoft.com/office/drawing/2014/main" id="{3624C2E4-C5E4-061D-CF6F-4035A9E58AE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89406" y="4793200"/>
            <a:ext cx="703886" cy="762911"/>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Data ">
            <a:extLst>
              <a:ext uri="{FF2B5EF4-FFF2-40B4-BE49-F238E27FC236}">
                <a16:creationId xmlns:a16="http://schemas.microsoft.com/office/drawing/2014/main" id="{3188DB73-09AD-74B3-64E2-60A69D14861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566369" y="3200801"/>
            <a:ext cx="534088" cy="687731"/>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Robotic process automation ">
            <a:extLst>
              <a:ext uri="{FF2B5EF4-FFF2-40B4-BE49-F238E27FC236}">
                <a16:creationId xmlns:a16="http://schemas.microsoft.com/office/drawing/2014/main" id="{5AEB1D8A-A28D-94F8-DEF8-731BCADB33B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481142" y="4944901"/>
            <a:ext cx="785389" cy="635443"/>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descr="Iot ">
            <a:extLst>
              <a:ext uri="{FF2B5EF4-FFF2-40B4-BE49-F238E27FC236}">
                <a16:creationId xmlns:a16="http://schemas.microsoft.com/office/drawing/2014/main" id="{B7D6C1D9-56DC-715E-BD4C-26F166BA877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10525" y="4924128"/>
            <a:ext cx="726182" cy="6257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3532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4B058AA-831B-D399-5331-2424E2BBB985}"/>
              </a:ext>
            </a:extLst>
          </p:cNvPr>
          <p:cNvSpPr txBox="1"/>
          <p:nvPr/>
        </p:nvSpPr>
        <p:spPr>
          <a:xfrm>
            <a:off x="1366682" y="403123"/>
            <a:ext cx="9075176" cy="769441"/>
          </a:xfrm>
          <a:prstGeom prst="rect">
            <a:avLst/>
          </a:prstGeom>
          <a:noFill/>
        </p:spPr>
        <p:txBody>
          <a:bodyPr wrap="square">
            <a:spAutoFit/>
          </a:bodyPr>
          <a:lstStyle/>
          <a:p>
            <a:pPr algn="ctr"/>
            <a:r>
              <a:rPr lang="en-IN" sz="4400"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 Python Development Tools and IDE’S </a:t>
            </a:r>
            <a:endParaRPr lang="en-IN" sz="4400" dirty="0"/>
          </a:p>
        </p:txBody>
      </p:sp>
      <p:sp>
        <p:nvSpPr>
          <p:cNvPr id="9" name="Rectangle 8">
            <a:extLst>
              <a:ext uri="{FF2B5EF4-FFF2-40B4-BE49-F238E27FC236}">
                <a16:creationId xmlns:a16="http://schemas.microsoft.com/office/drawing/2014/main" id="{9CF7B28C-1EBE-A7C2-95B1-E2513F3D6D74}"/>
              </a:ext>
            </a:extLst>
          </p:cNvPr>
          <p:cNvSpPr/>
          <p:nvPr/>
        </p:nvSpPr>
        <p:spPr>
          <a:xfrm>
            <a:off x="8583561" y="2074606"/>
            <a:ext cx="1632155" cy="1425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Welcome To Colab - Colab">
            <a:extLst>
              <a:ext uri="{FF2B5EF4-FFF2-40B4-BE49-F238E27FC236}">
                <a16:creationId xmlns:a16="http://schemas.microsoft.com/office/drawing/2014/main" id="{C4725EC5-8AEA-D49B-E41B-581D2430F8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1593" y="4038035"/>
            <a:ext cx="1632155" cy="108154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Project Jupyter - Wikipedia">
            <a:extLst>
              <a:ext uri="{FF2B5EF4-FFF2-40B4-BE49-F238E27FC236}">
                <a16:creationId xmlns:a16="http://schemas.microsoft.com/office/drawing/2014/main" id="{ADAE3279-14AD-BCBB-5B5B-397EAC99C5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3348" y="2025445"/>
            <a:ext cx="1444200" cy="1080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Python">
            <a:extLst>
              <a:ext uri="{FF2B5EF4-FFF2-40B4-BE49-F238E27FC236}">
                <a16:creationId xmlns:a16="http://schemas.microsoft.com/office/drawing/2014/main" id="{84F90E27-986F-0678-4976-BCDD16052C6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8506" r="25305" b="34384"/>
          <a:stretch/>
        </p:blipFill>
        <p:spPr bwMode="auto">
          <a:xfrm>
            <a:off x="1976284" y="2128721"/>
            <a:ext cx="1667464" cy="1080000"/>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53E5283-987E-2192-352B-FD685760FE7C}"/>
              </a:ext>
            </a:extLst>
          </p:cNvPr>
          <p:cNvSpPr txBox="1"/>
          <p:nvPr/>
        </p:nvSpPr>
        <p:spPr>
          <a:xfrm>
            <a:off x="2030818" y="3208721"/>
            <a:ext cx="8184898" cy="400110"/>
          </a:xfrm>
          <a:prstGeom prst="rect">
            <a:avLst/>
          </a:prstGeom>
          <a:noFill/>
        </p:spPr>
        <p:txBody>
          <a:bodyPr wrap="square" rtlCol="0">
            <a:spAutoFit/>
          </a:bodyPr>
          <a:lstStyle/>
          <a:p>
            <a:r>
              <a:rPr lang="en-IN" sz="2000" dirty="0"/>
              <a:t>	IDLE					      Jupyter Notebook				 VS Code</a:t>
            </a:r>
          </a:p>
        </p:txBody>
      </p:sp>
      <p:pic>
        <p:nvPicPr>
          <p:cNvPr id="12" name="Picture 11" descr="1685633404">
            <a:extLst>
              <a:ext uri="{FF2B5EF4-FFF2-40B4-BE49-F238E27FC236}">
                <a16:creationId xmlns:a16="http://schemas.microsoft.com/office/drawing/2014/main" id="{D9B241C7-9ACE-966E-7B78-C6528CF4BF8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15227"/>
          <a:stretch/>
        </p:blipFill>
        <p:spPr bwMode="auto">
          <a:xfrm>
            <a:off x="8171307" y="2025445"/>
            <a:ext cx="1483701" cy="10800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ython Tool Review: Using PyCharm for ...">
            <a:extLst>
              <a:ext uri="{FF2B5EF4-FFF2-40B4-BE49-F238E27FC236}">
                <a16:creationId xmlns:a16="http://schemas.microsoft.com/office/drawing/2014/main" id="{8A9904F8-F6A2-14D0-BC54-44FB712EED9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55448" y="4038035"/>
            <a:ext cx="1080000" cy="108000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B90959FE-7B15-B695-0E59-FFA5704FB46C}"/>
              </a:ext>
            </a:extLst>
          </p:cNvPr>
          <p:cNvSpPr txBox="1"/>
          <p:nvPr/>
        </p:nvSpPr>
        <p:spPr>
          <a:xfrm>
            <a:off x="1799303" y="5333232"/>
            <a:ext cx="8347587" cy="400110"/>
          </a:xfrm>
          <a:prstGeom prst="rect">
            <a:avLst/>
          </a:prstGeom>
          <a:noFill/>
        </p:spPr>
        <p:txBody>
          <a:bodyPr wrap="square" rtlCol="0">
            <a:spAutoFit/>
          </a:bodyPr>
          <a:lstStyle/>
          <a:p>
            <a:r>
              <a:rPr lang="en-IN" sz="2000" dirty="0"/>
              <a:t>Google Colab					PyCharm				       Thonny IDE</a:t>
            </a:r>
          </a:p>
        </p:txBody>
      </p:sp>
      <p:pic>
        <p:nvPicPr>
          <p:cNvPr id="3" name="Picture 2" descr="Thonny - Download">
            <a:extLst>
              <a:ext uri="{FF2B5EF4-FFF2-40B4-BE49-F238E27FC236}">
                <a16:creationId xmlns:a16="http://schemas.microsoft.com/office/drawing/2014/main" id="{2168C3DB-EF86-A3D2-2E7E-B69A0B58262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32611" y="3956056"/>
            <a:ext cx="1080000" cy="1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9641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44BC82B-B94E-C23F-B0D7-B45E34E92161}"/>
              </a:ext>
            </a:extLst>
          </p:cNvPr>
          <p:cNvPicPr/>
          <p:nvPr/>
        </p:nvPicPr>
        <p:blipFill>
          <a:blip r:embed="rId2" cstate="print"/>
          <a:stretch/>
        </p:blipFill>
        <p:spPr>
          <a:xfrm>
            <a:off x="11353800" y="108705"/>
            <a:ext cx="688680" cy="689040"/>
          </a:xfrm>
          <a:prstGeom prst="rect">
            <a:avLst/>
          </a:prstGeom>
          <a:ln w="0">
            <a:noFill/>
          </a:ln>
        </p:spPr>
      </p:pic>
      <p:pic>
        <p:nvPicPr>
          <p:cNvPr id="3" name="Picture 2" descr="Best IDE for Python Development You Must Consider in 2025">
            <a:extLst>
              <a:ext uri="{FF2B5EF4-FFF2-40B4-BE49-F238E27FC236}">
                <a16:creationId xmlns:a16="http://schemas.microsoft.com/office/drawing/2014/main" id="{BE75ADE0-DB1C-C27E-DEB3-2C1B82B678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7624" y="219935"/>
            <a:ext cx="2112065" cy="144189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F27ABFC-0A00-8F9A-2F45-8BACF8016CFE}"/>
              </a:ext>
            </a:extLst>
          </p:cNvPr>
          <p:cNvSpPr txBox="1"/>
          <p:nvPr/>
        </p:nvSpPr>
        <p:spPr>
          <a:xfrm>
            <a:off x="511277" y="1661831"/>
            <a:ext cx="10567219" cy="4401205"/>
          </a:xfrm>
          <a:prstGeom prst="rect">
            <a:avLst/>
          </a:prstGeom>
          <a:noFill/>
        </p:spPr>
        <p:txBody>
          <a:bodyPr wrap="square">
            <a:spAutoFit/>
          </a:bodyPr>
          <a:lstStyle/>
          <a:p>
            <a:pPr marL="0" indent="0">
              <a:buNone/>
            </a:pPr>
            <a:r>
              <a:rPr lang="en-US" sz="2000" b="1" dirty="0">
                <a:cs typeface="Times New Roman" panose="02020603050405020304" pitchFamily="18" charset="0"/>
              </a:rPr>
              <a:t>PYTHON IDLE</a:t>
            </a:r>
            <a:r>
              <a:rPr lang="en-US" sz="2000" spc="-1" dirty="0">
                <a:solidFill>
                  <a:srgbClr val="000000"/>
                </a:solidFill>
                <a:cs typeface="Times New Roman" panose="02020603050405020304" pitchFamily="18" charset="0"/>
              </a:rPr>
              <a:t> </a:t>
            </a:r>
            <a:r>
              <a:rPr lang="en-US" sz="2000" b="1" spc="-1" dirty="0">
                <a:solidFill>
                  <a:srgbClr val="000000"/>
                </a:solidFill>
                <a:ea typeface="Calibri"/>
                <a:cs typeface="Times New Roman" panose="02020603050405020304" pitchFamily="18" charset="0"/>
              </a:rPr>
              <a:t>INSTALLATION:</a:t>
            </a:r>
            <a:endParaRPr lang="en-IN" sz="2000" b="0" strike="noStrike" spc="-1" dirty="0">
              <a:solidFill>
                <a:srgbClr val="000000"/>
              </a:solidFill>
              <a:ea typeface="Calibri"/>
              <a:cs typeface="Times New Roman" panose="02020603050405020304" pitchFamily="18" charset="0"/>
            </a:endParaRP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000" b="0" strike="noStrike" spc="-1" dirty="0">
              <a:solidFill>
                <a:srgbClr val="000000"/>
              </a:solidFill>
              <a:cs typeface="Times New Roman" panose="02020603050405020304" pitchFamily="18" charset="0"/>
            </a:endParaRPr>
          </a:p>
          <a:p>
            <a:pPr marL="285750" indent="-285750">
              <a:lnSpc>
                <a:spcPct val="100000"/>
              </a:lnSpc>
              <a:spcBef>
                <a:spcPts val="11"/>
              </a:spcBef>
              <a:spcAft>
                <a:spcPts val="11"/>
              </a:spcAft>
              <a:buClr>
                <a:srgbClr val="000000"/>
              </a:buClr>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Calibri"/>
                <a:cs typeface="Times New Roman" panose="02020603050405020304" pitchFamily="18" charset="0"/>
              </a:rPr>
              <a:t>Go to Python website( </a:t>
            </a:r>
            <a:r>
              <a:rPr lang="en-US" sz="2000" b="0" u="sng" strike="noStrike" spc="-1" dirty="0">
                <a:solidFill>
                  <a:srgbClr val="CCCCFF"/>
                </a:solidFill>
                <a:uFillTx/>
                <a:ea typeface="Calibri"/>
                <a:cs typeface="Times New Roman" panose="02020603050405020304" pitchFamily="18" charset="0"/>
                <a:hlinkClick r:id="rId4"/>
              </a:rPr>
              <a:t>https://www.python.org/).</a:t>
            </a:r>
            <a:r>
              <a:rPr lang="en-IN" sz="2000" b="0" u="sng" strike="noStrike" spc="-1" dirty="0">
                <a:solidFill>
                  <a:srgbClr val="CCCCFF"/>
                </a:solidFill>
                <a:uFillTx/>
                <a:ea typeface="Calibri"/>
                <a:cs typeface="Times New Roman" panose="02020603050405020304" pitchFamily="18" charset="0"/>
                <a:hlinkClick r:id="rId4"/>
              </a:rPr>
              <a:t>​</a:t>
            </a:r>
            <a:endParaRPr lang="en-US" sz="2000" u="sng" spc="-1" dirty="0">
              <a:solidFill>
                <a:srgbClr val="000000"/>
              </a:solidFill>
              <a:uFillTx/>
              <a:cs typeface="Times New Roman" panose="02020603050405020304" pitchFamily="18" charset="0"/>
            </a:endParaRPr>
          </a:p>
          <a:p>
            <a:pPr marL="285750" indent="-285750">
              <a:lnSpc>
                <a:spcPct val="100000"/>
              </a:lnSpc>
              <a:spcBef>
                <a:spcPts val="11"/>
              </a:spcBef>
              <a:spcAft>
                <a:spcPts val="11"/>
              </a:spcAft>
              <a:buClr>
                <a:srgbClr val="000000"/>
              </a:buClr>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Calibri"/>
                <a:cs typeface="Times New Roman" panose="02020603050405020304" pitchFamily="18" charset="0"/>
              </a:rPr>
              <a:t>Click on Downloads </a:t>
            </a:r>
            <a:r>
              <a:rPr lang="en-US" sz="2000" b="0" strike="noStrike" spc="-1" dirty="0">
                <a:solidFill>
                  <a:srgbClr val="000000"/>
                </a:solidFill>
                <a:ea typeface="Calibri"/>
                <a:cs typeface="Times New Roman" panose="02020603050405020304" pitchFamily="18" charset="0"/>
                <a:sym typeface="Wingdings" panose="05000000000000000000" pitchFamily="2" charset="2"/>
              </a:rPr>
              <a:t> Windows  </a:t>
            </a:r>
            <a:r>
              <a:rPr lang="en-US" sz="2000" b="1" strike="noStrike" spc="-1" dirty="0">
                <a:solidFill>
                  <a:srgbClr val="000000"/>
                </a:solidFill>
                <a:ea typeface="Calibri"/>
                <a:cs typeface="Times New Roman" panose="02020603050405020304" pitchFamily="18" charset="0"/>
                <a:sym typeface="Wingdings" panose="05000000000000000000" pitchFamily="2" charset="2"/>
              </a:rPr>
              <a:t>Download Python 3.12.0 </a:t>
            </a:r>
            <a:r>
              <a:rPr lang="en-US" sz="2000" strike="noStrike" spc="-1" dirty="0">
                <a:solidFill>
                  <a:srgbClr val="000000"/>
                </a:solidFill>
                <a:ea typeface="Calibri"/>
                <a:cs typeface="Times New Roman" panose="02020603050405020304" pitchFamily="18" charset="0"/>
                <a:sym typeface="Wingdings" panose="05000000000000000000" pitchFamily="2" charset="2"/>
              </a:rPr>
              <a:t>(Windows x86-64 executable installer.</a:t>
            </a:r>
          </a:p>
          <a:p>
            <a:pPr marL="285750" indent="-285750">
              <a:lnSpc>
                <a:spcPct val="100000"/>
              </a:lnSpc>
              <a:spcBef>
                <a:spcPts val="11"/>
              </a:spcBef>
              <a:spcAft>
                <a:spcPts val="11"/>
              </a:spcAft>
              <a:buClr>
                <a:srgbClr val="000000"/>
              </a:buClr>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spc="-1" dirty="0">
                <a:solidFill>
                  <a:srgbClr val="000000"/>
                </a:solidFill>
                <a:ea typeface="Calibri"/>
                <a:cs typeface="Times New Roman" panose="02020603050405020304" pitchFamily="18" charset="0"/>
                <a:sym typeface="Wingdings" panose="05000000000000000000" pitchFamily="2" charset="2"/>
              </a:rPr>
              <a:t>Run the downloaded installer  Check the box </a:t>
            </a:r>
            <a:r>
              <a:rPr lang="en-US" sz="2000" b="1" spc="-1" dirty="0">
                <a:solidFill>
                  <a:srgbClr val="000000"/>
                </a:solidFill>
                <a:ea typeface="Calibri"/>
                <a:cs typeface="Times New Roman" panose="02020603050405020304" pitchFamily="18" charset="0"/>
                <a:sym typeface="Wingdings" panose="05000000000000000000" pitchFamily="2" charset="2"/>
              </a:rPr>
              <a:t>“Add Python to PATH”</a:t>
            </a:r>
            <a:r>
              <a:rPr lang="en-US" sz="2000" spc="-1" dirty="0">
                <a:solidFill>
                  <a:srgbClr val="000000"/>
                </a:solidFill>
                <a:ea typeface="Calibri"/>
                <a:cs typeface="Times New Roman" panose="02020603050405020304" pitchFamily="18" charset="0"/>
                <a:sym typeface="Wingdings" panose="05000000000000000000" pitchFamily="2" charset="2"/>
              </a:rPr>
              <a:t>  Click </a:t>
            </a:r>
            <a:r>
              <a:rPr lang="en-US" sz="2000" b="1" spc="-1" dirty="0">
                <a:solidFill>
                  <a:srgbClr val="000000"/>
                </a:solidFill>
                <a:ea typeface="Calibri"/>
                <a:cs typeface="Times New Roman" panose="02020603050405020304" pitchFamily="18" charset="0"/>
                <a:sym typeface="Wingdings" panose="05000000000000000000" pitchFamily="2" charset="2"/>
              </a:rPr>
              <a:t>“Customize Installation” </a:t>
            </a:r>
            <a:r>
              <a:rPr lang="en-US" sz="2000" spc="-1" dirty="0">
                <a:solidFill>
                  <a:srgbClr val="000000"/>
                </a:solidFill>
                <a:ea typeface="Calibri"/>
                <a:cs typeface="Times New Roman" panose="02020603050405020304" pitchFamily="18" charset="0"/>
                <a:sym typeface="Wingdings" panose="05000000000000000000" pitchFamily="2" charset="2"/>
              </a:rPr>
              <a:t> Ensure </a:t>
            </a:r>
            <a:r>
              <a:rPr lang="en-US" sz="2000" b="1" spc="-1" dirty="0">
                <a:solidFill>
                  <a:srgbClr val="000000"/>
                </a:solidFill>
                <a:ea typeface="Calibri"/>
                <a:cs typeface="Times New Roman" panose="02020603050405020304" pitchFamily="18" charset="0"/>
                <a:sym typeface="Wingdings" panose="05000000000000000000" pitchFamily="2" charset="2"/>
              </a:rPr>
              <a:t>IDLE</a:t>
            </a:r>
            <a:r>
              <a:rPr lang="en-US" sz="2000" spc="-1" dirty="0">
                <a:solidFill>
                  <a:srgbClr val="000000"/>
                </a:solidFill>
                <a:ea typeface="Calibri"/>
                <a:cs typeface="Times New Roman" panose="02020603050405020304" pitchFamily="18" charset="0"/>
                <a:sym typeface="Wingdings" panose="05000000000000000000" pitchFamily="2" charset="2"/>
              </a:rPr>
              <a:t> is checked  Select </a:t>
            </a:r>
            <a:r>
              <a:rPr lang="en-US" sz="2000" b="1" spc="-1" dirty="0">
                <a:solidFill>
                  <a:srgbClr val="000000"/>
                </a:solidFill>
                <a:ea typeface="Calibri"/>
                <a:cs typeface="Times New Roman" panose="02020603050405020304" pitchFamily="18" charset="0"/>
                <a:sym typeface="Wingdings" panose="05000000000000000000" pitchFamily="2" charset="2"/>
              </a:rPr>
              <a:t>“Install for all users” </a:t>
            </a:r>
            <a:r>
              <a:rPr lang="en-US" sz="2000" spc="-1" dirty="0">
                <a:solidFill>
                  <a:srgbClr val="000000"/>
                </a:solidFill>
                <a:ea typeface="Calibri"/>
                <a:cs typeface="Times New Roman" panose="02020603050405020304" pitchFamily="18" charset="0"/>
                <a:sym typeface="Wingdings" panose="05000000000000000000" pitchFamily="2" charset="2"/>
              </a:rPr>
              <a:t> Click </a:t>
            </a:r>
            <a:r>
              <a:rPr lang="en-US" sz="2000" b="1" spc="-1" dirty="0">
                <a:solidFill>
                  <a:srgbClr val="000000"/>
                </a:solidFill>
                <a:ea typeface="Calibri"/>
                <a:cs typeface="Times New Roman" panose="02020603050405020304" pitchFamily="18" charset="0"/>
                <a:sym typeface="Wingdings" panose="05000000000000000000" pitchFamily="2" charset="2"/>
              </a:rPr>
              <a:t>“Install Now” </a:t>
            </a:r>
            <a:r>
              <a:rPr lang="en-US" sz="2000" spc="-1" dirty="0">
                <a:solidFill>
                  <a:srgbClr val="000000"/>
                </a:solidFill>
                <a:ea typeface="Calibri"/>
                <a:cs typeface="Times New Roman" panose="02020603050405020304" pitchFamily="18" charset="0"/>
                <a:sym typeface="Wingdings" panose="05000000000000000000" pitchFamily="2" charset="2"/>
              </a:rPr>
              <a:t>and wait for the installation to complete. Once installed, click </a:t>
            </a:r>
            <a:r>
              <a:rPr lang="en-US" sz="2000" b="1" spc="-1" dirty="0">
                <a:solidFill>
                  <a:srgbClr val="000000"/>
                </a:solidFill>
                <a:ea typeface="Calibri"/>
                <a:cs typeface="Times New Roman" panose="02020603050405020304" pitchFamily="18" charset="0"/>
                <a:sym typeface="Wingdings" panose="05000000000000000000" pitchFamily="2" charset="2"/>
              </a:rPr>
              <a:t>“Close”</a:t>
            </a:r>
            <a:r>
              <a:rPr lang="en-US" sz="2000" spc="-1" dirty="0">
                <a:solidFill>
                  <a:srgbClr val="000000"/>
                </a:solidFill>
                <a:ea typeface="Calibri"/>
                <a:cs typeface="Times New Roman" panose="02020603050405020304" pitchFamily="18" charset="0"/>
                <a:sym typeface="Wingdings" panose="05000000000000000000" pitchFamily="2" charset="2"/>
              </a:rPr>
              <a:t>.</a:t>
            </a:r>
          </a:p>
          <a:p>
            <a:pPr marL="285750" indent="-285750">
              <a:lnSpc>
                <a:spcPct val="100000"/>
              </a:lnSpc>
              <a:spcBef>
                <a:spcPts val="11"/>
              </a:spcBef>
              <a:spcAft>
                <a:spcPts val="11"/>
              </a:spcAft>
              <a:buClr>
                <a:srgbClr val="000000"/>
              </a:buClr>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strike="noStrike" spc="-1" dirty="0">
                <a:solidFill>
                  <a:srgbClr val="000000"/>
                </a:solidFill>
                <a:ea typeface="Calibri"/>
                <a:cs typeface="Times New Roman" panose="02020603050405020304" pitchFamily="18" charset="0"/>
                <a:sym typeface="Wingdings" panose="05000000000000000000" pitchFamily="2" charset="2"/>
              </a:rPr>
              <a:t>After installation go to the taskbar and click on the search bar and type </a:t>
            </a:r>
            <a:r>
              <a:rPr lang="en-US" sz="2000" b="1" strike="noStrike" spc="-1" dirty="0">
                <a:solidFill>
                  <a:srgbClr val="000000"/>
                </a:solidFill>
                <a:ea typeface="Calibri"/>
                <a:cs typeface="Times New Roman" panose="02020603050405020304" pitchFamily="18" charset="0"/>
                <a:sym typeface="Wingdings" panose="05000000000000000000" pitchFamily="2" charset="2"/>
              </a:rPr>
              <a:t>“IDLE”</a:t>
            </a:r>
            <a:r>
              <a:rPr lang="en-US" sz="2000" strike="noStrike" spc="-1" dirty="0">
                <a:solidFill>
                  <a:srgbClr val="000000"/>
                </a:solidFill>
                <a:ea typeface="Calibri"/>
                <a:cs typeface="Times New Roman" panose="02020603050405020304" pitchFamily="18" charset="0"/>
                <a:sym typeface="Wingdings" panose="05000000000000000000" pitchFamily="2" charset="2"/>
              </a:rPr>
              <a:t>. Right click on </a:t>
            </a:r>
            <a:r>
              <a:rPr lang="en-US" sz="2000" b="1" strike="noStrike" spc="-1" dirty="0">
                <a:solidFill>
                  <a:srgbClr val="000000"/>
                </a:solidFill>
                <a:ea typeface="Calibri"/>
                <a:cs typeface="Times New Roman" panose="02020603050405020304" pitchFamily="18" charset="0"/>
                <a:sym typeface="Wingdings" panose="05000000000000000000" pitchFamily="2" charset="2"/>
              </a:rPr>
              <a:t>IDLE (</a:t>
            </a:r>
            <a:r>
              <a:rPr lang="en-US" sz="2000" b="1" strike="noStrike" spc="-1">
                <a:solidFill>
                  <a:srgbClr val="000000"/>
                </a:solidFill>
                <a:ea typeface="Calibri"/>
                <a:cs typeface="Times New Roman" panose="02020603050405020304" pitchFamily="18" charset="0"/>
                <a:sym typeface="Wingdings" panose="05000000000000000000" pitchFamily="2" charset="2"/>
              </a:rPr>
              <a:t>Python 3.12 </a:t>
            </a:r>
            <a:r>
              <a:rPr lang="en-US" sz="2000" b="1" strike="noStrike" spc="-1" dirty="0">
                <a:solidFill>
                  <a:srgbClr val="000000"/>
                </a:solidFill>
                <a:ea typeface="Calibri"/>
                <a:cs typeface="Times New Roman" panose="02020603050405020304" pitchFamily="18" charset="0"/>
                <a:sym typeface="Wingdings" panose="05000000000000000000" pitchFamily="2" charset="2"/>
              </a:rPr>
              <a:t>64-bit) </a:t>
            </a:r>
            <a:r>
              <a:rPr lang="en-US" sz="2000" strike="noStrike" spc="-1" dirty="0">
                <a:solidFill>
                  <a:srgbClr val="000000"/>
                </a:solidFill>
                <a:ea typeface="Calibri"/>
                <a:cs typeface="Times New Roman" panose="02020603050405020304" pitchFamily="18" charset="0"/>
                <a:sym typeface="Wingdings" panose="05000000000000000000" pitchFamily="2" charset="2"/>
              </a:rPr>
              <a:t>and select “</a:t>
            </a:r>
            <a:r>
              <a:rPr lang="en-US" sz="2000" b="1" strike="noStrike" spc="-1" dirty="0">
                <a:solidFill>
                  <a:srgbClr val="000000"/>
                </a:solidFill>
                <a:ea typeface="Calibri"/>
                <a:cs typeface="Times New Roman" panose="02020603050405020304" pitchFamily="18" charset="0"/>
                <a:sym typeface="Wingdings" panose="05000000000000000000" pitchFamily="2" charset="2"/>
              </a:rPr>
              <a:t>Open file Location”</a:t>
            </a:r>
            <a:r>
              <a:rPr lang="en-US" sz="2000" strike="noStrike" spc="-1" dirty="0">
                <a:solidFill>
                  <a:srgbClr val="000000"/>
                </a:solidFill>
                <a:ea typeface="Calibri"/>
                <a:cs typeface="Times New Roman" panose="02020603050405020304" pitchFamily="18" charset="0"/>
                <a:sym typeface="Wingdings" panose="05000000000000000000" pitchFamily="2" charset="2"/>
              </a:rPr>
              <a:t> and copy its </a:t>
            </a:r>
            <a:r>
              <a:rPr lang="en-US" sz="2000" b="1" strike="noStrike" spc="-1" dirty="0">
                <a:solidFill>
                  <a:srgbClr val="000000"/>
                </a:solidFill>
                <a:ea typeface="Calibri"/>
                <a:cs typeface="Times New Roman" panose="02020603050405020304" pitchFamily="18" charset="0"/>
                <a:sym typeface="Wingdings" panose="05000000000000000000" pitchFamily="2" charset="2"/>
              </a:rPr>
              <a:t>path address</a:t>
            </a:r>
            <a:r>
              <a:rPr lang="en-US" sz="2000" strike="noStrike" spc="-1" dirty="0">
                <a:solidFill>
                  <a:srgbClr val="000000"/>
                </a:solidFill>
                <a:ea typeface="Calibri"/>
                <a:cs typeface="Times New Roman" panose="02020603050405020304" pitchFamily="18" charset="0"/>
                <a:sym typeface="Wingdings" panose="05000000000000000000" pitchFamily="2" charset="2"/>
              </a:rPr>
              <a:t>.</a:t>
            </a:r>
          </a:p>
          <a:p>
            <a:pPr marL="285750" indent="-285750">
              <a:lnSpc>
                <a:spcPct val="100000"/>
              </a:lnSpc>
              <a:spcBef>
                <a:spcPts val="11"/>
              </a:spcBef>
              <a:spcAft>
                <a:spcPts val="11"/>
              </a:spcAft>
              <a:buClr>
                <a:srgbClr val="000000"/>
              </a:buClr>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spc="-1" dirty="0">
                <a:solidFill>
                  <a:srgbClr val="000000"/>
                </a:solidFill>
                <a:ea typeface="Calibri"/>
                <a:cs typeface="Times New Roman" panose="02020603050405020304" pitchFamily="18" charset="0"/>
                <a:sym typeface="Wingdings" panose="05000000000000000000" pitchFamily="2" charset="2"/>
              </a:rPr>
              <a:t>Open </a:t>
            </a:r>
            <a:r>
              <a:rPr lang="en-US" sz="2000" b="1" spc="-1" dirty="0">
                <a:solidFill>
                  <a:srgbClr val="000000"/>
                </a:solidFill>
                <a:ea typeface="Calibri"/>
                <a:cs typeface="Times New Roman" panose="02020603050405020304" pitchFamily="18" charset="0"/>
                <a:sym typeface="Wingdings" panose="05000000000000000000" pitchFamily="2" charset="2"/>
              </a:rPr>
              <a:t>Command Prompt </a:t>
            </a:r>
            <a:r>
              <a:rPr lang="en-US" sz="2000" spc="-1" dirty="0">
                <a:solidFill>
                  <a:srgbClr val="000000"/>
                </a:solidFill>
                <a:ea typeface="Calibri"/>
                <a:cs typeface="Times New Roman" panose="02020603050405020304" pitchFamily="18" charset="0"/>
                <a:sym typeface="Wingdings" panose="05000000000000000000" pitchFamily="2" charset="2"/>
              </a:rPr>
              <a:t>and select “</a:t>
            </a:r>
            <a:r>
              <a:rPr lang="en-US" sz="2000" b="1" spc="-1" dirty="0">
                <a:solidFill>
                  <a:srgbClr val="000000"/>
                </a:solidFill>
                <a:ea typeface="Calibri"/>
                <a:cs typeface="Times New Roman" panose="02020603050405020304" pitchFamily="18" charset="0"/>
                <a:sym typeface="Wingdings" panose="05000000000000000000" pitchFamily="2" charset="2"/>
              </a:rPr>
              <a:t>Run as administrator” </a:t>
            </a:r>
            <a:r>
              <a:rPr lang="en-US" sz="2000" spc="-1" dirty="0">
                <a:solidFill>
                  <a:srgbClr val="000000"/>
                </a:solidFill>
                <a:ea typeface="Calibri"/>
                <a:cs typeface="Times New Roman" panose="02020603050405020304" pitchFamily="18" charset="0"/>
                <a:sym typeface="Wingdings" panose="05000000000000000000" pitchFamily="2" charset="2"/>
              </a:rPr>
              <a:t> Click </a:t>
            </a:r>
            <a:r>
              <a:rPr lang="en-US" sz="2000" b="1" spc="-1" dirty="0">
                <a:solidFill>
                  <a:srgbClr val="000000"/>
                </a:solidFill>
                <a:ea typeface="Calibri"/>
                <a:cs typeface="Times New Roman" panose="02020603050405020304" pitchFamily="18" charset="0"/>
                <a:sym typeface="Wingdings" panose="05000000000000000000" pitchFamily="2" charset="2"/>
              </a:rPr>
              <a:t>“Yes” </a:t>
            </a:r>
            <a:r>
              <a:rPr lang="en-US" sz="2000" spc="-1" dirty="0">
                <a:solidFill>
                  <a:srgbClr val="000000"/>
                </a:solidFill>
                <a:ea typeface="Calibri"/>
                <a:cs typeface="Times New Roman" panose="02020603050405020304" pitchFamily="18" charset="0"/>
                <a:sym typeface="Wingdings" panose="05000000000000000000" pitchFamily="2" charset="2"/>
              </a:rPr>
              <a:t> Type </a:t>
            </a:r>
            <a:r>
              <a:rPr lang="en-US" sz="2000" b="1" spc="-1" dirty="0">
                <a:solidFill>
                  <a:srgbClr val="000000"/>
                </a:solidFill>
                <a:ea typeface="Calibri"/>
                <a:cs typeface="Times New Roman" panose="02020603050405020304" pitchFamily="18" charset="0"/>
                <a:sym typeface="Wingdings" panose="05000000000000000000" pitchFamily="2" charset="2"/>
              </a:rPr>
              <a:t>cd </a:t>
            </a:r>
            <a:r>
              <a:rPr lang="en-US" sz="2000" spc="-1" dirty="0">
                <a:solidFill>
                  <a:srgbClr val="000000"/>
                </a:solidFill>
                <a:ea typeface="Calibri"/>
                <a:cs typeface="Times New Roman" panose="02020603050405020304" pitchFamily="18" charset="0"/>
                <a:sym typeface="Wingdings" panose="05000000000000000000" pitchFamily="2" charset="2"/>
              </a:rPr>
              <a:t> and paste the copied path and press </a:t>
            </a:r>
            <a:r>
              <a:rPr lang="en-US" sz="2000" b="1" spc="-1" dirty="0">
                <a:solidFill>
                  <a:srgbClr val="000000"/>
                </a:solidFill>
                <a:ea typeface="Calibri"/>
                <a:cs typeface="Times New Roman" panose="02020603050405020304" pitchFamily="18" charset="0"/>
                <a:sym typeface="Wingdings" panose="05000000000000000000" pitchFamily="2" charset="2"/>
              </a:rPr>
              <a:t>enter</a:t>
            </a:r>
            <a:r>
              <a:rPr lang="en-US" sz="2000" spc="-1" dirty="0">
                <a:solidFill>
                  <a:srgbClr val="000000"/>
                </a:solidFill>
                <a:ea typeface="Calibri"/>
                <a:cs typeface="Times New Roman" panose="02020603050405020304" pitchFamily="18" charset="0"/>
                <a:sym typeface="Wingdings" panose="05000000000000000000" pitchFamily="2" charset="2"/>
              </a:rPr>
              <a:t>.</a:t>
            </a:r>
          </a:p>
          <a:p>
            <a:pPr marL="285750" indent="-285750">
              <a:lnSpc>
                <a:spcPct val="100000"/>
              </a:lnSpc>
              <a:spcBef>
                <a:spcPts val="11"/>
              </a:spcBef>
              <a:spcAft>
                <a:spcPts val="11"/>
              </a:spcAft>
              <a:buClr>
                <a:srgbClr val="000000"/>
              </a:buClr>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strike="noStrike" spc="-1" dirty="0">
                <a:solidFill>
                  <a:srgbClr val="000000"/>
                </a:solidFill>
                <a:ea typeface="Calibri"/>
                <a:cs typeface="Times New Roman" panose="02020603050405020304" pitchFamily="18" charset="0"/>
                <a:sym typeface="Wingdings" panose="05000000000000000000" pitchFamily="2" charset="2"/>
              </a:rPr>
              <a:t>Install libraries </a:t>
            </a:r>
            <a:r>
              <a:rPr lang="en-US" sz="2000" spc="-1" dirty="0">
                <a:solidFill>
                  <a:srgbClr val="000000"/>
                </a:solidFill>
                <a:ea typeface="Calibri"/>
                <a:cs typeface="Times New Roman" panose="02020603050405020304" pitchFamily="18" charset="0"/>
                <a:sym typeface="Wingdings" panose="05000000000000000000" pitchFamily="2" charset="2"/>
              </a:rPr>
              <a:t>/ packages using pip</a:t>
            </a:r>
            <a:endParaRPr lang="en-US" sz="2000" strike="noStrike" spc="-1" dirty="0">
              <a:solidFill>
                <a:srgbClr val="000000"/>
              </a:solidFill>
              <a:ea typeface="Calibri"/>
              <a:cs typeface="Times New Roman" panose="02020603050405020304" pitchFamily="18" charset="0"/>
              <a:sym typeface="Wingdings" panose="05000000000000000000" pitchFamily="2" charset="2"/>
            </a:endParaRPr>
          </a:p>
          <a:p>
            <a:pPr marL="285750" indent="-285750" algn="just">
              <a:lnSpc>
                <a:spcPct val="100000"/>
              </a:lnSpc>
              <a:spcBef>
                <a:spcPts val="11"/>
              </a:spcBef>
              <a:spcAft>
                <a:spcPts val="11"/>
              </a:spcAft>
              <a:buClr>
                <a:srgbClr val="000000"/>
              </a:buClr>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000" b="0" strike="noStrike" spc="-1" dirty="0">
              <a:solidFill>
                <a:srgbClr val="000000"/>
              </a:solidFill>
              <a:cs typeface="Times New Roman" panose="02020603050405020304" pitchFamily="18" charset="0"/>
            </a:endParaRPr>
          </a:p>
        </p:txBody>
      </p:sp>
    </p:spTree>
    <p:extLst>
      <p:ext uri="{BB962C8B-B14F-4D97-AF65-F5344CB8AC3E}">
        <p14:creationId xmlns:p14="http://schemas.microsoft.com/office/powerpoint/2010/main" val="37606456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48292-0E16-35E8-AB02-035F562D268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906263A-D3A3-D805-753D-8B08166DF4CC}"/>
              </a:ext>
            </a:extLst>
          </p:cNvPr>
          <p:cNvPicPr/>
          <p:nvPr/>
        </p:nvPicPr>
        <p:blipFill>
          <a:blip r:embed="rId2" cstate="print"/>
          <a:stretch/>
        </p:blipFill>
        <p:spPr>
          <a:xfrm>
            <a:off x="11316718" y="167148"/>
            <a:ext cx="688680" cy="689040"/>
          </a:xfrm>
          <a:prstGeom prst="rect">
            <a:avLst/>
          </a:prstGeom>
          <a:ln w="0">
            <a:noFill/>
          </a:ln>
        </p:spPr>
      </p:pic>
      <p:pic>
        <p:nvPicPr>
          <p:cNvPr id="5" name="Picture 4" descr="1685633404">
            <a:extLst>
              <a:ext uri="{FF2B5EF4-FFF2-40B4-BE49-F238E27FC236}">
                <a16:creationId xmlns:a16="http://schemas.microsoft.com/office/drawing/2014/main" id="{F22E2C18-52A4-03DD-5767-5DA78E4A794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5227"/>
          <a:stretch/>
        </p:blipFill>
        <p:spPr bwMode="auto">
          <a:xfrm>
            <a:off x="5024283" y="167148"/>
            <a:ext cx="1228331" cy="89411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E036D33-7933-603F-5157-CB5731847CFE}"/>
              </a:ext>
            </a:extLst>
          </p:cNvPr>
          <p:cNvSpPr txBox="1"/>
          <p:nvPr/>
        </p:nvSpPr>
        <p:spPr>
          <a:xfrm>
            <a:off x="668594" y="1288026"/>
            <a:ext cx="10697496" cy="4622804"/>
          </a:xfrm>
          <a:prstGeom prst="rect">
            <a:avLst/>
          </a:prstGeom>
          <a:noFill/>
        </p:spPr>
        <p:txBody>
          <a:bodyPr wrap="square">
            <a:spAutoFit/>
          </a:bodyPr>
          <a:lstStyle/>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n-US" sz="2000" b="1" strike="noStrike" spc="-1" dirty="0">
                <a:solidFill>
                  <a:srgbClr val="000000"/>
                </a:solidFill>
                <a:ea typeface="Calibri"/>
                <a:cs typeface="Times New Roman" panose="02020603050405020304" pitchFamily="18" charset="0"/>
              </a:rPr>
              <a:t>VS CODE:</a:t>
            </a:r>
            <a:endParaRPr lang="en-US" sz="2000" b="0" strike="noStrike" spc="-1" dirty="0">
              <a:solidFill>
                <a:srgbClr val="000000"/>
              </a:solidFill>
              <a:cs typeface="Times New Roman" panose="02020603050405020304" pitchFamily="18" charset="0"/>
            </a:endParaRP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n-US" sz="2000" b="0" strike="noStrike" spc="-1" dirty="0">
                <a:solidFill>
                  <a:srgbClr val="000000"/>
                </a:solidFill>
                <a:ea typeface="Calibri"/>
                <a:cs typeface="Times New Roman" panose="02020603050405020304" pitchFamily="18" charset="0"/>
              </a:rPr>
              <a:t>Visual Studio Code (VS Code) is a free, cross-platform source-code editor developed by Microsoft</a:t>
            </a:r>
            <a:endParaRPr lang="en-US" sz="2000" spc="-1" dirty="0">
              <a:solidFill>
                <a:srgbClr val="000000"/>
              </a:solidFill>
              <a:ea typeface="Calibri"/>
              <a:cs typeface="Times New Roman" panose="02020603050405020304" pitchFamily="18" charset="0"/>
            </a:endParaRPr>
          </a:p>
          <a:p>
            <a:pPr>
              <a:lnSpc>
                <a:spcPct val="100000"/>
              </a:lnSpc>
              <a:spcBef>
                <a:spcPts val="11"/>
              </a:spcBef>
              <a:spcAft>
                <a:spcPts val="11"/>
              </a:spcAft>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endParaRPr lang="en-US" sz="2000" b="0" strike="noStrike" spc="-1" dirty="0">
              <a:solidFill>
                <a:srgbClr val="000000"/>
              </a:solidFill>
              <a:cs typeface="Times New Roman" panose="02020603050405020304" pitchFamily="18" charset="0"/>
            </a:endParaRP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n-US" sz="2000" b="1" strike="noStrike" spc="-1" dirty="0">
                <a:solidFill>
                  <a:srgbClr val="000000"/>
                </a:solidFill>
                <a:ea typeface="Calibri"/>
                <a:cs typeface="Times New Roman" panose="02020603050405020304" pitchFamily="18" charset="0"/>
              </a:rPr>
              <a:t>VS CODE INSTALLATION:  </a:t>
            </a:r>
            <a:endParaRPr lang="en-US" sz="2000" b="0" strike="noStrike" spc="-1" dirty="0">
              <a:solidFill>
                <a:srgbClr val="000000"/>
              </a:solidFill>
              <a:cs typeface="Times New Roman" panose="02020603050405020304" pitchFamily="18" charset="0"/>
            </a:endParaRPr>
          </a:p>
          <a:p>
            <a:pPr marL="285750" indent="-285750" algn="just">
              <a:lnSpc>
                <a:spcPct val="120000"/>
              </a:lnSpc>
              <a:spcBef>
                <a:spcPts val="11"/>
              </a:spcBef>
              <a:spcAft>
                <a:spcPts val="11"/>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n-US" sz="2000" b="0" strike="noStrike" spc="-1" dirty="0">
                <a:solidFill>
                  <a:srgbClr val="000000"/>
                </a:solidFill>
                <a:ea typeface="Calibri"/>
                <a:cs typeface="Times New Roman" panose="02020603050405020304" pitchFamily="18" charset="0"/>
              </a:rPr>
              <a:t>Go to Visual Studio Code website(</a:t>
            </a:r>
            <a:r>
              <a:rPr lang="en-US" sz="2000" b="0" u="sng" strike="noStrike" spc="-1" dirty="0">
                <a:solidFill>
                  <a:srgbClr val="CCCCFF"/>
                </a:solidFill>
                <a:uFillTx/>
                <a:ea typeface="Calibri"/>
                <a:cs typeface="Times New Roman" panose="02020603050405020304" pitchFamily="18" charset="0"/>
                <a:hlinkClick r:id="rId4"/>
              </a:rPr>
              <a:t>https://code.visualstudio.com</a:t>
            </a:r>
            <a:r>
              <a:rPr lang="en-US" sz="2000" b="0" strike="noStrike" spc="-1" dirty="0">
                <a:solidFill>
                  <a:srgbClr val="000000"/>
                </a:solidFill>
                <a:ea typeface="Calibri"/>
                <a:cs typeface="Times New Roman" panose="02020603050405020304" pitchFamily="18" charset="0"/>
              </a:rPr>
              <a:t>). On the homepage, click </a:t>
            </a:r>
            <a:r>
              <a:rPr lang="en-US" sz="2000" spc="-1" dirty="0">
                <a:solidFill>
                  <a:srgbClr val="000000"/>
                </a:solidFill>
                <a:ea typeface="Calibri"/>
                <a:cs typeface="Times New Roman" panose="02020603050405020304" pitchFamily="18" charset="0"/>
              </a:rPr>
              <a:t> the </a:t>
            </a:r>
            <a:r>
              <a:rPr lang="en-US" sz="2000" b="1" spc="-1" dirty="0">
                <a:solidFill>
                  <a:srgbClr val="000000"/>
                </a:solidFill>
                <a:ea typeface="Calibri"/>
                <a:cs typeface="Times New Roman" panose="02020603050405020304" pitchFamily="18" charset="0"/>
              </a:rPr>
              <a:t>“Download for Windows/Mac/Linux” </a:t>
            </a:r>
            <a:r>
              <a:rPr lang="en-US" sz="2000" spc="-1" dirty="0">
                <a:solidFill>
                  <a:srgbClr val="000000"/>
                </a:solidFill>
                <a:ea typeface="Calibri"/>
                <a:cs typeface="Times New Roman" panose="02020603050405020304" pitchFamily="18" charset="0"/>
              </a:rPr>
              <a:t>button.</a:t>
            </a:r>
          </a:p>
          <a:p>
            <a:pPr marL="285750" indent="-285750" algn="just">
              <a:lnSpc>
                <a:spcPct val="120000"/>
              </a:lnSpc>
              <a:spcBef>
                <a:spcPts val="11"/>
              </a:spcBef>
              <a:spcAft>
                <a:spcPts val="11"/>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n-US" sz="2000" b="0" strike="noStrike" spc="-1" dirty="0">
                <a:solidFill>
                  <a:srgbClr val="000000"/>
                </a:solidFill>
                <a:ea typeface="Calibri"/>
                <a:cs typeface="Times New Roman" panose="02020603050405020304" pitchFamily="18" charset="0"/>
              </a:rPr>
              <a:t>Run the downloaded </a:t>
            </a:r>
            <a:r>
              <a:rPr lang="en-US" sz="2000" b="1" strike="noStrike" spc="-1" dirty="0">
                <a:solidFill>
                  <a:srgbClr val="000000"/>
                </a:solidFill>
                <a:ea typeface="Calibri"/>
                <a:cs typeface="Times New Roman" panose="02020603050405020304" pitchFamily="18" charset="0"/>
              </a:rPr>
              <a:t>.exe </a:t>
            </a:r>
            <a:r>
              <a:rPr lang="en-US" sz="2000" strike="noStrike" spc="-1" dirty="0">
                <a:solidFill>
                  <a:srgbClr val="000000"/>
                </a:solidFill>
                <a:ea typeface="Calibri"/>
                <a:cs typeface="Times New Roman" panose="02020603050405020304" pitchFamily="18" charset="0"/>
              </a:rPr>
              <a:t>file</a:t>
            </a:r>
            <a:r>
              <a:rPr lang="en-US" sz="2000" spc="-1" dirty="0">
                <a:solidFill>
                  <a:srgbClr val="000000"/>
                </a:solidFill>
                <a:ea typeface="Calibri"/>
                <a:cs typeface="Times New Roman" panose="02020603050405020304" pitchFamily="18" charset="0"/>
              </a:rPr>
              <a:t> </a:t>
            </a:r>
            <a:r>
              <a:rPr lang="en-US" sz="2000" spc="-1" dirty="0">
                <a:solidFill>
                  <a:srgbClr val="000000"/>
                </a:solidFill>
                <a:ea typeface="Calibri"/>
                <a:cs typeface="Times New Roman" panose="02020603050405020304" pitchFamily="18" charset="0"/>
                <a:sym typeface="Wingdings" panose="05000000000000000000" pitchFamily="2" charset="2"/>
              </a:rPr>
              <a:t> Select </a:t>
            </a:r>
            <a:r>
              <a:rPr lang="en-US" sz="2000" b="1" spc="-1" dirty="0">
                <a:solidFill>
                  <a:srgbClr val="000000"/>
                </a:solidFill>
                <a:ea typeface="Calibri"/>
                <a:cs typeface="Times New Roman" panose="02020603050405020304" pitchFamily="18" charset="0"/>
                <a:sym typeface="Wingdings" panose="05000000000000000000" pitchFamily="2" charset="2"/>
              </a:rPr>
              <a:t>“I accept the agreement”</a:t>
            </a:r>
            <a:r>
              <a:rPr lang="en-US" sz="2000" spc="-1" dirty="0">
                <a:solidFill>
                  <a:srgbClr val="000000"/>
                </a:solidFill>
                <a:ea typeface="Calibri"/>
                <a:cs typeface="Times New Roman" panose="02020603050405020304" pitchFamily="18" charset="0"/>
                <a:sym typeface="Wingdings" panose="05000000000000000000" pitchFamily="2" charset="2"/>
              </a:rPr>
              <a:t>  Click </a:t>
            </a:r>
            <a:r>
              <a:rPr lang="en-US" sz="2000" b="1" spc="-1" dirty="0">
                <a:solidFill>
                  <a:srgbClr val="000000"/>
                </a:solidFill>
                <a:ea typeface="Calibri"/>
                <a:cs typeface="Times New Roman" panose="02020603050405020304" pitchFamily="18" charset="0"/>
                <a:sym typeface="Wingdings" panose="05000000000000000000" pitchFamily="2" charset="2"/>
              </a:rPr>
              <a:t>Next </a:t>
            </a:r>
            <a:r>
              <a:rPr lang="en-US" sz="2000" spc="-1" dirty="0">
                <a:solidFill>
                  <a:srgbClr val="000000"/>
                </a:solidFill>
                <a:ea typeface="Calibri"/>
                <a:cs typeface="Times New Roman" panose="02020603050405020304" pitchFamily="18" charset="0"/>
                <a:sym typeface="Wingdings" panose="05000000000000000000" pitchFamily="2" charset="2"/>
              </a:rPr>
              <a:t> Click </a:t>
            </a:r>
            <a:r>
              <a:rPr lang="en-US" sz="2000" b="1" spc="-1" dirty="0">
                <a:solidFill>
                  <a:srgbClr val="000000"/>
                </a:solidFill>
                <a:ea typeface="Calibri"/>
                <a:cs typeface="Times New Roman" panose="02020603050405020304" pitchFamily="18" charset="0"/>
                <a:sym typeface="Wingdings" panose="05000000000000000000" pitchFamily="2" charset="2"/>
              </a:rPr>
              <a:t>Next </a:t>
            </a:r>
            <a:r>
              <a:rPr lang="en-US" sz="2000" spc="-1" dirty="0">
                <a:solidFill>
                  <a:srgbClr val="000000"/>
                </a:solidFill>
                <a:ea typeface="Calibri"/>
                <a:cs typeface="Times New Roman" panose="02020603050405020304" pitchFamily="18" charset="0"/>
                <a:sym typeface="Wingdings" panose="05000000000000000000" pitchFamily="2" charset="2"/>
              </a:rPr>
              <a:t>again  Check the option </a:t>
            </a:r>
            <a:r>
              <a:rPr lang="en-US" sz="2000" b="1" spc="-1" dirty="0">
                <a:solidFill>
                  <a:srgbClr val="000000"/>
                </a:solidFill>
                <a:ea typeface="Calibri"/>
                <a:cs typeface="Times New Roman" panose="02020603050405020304" pitchFamily="18" charset="0"/>
                <a:sym typeface="Wingdings" panose="05000000000000000000" pitchFamily="2" charset="2"/>
              </a:rPr>
              <a:t>“Add to PATH” </a:t>
            </a:r>
            <a:r>
              <a:rPr lang="en-US" sz="2000" spc="-1" dirty="0">
                <a:solidFill>
                  <a:srgbClr val="000000"/>
                </a:solidFill>
                <a:ea typeface="Calibri"/>
                <a:cs typeface="Times New Roman" panose="02020603050405020304" pitchFamily="18" charset="0"/>
                <a:sym typeface="Wingdings" panose="05000000000000000000" pitchFamily="2" charset="2"/>
              </a:rPr>
              <a:t> Click </a:t>
            </a:r>
            <a:r>
              <a:rPr lang="en-US" sz="2000" b="1" spc="-1" dirty="0">
                <a:solidFill>
                  <a:srgbClr val="000000"/>
                </a:solidFill>
                <a:ea typeface="Calibri"/>
                <a:cs typeface="Times New Roman" panose="02020603050405020304" pitchFamily="18" charset="0"/>
                <a:sym typeface="Wingdings" panose="05000000000000000000" pitchFamily="2" charset="2"/>
              </a:rPr>
              <a:t>Next</a:t>
            </a:r>
            <a:r>
              <a:rPr lang="en-US" sz="2000" spc="-1" dirty="0">
                <a:solidFill>
                  <a:srgbClr val="000000"/>
                </a:solidFill>
                <a:ea typeface="Calibri"/>
                <a:cs typeface="Times New Roman" panose="02020603050405020304" pitchFamily="18" charset="0"/>
                <a:sym typeface="Wingdings" panose="05000000000000000000" pitchFamily="2" charset="2"/>
              </a:rPr>
              <a:t>  Click </a:t>
            </a:r>
            <a:r>
              <a:rPr lang="en-US" sz="2000" b="1" spc="-1" dirty="0">
                <a:solidFill>
                  <a:srgbClr val="000000"/>
                </a:solidFill>
                <a:ea typeface="Calibri"/>
                <a:cs typeface="Times New Roman" panose="02020603050405020304" pitchFamily="18" charset="0"/>
                <a:sym typeface="Wingdings" panose="05000000000000000000" pitchFamily="2" charset="2"/>
              </a:rPr>
              <a:t>Install</a:t>
            </a:r>
            <a:r>
              <a:rPr lang="en-US" sz="2000" spc="-1" dirty="0">
                <a:solidFill>
                  <a:srgbClr val="000000"/>
                </a:solidFill>
                <a:ea typeface="Calibri"/>
                <a:cs typeface="Times New Roman" panose="02020603050405020304" pitchFamily="18" charset="0"/>
                <a:sym typeface="Wingdings" panose="05000000000000000000" pitchFamily="2" charset="2"/>
              </a:rPr>
              <a:t>, then </a:t>
            </a:r>
            <a:r>
              <a:rPr lang="en-US" sz="2000" b="1" spc="-1" dirty="0">
                <a:solidFill>
                  <a:srgbClr val="000000"/>
                </a:solidFill>
                <a:ea typeface="Calibri"/>
                <a:cs typeface="Times New Roman" panose="02020603050405020304" pitchFamily="18" charset="0"/>
                <a:sym typeface="Wingdings" panose="05000000000000000000" pitchFamily="2" charset="2"/>
              </a:rPr>
              <a:t>Finish </a:t>
            </a:r>
            <a:r>
              <a:rPr lang="en-US" sz="2000" spc="-1" dirty="0">
                <a:solidFill>
                  <a:srgbClr val="000000"/>
                </a:solidFill>
                <a:ea typeface="Calibri"/>
                <a:cs typeface="Times New Roman" panose="02020603050405020304" pitchFamily="18" charset="0"/>
                <a:sym typeface="Wingdings" panose="05000000000000000000" pitchFamily="2" charset="2"/>
              </a:rPr>
              <a:t>after the installation is complete.</a:t>
            </a:r>
          </a:p>
          <a:p>
            <a:pPr marL="285750" indent="-285750" algn="just">
              <a:lnSpc>
                <a:spcPct val="120000"/>
              </a:lnSpc>
              <a:spcBef>
                <a:spcPts val="11"/>
              </a:spcBef>
              <a:spcAft>
                <a:spcPts val="11"/>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n-US" sz="2000" b="0" strike="noStrike" spc="-1" dirty="0">
                <a:solidFill>
                  <a:srgbClr val="000000"/>
                </a:solidFill>
                <a:ea typeface="Calibri"/>
                <a:cs typeface="Times New Roman" panose="02020603050405020304" pitchFamily="18" charset="0"/>
                <a:sym typeface="Wingdings" panose="05000000000000000000" pitchFamily="2" charset="2"/>
              </a:rPr>
              <a:t>Open </a:t>
            </a:r>
            <a:r>
              <a:rPr lang="en-US" sz="2000" b="1" strike="noStrike" spc="-1" dirty="0">
                <a:solidFill>
                  <a:srgbClr val="000000"/>
                </a:solidFill>
                <a:ea typeface="Calibri"/>
                <a:cs typeface="Times New Roman" panose="02020603050405020304" pitchFamily="18" charset="0"/>
                <a:sym typeface="Wingdings" panose="05000000000000000000" pitchFamily="2" charset="2"/>
              </a:rPr>
              <a:t>VS Code </a:t>
            </a:r>
            <a:r>
              <a:rPr lang="en-US" sz="2000" strike="noStrike" spc="-1" dirty="0">
                <a:solidFill>
                  <a:srgbClr val="000000"/>
                </a:solidFill>
                <a:ea typeface="Calibri"/>
                <a:cs typeface="Times New Roman" panose="02020603050405020304" pitchFamily="18" charset="0"/>
                <a:sym typeface="Wingdings" panose="05000000000000000000" pitchFamily="2" charset="2"/>
              </a:rPr>
              <a:t>from your </a:t>
            </a:r>
            <a:r>
              <a:rPr lang="en-US" sz="2000" b="1" strike="noStrike" spc="-1" dirty="0">
                <a:solidFill>
                  <a:srgbClr val="000000"/>
                </a:solidFill>
                <a:ea typeface="Calibri"/>
                <a:cs typeface="Times New Roman" panose="02020603050405020304" pitchFamily="18" charset="0"/>
                <a:sym typeface="Wingdings" panose="05000000000000000000" pitchFamily="2" charset="2"/>
              </a:rPr>
              <a:t>desktop </a:t>
            </a:r>
            <a:r>
              <a:rPr lang="en-US" sz="2000" strike="noStrike" spc="-1" dirty="0">
                <a:solidFill>
                  <a:srgbClr val="000000"/>
                </a:solidFill>
                <a:ea typeface="Calibri"/>
                <a:cs typeface="Times New Roman" panose="02020603050405020304" pitchFamily="18" charset="0"/>
                <a:sym typeface="Wingdings" panose="05000000000000000000" pitchFamily="2" charset="2"/>
              </a:rPr>
              <a:t> or </a:t>
            </a:r>
            <a:r>
              <a:rPr lang="en-US" sz="2000" b="1" strike="noStrike" spc="-1" dirty="0">
                <a:solidFill>
                  <a:srgbClr val="000000"/>
                </a:solidFill>
                <a:ea typeface="Calibri"/>
                <a:cs typeface="Times New Roman" panose="02020603050405020304" pitchFamily="18" charset="0"/>
                <a:sym typeface="Wingdings" panose="05000000000000000000" pitchFamily="2" charset="2"/>
              </a:rPr>
              <a:t> application menu </a:t>
            </a:r>
            <a:r>
              <a:rPr lang="en-US" sz="2000" strike="noStrike" spc="-1" dirty="0">
                <a:solidFill>
                  <a:srgbClr val="000000"/>
                </a:solidFill>
                <a:ea typeface="Calibri"/>
                <a:cs typeface="Times New Roman" panose="02020603050405020304" pitchFamily="18" charset="0"/>
                <a:sym typeface="Wingdings" panose="05000000000000000000" pitchFamily="2" charset="2"/>
              </a:rPr>
              <a:t> Click on </a:t>
            </a:r>
            <a:r>
              <a:rPr lang="en-US" sz="2000" b="1" strike="noStrike" spc="-1" dirty="0">
                <a:solidFill>
                  <a:srgbClr val="000000"/>
                </a:solidFill>
                <a:ea typeface="Calibri"/>
                <a:cs typeface="Times New Roman" panose="02020603050405020304" pitchFamily="18" charset="0"/>
                <a:sym typeface="Wingdings" panose="05000000000000000000" pitchFamily="2" charset="2"/>
              </a:rPr>
              <a:t>Extension </a:t>
            </a:r>
            <a:r>
              <a:rPr lang="en-US" sz="2000" strike="noStrike" spc="-1" dirty="0">
                <a:solidFill>
                  <a:srgbClr val="000000"/>
                </a:solidFill>
                <a:ea typeface="Calibri"/>
                <a:cs typeface="Times New Roman" panose="02020603050405020304" pitchFamily="18" charset="0"/>
                <a:sym typeface="Wingdings" panose="05000000000000000000" pitchFamily="2" charset="2"/>
              </a:rPr>
              <a:t>tab and search for </a:t>
            </a:r>
            <a:r>
              <a:rPr lang="en-US" sz="2000" b="1" strike="noStrike" spc="-1" dirty="0">
                <a:solidFill>
                  <a:srgbClr val="000000"/>
                </a:solidFill>
                <a:ea typeface="Calibri"/>
                <a:cs typeface="Times New Roman" panose="02020603050405020304" pitchFamily="18" charset="0"/>
                <a:sym typeface="Wingdings" panose="05000000000000000000" pitchFamily="2" charset="2"/>
              </a:rPr>
              <a:t>Python </a:t>
            </a:r>
            <a:r>
              <a:rPr lang="en-US" sz="2000" strike="noStrike" spc="-1" dirty="0">
                <a:solidFill>
                  <a:srgbClr val="000000"/>
                </a:solidFill>
                <a:ea typeface="Calibri"/>
                <a:cs typeface="Times New Roman" panose="02020603050405020304" pitchFamily="18" charset="0"/>
                <a:sym typeface="Wingdings" panose="05000000000000000000" pitchFamily="2" charset="2"/>
              </a:rPr>
              <a:t>and install the </a:t>
            </a:r>
            <a:r>
              <a:rPr lang="en-US" sz="2000" b="1" strike="noStrike" spc="-1" dirty="0">
                <a:solidFill>
                  <a:srgbClr val="000000"/>
                </a:solidFill>
                <a:ea typeface="Calibri"/>
                <a:cs typeface="Times New Roman" panose="02020603050405020304" pitchFamily="18" charset="0"/>
                <a:sym typeface="Wingdings" panose="05000000000000000000" pitchFamily="2" charset="2"/>
              </a:rPr>
              <a:t>Python Extension</a:t>
            </a:r>
            <a:r>
              <a:rPr lang="en-US" sz="2000" strike="noStrike" spc="-1" dirty="0">
                <a:solidFill>
                  <a:srgbClr val="000000"/>
                </a:solidFill>
                <a:ea typeface="Calibri"/>
                <a:cs typeface="Times New Roman" panose="02020603050405020304" pitchFamily="18" charset="0"/>
                <a:sym typeface="Wingdings" panose="05000000000000000000" pitchFamily="2" charset="2"/>
              </a:rPr>
              <a:t>.</a:t>
            </a:r>
          </a:p>
          <a:p>
            <a:pPr marL="285750" indent="-285750" algn="just">
              <a:lnSpc>
                <a:spcPct val="120000"/>
              </a:lnSpc>
              <a:spcBef>
                <a:spcPts val="11"/>
              </a:spcBef>
              <a:spcAft>
                <a:spcPts val="11"/>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n-US" sz="2000" b="0" spc="-1" dirty="0">
                <a:solidFill>
                  <a:srgbClr val="000000"/>
                </a:solidFill>
                <a:ea typeface="Calibri"/>
                <a:cs typeface="Times New Roman" panose="02020603050405020304" pitchFamily="18" charset="0"/>
                <a:sym typeface="Wingdings" panose="05000000000000000000" pitchFamily="2" charset="2"/>
              </a:rPr>
              <a:t>In the </a:t>
            </a:r>
            <a:r>
              <a:rPr lang="en-US" sz="2000" b="1" spc="-1" dirty="0">
                <a:solidFill>
                  <a:srgbClr val="000000"/>
                </a:solidFill>
                <a:ea typeface="Calibri"/>
                <a:cs typeface="Times New Roman" panose="02020603050405020304" pitchFamily="18" charset="0"/>
                <a:sym typeface="Wingdings" panose="05000000000000000000" pitchFamily="2" charset="2"/>
              </a:rPr>
              <a:t>VS Code </a:t>
            </a:r>
            <a:r>
              <a:rPr lang="en-US" sz="2000" spc="-1" dirty="0">
                <a:solidFill>
                  <a:srgbClr val="000000"/>
                </a:solidFill>
                <a:ea typeface="Calibri"/>
                <a:cs typeface="Times New Roman" panose="02020603050405020304" pitchFamily="18" charset="0"/>
                <a:sym typeface="Wingdings" panose="05000000000000000000" pitchFamily="2" charset="2"/>
              </a:rPr>
              <a:t>go to the search bar and type </a:t>
            </a:r>
            <a:r>
              <a:rPr lang="en-US" sz="2000" b="1" spc="-1" dirty="0">
                <a:solidFill>
                  <a:srgbClr val="000000"/>
                </a:solidFill>
                <a:ea typeface="Calibri"/>
                <a:cs typeface="Times New Roman" panose="02020603050405020304" pitchFamily="18" charset="0"/>
                <a:sym typeface="Wingdings" panose="05000000000000000000" pitchFamily="2" charset="2"/>
              </a:rPr>
              <a:t>“Show and Run Commands” </a:t>
            </a:r>
            <a:r>
              <a:rPr lang="en-US" sz="2000" spc="-1" dirty="0">
                <a:solidFill>
                  <a:srgbClr val="000000"/>
                </a:solidFill>
                <a:ea typeface="Calibri"/>
                <a:cs typeface="Times New Roman" panose="02020603050405020304" pitchFamily="18" charset="0"/>
                <a:sym typeface="Wingdings" panose="05000000000000000000" pitchFamily="2" charset="2"/>
              </a:rPr>
              <a:t>and select it. Choose </a:t>
            </a:r>
            <a:r>
              <a:rPr lang="en-US" sz="2000" b="1" spc="-1" dirty="0">
                <a:solidFill>
                  <a:srgbClr val="000000"/>
                </a:solidFill>
                <a:ea typeface="Calibri"/>
                <a:cs typeface="Times New Roman" panose="02020603050405020304" pitchFamily="18" charset="0"/>
                <a:sym typeface="Wingdings" panose="05000000000000000000" pitchFamily="2" charset="2"/>
              </a:rPr>
              <a:t>“Python: Select Interpreter”</a:t>
            </a:r>
            <a:r>
              <a:rPr lang="en-US" sz="2000" spc="-1" dirty="0">
                <a:solidFill>
                  <a:srgbClr val="000000"/>
                </a:solidFill>
                <a:ea typeface="Calibri"/>
                <a:cs typeface="Times New Roman" panose="02020603050405020304" pitchFamily="18" charset="0"/>
                <a:sym typeface="Wingdings" panose="05000000000000000000" pitchFamily="2" charset="2"/>
              </a:rPr>
              <a:t> and choose the installed </a:t>
            </a:r>
            <a:r>
              <a:rPr lang="en-US" sz="2000" b="1" spc="-1" dirty="0">
                <a:solidFill>
                  <a:srgbClr val="000000"/>
                </a:solidFill>
                <a:ea typeface="Calibri"/>
                <a:cs typeface="Times New Roman" panose="02020603050405020304" pitchFamily="18" charset="0"/>
                <a:sym typeface="Wingdings" panose="05000000000000000000" pitchFamily="2" charset="2"/>
              </a:rPr>
              <a:t>Python version (IDLE interpreter)</a:t>
            </a:r>
            <a:r>
              <a:rPr lang="en-US" sz="2000" spc="-1" dirty="0">
                <a:solidFill>
                  <a:srgbClr val="000000"/>
                </a:solidFill>
                <a:ea typeface="Calibri"/>
                <a:cs typeface="Times New Roman" panose="02020603050405020304" pitchFamily="18" charset="0"/>
                <a:sym typeface="Wingdings" panose="05000000000000000000" pitchFamily="2" charset="2"/>
              </a:rPr>
              <a:t>.</a:t>
            </a:r>
            <a:endParaRPr lang="en-US" sz="2000" b="0" strike="noStrike" spc="-1" dirty="0">
              <a:solidFill>
                <a:srgbClr val="000000"/>
              </a:solidFill>
              <a:cs typeface="Times New Roman" panose="02020603050405020304" pitchFamily="18" charset="0"/>
            </a:endParaRPr>
          </a:p>
        </p:txBody>
      </p:sp>
    </p:spTree>
    <p:extLst>
      <p:ext uri="{BB962C8B-B14F-4D97-AF65-F5344CB8AC3E}">
        <p14:creationId xmlns:p14="http://schemas.microsoft.com/office/powerpoint/2010/main" val="39552027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9AE0D6-1883-9B3D-6320-735390DDED3B}"/>
              </a:ext>
            </a:extLst>
          </p:cNvPr>
          <p:cNvPicPr/>
          <p:nvPr/>
        </p:nvPicPr>
        <p:blipFill>
          <a:blip r:embed="rId2" cstate="print"/>
          <a:stretch/>
        </p:blipFill>
        <p:spPr>
          <a:xfrm>
            <a:off x="11353800" y="13289"/>
            <a:ext cx="688680" cy="689040"/>
          </a:xfrm>
          <a:prstGeom prst="rect">
            <a:avLst/>
          </a:prstGeom>
          <a:ln w="0">
            <a:noFill/>
          </a:ln>
        </p:spPr>
      </p:pic>
      <p:pic>
        <p:nvPicPr>
          <p:cNvPr id="2" name="Picture 2" descr="Project Jupyter - Wikipedia">
            <a:extLst>
              <a:ext uri="{FF2B5EF4-FFF2-40B4-BE49-F238E27FC236}">
                <a16:creationId xmlns:a16="http://schemas.microsoft.com/office/drawing/2014/main" id="{74F92907-54C6-8F2E-8614-0277088F38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2639" y="154199"/>
            <a:ext cx="1465943" cy="109626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62F9819-6BDB-8AFE-53B4-5D73D202A14A}"/>
              </a:ext>
            </a:extLst>
          </p:cNvPr>
          <p:cNvSpPr txBox="1"/>
          <p:nvPr/>
        </p:nvSpPr>
        <p:spPr>
          <a:xfrm>
            <a:off x="196645" y="1661652"/>
            <a:ext cx="11845835" cy="3447098"/>
          </a:xfrm>
          <a:prstGeom prst="rect">
            <a:avLst/>
          </a:prstGeom>
          <a:noFill/>
        </p:spPr>
        <p:txBody>
          <a:bodyPr wrap="square">
            <a:spAutoFit/>
          </a:bodyPr>
          <a:lstStyle/>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n-US" sz="2000" b="1" spc="-1" dirty="0">
                <a:solidFill>
                  <a:srgbClr val="000000"/>
                </a:solidFill>
                <a:ea typeface="Calibri"/>
                <a:cs typeface="Times New Roman" panose="02020603050405020304" pitchFamily="18" charset="0"/>
              </a:rPr>
              <a:t>JUPYTER NOTEBOOK</a:t>
            </a:r>
            <a:r>
              <a:rPr lang="en-US" sz="2000" b="1" strike="noStrike" spc="-1" dirty="0">
                <a:solidFill>
                  <a:srgbClr val="000000"/>
                </a:solidFill>
                <a:ea typeface="Calibri"/>
                <a:cs typeface="Times New Roman" panose="02020603050405020304" pitchFamily="18" charset="0"/>
              </a:rPr>
              <a:t> INSTALLATION:  </a:t>
            </a:r>
            <a:endParaRPr lang="en-US" sz="1800" b="0" strike="noStrike" spc="-1" dirty="0">
              <a:solidFill>
                <a:srgbClr val="000000"/>
              </a:solidFill>
              <a:cs typeface="Times New Roman" panose="02020603050405020304" pitchFamily="18" charset="0"/>
            </a:endParaRPr>
          </a:p>
          <a:p>
            <a:pPr marL="285750" indent="-285750">
              <a:lnSpc>
                <a:spcPct val="100000"/>
              </a:lnSpc>
              <a:spcBef>
                <a:spcPts val="11"/>
              </a:spcBef>
              <a:spcAft>
                <a:spcPts val="11"/>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n-US" sz="1800" b="0" strike="noStrike" spc="-1" dirty="0">
                <a:solidFill>
                  <a:srgbClr val="000000"/>
                </a:solidFill>
                <a:cs typeface="Times New Roman" panose="02020603050405020304" pitchFamily="18" charset="0"/>
              </a:rPr>
              <a:t>Go to the official Anaconda website and download the Anaconda Individual Edition for your operating system.</a:t>
            </a:r>
          </a:p>
          <a:p>
            <a:pPr>
              <a:lnSpc>
                <a:spcPct val="100000"/>
              </a:lnSpc>
              <a:spcBef>
                <a:spcPts val="11"/>
              </a:spcBef>
              <a:spcAft>
                <a:spcPts val="11"/>
              </a:spcAft>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endParaRPr lang="en-US" sz="1800" b="0" strike="noStrike" spc="-1" dirty="0">
              <a:solidFill>
                <a:srgbClr val="000000"/>
              </a:solidFill>
              <a:cs typeface="Times New Roman" panose="02020603050405020304" pitchFamily="18" charset="0"/>
            </a:endParaRPr>
          </a:p>
          <a:p>
            <a:pPr marL="285750" indent="-285750" algn="just">
              <a:lnSpc>
                <a:spcPct val="100000"/>
              </a:lnSpc>
              <a:spcBef>
                <a:spcPts val="11"/>
              </a:spcBef>
              <a:spcAft>
                <a:spcPts val="11"/>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n-US" spc="-1" dirty="0">
                <a:solidFill>
                  <a:srgbClr val="000000"/>
                </a:solidFill>
                <a:cs typeface="Times New Roman" panose="02020603050405020304" pitchFamily="18" charset="0"/>
              </a:rPr>
              <a:t>Run the installer and follow the on-screen instructions. During the installation, make sure to check the option </a:t>
            </a:r>
            <a:r>
              <a:rPr lang="en-US" b="1" spc="-1" dirty="0">
                <a:solidFill>
                  <a:srgbClr val="000000"/>
                </a:solidFill>
                <a:cs typeface="Times New Roman" panose="02020603050405020304" pitchFamily="18" charset="0"/>
              </a:rPr>
              <a:t>“Add Anaconda to my PATH environment variable”</a:t>
            </a:r>
            <a:r>
              <a:rPr lang="en-US" spc="-1" dirty="0">
                <a:solidFill>
                  <a:srgbClr val="000000"/>
                </a:solidFill>
                <a:cs typeface="Times New Roman" panose="02020603050405020304" pitchFamily="18" charset="0"/>
              </a:rPr>
              <a:t>.</a:t>
            </a:r>
          </a:p>
          <a:p>
            <a:pPr algn="just">
              <a:lnSpc>
                <a:spcPct val="100000"/>
              </a:lnSpc>
              <a:spcBef>
                <a:spcPts val="11"/>
              </a:spcBef>
              <a:spcAft>
                <a:spcPts val="11"/>
              </a:spcAft>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endParaRPr lang="en-US" sz="1800" b="0" strike="noStrike" spc="-1" dirty="0">
              <a:solidFill>
                <a:srgbClr val="000000"/>
              </a:solidFill>
              <a:cs typeface="Times New Roman" panose="02020603050405020304" pitchFamily="18" charset="0"/>
            </a:endParaRPr>
          </a:p>
          <a:p>
            <a:pPr marL="285750" indent="-285750" algn="just">
              <a:lnSpc>
                <a:spcPct val="100000"/>
              </a:lnSpc>
              <a:spcBef>
                <a:spcPts val="11"/>
              </a:spcBef>
              <a:spcAft>
                <a:spcPts val="11"/>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n-US" spc="-1" dirty="0">
                <a:solidFill>
                  <a:srgbClr val="000000"/>
                </a:solidFill>
                <a:cs typeface="Times New Roman" panose="02020603050405020304" pitchFamily="18" charset="0"/>
              </a:rPr>
              <a:t>After installation is complete, open the Anaconda Navigator application. In the home tab you should see Jupyter Notebook as an available option. Click the </a:t>
            </a:r>
            <a:r>
              <a:rPr lang="en-US" b="1" spc="-1" dirty="0">
                <a:solidFill>
                  <a:srgbClr val="000000"/>
                </a:solidFill>
                <a:cs typeface="Times New Roman" panose="02020603050405020304" pitchFamily="18" charset="0"/>
              </a:rPr>
              <a:t>Launch</a:t>
            </a:r>
            <a:r>
              <a:rPr lang="en-US" spc="-1" dirty="0">
                <a:solidFill>
                  <a:srgbClr val="000000"/>
                </a:solidFill>
                <a:cs typeface="Times New Roman" panose="02020603050405020304" pitchFamily="18" charset="0"/>
              </a:rPr>
              <a:t> button next to it. This will open Jupyter Notebook in your default web browser.</a:t>
            </a:r>
          </a:p>
          <a:p>
            <a:pPr algn="just">
              <a:lnSpc>
                <a:spcPct val="100000"/>
              </a:lnSpc>
              <a:spcBef>
                <a:spcPts val="11"/>
              </a:spcBef>
              <a:spcAft>
                <a:spcPts val="11"/>
              </a:spcAft>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endParaRPr lang="en-US" sz="1800" b="0" strike="noStrike" spc="-1" dirty="0">
              <a:solidFill>
                <a:srgbClr val="000000"/>
              </a:solidFill>
              <a:cs typeface="Times New Roman" panose="02020603050405020304" pitchFamily="18" charset="0"/>
            </a:endParaRPr>
          </a:p>
          <a:p>
            <a:pPr marL="285750" indent="-285750" algn="just">
              <a:lnSpc>
                <a:spcPct val="100000"/>
              </a:lnSpc>
              <a:spcBef>
                <a:spcPts val="11"/>
              </a:spcBef>
              <a:spcAft>
                <a:spcPts val="11"/>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n-US" spc="-1" dirty="0">
                <a:solidFill>
                  <a:srgbClr val="000000"/>
                </a:solidFill>
                <a:cs typeface="Times New Roman" panose="02020603050405020304" pitchFamily="18" charset="0"/>
              </a:rPr>
              <a:t>Once Jupyter Notebook opens in your browser, click on the </a:t>
            </a:r>
            <a:r>
              <a:rPr lang="en-US" b="1" spc="-1" dirty="0">
                <a:solidFill>
                  <a:srgbClr val="000000"/>
                </a:solidFill>
                <a:cs typeface="Times New Roman" panose="02020603050405020304" pitchFamily="18" charset="0"/>
              </a:rPr>
              <a:t>New </a:t>
            </a:r>
            <a:r>
              <a:rPr lang="en-US" spc="-1" dirty="0">
                <a:solidFill>
                  <a:srgbClr val="000000"/>
                </a:solidFill>
                <a:cs typeface="Times New Roman" panose="02020603050405020304" pitchFamily="18" charset="0"/>
              </a:rPr>
              <a:t>button (top-right corner), then select </a:t>
            </a:r>
            <a:r>
              <a:rPr lang="en-US" b="1" spc="-1" dirty="0">
                <a:solidFill>
                  <a:srgbClr val="000000"/>
                </a:solidFill>
                <a:cs typeface="Times New Roman" panose="02020603050405020304" pitchFamily="18" charset="0"/>
              </a:rPr>
              <a:t>Python 3</a:t>
            </a:r>
            <a:r>
              <a:rPr lang="en-US" spc="-1" dirty="0">
                <a:solidFill>
                  <a:srgbClr val="000000"/>
                </a:solidFill>
                <a:cs typeface="Times New Roman" panose="02020603050405020304" pitchFamily="18" charset="0"/>
              </a:rPr>
              <a:t> (or another kernel if you have installed different versions). You can now begin writing and running Python code in the notebook cells.</a:t>
            </a:r>
            <a:endParaRPr lang="en-US" sz="1800" b="0" strike="noStrike" spc="-1" dirty="0">
              <a:solidFill>
                <a:srgbClr val="000000"/>
              </a:solidFill>
              <a:cs typeface="Times New Roman" panose="02020603050405020304" pitchFamily="18" charset="0"/>
            </a:endParaRPr>
          </a:p>
        </p:txBody>
      </p:sp>
    </p:spTree>
    <p:extLst>
      <p:ext uri="{BB962C8B-B14F-4D97-AF65-F5344CB8AC3E}">
        <p14:creationId xmlns:p14="http://schemas.microsoft.com/office/powerpoint/2010/main" val="2411591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Welcome To Colab - Colab">
            <a:extLst>
              <a:ext uri="{FF2B5EF4-FFF2-40B4-BE49-F238E27FC236}">
                <a16:creationId xmlns:a16="http://schemas.microsoft.com/office/drawing/2014/main" id="{19978D45-541E-9E2F-38D5-04B8A291D6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4000" y="13289"/>
            <a:ext cx="1191715" cy="11658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3C2D773F-81E5-7CB2-250D-6EB10A2AB0DB}"/>
              </a:ext>
            </a:extLst>
          </p:cNvPr>
          <p:cNvPicPr/>
          <p:nvPr/>
        </p:nvPicPr>
        <p:blipFill>
          <a:blip r:embed="rId3" cstate="print"/>
          <a:stretch/>
        </p:blipFill>
        <p:spPr>
          <a:xfrm>
            <a:off x="11353800" y="13289"/>
            <a:ext cx="688680" cy="689040"/>
          </a:xfrm>
          <a:prstGeom prst="rect">
            <a:avLst/>
          </a:prstGeom>
          <a:ln w="0">
            <a:noFill/>
          </a:ln>
        </p:spPr>
      </p:pic>
      <p:sp>
        <p:nvSpPr>
          <p:cNvPr id="5" name="TextBox 4">
            <a:extLst>
              <a:ext uri="{FF2B5EF4-FFF2-40B4-BE49-F238E27FC236}">
                <a16:creationId xmlns:a16="http://schemas.microsoft.com/office/drawing/2014/main" id="{85B8C54E-258F-E98B-91DC-6B92679942E7}"/>
              </a:ext>
            </a:extLst>
          </p:cNvPr>
          <p:cNvSpPr txBox="1"/>
          <p:nvPr/>
        </p:nvSpPr>
        <p:spPr>
          <a:xfrm>
            <a:off x="698090" y="1317523"/>
            <a:ext cx="10889852" cy="4093428"/>
          </a:xfrm>
          <a:prstGeom prst="rect">
            <a:avLst/>
          </a:prstGeom>
          <a:noFill/>
        </p:spPr>
        <p:txBody>
          <a:bodyPr wrap="square">
            <a:spAutoFit/>
          </a:bodyPr>
          <a:lstStyle/>
          <a:p>
            <a:pPr marL="0" indent="0">
              <a:buNone/>
            </a:pPr>
            <a:r>
              <a:rPr lang="en-US" sz="2000" b="1" dirty="0"/>
              <a:t>GOOGLE COLAB </a:t>
            </a:r>
          </a:p>
          <a:p>
            <a:r>
              <a:rPr lang="en-US" sz="2000" dirty="0"/>
              <a:t>Google Colab is a </a:t>
            </a:r>
            <a:r>
              <a:rPr lang="en-US" sz="2000" b="1" dirty="0"/>
              <a:t>cloud-based Jupyter Notebook environment</a:t>
            </a:r>
            <a:r>
              <a:rPr lang="en-US" sz="2000" dirty="0"/>
              <a:t> provided by Google that allows users to write and execute Python code directly in a web browser without needing any setup. It is widely used for machine learning, deep learning, data analysis, and Python programming.</a:t>
            </a:r>
          </a:p>
          <a:p>
            <a:endParaRPr lang="en-US" sz="2000" b="1" dirty="0"/>
          </a:p>
          <a:p>
            <a:r>
              <a:rPr lang="en-US" sz="2000" b="1" dirty="0"/>
              <a:t>GOOGLE COLAB INSTALLATION</a:t>
            </a:r>
          </a:p>
          <a:p>
            <a:pPr marL="0" indent="0">
              <a:buNone/>
            </a:pPr>
            <a:endParaRPr lang="en-US" sz="2000" b="1" dirty="0"/>
          </a:p>
          <a:p>
            <a:pPr marL="285750" indent="-285750">
              <a:buFont typeface="Arial" panose="020B0604020202020204" pitchFamily="34" charset="0"/>
              <a:buChar char="•"/>
            </a:pPr>
            <a:r>
              <a:rPr lang="en-US" sz="2000" dirty="0"/>
              <a:t>Go to Google Colab website (</a:t>
            </a:r>
            <a:r>
              <a:rPr lang="en-US" sz="2000" dirty="0">
                <a:hlinkClick r:id="rId4"/>
              </a:rPr>
              <a:t>https://colab.research.google.com</a:t>
            </a:r>
            <a:r>
              <a:rPr lang="en-US" sz="2000" dirty="0"/>
              <a:t>)</a:t>
            </a:r>
          </a:p>
          <a:p>
            <a:pPr marL="285750" indent="-285750">
              <a:buFont typeface="Arial" panose="020B0604020202020204" pitchFamily="34" charset="0"/>
              <a:buChar char="•"/>
            </a:pPr>
            <a:r>
              <a:rPr lang="en-US" sz="2000" dirty="0"/>
              <a:t>Sign in with your Google account if prompted.</a:t>
            </a:r>
          </a:p>
          <a:p>
            <a:pPr marL="285750" indent="-285750">
              <a:buFont typeface="Arial" panose="020B0604020202020204" pitchFamily="34" charset="0"/>
              <a:buChar char="•"/>
            </a:pPr>
            <a:r>
              <a:rPr lang="en-US" sz="2000" dirty="0"/>
              <a:t>Click on </a:t>
            </a:r>
            <a:r>
              <a:rPr lang="en-US" sz="2000" b="1" dirty="0"/>
              <a:t>“File” </a:t>
            </a:r>
            <a:r>
              <a:rPr lang="en-US" sz="2000" dirty="0">
                <a:sym typeface="Wingdings" panose="05000000000000000000" pitchFamily="2" charset="2"/>
              </a:rPr>
              <a:t> </a:t>
            </a:r>
            <a:r>
              <a:rPr lang="en-US" sz="2000" b="1" dirty="0">
                <a:sym typeface="Wingdings" panose="05000000000000000000" pitchFamily="2" charset="2"/>
              </a:rPr>
              <a:t>“New Notebook”</a:t>
            </a:r>
            <a:r>
              <a:rPr lang="en-US" sz="2000" dirty="0">
                <a:sym typeface="Wingdings" panose="05000000000000000000" pitchFamily="2" charset="2"/>
              </a:rPr>
              <a:t> to create a new Python notebook. A new Colab notebook (.ipynb) will open with a code cell.</a:t>
            </a:r>
          </a:p>
          <a:p>
            <a:pPr marL="285750" indent="-285750">
              <a:buFont typeface="Arial" panose="020B0604020202020204" pitchFamily="34" charset="0"/>
              <a:buChar char="•"/>
            </a:pPr>
            <a:r>
              <a:rPr lang="en-US" sz="2000" dirty="0">
                <a:sym typeface="Wingdings" panose="05000000000000000000" pitchFamily="2" charset="2"/>
              </a:rPr>
              <a:t>Click on </a:t>
            </a:r>
            <a:r>
              <a:rPr lang="en-US" sz="2000" b="1" dirty="0">
                <a:sym typeface="Wingdings" panose="05000000000000000000" pitchFamily="2" charset="2"/>
              </a:rPr>
              <a:t>“Untitled” </a:t>
            </a:r>
            <a:r>
              <a:rPr lang="en-US" sz="2000" dirty="0">
                <a:sym typeface="Wingdings" panose="05000000000000000000" pitchFamily="2" charset="2"/>
              </a:rPr>
              <a:t>at the top-left and rename your notebook.</a:t>
            </a:r>
          </a:p>
          <a:p>
            <a:pPr marL="285750" indent="-285750">
              <a:buFont typeface="Arial" panose="020B0604020202020204" pitchFamily="34" charset="0"/>
              <a:buChar char="•"/>
            </a:pPr>
            <a:r>
              <a:rPr lang="en-US" sz="2000" dirty="0">
                <a:sym typeface="Wingdings" panose="05000000000000000000" pitchFamily="2" charset="2"/>
              </a:rPr>
              <a:t>Click inside a code cell and type your Python code.</a:t>
            </a:r>
            <a:endParaRPr lang="en-US" sz="2000" dirty="0"/>
          </a:p>
        </p:txBody>
      </p:sp>
    </p:spTree>
    <p:extLst>
      <p:ext uri="{BB962C8B-B14F-4D97-AF65-F5344CB8AC3E}">
        <p14:creationId xmlns:p14="http://schemas.microsoft.com/office/powerpoint/2010/main" val="837503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612260-C084-2C39-4112-B26A779C0F9A}"/>
              </a:ext>
            </a:extLst>
          </p:cNvPr>
          <p:cNvPicPr/>
          <p:nvPr/>
        </p:nvPicPr>
        <p:blipFill>
          <a:blip r:embed="rId2" cstate="print"/>
          <a:stretch/>
        </p:blipFill>
        <p:spPr>
          <a:xfrm>
            <a:off x="11353800" y="13289"/>
            <a:ext cx="688680" cy="689040"/>
          </a:xfrm>
          <a:prstGeom prst="rect">
            <a:avLst/>
          </a:prstGeom>
          <a:ln w="0">
            <a:noFill/>
          </a:ln>
        </p:spPr>
      </p:pic>
      <p:pic>
        <p:nvPicPr>
          <p:cNvPr id="5" name="Picture 2" descr="Python Tool Review: Using PyCharm for ...">
            <a:extLst>
              <a:ext uri="{FF2B5EF4-FFF2-40B4-BE49-F238E27FC236}">
                <a16:creationId xmlns:a16="http://schemas.microsoft.com/office/drawing/2014/main" id="{33D56573-433B-B52A-E35C-6811D8FF01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9565" y="357809"/>
            <a:ext cx="1080000" cy="1080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253CDCB-13E8-CDFA-F4D5-378D0DD1F1ED}"/>
              </a:ext>
            </a:extLst>
          </p:cNvPr>
          <p:cNvSpPr txBox="1"/>
          <p:nvPr/>
        </p:nvSpPr>
        <p:spPr>
          <a:xfrm>
            <a:off x="631767" y="1629295"/>
            <a:ext cx="10889673" cy="3785652"/>
          </a:xfrm>
          <a:prstGeom prst="rect">
            <a:avLst/>
          </a:prstGeom>
          <a:noFill/>
        </p:spPr>
        <p:txBody>
          <a:bodyPr wrap="square" rtlCol="0">
            <a:spAutoFit/>
          </a:bodyPr>
          <a:lstStyle/>
          <a:p>
            <a:r>
              <a:rPr lang="en-IN" sz="2000" b="1" dirty="0"/>
              <a:t>PYCHARM</a:t>
            </a:r>
          </a:p>
          <a:p>
            <a:r>
              <a:rPr lang="en-US" sz="2000" dirty="0"/>
              <a:t>PyCharm is a popular </a:t>
            </a:r>
            <a:r>
              <a:rPr lang="en-US" sz="2000" b="1" dirty="0"/>
              <a:t>Integrated Development Environment (IDE)</a:t>
            </a:r>
            <a:r>
              <a:rPr lang="en-US" sz="2000" dirty="0"/>
              <a:t> for Python, developed by JetBrains.</a:t>
            </a:r>
            <a:endParaRPr lang="en-IN" sz="2000" dirty="0"/>
          </a:p>
          <a:p>
            <a:endParaRPr lang="en-IN" sz="2000" dirty="0"/>
          </a:p>
          <a:p>
            <a:r>
              <a:rPr lang="en-IN" sz="2000" b="1" dirty="0"/>
              <a:t>PYCHARM INSTALLATION</a:t>
            </a:r>
          </a:p>
          <a:p>
            <a:pPr marL="342900" indent="-342900">
              <a:buFont typeface="Arial" panose="020B0604020202020204" pitchFamily="34" charset="0"/>
              <a:buChar char="•"/>
            </a:pPr>
            <a:r>
              <a:rPr lang="en-IN" sz="2000" dirty="0"/>
              <a:t>Go to the official website (</a:t>
            </a:r>
            <a:r>
              <a:rPr lang="en-IN" sz="2000" dirty="0">
                <a:hlinkClick r:id="rId4"/>
              </a:rPr>
              <a:t>https://www.jetbrains.com/pycharm</a:t>
            </a:r>
            <a:r>
              <a:rPr lang="en-IN" sz="2000" dirty="0"/>
              <a:t>)</a:t>
            </a:r>
          </a:p>
          <a:p>
            <a:pPr marL="342900" indent="-342900">
              <a:buFont typeface="Arial" panose="020B0604020202020204" pitchFamily="34" charset="0"/>
              <a:buChar char="•"/>
            </a:pPr>
            <a:r>
              <a:rPr lang="en-IN" sz="2000" dirty="0"/>
              <a:t>Choose your OS: Windows, macOS, or Linux</a:t>
            </a:r>
          </a:p>
          <a:p>
            <a:pPr marL="342900" indent="-342900">
              <a:buFont typeface="Arial" panose="020B0604020202020204" pitchFamily="34" charset="0"/>
              <a:buChar char="•"/>
            </a:pPr>
            <a:r>
              <a:rPr lang="en-IN" sz="2000" dirty="0"/>
              <a:t>Download the </a:t>
            </a:r>
            <a:r>
              <a:rPr lang="en-IN" sz="2000" b="1" dirty="0"/>
              <a:t>Community Edition </a:t>
            </a:r>
            <a:r>
              <a:rPr lang="en-IN" sz="2000" dirty="0"/>
              <a:t>(free) or </a:t>
            </a:r>
            <a:r>
              <a:rPr lang="en-IN" sz="2000" b="1" dirty="0"/>
              <a:t>Professional Edition </a:t>
            </a:r>
            <a:r>
              <a:rPr lang="en-IN" sz="2000" dirty="0"/>
              <a:t>(paid).</a:t>
            </a:r>
          </a:p>
          <a:p>
            <a:pPr marL="342900" indent="-342900">
              <a:buFont typeface="Arial" panose="020B0604020202020204" pitchFamily="34" charset="0"/>
              <a:buChar char="•"/>
            </a:pPr>
            <a:r>
              <a:rPr lang="en-IN" sz="2000" dirty="0"/>
              <a:t>Run the downloaded </a:t>
            </a:r>
            <a:r>
              <a:rPr lang="en-IN" sz="2000" b="1" dirty="0"/>
              <a:t>.exe </a:t>
            </a:r>
            <a:r>
              <a:rPr lang="en-IN" sz="2000" dirty="0"/>
              <a:t>file. </a:t>
            </a:r>
          </a:p>
          <a:p>
            <a:pPr marL="342900" indent="-342900">
              <a:buFont typeface="Arial" panose="020B0604020202020204" pitchFamily="34" charset="0"/>
              <a:buChar char="•"/>
            </a:pPr>
            <a:r>
              <a:rPr lang="en-IN" sz="2000" dirty="0"/>
              <a:t>Click </a:t>
            </a:r>
            <a:r>
              <a:rPr lang="en-IN" sz="2000" b="1" dirty="0"/>
              <a:t>Next </a:t>
            </a:r>
            <a:r>
              <a:rPr lang="en-IN" sz="2000" dirty="0"/>
              <a:t>and choose the installation path.</a:t>
            </a:r>
          </a:p>
          <a:p>
            <a:pPr marL="342900" indent="-342900">
              <a:buFont typeface="Arial" panose="020B0604020202020204" pitchFamily="34" charset="0"/>
              <a:buChar char="•"/>
            </a:pPr>
            <a:r>
              <a:rPr lang="en-IN" sz="2000" dirty="0"/>
              <a:t>Select options: </a:t>
            </a:r>
            <a:r>
              <a:rPr lang="en-IN" sz="2000" b="1" dirty="0"/>
              <a:t>“Add PyCharm to PATH” </a:t>
            </a:r>
            <a:r>
              <a:rPr lang="en-IN" sz="2000" dirty="0"/>
              <a:t>and </a:t>
            </a:r>
            <a:r>
              <a:rPr lang="en-IN" sz="2000" b="1" dirty="0"/>
              <a:t>“Associate .py files with PyCharm”</a:t>
            </a:r>
            <a:r>
              <a:rPr lang="en-IN" sz="2000" dirty="0"/>
              <a:t>.</a:t>
            </a:r>
          </a:p>
          <a:p>
            <a:pPr marL="342900" indent="-342900">
              <a:buFont typeface="Arial" panose="020B0604020202020204" pitchFamily="34" charset="0"/>
              <a:buChar char="•"/>
            </a:pPr>
            <a:r>
              <a:rPr lang="en-IN" sz="2000" dirty="0"/>
              <a:t>Click </a:t>
            </a:r>
            <a:r>
              <a:rPr lang="en-IN" sz="2000" b="1" dirty="0"/>
              <a:t>Install</a:t>
            </a:r>
            <a:r>
              <a:rPr lang="en-IN" sz="2000" dirty="0"/>
              <a:t>, then </a:t>
            </a:r>
            <a:r>
              <a:rPr lang="en-IN" sz="2000" b="1" dirty="0"/>
              <a:t>Finish</a:t>
            </a:r>
            <a:r>
              <a:rPr lang="en-IN" sz="2000" dirty="0"/>
              <a:t> after completion.</a:t>
            </a:r>
          </a:p>
          <a:p>
            <a:pPr marL="342900" indent="-342900">
              <a:buFont typeface="Arial" panose="020B0604020202020204" pitchFamily="34" charset="0"/>
              <a:buChar char="•"/>
            </a:pPr>
            <a:r>
              <a:rPr lang="en-IN" sz="2000" dirty="0"/>
              <a:t>Launch PyCharm and go to </a:t>
            </a:r>
            <a:r>
              <a:rPr lang="en-IN" sz="2000" b="1" dirty="0"/>
              <a:t>File </a:t>
            </a:r>
            <a:r>
              <a:rPr lang="en-IN" sz="2000" dirty="0">
                <a:sym typeface="Wingdings" panose="05000000000000000000" pitchFamily="2" charset="2"/>
              </a:rPr>
              <a:t> </a:t>
            </a:r>
            <a:r>
              <a:rPr lang="en-IN" sz="2000" b="1" dirty="0">
                <a:sym typeface="Wingdings" panose="05000000000000000000" pitchFamily="2" charset="2"/>
              </a:rPr>
              <a:t>Settings </a:t>
            </a:r>
            <a:r>
              <a:rPr lang="en-IN" sz="2000" dirty="0">
                <a:sym typeface="Wingdings" panose="05000000000000000000" pitchFamily="2" charset="2"/>
              </a:rPr>
              <a:t> </a:t>
            </a:r>
            <a:r>
              <a:rPr lang="en-IN" sz="2000" b="1" dirty="0">
                <a:sym typeface="Wingdings" panose="05000000000000000000" pitchFamily="2" charset="2"/>
              </a:rPr>
              <a:t>Project Interpreter </a:t>
            </a:r>
            <a:r>
              <a:rPr lang="en-IN" sz="2000" dirty="0">
                <a:sym typeface="Wingdings" panose="05000000000000000000" pitchFamily="2" charset="2"/>
              </a:rPr>
              <a:t>and select </a:t>
            </a:r>
            <a:r>
              <a:rPr lang="en-IN" sz="2000" b="1" dirty="0">
                <a:sym typeface="Wingdings" panose="05000000000000000000" pitchFamily="2" charset="2"/>
              </a:rPr>
              <a:t>Python Interpreter</a:t>
            </a:r>
            <a:r>
              <a:rPr lang="en-IN" sz="2000" dirty="0">
                <a:sym typeface="Wingdings" panose="05000000000000000000" pitchFamily="2" charset="2"/>
              </a:rPr>
              <a:t>.</a:t>
            </a:r>
            <a:endParaRPr lang="en-IN" sz="2000" dirty="0"/>
          </a:p>
        </p:txBody>
      </p:sp>
    </p:spTree>
    <p:extLst>
      <p:ext uri="{BB962C8B-B14F-4D97-AF65-F5344CB8AC3E}">
        <p14:creationId xmlns:p14="http://schemas.microsoft.com/office/powerpoint/2010/main" val="7893634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E33CD70-AE52-CF36-0C1C-ECF5FB99E4E3}"/>
              </a:ext>
            </a:extLst>
          </p:cNvPr>
          <p:cNvSpPr txBox="1"/>
          <p:nvPr/>
        </p:nvSpPr>
        <p:spPr>
          <a:xfrm>
            <a:off x="1248697" y="701458"/>
            <a:ext cx="10078738" cy="769441"/>
          </a:xfrm>
          <a:prstGeom prst="rect">
            <a:avLst/>
          </a:prstGeom>
          <a:noFill/>
        </p:spPr>
        <p:txBody>
          <a:bodyPr wrap="square" rtlCol="0">
            <a:spAutoFit/>
          </a:bodyPr>
          <a:lstStyle/>
          <a:p>
            <a:pPr algn="ctr"/>
            <a:r>
              <a:rPr lang="en-US" sz="4400" b="1" i="1" dirty="0">
                <a:solidFill>
                  <a:srgbClr val="FF0000"/>
                </a:solidFill>
                <a:effectLst>
                  <a:outerShdw blurRad="38100" dist="38100" dir="2700000" algn="tl">
                    <a:srgbClr val="000000">
                      <a:alpha val="43137"/>
                    </a:srgbClr>
                  </a:outerShdw>
                </a:effectLst>
              </a:rPr>
              <a:t>Getting started with Python Programming</a:t>
            </a:r>
            <a:endParaRPr lang="en-IN" sz="4400" b="1" i="1" dirty="0">
              <a:solidFill>
                <a:srgbClr val="FF0000"/>
              </a:solidFill>
              <a:effectLst>
                <a:outerShdw blurRad="38100" dist="38100" dir="2700000" algn="tl">
                  <a:srgbClr val="000000">
                    <a:alpha val="43137"/>
                  </a:srgbClr>
                </a:outerShdw>
              </a:effectLst>
            </a:endParaRPr>
          </a:p>
        </p:txBody>
      </p:sp>
      <p:sp>
        <p:nvSpPr>
          <p:cNvPr id="3" name="TextBox 2">
            <a:extLst>
              <a:ext uri="{FF2B5EF4-FFF2-40B4-BE49-F238E27FC236}">
                <a16:creationId xmlns:a16="http://schemas.microsoft.com/office/drawing/2014/main" id="{B04F923D-7E84-BF0F-D683-18E1DDD7E814}"/>
              </a:ext>
            </a:extLst>
          </p:cNvPr>
          <p:cNvSpPr txBox="1"/>
          <p:nvPr/>
        </p:nvSpPr>
        <p:spPr>
          <a:xfrm>
            <a:off x="1091380" y="2094271"/>
            <a:ext cx="9918997" cy="923330"/>
          </a:xfrm>
          <a:prstGeom prst="rect">
            <a:avLst/>
          </a:prstGeom>
          <a:noFill/>
        </p:spPr>
        <p:txBody>
          <a:bodyPr wrap="square" rtlCol="0">
            <a:spAutoFit/>
          </a:bodyPr>
          <a:lstStyle/>
          <a:p>
            <a:r>
              <a:rPr lang="en-US" b="1" dirty="0"/>
              <a:t>Print Hello World:</a:t>
            </a:r>
          </a:p>
          <a:p>
            <a:endParaRPr lang="en-US" b="1" dirty="0"/>
          </a:p>
          <a:p>
            <a:pPr marL="285750" indent="-285750">
              <a:buFont typeface="Arial" panose="020B0604020202020204" pitchFamily="34" charset="0"/>
              <a:buChar char="•"/>
            </a:pPr>
            <a:r>
              <a:rPr lang="en-US" dirty="0"/>
              <a:t>Python single line codes can be executed directly on the command line.</a:t>
            </a:r>
            <a:endParaRPr lang="en-IN" dirty="0"/>
          </a:p>
        </p:txBody>
      </p:sp>
      <p:pic>
        <p:nvPicPr>
          <p:cNvPr id="5" name="Picture 4">
            <a:extLst>
              <a:ext uri="{FF2B5EF4-FFF2-40B4-BE49-F238E27FC236}">
                <a16:creationId xmlns:a16="http://schemas.microsoft.com/office/drawing/2014/main" id="{0F043FFA-8C90-A005-6329-989BC2CEE602}"/>
              </a:ext>
            </a:extLst>
          </p:cNvPr>
          <p:cNvPicPr>
            <a:picLocks noChangeAspect="1"/>
          </p:cNvPicPr>
          <p:nvPr/>
        </p:nvPicPr>
        <p:blipFill>
          <a:blip r:embed="rId2"/>
          <a:srcRect l="1514"/>
          <a:stretch/>
        </p:blipFill>
        <p:spPr>
          <a:xfrm>
            <a:off x="1479104" y="3090890"/>
            <a:ext cx="4641476" cy="749510"/>
          </a:xfrm>
          <a:prstGeom prst="rect">
            <a:avLst/>
          </a:prstGeom>
        </p:spPr>
      </p:pic>
      <p:sp>
        <p:nvSpPr>
          <p:cNvPr id="6" name="TextBox 5">
            <a:extLst>
              <a:ext uri="{FF2B5EF4-FFF2-40B4-BE49-F238E27FC236}">
                <a16:creationId xmlns:a16="http://schemas.microsoft.com/office/drawing/2014/main" id="{CC4ED4B8-7774-DD7A-DD2F-AC20C7B24EA2}"/>
              </a:ext>
            </a:extLst>
          </p:cNvPr>
          <p:cNvSpPr txBox="1"/>
          <p:nvPr/>
        </p:nvSpPr>
        <p:spPr>
          <a:xfrm>
            <a:off x="1091381" y="4036203"/>
            <a:ext cx="10708138" cy="646331"/>
          </a:xfrm>
          <a:prstGeom prst="rect">
            <a:avLst/>
          </a:prstGeom>
          <a:noFill/>
        </p:spPr>
        <p:txBody>
          <a:bodyPr wrap="square" rtlCol="0">
            <a:spAutoFit/>
          </a:bodyPr>
          <a:lstStyle/>
          <a:p>
            <a:pPr marL="285750" indent="-285750">
              <a:buFont typeface="Arial" panose="020B0604020202020204" pitchFamily="34" charset="0"/>
              <a:buChar char="•"/>
            </a:pPr>
            <a:r>
              <a:rPr lang="en-US" dirty="0"/>
              <a:t>To execute multiple line codes, open a text editor(Python IDLE, VS Code, PyCharm, etc.) and write your Python Code. Save the file with a </a:t>
            </a:r>
            <a:r>
              <a:rPr lang="en-US" b="1" dirty="0"/>
              <a:t>.py </a:t>
            </a:r>
            <a:r>
              <a:rPr lang="en-US" dirty="0"/>
              <a:t>extension.</a:t>
            </a:r>
            <a:endParaRPr lang="en-IN" dirty="0"/>
          </a:p>
        </p:txBody>
      </p:sp>
      <p:pic>
        <p:nvPicPr>
          <p:cNvPr id="7" name="Picture 6">
            <a:extLst>
              <a:ext uri="{FF2B5EF4-FFF2-40B4-BE49-F238E27FC236}">
                <a16:creationId xmlns:a16="http://schemas.microsoft.com/office/drawing/2014/main" id="{00FC21DF-2245-8D2A-8311-FDE98268816C}"/>
              </a:ext>
            </a:extLst>
          </p:cNvPr>
          <p:cNvPicPr/>
          <p:nvPr/>
        </p:nvPicPr>
        <p:blipFill>
          <a:blip r:embed="rId3" cstate="print"/>
          <a:stretch/>
        </p:blipFill>
        <p:spPr>
          <a:xfrm>
            <a:off x="11353800" y="13289"/>
            <a:ext cx="688680" cy="689040"/>
          </a:xfrm>
          <a:prstGeom prst="rect">
            <a:avLst/>
          </a:prstGeom>
          <a:ln w="0">
            <a:noFill/>
          </a:ln>
        </p:spPr>
      </p:pic>
    </p:spTree>
    <p:extLst>
      <p:ext uri="{BB962C8B-B14F-4D97-AF65-F5344CB8AC3E}">
        <p14:creationId xmlns:p14="http://schemas.microsoft.com/office/powerpoint/2010/main" val="2063496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721520-A421-B90B-C598-277C6E7A7E65}"/>
              </a:ext>
            </a:extLst>
          </p:cNvPr>
          <p:cNvSpPr txBox="1"/>
          <p:nvPr/>
        </p:nvSpPr>
        <p:spPr>
          <a:xfrm>
            <a:off x="3857104" y="2935419"/>
            <a:ext cx="5519651" cy="769441"/>
          </a:xfrm>
          <a:prstGeom prst="rect">
            <a:avLst/>
          </a:prstGeom>
          <a:noFill/>
        </p:spPr>
        <p:txBody>
          <a:bodyPr wrap="square" rtlCol="0">
            <a:spAutoFit/>
          </a:bodyPr>
          <a:lstStyle/>
          <a:p>
            <a:r>
              <a:rPr lang="en-US" sz="4400" b="1" i="1" dirty="0">
                <a:solidFill>
                  <a:srgbClr val="FF0000"/>
                </a:solidFill>
                <a:effectLst>
                  <a:outerShdw blurRad="38100" dist="38100" dir="2700000" algn="tl">
                    <a:srgbClr val="000000">
                      <a:alpha val="43137"/>
                    </a:srgbClr>
                  </a:outerShdw>
                </a:effectLst>
              </a:rPr>
              <a:t>PYTHON SYNTAX</a:t>
            </a:r>
            <a:endParaRPr lang="en-IN" sz="4400" b="1" i="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6413197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A296632-0E9E-02AF-85CA-7590F9E11945}"/>
              </a:ext>
            </a:extLst>
          </p:cNvPr>
          <p:cNvPicPr/>
          <p:nvPr/>
        </p:nvPicPr>
        <p:blipFill>
          <a:blip r:embed="rId2" cstate="print"/>
          <a:stretch/>
        </p:blipFill>
        <p:spPr>
          <a:xfrm>
            <a:off x="11463406" y="20605"/>
            <a:ext cx="688680" cy="689040"/>
          </a:xfrm>
          <a:prstGeom prst="rect">
            <a:avLst/>
          </a:prstGeom>
          <a:ln w="0">
            <a:noFill/>
          </a:ln>
        </p:spPr>
      </p:pic>
      <p:sp>
        <p:nvSpPr>
          <p:cNvPr id="6" name="TextBox 5">
            <a:extLst>
              <a:ext uri="{FF2B5EF4-FFF2-40B4-BE49-F238E27FC236}">
                <a16:creationId xmlns:a16="http://schemas.microsoft.com/office/drawing/2014/main" id="{FA08503B-061B-503D-EC35-02B30A9CEBC3}"/>
              </a:ext>
            </a:extLst>
          </p:cNvPr>
          <p:cNvSpPr txBox="1"/>
          <p:nvPr/>
        </p:nvSpPr>
        <p:spPr>
          <a:xfrm>
            <a:off x="515389" y="709645"/>
            <a:ext cx="11288684" cy="2923877"/>
          </a:xfrm>
          <a:prstGeom prst="rect">
            <a:avLst/>
          </a:prstGeom>
          <a:noFill/>
        </p:spPr>
        <p:txBody>
          <a:bodyPr wrap="square">
            <a:spAutoFit/>
          </a:bodyPr>
          <a:lstStyle/>
          <a:p>
            <a:pPr marL="0" indent="0">
              <a:buNone/>
            </a:pPr>
            <a:r>
              <a:rPr lang="en-IN" sz="2400" b="1" i="1" u="sng" dirty="0">
                <a:solidFill>
                  <a:srgbClr val="FF0000"/>
                </a:solidFill>
                <a:effectLst>
                  <a:outerShdw blurRad="38100" dist="38100" dir="2700000" algn="tl">
                    <a:srgbClr val="000000">
                      <a:alpha val="43137"/>
                    </a:srgbClr>
                  </a:outerShdw>
                </a:effectLst>
                <a:cs typeface="Times New Roman" panose="02020603050405020304" pitchFamily="18" charset="0"/>
              </a:rPr>
              <a:t>PYTHON INDENTATION</a:t>
            </a:r>
          </a:p>
          <a:p>
            <a:pPr marL="0" indent="0">
              <a:buNone/>
            </a:pPr>
            <a:endParaRPr lang="en-IN" sz="2000" u="sng" dirty="0">
              <a:effectLst>
                <a:outerShdw blurRad="38100" dist="38100" dir="2700000" algn="tl">
                  <a:srgbClr val="000000">
                    <a:alpha val="43137"/>
                  </a:srgbClr>
                </a:outerShdw>
              </a:effectLst>
              <a:cs typeface="Times New Roman" panose="02020603050405020304" pitchFamily="18" charset="0"/>
            </a:endParaRPr>
          </a:p>
          <a:p>
            <a:pPr marL="342900" indent="-342900">
              <a:buFont typeface="Arial" panose="020B0604020202020204" pitchFamily="34" charset="0"/>
              <a:buChar char="•"/>
            </a:pPr>
            <a:r>
              <a:rPr lang="en-US" sz="2000" dirty="0">
                <a:solidFill>
                  <a:srgbClr val="273239"/>
                </a:solidFill>
              </a:rPr>
              <a:t>Python Indentation</a:t>
            </a:r>
            <a:r>
              <a:rPr lang="en-US" sz="2000" b="0" i="0" dirty="0">
                <a:solidFill>
                  <a:srgbClr val="273239"/>
                </a:solidFill>
                <a:effectLst/>
              </a:rPr>
              <a:t> refers to the use of whitespace (spaces or tabs) at the beginning of code line. </a:t>
            </a:r>
          </a:p>
          <a:p>
            <a:pPr marL="342900" indent="-342900">
              <a:buFont typeface="Arial" panose="020B0604020202020204" pitchFamily="34" charset="0"/>
              <a:buChar char="•"/>
            </a:pPr>
            <a:r>
              <a:rPr lang="en-US" sz="2000" b="0" i="0" dirty="0">
                <a:solidFill>
                  <a:srgbClr val="273239"/>
                </a:solidFill>
                <a:effectLst/>
              </a:rPr>
              <a:t>It is used to define the code blocks. </a:t>
            </a:r>
          </a:p>
          <a:p>
            <a:pPr marL="342900" indent="-342900">
              <a:buFont typeface="Arial" panose="020B0604020202020204" pitchFamily="34" charset="0"/>
              <a:buChar char="•"/>
            </a:pPr>
            <a:r>
              <a:rPr lang="en-US" sz="2000" b="0" i="0" dirty="0">
                <a:solidFill>
                  <a:srgbClr val="273239"/>
                </a:solidFill>
                <a:effectLst/>
              </a:rPr>
              <a:t>Indentation is crucial in Python because, unlike many other programming languages that use braces "{}" to define blocks, Python uses indentation. </a:t>
            </a:r>
          </a:p>
          <a:p>
            <a:pPr marL="342900" indent="-342900">
              <a:buFont typeface="Arial" panose="020B0604020202020204" pitchFamily="34" charset="0"/>
              <a:buChar char="•"/>
            </a:pPr>
            <a:r>
              <a:rPr lang="en-US" sz="2000" b="0" i="0" dirty="0">
                <a:solidFill>
                  <a:srgbClr val="273239"/>
                </a:solidFill>
                <a:effectLst/>
              </a:rPr>
              <a:t>It improves the readability of Python code, but on other hand it became difficult to rectify indentation errors. </a:t>
            </a:r>
          </a:p>
          <a:p>
            <a:pPr marL="342900" indent="-342900">
              <a:buFont typeface="Arial" panose="020B0604020202020204" pitchFamily="34" charset="0"/>
              <a:buChar char="•"/>
            </a:pPr>
            <a:r>
              <a:rPr lang="en-US" sz="2000" b="0" i="0" dirty="0">
                <a:solidFill>
                  <a:srgbClr val="273239"/>
                </a:solidFill>
                <a:effectLst/>
              </a:rPr>
              <a:t>Even one extra or less space can lead to indentation error.</a:t>
            </a:r>
            <a:endParaRPr lang="en-IN" sz="2000" dirty="0">
              <a:cs typeface="Times New Roman" panose="02020603050405020304" pitchFamily="18" charset="0"/>
            </a:endParaRPr>
          </a:p>
        </p:txBody>
      </p:sp>
      <p:sp>
        <p:nvSpPr>
          <p:cNvPr id="8" name="TextBox 7">
            <a:extLst>
              <a:ext uri="{FF2B5EF4-FFF2-40B4-BE49-F238E27FC236}">
                <a16:creationId xmlns:a16="http://schemas.microsoft.com/office/drawing/2014/main" id="{2B6AC9D4-6413-A000-5794-D3D435CFE1A1}"/>
              </a:ext>
            </a:extLst>
          </p:cNvPr>
          <p:cNvSpPr txBox="1"/>
          <p:nvPr/>
        </p:nvSpPr>
        <p:spPr>
          <a:xfrm>
            <a:off x="515388" y="3773978"/>
            <a:ext cx="9493135" cy="2862322"/>
          </a:xfrm>
          <a:prstGeom prst="rect">
            <a:avLst/>
          </a:prstGeom>
          <a:noFill/>
        </p:spPr>
        <p:txBody>
          <a:bodyPr wrap="square">
            <a:spAutoFit/>
          </a:bodyPr>
          <a:lstStyle/>
          <a:p>
            <a:pPr marL="0" indent="0">
              <a:buNone/>
            </a:pPr>
            <a:r>
              <a:rPr lang="en-IN" sz="2000" b="1" dirty="0">
                <a:cs typeface="Times New Roman" panose="02020603050405020304" pitchFamily="18" charset="0"/>
              </a:rPr>
              <a:t>Example </a:t>
            </a:r>
            <a:r>
              <a:rPr lang="en-IN" sz="2000" dirty="0">
                <a:cs typeface="Times New Roman" panose="02020603050405020304" pitchFamily="18" charset="0"/>
              </a:rPr>
              <a:t> </a:t>
            </a:r>
          </a:p>
          <a:p>
            <a:pPr marL="0" indent="0">
              <a:buNone/>
            </a:pPr>
            <a:r>
              <a:rPr lang="en-US" sz="2000" dirty="0">
                <a:cs typeface="Times New Roman" panose="02020603050405020304" pitchFamily="18" charset="0"/>
              </a:rPr>
              <a:t>if 10 &gt; 5:</a:t>
            </a:r>
          </a:p>
          <a:p>
            <a:pPr marL="0" indent="0">
              <a:buNone/>
            </a:pPr>
            <a:r>
              <a:rPr lang="en-US" sz="2000" dirty="0">
                <a:cs typeface="Times New Roman" panose="02020603050405020304" pitchFamily="18" charset="0"/>
              </a:rPr>
              <a:t>    print("This is true!")</a:t>
            </a:r>
          </a:p>
          <a:p>
            <a:pPr marL="0" indent="0">
              <a:buNone/>
            </a:pPr>
            <a:r>
              <a:rPr lang="en-US" sz="2000" dirty="0">
                <a:cs typeface="Times New Roman" panose="02020603050405020304" pitchFamily="18" charset="0"/>
              </a:rPr>
              <a:t>    print("I am tab indentation")</a:t>
            </a:r>
          </a:p>
          <a:p>
            <a:pPr marL="0" indent="0">
              <a:buNone/>
            </a:pPr>
            <a:r>
              <a:rPr lang="en-US" sz="2000" dirty="0">
                <a:cs typeface="Times New Roman" panose="02020603050405020304" pitchFamily="18" charset="0"/>
              </a:rPr>
              <a:t>print("I have no indentation")</a:t>
            </a:r>
          </a:p>
          <a:p>
            <a:pPr marL="0" indent="0">
              <a:buNone/>
            </a:pPr>
            <a:endParaRPr lang="en-IN" sz="2000" dirty="0">
              <a:cs typeface="Times New Roman" panose="02020603050405020304" pitchFamily="18" charset="0"/>
            </a:endParaRPr>
          </a:p>
          <a:p>
            <a:pPr marL="0" indent="0">
              <a:buNone/>
            </a:pPr>
            <a:r>
              <a:rPr lang="en-IN" sz="2000" dirty="0">
                <a:solidFill>
                  <a:srgbClr val="FF0000"/>
                </a:solidFill>
                <a:cs typeface="Times New Roman" panose="02020603050405020304" pitchFamily="18" charset="0"/>
              </a:rPr>
              <a:t>Syntax Error</a:t>
            </a:r>
          </a:p>
          <a:p>
            <a:pPr marL="0" indent="0">
              <a:buNone/>
            </a:pPr>
            <a:r>
              <a:rPr lang="en-IN" sz="2000" dirty="0">
                <a:cs typeface="Times New Roman" panose="02020603050405020304" pitchFamily="18" charset="0"/>
              </a:rPr>
              <a:t>if 5 &gt; 2:</a:t>
            </a:r>
          </a:p>
          <a:p>
            <a:pPr marL="0" indent="0">
              <a:buNone/>
            </a:pPr>
            <a:r>
              <a:rPr lang="en-IN" sz="2000" dirty="0">
                <a:cs typeface="Times New Roman" panose="02020603050405020304" pitchFamily="18" charset="0"/>
              </a:rPr>
              <a:t>print(“Five is greater than two!”)</a:t>
            </a:r>
          </a:p>
        </p:txBody>
      </p:sp>
    </p:spTree>
    <p:extLst>
      <p:ext uri="{BB962C8B-B14F-4D97-AF65-F5344CB8AC3E}">
        <p14:creationId xmlns:p14="http://schemas.microsoft.com/office/powerpoint/2010/main" val="1398052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9C2E3FA-E808-6B12-885C-7BE1CF8E1F27}"/>
              </a:ext>
            </a:extLst>
          </p:cNvPr>
          <p:cNvSpPr txBox="1"/>
          <p:nvPr/>
        </p:nvSpPr>
        <p:spPr>
          <a:xfrm>
            <a:off x="731520" y="532015"/>
            <a:ext cx="11022676" cy="2616101"/>
          </a:xfrm>
          <a:prstGeom prst="rect">
            <a:avLst/>
          </a:prstGeom>
          <a:noFill/>
        </p:spPr>
        <p:txBody>
          <a:bodyPr wrap="square" rtlCol="0">
            <a:spAutoFit/>
          </a:bodyPr>
          <a:lstStyle/>
          <a:p>
            <a:r>
              <a:rPr lang="en-US" sz="2400" b="1" i="1" u="sng" dirty="0">
                <a:solidFill>
                  <a:srgbClr val="FF0000"/>
                </a:solidFill>
                <a:effectLst>
                  <a:outerShdw blurRad="38100" dist="38100" dir="2700000" algn="tl">
                    <a:srgbClr val="000000">
                      <a:alpha val="43137"/>
                    </a:srgbClr>
                  </a:outerShdw>
                </a:effectLst>
              </a:rPr>
              <a:t>PYTHON KEYWORDS</a:t>
            </a:r>
          </a:p>
          <a:p>
            <a:endParaRPr lang="en-IN" sz="2000" b="1" dirty="0"/>
          </a:p>
          <a:p>
            <a:pPr marL="342900" indent="-342900">
              <a:buFont typeface="Arial" panose="020B0604020202020204" pitchFamily="34" charset="0"/>
              <a:buChar char="•"/>
            </a:pPr>
            <a:r>
              <a:rPr lang="en-IN" sz="2000" dirty="0"/>
              <a:t>Keywords in Python </a:t>
            </a:r>
            <a:r>
              <a:rPr lang="en-US" sz="2000" b="0" i="0" dirty="0">
                <a:solidFill>
                  <a:srgbClr val="273239"/>
                </a:solidFill>
                <a:effectLst/>
              </a:rPr>
              <a:t>are reserved words that have special meanings and serve specific purposes in the language syntax. </a:t>
            </a:r>
          </a:p>
          <a:p>
            <a:pPr marL="342900" indent="-342900">
              <a:buFont typeface="Arial" panose="020B0604020202020204" pitchFamily="34" charset="0"/>
              <a:buChar char="•"/>
            </a:pPr>
            <a:r>
              <a:rPr lang="en-US" sz="2000" b="0" i="0" dirty="0">
                <a:solidFill>
                  <a:srgbClr val="273239"/>
                </a:solidFill>
                <a:effectLst/>
              </a:rPr>
              <a:t>They cannot be used as identifiers (names for variables, functions, classes, etc.). For example, "for", "while", "if", and "else" are keywords and cannot be used as identifiers.</a:t>
            </a:r>
          </a:p>
          <a:p>
            <a:pPr marL="342900" indent="-342900">
              <a:buFont typeface="Arial" panose="020B0604020202020204" pitchFamily="34" charset="0"/>
              <a:buChar char="•"/>
            </a:pPr>
            <a:r>
              <a:rPr lang="en-US" sz="2000" dirty="0">
                <a:solidFill>
                  <a:srgbClr val="273239"/>
                </a:solidFill>
              </a:rPr>
              <a:t>Below is the list of keywords in Python</a:t>
            </a:r>
          </a:p>
          <a:p>
            <a:endParaRPr lang="en-IN" sz="2000" dirty="0"/>
          </a:p>
        </p:txBody>
      </p:sp>
      <p:graphicFrame>
        <p:nvGraphicFramePr>
          <p:cNvPr id="5" name="Table 4">
            <a:extLst>
              <a:ext uri="{FF2B5EF4-FFF2-40B4-BE49-F238E27FC236}">
                <a16:creationId xmlns:a16="http://schemas.microsoft.com/office/drawing/2014/main" id="{67AF821E-A6B1-2E1A-52C7-9DAD48FF8329}"/>
              </a:ext>
            </a:extLst>
          </p:cNvPr>
          <p:cNvGraphicFramePr>
            <a:graphicFrameLocks noGrp="1"/>
          </p:cNvGraphicFramePr>
          <p:nvPr>
            <p:extLst>
              <p:ext uri="{D42A27DB-BD31-4B8C-83A1-F6EECF244321}">
                <p14:modId xmlns:p14="http://schemas.microsoft.com/office/powerpoint/2010/main" val="3312140679"/>
              </p:ext>
            </p:extLst>
          </p:nvPr>
        </p:nvGraphicFramePr>
        <p:xfrm>
          <a:off x="1280160" y="2876205"/>
          <a:ext cx="7215445" cy="3061062"/>
        </p:xfrm>
        <a:graphic>
          <a:graphicData uri="http://schemas.openxmlformats.org/drawingml/2006/table">
            <a:tbl>
              <a:tblPr firstRow="1" bandRow="1">
                <a:tableStyleId>{2D5ABB26-0587-4C30-8999-92F81FD0307C}</a:tableStyleId>
              </a:tblPr>
              <a:tblGrid>
                <a:gridCol w="1443089">
                  <a:extLst>
                    <a:ext uri="{9D8B030D-6E8A-4147-A177-3AD203B41FA5}">
                      <a16:colId xmlns:a16="http://schemas.microsoft.com/office/drawing/2014/main" val="2804387708"/>
                    </a:ext>
                  </a:extLst>
                </a:gridCol>
                <a:gridCol w="1443089">
                  <a:extLst>
                    <a:ext uri="{9D8B030D-6E8A-4147-A177-3AD203B41FA5}">
                      <a16:colId xmlns:a16="http://schemas.microsoft.com/office/drawing/2014/main" val="893777287"/>
                    </a:ext>
                  </a:extLst>
                </a:gridCol>
                <a:gridCol w="1443089">
                  <a:extLst>
                    <a:ext uri="{9D8B030D-6E8A-4147-A177-3AD203B41FA5}">
                      <a16:colId xmlns:a16="http://schemas.microsoft.com/office/drawing/2014/main" val="1105121129"/>
                    </a:ext>
                  </a:extLst>
                </a:gridCol>
                <a:gridCol w="1443089">
                  <a:extLst>
                    <a:ext uri="{9D8B030D-6E8A-4147-A177-3AD203B41FA5}">
                      <a16:colId xmlns:a16="http://schemas.microsoft.com/office/drawing/2014/main" val="2696091733"/>
                    </a:ext>
                  </a:extLst>
                </a:gridCol>
                <a:gridCol w="1443089">
                  <a:extLst>
                    <a:ext uri="{9D8B030D-6E8A-4147-A177-3AD203B41FA5}">
                      <a16:colId xmlns:a16="http://schemas.microsoft.com/office/drawing/2014/main" val="2833601593"/>
                    </a:ext>
                  </a:extLst>
                </a:gridCol>
              </a:tblGrid>
              <a:tr h="444137">
                <a:tc>
                  <a:txBody>
                    <a:bodyPr/>
                    <a:lstStyle/>
                    <a:p>
                      <a:r>
                        <a:rPr lang="en-US" sz="2000" b="1" dirty="0"/>
                        <a:t>false</a:t>
                      </a:r>
                      <a:endParaRPr lang="en-IN" sz="2000" b="1" dirty="0"/>
                    </a:p>
                  </a:txBody>
                  <a:tcPr/>
                </a:tc>
                <a:tc>
                  <a:txBody>
                    <a:bodyPr/>
                    <a:lstStyle/>
                    <a:p>
                      <a:r>
                        <a:rPr lang="en-US" sz="2000" b="1" dirty="0"/>
                        <a:t>await</a:t>
                      </a:r>
                      <a:endParaRPr lang="en-IN" sz="2000" b="1" dirty="0"/>
                    </a:p>
                  </a:txBody>
                  <a:tcPr/>
                </a:tc>
                <a:tc>
                  <a:txBody>
                    <a:bodyPr/>
                    <a:lstStyle/>
                    <a:p>
                      <a:r>
                        <a:rPr lang="en-US" sz="2000" b="1" dirty="0"/>
                        <a:t>else</a:t>
                      </a:r>
                      <a:endParaRPr lang="en-IN" sz="2000" b="1" dirty="0"/>
                    </a:p>
                  </a:txBody>
                  <a:tcPr/>
                </a:tc>
                <a:tc>
                  <a:txBody>
                    <a:bodyPr/>
                    <a:lstStyle/>
                    <a:p>
                      <a:r>
                        <a:rPr lang="en-US" sz="2000" b="1" dirty="0"/>
                        <a:t>import</a:t>
                      </a:r>
                      <a:endParaRPr lang="en-IN" sz="2000" b="1" dirty="0"/>
                    </a:p>
                  </a:txBody>
                  <a:tcPr/>
                </a:tc>
                <a:tc>
                  <a:txBody>
                    <a:bodyPr/>
                    <a:lstStyle/>
                    <a:p>
                      <a:r>
                        <a:rPr lang="en-US" sz="2000" b="1" dirty="0"/>
                        <a:t>pass</a:t>
                      </a:r>
                      <a:endParaRPr lang="en-IN" sz="2000" b="1" dirty="0"/>
                    </a:p>
                  </a:txBody>
                  <a:tcPr/>
                </a:tc>
                <a:extLst>
                  <a:ext uri="{0D108BD9-81ED-4DB2-BD59-A6C34878D82A}">
                    <a16:rowId xmlns:a16="http://schemas.microsoft.com/office/drawing/2014/main" val="4048033961"/>
                  </a:ext>
                </a:extLst>
              </a:tr>
              <a:tr h="444137">
                <a:tc>
                  <a:txBody>
                    <a:bodyPr/>
                    <a:lstStyle/>
                    <a:p>
                      <a:r>
                        <a:rPr lang="en-US" sz="2000" b="1" dirty="0"/>
                        <a:t>none</a:t>
                      </a:r>
                      <a:endParaRPr lang="en-IN" sz="2000" b="1" dirty="0"/>
                    </a:p>
                  </a:txBody>
                  <a:tcPr/>
                </a:tc>
                <a:tc>
                  <a:txBody>
                    <a:bodyPr/>
                    <a:lstStyle/>
                    <a:p>
                      <a:r>
                        <a:rPr lang="en-US" sz="2000" b="1" dirty="0"/>
                        <a:t>break</a:t>
                      </a:r>
                      <a:endParaRPr lang="en-IN" sz="2000" b="1" dirty="0"/>
                    </a:p>
                  </a:txBody>
                  <a:tcPr/>
                </a:tc>
                <a:tc>
                  <a:txBody>
                    <a:bodyPr/>
                    <a:lstStyle/>
                    <a:p>
                      <a:r>
                        <a:rPr lang="en-US" sz="2000" b="1" dirty="0"/>
                        <a:t>except</a:t>
                      </a:r>
                      <a:endParaRPr lang="en-IN" sz="2000" b="1" dirty="0"/>
                    </a:p>
                  </a:txBody>
                  <a:tcPr/>
                </a:tc>
                <a:tc>
                  <a:txBody>
                    <a:bodyPr/>
                    <a:lstStyle/>
                    <a:p>
                      <a:r>
                        <a:rPr lang="en-US" sz="2000" b="1" dirty="0"/>
                        <a:t>in</a:t>
                      </a:r>
                      <a:endParaRPr lang="en-IN" sz="2000" b="1" dirty="0"/>
                    </a:p>
                  </a:txBody>
                  <a:tcPr/>
                </a:tc>
                <a:tc>
                  <a:txBody>
                    <a:bodyPr/>
                    <a:lstStyle/>
                    <a:p>
                      <a:r>
                        <a:rPr lang="en-US" sz="2000" b="1" dirty="0"/>
                        <a:t>raise</a:t>
                      </a:r>
                      <a:endParaRPr lang="en-IN" sz="2000" b="1" dirty="0"/>
                    </a:p>
                  </a:txBody>
                  <a:tcPr/>
                </a:tc>
                <a:extLst>
                  <a:ext uri="{0D108BD9-81ED-4DB2-BD59-A6C34878D82A}">
                    <a16:rowId xmlns:a16="http://schemas.microsoft.com/office/drawing/2014/main" val="2455295217"/>
                  </a:ext>
                </a:extLst>
              </a:tr>
              <a:tr h="444137">
                <a:tc>
                  <a:txBody>
                    <a:bodyPr/>
                    <a:lstStyle/>
                    <a:p>
                      <a:r>
                        <a:rPr lang="en-US" sz="2000" b="1" dirty="0"/>
                        <a:t>true</a:t>
                      </a:r>
                      <a:endParaRPr lang="en-IN" sz="2000" b="1" dirty="0"/>
                    </a:p>
                  </a:txBody>
                  <a:tcPr/>
                </a:tc>
                <a:tc>
                  <a:txBody>
                    <a:bodyPr/>
                    <a:lstStyle/>
                    <a:p>
                      <a:r>
                        <a:rPr lang="en-US" sz="2000" b="1" dirty="0"/>
                        <a:t>class</a:t>
                      </a:r>
                      <a:endParaRPr lang="en-IN" sz="2000" b="1" dirty="0"/>
                    </a:p>
                  </a:txBody>
                  <a:tcPr/>
                </a:tc>
                <a:tc>
                  <a:txBody>
                    <a:bodyPr/>
                    <a:lstStyle/>
                    <a:p>
                      <a:r>
                        <a:rPr lang="en-US" sz="2000" b="1" dirty="0"/>
                        <a:t>finally</a:t>
                      </a:r>
                      <a:endParaRPr lang="en-IN" sz="2000" b="1" dirty="0"/>
                    </a:p>
                  </a:txBody>
                  <a:tcPr/>
                </a:tc>
                <a:tc>
                  <a:txBody>
                    <a:bodyPr/>
                    <a:lstStyle/>
                    <a:p>
                      <a:r>
                        <a:rPr lang="en-US" sz="2000" b="1" dirty="0"/>
                        <a:t>is</a:t>
                      </a:r>
                      <a:endParaRPr lang="en-IN" sz="2000" b="1" dirty="0"/>
                    </a:p>
                  </a:txBody>
                  <a:tcPr/>
                </a:tc>
                <a:tc>
                  <a:txBody>
                    <a:bodyPr/>
                    <a:lstStyle/>
                    <a:p>
                      <a:r>
                        <a:rPr lang="en-US" sz="2000" b="1" dirty="0"/>
                        <a:t>return</a:t>
                      </a:r>
                      <a:endParaRPr lang="en-IN" sz="2000" b="1" dirty="0"/>
                    </a:p>
                  </a:txBody>
                  <a:tcPr/>
                </a:tc>
                <a:extLst>
                  <a:ext uri="{0D108BD9-81ED-4DB2-BD59-A6C34878D82A}">
                    <a16:rowId xmlns:a16="http://schemas.microsoft.com/office/drawing/2014/main" val="2029073623"/>
                  </a:ext>
                </a:extLst>
              </a:tr>
              <a:tr h="444137">
                <a:tc>
                  <a:txBody>
                    <a:bodyPr/>
                    <a:lstStyle/>
                    <a:p>
                      <a:r>
                        <a:rPr lang="en-US" sz="2000" b="1" dirty="0"/>
                        <a:t>and</a:t>
                      </a:r>
                      <a:endParaRPr lang="en-IN" sz="2000" b="1" dirty="0"/>
                    </a:p>
                  </a:txBody>
                  <a:tcPr/>
                </a:tc>
                <a:tc>
                  <a:txBody>
                    <a:bodyPr/>
                    <a:lstStyle/>
                    <a:p>
                      <a:r>
                        <a:rPr lang="en-US" sz="2000" b="1" dirty="0"/>
                        <a:t>continue</a:t>
                      </a:r>
                      <a:endParaRPr lang="en-IN" sz="2000" b="1" dirty="0"/>
                    </a:p>
                  </a:txBody>
                  <a:tcPr/>
                </a:tc>
                <a:tc>
                  <a:txBody>
                    <a:bodyPr/>
                    <a:lstStyle/>
                    <a:p>
                      <a:r>
                        <a:rPr lang="en-US" sz="2000" b="1" dirty="0"/>
                        <a:t>for</a:t>
                      </a:r>
                      <a:endParaRPr lang="en-IN" sz="2000" b="1" dirty="0"/>
                    </a:p>
                  </a:txBody>
                  <a:tcPr/>
                </a:tc>
                <a:tc>
                  <a:txBody>
                    <a:bodyPr/>
                    <a:lstStyle/>
                    <a:p>
                      <a:r>
                        <a:rPr lang="en-US" sz="2000" b="1" dirty="0"/>
                        <a:t>lambda</a:t>
                      </a:r>
                      <a:endParaRPr lang="en-IN" sz="2000" b="1" dirty="0"/>
                    </a:p>
                  </a:txBody>
                  <a:tcPr/>
                </a:tc>
                <a:tc>
                  <a:txBody>
                    <a:bodyPr/>
                    <a:lstStyle/>
                    <a:p>
                      <a:r>
                        <a:rPr lang="en-US" sz="2000" b="1" dirty="0"/>
                        <a:t>try</a:t>
                      </a:r>
                      <a:endParaRPr lang="en-IN" sz="2000" b="1" dirty="0"/>
                    </a:p>
                  </a:txBody>
                  <a:tcPr/>
                </a:tc>
                <a:extLst>
                  <a:ext uri="{0D108BD9-81ED-4DB2-BD59-A6C34878D82A}">
                    <a16:rowId xmlns:a16="http://schemas.microsoft.com/office/drawing/2014/main" val="3419380304"/>
                  </a:ext>
                </a:extLst>
              </a:tr>
              <a:tr h="444137">
                <a:tc>
                  <a:txBody>
                    <a:bodyPr/>
                    <a:lstStyle/>
                    <a:p>
                      <a:r>
                        <a:rPr lang="en-US" sz="2000" b="1" dirty="0"/>
                        <a:t>as</a:t>
                      </a:r>
                      <a:endParaRPr lang="en-IN" sz="2000" b="1" dirty="0"/>
                    </a:p>
                  </a:txBody>
                  <a:tcPr/>
                </a:tc>
                <a:tc>
                  <a:txBody>
                    <a:bodyPr/>
                    <a:lstStyle/>
                    <a:p>
                      <a:r>
                        <a:rPr lang="en-US" sz="2000" b="1" dirty="0"/>
                        <a:t>def</a:t>
                      </a:r>
                      <a:endParaRPr lang="en-IN" sz="2000" b="1" dirty="0"/>
                    </a:p>
                  </a:txBody>
                  <a:tcPr/>
                </a:tc>
                <a:tc>
                  <a:txBody>
                    <a:bodyPr/>
                    <a:lstStyle/>
                    <a:p>
                      <a:r>
                        <a:rPr lang="en-US" sz="2000" b="1" dirty="0"/>
                        <a:t>from</a:t>
                      </a:r>
                      <a:endParaRPr lang="en-IN" sz="2000" b="1" dirty="0"/>
                    </a:p>
                  </a:txBody>
                  <a:tcPr/>
                </a:tc>
                <a:tc>
                  <a:txBody>
                    <a:bodyPr/>
                    <a:lstStyle/>
                    <a:p>
                      <a:r>
                        <a:rPr lang="en-US" sz="2000" b="1" dirty="0"/>
                        <a:t>nonlocal</a:t>
                      </a:r>
                      <a:endParaRPr lang="en-IN" sz="2000" b="1" dirty="0"/>
                    </a:p>
                  </a:txBody>
                  <a:tcPr/>
                </a:tc>
                <a:tc>
                  <a:txBody>
                    <a:bodyPr/>
                    <a:lstStyle/>
                    <a:p>
                      <a:r>
                        <a:rPr lang="en-US" sz="2000" b="1" dirty="0"/>
                        <a:t>while</a:t>
                      </a:r>
                      <a:endParaRPr lang="en-IN" sz="2000" b="1" dirty="0"/>
                    </a:p>
                  </a:txBody>
                  <a:tcPr/>
                </a:tc>
                <a:extLst>
                  <a:ext uri="{0D108BD9-81ED-4DB2-BD59-A6C34878D82A}">
                    <a16:rowId xmlns:a16="http://schemas.microsoft.com/office/drawing/2014/main" val="816891632"/>
                  </a:ext>
                </a:extLst>
              </a:tr>
              <a:tr h="444137">
                <a:tc>
                  <a:txBody>
                    <a:bodyPr/>
                    <a:lstStyle/>
                    <a:p>
                      <a:r>
                        <a:rPr lang="en-US" sz="2000" b="1" dirty="0"/>
                        <a:t>assert</a:t>
                      </a:r>
                      <a:endParaRPr lang="en-IN" sz="2000" b="1" dirty="0"/>
                    </a:p>
                  </a:txBody>
                  <a:tcPr/>
                </a:tc>
                <a:tc>
                  <a:txBody>
                    <a:bodyPr/>
                    <a:lstStyle/>
                    <a:p>
                      <a:r>
                        <a:rPr lang="en-US" sz="2000" b="1" dirty="0"/>
                        <a:t>del</a:t>
                      </a:r>
                      <a:endParaRPr lang="en-IN" sz="2000" b="1" dirty="0"/>
                    </a:p>
                  </a:txBody>
                  <a:tcPr/>
                </a:tc>
                <a:tc>
                  <a:txBody>
                    <a:bodyPr/>
                    <a:lstStyle/>
                    <a:p>
                      <a:r>
                        <a:rPr lang="en-US" sz="2000" b="1" dirty="0"/>
                        <a:t>global</a:t>
                      </a:r>
                      <a:endParaRPr lang="en-IN" sz="2000" b="1" dirty="0"/>
                    </a:p>
                  </a:txBody>
                  <a:tcPr/>
                </a:tc>
                <a:tc>
                  <a:txBody>
                    <a:bodyPr/>
                    <a:lstStyle/>
                    <a:p>
                      <a:r>
                        <a:rPr lang="en-US" sz="2000" b="1" dirty="0"/>
                        <a:t>not</a:t>
                      </a:r>
                      <a:endParaRPr lang="en-IN" sz="2000" b="1" dirty="0"/>
                    </a:p>
                  </a:txBody>
                  <a:tcPr/>
                </a:tc>
                <a:tc>
                  <a:txBody>
                    <a:bodyPr/>
                    <a:lstStyle/>
                    <a:p>
                      <a:r>
                        <a:rPr lang="en-US" sz="2000" b="1" dirty="0"/>
                        <a:t>with</a:t>
                      </a:r>
                      <a:endParaRPr lang="en-IN" sz="2000" b="1" dirty="0"/>
                    </a:p>
                  </a:txBody>
                  <a:tcPr/>
                </a:tc>
                <a:extLst>
                  <a:ext uri="{0D108BD9-81ED-4DB2-BD59-A6C34878D82A}">
                    <a16:rowId xmlns:a16="http://schemas.microsoft.com/office/drawing/2014/main" val="4107079388"/>
                  </a:ext>
                </a:extLst>
              </a:tr>
              <a:tr h="368160">
                <a:tc>
                  <a:txBody>
                    <a:bodyPr/>
                    <a:lstStyle/>
                    <a:p>
                      <a:r>
                        <a:rPr lang="en-US" sz="2000" b="1" dirty="0"/>
                        <a:t>async</a:t>
                      </a:r>
                      <a:endParaRPr lang="en-IN" sz="2000" b="1" dirty="0"/>
                    </a:p>
                  </a:txBody>
                  <a:tcPr/>
                </a:tc>
                <a:tc>
                  <a:txBody>
                    <a:bodyPr/>
                    <a:lstStyle/>
                    <a:p>
                      <a:r>
                        <a:rPr lang="en-US" sz="2000" b="1" dirty="0"/>
                        <a:t>elif</a:t>
                      </a:r>
                      <a:endParaRPr lang="en-IN" sz="2000" b="1" dirty="0"/>
                    </a:p>
                  </a:txBody>
                  <a:tcPr/>
                </a:tc>
                <a:tc>
                  <a:txBody>
                    <a:bodyPr/>
                    <a:lstStyle/>
                    <a:p>
                      <a:r>
                        <a:rPr lang="en-US" sz="2000" b="1" dirty="0"/>
                        <a:t>if</a:t>
                      </a:r>
                      <a:endParaRPr lang="en-IN" sz="2000" b="1" dirty="0"/>
                    </a:p>
                  </a:txBody>
                  <a:tcPr/>
                </a:tc>
                <a:tc>
                  <a:txBody>
                    <a:bodyPr/>
                    <a:lstStyle/>
                    <a:p>
                      <a:r>
                        <a:rPr lang="en-US" sz="2000" b="1" dirty="0"/>
                        <a:t>or</a:t>
                      </a:r>
                      <a:endParaRPr lang="en-IN" sz="2000" b="1" dirty="0"/>
                    </a:p>
                  </a:txBody>
                  <a:tcPr/>
                </a:tc>
                <a:tc>
                  <a:txBody>
                    <a:bodyPr/>
                    <a:lstStyle/>
                    <a:p>
                      <a:r>
                        <a:rPr lang="en-US" sz="2000" b="1" dirty="0"/>
                        <a:t>yield</a:t>
                      </a:r>
                      <a:endParaRPr lang="en-IN" sz="2000" b="1" dirty="0"/>
                    </a:p>
                  </a:txBody>
                  <a:tcPr/>
                </a:tc>
                <a:extLst>
                  <a:ext uri="{0D108BD9-81ED-4DB2-BD59-A6C34878D82A}">
                    <a16:rowId xmlns:a16="http://schemas.microsoft.com/office/drawing/2014/main" val="3103587798"/>
                  </a:ext>
                </a:extLst>
              </a:tr>
            </a:tbl>
          </a:graphicData>
        </a:graphic>
      </p:graphicFrame>
      <p:pic>
        <p:nvPicPr>
          <p:cNvPr id="6" name="Picture 5">
            <a:extLst>
              <a:ext uri="{FF2B5EF4-FFF2-40B4-BE49-F238E27FC236}">
                <a16:creationId xmlns:a16="http://schemas.microsoft.com/office/drawing/2014/main" id="{F3479DCB-416D-DFC7-D96F-19CFE09D62AF}"/>
              </a:ext>
            </a:extLst>
          </p:cNvPr>
          <p:cNvPicPr/>
          <p:nvPr/>
        </p:nvPicPr>
        <p:blipFill>
          <a:blip r:embed="rId2" cstate="print"/>
          <a:stretch/>
        </p:blipFill>
        <p:spPr>
          <a:xfrm>
            <a:off x="11353800" y="13289"/>
            <a:ext cx="688680" cy="689040"/>
          </a:xfrm>
          <a:prstGeom prst="rect">
            <a:avLst/>
          </a:prstGeom>
          <a:ln w="0">
            <a:noFill/>
          </a:ln>
        </p:spPr>
      </p:pic>
    </p:spTree>
    <p:extLst>
      <p:ext uri="{BB962C8B-B14F-4D97-AF65-F5344CB8AC3E}">
        <p14:creationId xmlns:p14="http://schemas.microsoft.com/office/powerpoint/2010/main" val="28745056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D1A3A1-9719-B657-B99E-ED06FB61CAD6}"/>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D25E7FA4-AF7A-C8EA-1AEE-CE7A98EC146F}"/>
              </a:ext>
            </a:extLst>
          </p:cNvPr>
          <p:cNvSpPr txBox="1"/>
          <p:nvPr/>
        </p:nvSpPr>
        <p:spPr>
          <a:xfrm>
            <a:off x="798021" y="515389"/>
            <a:ext cx="11055927" cy="5078313"/>
          </a:xfrm>
          <a:prstGeom prst="rect">
            <a:avLst/>
          </a:prstGeom>
          <a:noFill/>
        </p:spPr>
        <p:txBody>
          <a:bodyPr wrap="square">
            <a:spAutoFit/>
          </a:bodyPr>
          <a:lstStyle/>
          <a:p>
            <a:pPr algn="just"/>
            <a:r>
              <a:rPr lang="en-US" sz="2400" b="1" i="1" u="sng" dirty="0">
                <a:solidFill>
                  <a:srgbClr val="FF0000"/>
                </a:solidFill>
                <a:effectLst>
                  <a:outerShdw blurRad="38100" dist="38100" dir="2700000" algn="tl">
                    <a:srgbClr val="000000">
                      <a:alpha val="43137"/>
                    </a:srgbClr>
                  </a:outerShdw>
                </a:effectLst>
                <a:cs typeface="Times New Roman" panose="02020603050405020304" pitchFamily="18" charset="0"/>
              </a:rPr>
              <a:t>PYTHON COMMENTS</a:t>
            </a:r>
          </a:p>
          <a:p>
            <a:pPr algn="just"/>
            <a:endParaRPr lang="en-US" sz="2000" b="1" i="1" u="sng" dirty="0">
              <a:solidFill>
                <a:srgbClr val="FF0000"/>
              </a:solidFill>
              <a:effectLst>
                <a:outerShdw blurRad="38100" dist="38100" dir="2700000" algn="tl">
                  <a:srgbClr val="000000">
                    <a:alpha val="43137"/>
                  </a:srgbClr>
                </a:outerShdw>
              </a:effectLst>
              <a:cs typeface="Times New Roman" panose="02020603050405020304" pitchFamily="18" charset="0"/>
            </a:endParaRPr>
          </a:p>
          <a:p>
            <a:pPr marL="342900" indent="-342900" algn="just">
              <a:buFont typeface="Arial" panose="020B0604020202020204" pitchFamily="34" charset="0"/>
              <a:buChar char="•"/>
            </a:pPr>
            <a:r>
              <a:rPr lang="en-US" sz="2000" b="0" i="0" dirty="0">
                <a:solidFill>
                  <a:srgbClr val="000000"/>
                </a:solidFill>
                <a:cs typeface="Times New Roman" panose="02020603050405020304" pitchFamily="18" charset="0"/>
              </a:rPr>
              <a:t>Comments in Python </a:t>
            </a:r>
            <a:r>
              <a:rPr lang="en-US" sz="2000" b="0" i="0" dirty="0">
                <a:solidFill>
                  <a:srgbClr val="273239"/>
                </a:solidFill>
                <a:effectLst/>
              </a:rPr>
              <a:t>are statements written within the code. </a:t>
            </a:r>
          </a:p>
          <a:p>
            <a:pPr marL="342900" indent="-342900" algn="just">
              <a:buFont typeface="Arial" panose="020B0604020202020204" pitchFamily="34" charset="0"/>
              <a:buChar char="•"/>
            </a:pPr>
            <a:r>
              <a:rPr lang="en-US" sz="2000" b="0" i="0" dirty="0">
                <a:solidFill>
                  <a:srgbClr val="273239"/>
                </a:solidFill>
                <a:effectLst/>
              </a:rPr>
              <a:t>They are meant to explain, clarify, or give context about specific parts of the code. </a:t>
            </a:r>
          </a:p>
          <a:p>
            <a:pPr marL="342900" indent="-342900" algn="just">
              <a:buFont typeface="Arial" panose="020B0604020202020204" pitchFamily="34" charset="0"/>
              <a:buChar char="•"/>
            </a:pPr>
            <a:r>
              <a:rPr lang="en-US" sz="2000" b="0" i="0" dirty="0">
                <a:solidFill>
                  <a:srgbClr val="273239"/>
                </a:solidFill>
                <a:effectLst/>
              </a:rPr>
              <a:t>The purpose of comments is to explain the working of a code, they have no impact on the execution or outcome of a program.</a:t>
            </a:r>
          </a:p>
          <a:p>
            <a:pPr marL="342900" indent="-342900" algn="just">
              <a:buFont typeface="Arial" panose="020B0604020202020204" pitchFamily="34" charset="0"/>
              <a:buChar char="•"/>
            </a:pPr>
            <a:endParaRPr lang="en-US" sz="2000" dirty="0">
              <a:solidFill>
                <a:srgbClr val="273239"/>
              </a:solidFill>
              <a:cs typeface="Times New Roman" panose="02020603050405020304" pitchFamily="18" charset="0"/>
            </a:endParaRPr>
          </a:p>
          <a:p>
            <a:pPr algn="just"/>
            <a:r>
              <a:rPr lang="en-US" sz="2000" b="1" i="0" dirty="0">
                <a:solidFill>
                  <a:srgbClr val="273239"/>
                </a:solidFill>
                <a:cs typeface="Times New Roman" panose="02020603050405020304" pitchFamily="18" charset="0"/>
              </a:rPr>
              <a:t>Python Single Line Comment</a:t>
            </a:r>
          </a:p>
          <a:p>
            <a:pPr marL="342900" indent="-342900" algn="just">
              <a:buFont typeface="Arial" panose="020B0604020202020204" pitchFamily="34" charset="0"/>
              <a:buChar char="•"/>
            </a:pPr>
            <a:r>
              <a:rPr lang="en-US" sz="2000" b="0" i="0" dirty="0">
                <a:solidFill>
                  <a:srgbClr val="273239"/>
                </a:solidFill>
                <a:effectLst/>
                <a:latin typeface="Nunito" pitchFamily="2" charset="0"/>
              </a:rPr>
              <a:t>Single line comments are preceded by the "#" symbol. </a:t>
            </a:r>
          </a:p>
          <a:p>
            <a:pPr marL="342900" indent="-342900" algn="just">
              <a:buFont typeface="Arial" panose="020B0604020202020204" pitchFamily="34" charset="0"/>
              <a:buChar char="•"/>
            </a:pPr>
            <a:r>
              <a:rPr lang="en-US" sz="2000" b="0" i="0" dirty="0">
                <a:solidFill>
                  <a:srgbClr val="273239"/>
                </a:solidFill>
                <a:effectLst/>
                <a:latin typeface="Nunito" pitchFamily="2" charset="0"/>
              </a:rPr>
              <a:t>Everything after this symbol on the same line is considered as  a comment.</a:t>
            </a:r>
            <a:endParaRPr lang="en-US" sz="2000" i="0" dirty="0">
              <a:solidFill>
                <a:srgbClr val="000000"/>
              </a:solidFill>
              <a:cs typeface="Times New Roman" panose="02020603050405020304" pitchFamily="18" charset="0"/>
            </a:endParaRPr>
          </a:p>
          <a:p>
            <a:pPr marL="0" indent="0" algn="just">
              <a:buNone/>
            </a:pPr>
            <a:r>
              <a:rPr lang="en-US" sz="2000" b="1" u="sng" dirty="0">
                <a:solidFill>
                  <a:srgbClr val="000000"/>
                </a:solidFill>
                <a:cs typeface="Times New Roman" panose="02020603050405020304" pitchFamily="18" charset="0"/>
              </a:rPr>
              <a:t>Example</a:t>
            </a:r>
          </a:p>
          <a:p>
            <a:pPr algn="just"/>
            <a:r>
              <a:rPr lang="en-US" sz="2000" dirty="0"/>
              <a:t>first_name = “Liam"</a:t>
            </a:r>
          </a:p>
          <a:p>
            <a:pPr algn="just"/>
            <a:r>
              <a:rPr lang="en-US" sz="2000" dirty="0"/>
              <a:t>last_name = “</a:t>
            </a:r>
            <a:r>
              <a:rPr lang="en-US" sz="2000" dirty="0" err="1"/>
              <a:t>Refsnes</a:t>
            </a:r>
            <a:r>
              <a:rPr lang="en-US" sz="2000" dirty="0"/>
              <a:t>"  # assign last name</a:t>
            </a:r>
          </a:p>
          <a:p>
            <a:pPr algn="just"/>
            <a:endParaRPr lang="en-US" sz="2000" dirty="0"/>
          </a:p>
          <a:p>
            <a:pPr algn="just"/>
            <a:r>
              <a:rPr lang="en-US" sz="2000" dirty="0"/>
              <a:t># print full name</a:t>
            </a:r>
          </a:p>
          <a:p>
            <a:pPr algn="just"/>
            <a:r>
              <a:rPr lang="en-US" sz="2000" dirty="0"/>
              <a:t>print(</a:t>
            </a:r>
            <a:r>
              <a:rPr lang="en-US" sz="2000" dirty="0" err="1"/>
              <a:t>first_name</a:t>
            </a:r>
            <a:r>
              <a:rPr lang="en-US" sz="2000" dirty="0"/>
              <a:t>, </a:t>
            </a:r>
            <a:r>
              <a:rPr lang="en-US" sz="2000" dirty="0" err="1"/>
              <a:t>last_name</a:t>
            </a:r>
            <a:r>
              <a:rPr lang="en-US" sz="2000" dirty="0"/>
              <a:t>)</a:t>
            </a:r>
            <a:endParaRPr lang="en-IN" sz="2000" dirty="0"/>
          </a:p>
        </p:txBody>
      </p:sp>
    </p:spTree>
    <p:extLst>
      <p:ext uri="{BB962C8B-B14F-4D97-AF65-F5344CB8AC3E}">
        <p14:creationId xmlns:p14="http://schemas.microsoft.com/office/powerpoint/2010/main" val="2336211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591EA6-6834-039B-4D6C-EE263C1F5F87}"/>
              </a:ext>
            </a:extLst>
          </p:cNvPr>
          <p:cNvPicPr/>
          <p:nvPr/>
        </p:nvPicPr>
        <p:blipFill>
          <a:blip r:embed="rId3" cstate="print"/>
          <a:stretch/>
        </p:blipFill>
        <p:spPr>
          <a:xfrm>
            <a:off x="11503320" y="234377"/>
            <a:ext cx="688680" cy="689040"/>
          </a:xfrm>
          <a:prstGeom prst="rect">
            <a:avLst/>
          </a:prstGeom>
          <a:ln w="0">
            <a:noFill/>
          </a:ln>
        </p:spPr>
      </p:pic>
      <p:sp>
        <p:nvSpPr>
          <p:cNvPr id="6" name="TextBox 5">
            <a:extLst>
              <a:ext uri="{FF2B5EF4-FFF2-40B4-BE49-F238E27FC236}">
                <a16:creationId xmlns:a16="http://schemas.microsoft.com/office/drawing/2014/main" id="{22B138E5-1373-FCD3-F253-B1F95CBF0018}"/>
              </a:ext>
            </a:extLst>
          </p:cNvPr>
          <p:cNvSpPr txBox="1"/>
          <p:nvPr/>
        </p:nvSpPr>
        <p:spPr>
          <a:xfrm>
            <a:off x="332508" y="923417"/>
            <a:ext cx="11671069" cy="5632311"/>
          </a:xfrm>
          <a:prstGeom prst="rect">
            <a:avLst/>
          </a:prstGeom>
          <a:noFill/>
        </p:spPr>
        <p:txBody>
          <a:bodyPr wrap="square">
            <a:spAutoFit/>
          </a:bodyPr>
          <a:lstStyle/>
          <a:p>
            <a:pPr marL="0" indent="0">
              <a:buNone/>
            </a:pPr>
            <a:r>
              <a:rPr lang="en-IN" sz="2000" b="1" dirty="0">
                <a:cs typeface="Times New Roman" panose="02020603050405020304" pitchFamily="18" charset="0"/>
              </a:rPr>
              <a:t>Python Multi-line Comments:</a:t>
            </a:r>
          </a:p>
          <a:p>
            <a:pPr marL="285750" indent="-285750">
              <a:buFont typeface="Arial" panose="020B0604020202020204" pitchFamily="34" charset="0"/>
              <a:buChar char="•"/>
            </a:pPr>
            <a:r>
              <a:rPr lang="en-US" sz="2000" b="0" i="0" dirty="0">
                <a:solidFill>
                  <a:srgbClr val="273239"/>
                </a:solidFill>
                <a:effectLst/>
              </a:rPr>
              <a:t>Python doesn't have a specific syntax for multi-line comments.</a:t>
            </a:r>
          </a:p>
          <a:p>
            <a:pPr marL="285750" indent="-285750">
              <a:buFont typeface="Arial" panose="020B0604020202020204" pitchFamily="34" charset="0"/>
              <a:buChar char="•"/>
            </a:pPr>
            <a:r>
              <a:rPr lang="en-US" sz="2000" b="0" i="0" dirty="0">
                <a:solidFill>
                  <a:srgbClr val="273239"/>
                </a:solidFill>
                <a:effectLst/>
              </a:rPr>
              <a:t>However, programmers often use multiple single-line comments, one after the other, or sometimes triple quotes (either ''' or """), even though they're technically string literals. Below is the example of multiline comment.</a:t>
            </a:r>
            <a:r>
              <a:rPr lang="en-US" sz="2000" dirty="0">
                <a:cs typeface="Times New Roman" panose="02020603050405020304" pitchFamily="18" charset="0"/>
              </a:rPr>
              <a:t>	</a:t>
            </a:r>
          </a:p>
          <a:p>
            <a:endParaRPr lang="en-US" sz="2000" dirty="0">
              <a:cs typeface="Times New Roman" panose="02020603050405020304" pitchFamily="18" charset="0"/>
            </a:endParaRPr>
          </a:p>
          <a:p>
            <a:pPr marL="0" indent="0">
              <a:buNone/>
            </a:pPr>
            <a:r>
              <a:rPr lang="en-US" sz="2000" b="1" dirty="0">
                <a:cs typeface="Times New Roman" panose="02020603050405020304" pitchFamily="18" charset="0"/>
              </a:rPr>
              <a:t>Example 1</a:t>
            </a:r>
          </a:p>
          <a:p>
            <a:pPr marL="0" indent="0">
              <a:buNone/>
            </a:pPr>
            <a:r>
              <a:rPr lang="en-US" sz="2000" dirty="0">
                <a:cs typeface="Times New Roman" panose="02020603050405020304" pitchFamily="18" charset="0"/>
              </a:rPr>
              <a:t>#This is a comment written in </a:t>
            </a:r>
          </a:p>
          <a:p>
            <a:pPr marL="0" indent="0">
              <a:buNone/>
            </a:pPr>
            <a:r>
              <a:rPr lang="en-US" sz="2000" dirty="0">
                <a:cs typeface="Times New Roman" panose="02020603050405020304" pitchFamily="18" charset="0"/>
              </a:rPr>
              <a:t>#more than just one line</a:t>
            </a:r>
          </a:p>
          <a:p>
            <a:pPr marL="0" indent="0">
              <a:buNone/>
            </a:pPr>
            <a:r>
              <a:rPr lang="en-US" sz="2000" dirty="0">
                <a:cs typeface="Times New Roman" panose="02020603050405020304" pitchFamily="18" charset="0"/>
              </a:rPr>
              <a:t>print(“Hello World!”)</a:t>
            </a:r>
          </a:p>
          <a:p>
            <a:pPr marL="0" indent="0">
              <a:buNone/>
            </a:pPr>
            <a:endParaRPr lang="en-US" sz="2000" dirty="0">
              <a:cs typeface="Times New Roman" panose="02020603050405020304" pitchFamily="18" charset="0"/>
            </a:endParaRPr>
          </a:p>
          <a:p>
            <a:pPr marL="0" indent="0">
              <a:buNone/>
            </a:pPr>
            <a:r>
              <a:rPr lang="en-US" sz="2000" b="1" dirty="0">
                <a:cs typeface="Times New Roman" panose="02020603050405020304" pitchFamily="18" charset="0"/>
              </a:rPr>
              <a:t>Example 2</a:t>
            </a:r>
          </a:p>
          <a:p>
            <a:pPr marL="0" indent="0">
              <a:buNone/>
            </a:pPr>
            <a:r>
              <a:rPr lang="en-IN" sz="2000" dirty="0">
                <a:cs typeface="Times New Roman" panose="02020603050405020304" pitchFamily="18" charset="0"/>
              </a:rPr>
              <a:t>“ “ “</a:t>
            </a:r>
          </a:p>
          <a:p>
            <a:pPr marL="0" indent="0">
              <a:buNone/>
            </a:pPr>
            <a:r>
              <a:rPr lang="en-US" sz="2000" dirty="0">
                <a:cs typeface="Times New Roman" panose="02020603050405020304" pitchFamily="18" charset="0"/>
              </a:rPr>
              <a:t>This is a comment written in </a:t>
            </a:r>
          </a:p>
          <a:p>
            <a:pPr marL="0" indent="0">
              <a:buNone/>
            </a:pPr>
            <a:r>
              <a:rPr lang="en-US" sz="2000" dirty="0">
                <a:cs typeface="Times New Roman" panose="02020603050405020304" pitchFamily="18" charset="0"/>
              </a:rPr>
              <a:t>more than just one line</a:t>
            </a:r>
          </a:p>
          <a:p>
            <a:pPr marL="0" indent="0">
              <a:buNone/>
            </a:pPr>
            <a:r>
              <a:rPr lang="en-US" sz="2000" dirty="0">
                <a:cs typeface="Times New Roman" panose="02020603050405020304" pitchFamily="18" charset="0"/>
              </a:rPr>
              <a:t>” ” ”</a:t>
            </a:r>
          </a:p>
          <a:p>
            <a:pPr marL="0" indent="0">
              <a:buNone/>
            </a:pPr>
            <a:r>
              <a:rPr lang="en-US" sz="2000" dirty="0">
                <a:cs typeface="Times New Roman" panose="02020603050405020304" pitchFamily="18" charset="0"/>
              </a:rPr>
              <a:t>print(“How are you?”)</a:t>
            </a:r>
          </a:p>
          <a:p>
            <a:pPr marL="0" indent="0">
              <a:buNone/>
            </a:pPr>
            <a:r>
              <a:rPr lang="en-IN" sz="2000" dirty="0">
                <a:cs typeface="Times New Roman" panose="02020603050405020304" pitchFamily="18" charset="0"/>
              </a:rPr>
              <a:t>	</a:t>
            </a:r>
          </a:p>
        </p:txBody>
      </p:sp>
    </p:spTree>
    <p:extLst>
      <p:ext uri="{BB962C8B-B14F-4D97-AF65-F5344CB8AC3E}">
        <p14:creationId xmlns:p14="http://schemas.microsoft.com/office/powerpoint/2010/main" val="42238699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8ABD305-649E-9312-940D-1E72660F491A}"/>
              </a:ext>
            </a:extLst>
          </p:cNvPr>
          <p:cNvPicPr/>
          <p:nvPr/>
        </p:nvPicPr>
        <p:blipFill>
          <a:blip r:embed="rId2" cstate="print"/>
          <a:stretch/>
        </p:blipFill>
        <p:spPr>
          <a:xfrm>
            <a:off x="11158980" y="187495"/>
            <a:ext cx="688680" cy="689040"/>
          </a:xfrm>
          <a:prstGeom prst="rect">
            <a:avLst/>
          </a:prstGeom>
          <a:ln w="0">
            <a:noFill/>
          </a:ln>
        </p:spPr>
      </p:pic>
      <p:sp>
        <p:nvSpPr>
          <p:cNvPr id="2" name="TextBox 1">
            <a:extLst>
              <a:ext uri="{FF2B5EF4-FFF2-40B4-BE49-F238E27FC236}">
                <a16:creationId xmlns:a16="http://schemas.microsoft.com/office/drawing/2014/main" id="{EDFCE733-1DFC-9001-2683-3181AB20B2F2}"/>
              </a:ext>
            </a:extLst>
          </p:cNvPr>
          <p:cNvSpPr txBox="1"/>
          <p:nvPr/>
        </p:nvSpPr>
        <p:spPr>
          <a:xfrm>
            <a:off x="748145" y="532015"/>
            <a:ext cx="10755175" cy="6309420"/>
          </a:xfrm>
          <a:prstGeom prst="rect">
            <a:avLst/>
          </a:prstGeom>
          <a:noFill/>
        </p:spPr>
        <p:txBody>
          <a:bodyPr wrap="square" rtlCol="0">
            <a:spAutoFit/>
          </a:bodyPr>
          <a:lstStyle/>
          <a:p>
            <a:r>
              <a:rPr lang="en-US" sz="2400" b="1" i="1" u="sng" dirty="0">
                <a:solidFill>
                  <a:srgbClr val="FF0000"/>
                </a:solidFill>
                <a:effectLst>
                  <a:outerShdw blurRad="38100" dist="38100" dir="2700000" algn="tl">
                    <a:srgbClr val="000000">
                      <a:alpha val="43137"/>
                    </a:srgbClr>
                  </a:outerShdw>
                </a:effectLst>
              </a:rPr>
              <a:t>CONTINUATION OF STATEMENTS IN PYTHON</a:t>
            </a:r>
          </a:p>
          <a:p>
            <a:endParaRPr lang="en-US" sz="2000" b="1" i="1" u="sng" dirty="0">
              <a:solidFill>
                <a:srgbClr val="FF0000"/>
              </a:solidFill>
              <a:effectLst>
                <a:outerShdw blurRad="38100" dist="38100" dir="2700000" algn="tl">
                  <a:srgbClr val="000000">
                    <a:alpha val="43137"/>
                  </a:srgbClr>
                </a:outerShdw>
              </a:effectLst>
            </a:endParaRPr>
          </a:p>
          <a:p>
            <a:pPr marL="342900" indent="-342900">
              <a:buFont typeface="Arial" panose="020B0604020202020204" pitchFamily="34" charset="0"/>
              <a:buChar char="•"/>
            </a:pPr>
            <a:r>
              <a:rPr lang="en-US" sz="2000" b="0" i="0" dirty="0">
                <a:solidFill>
                  <a:srgbClr val="273239"/>
                </a:solidFill>
                <a:effectLst/>
              </a:rPr>
              <a:t>In Python, statements are typically written on a single line. </a:t>
            </a:r>
          </a:p>
          <a:p>
            <a:pPr marL="342900" indent="-342900">
              <a:buFont typeface="Arial" panose="020B0604020202020204" pitchFamily="34" charset="0"/>
              <a:buChar char="•"/>
            </a:pPr>
            <a:r>
              <a:rPr lang="en-US" sz="2000" b="0" i="0" dirty="0">
                <a:solidFill>
                  <a:srgbClr val="273239"/>
                </a:solidFill>
                <a:effectLst/>
              </a:rPr>
              <a:t>However, there are scenarios where writing a statement on multiple lines can improve readability or is required due to the length of the statement. </a:t>
            </a:r>
          </a:p>
          <a:p>
            <a:pPr marL="342900" indent="-342900">
              <a:buFont typeface="Arial" panose="020B0604020202020204" pitchFamily="34" charset="0"/>
              <a:buChar char="•"/>
            </a:pPr>
            <a:r>
              <a:rPr lang="en-US" sz="2000" b="0" i="0" dirty="0">
                <a:solidFill>
                  <a:srgbClr val="273239"/>
                </a:solidFill>
                <a:effectLst/>
              </a:rPr>
              <a:t>This continuation of statements over multiple lines is supported in Python in various ways:</a:t>
            </a:r>
          </a:p>
          <a:p>
            <a:pPr marL="342900" indent="-342900">
              <a:buFont typeface="Arial" panose="020B0604020202020204" pitchFamily="34" charset="0"/>
              <a:buChar char="•"/>
            </a:pPr>
            <a:endParaRPr lang="en-US" sz="2000" dirty="0">
              <a:solidFill>
                <a:srgbClr val="273239"/>
              </a:solidFill>
            </a:endParaRPr>
          </a:p>
          <a:p>
            <a:r>
              <a:rPr lang="en-US" sz="2000" b="1" dirty="0">
                <a:solidFill>
                  <a:srgbClr val="273239"/>
                </a:solidFill>
              </a:rPr>
              <a:t>Implicit Continuation</a:t>
            </a:r>
          </a:p>
          <a:p>
            <a:pPr marL="342900" indent="-342900">
              <a:buFont typeface="Arial" panose="020B0604020202020204" pitchFamily="34" charset="0"/>
              <a:buChar char="•"/>
            </a:pPr>
            <a:r>
              <a:rPr lang="en-US" sz="2000" b="0" i="0" dirty="0">
                <a:solidFill>
                  <a:srgbClr val="273239"/>
                </a:solidFill>
                <a:effectLst/>
              </a:rPr>
              <a:t>Python implicitly supports line continuation within parentheses (), square brackets [], and curly braces {}. </a:t>
            </a:r>
          </a:p>
          <a:p>
            <a:pPr marL="342900" indent="-342900">
              <a:buFont typeface="Arial" panose="020B0604020202020204" pitchFamily="34" charset="0"/>
              <a:buChar char="•"/>
            </a:pPr>
            <a:r>
              <a:rPr lang="en-US" sz="2000" b="0" i="0" dirty="0">
                <a:solidFill>
                  <a:srgbClr val="273239"/>
                </a:solidFill>
                <a:effectLst/>
              </a:rPr>
              <a:t>This is often used in defining multi-line lists, tuples, dictionaries, or function arguments.</a:t>
            </a:r>
          </a:p>
          <a:p>
            <a:pPr marL="342900" indent="-342900">
              <a:buFont typeface="Arial" panose="020B0604020202020204" pitchFamily="34" charset="0"/>
              <a:buChar char="•"/>
            </a:pPr>
            <a:endParaRPr lang="en-US" sz="2000" dirty="0">
              <a:solidFill>
                <a:srgbClr val="273239"/>
              </a:solidFill>
            </a:endParaRPr>
          </a:p>
          <a:p>
            <a:r>
              <a:rPr lang="en-US" sz="2000" b="1" dirty="0">
                <a:solidFill>
                  <a:srgbClr val="273239"/>
                </a:solidFill>
              </a:rPr>
              <a:t>Example</a:t>
            </a:r>
          </a:p>
          <a:p>
            <a:r>
              <a:rPr lang="en-US" sz="2000" dirty="0"/>
              <a:t># Line continuation within square brackets '[]'</a:t>
            </a:r>
          </a:p>
          <a:p>
            <a:r>
              <a:rPr lang="en-US" sz="2000" dirty="0"/>
              <a:t>numbers = [</a:t>
            </a:r>
          </a:p>
          <a:p>
            <a:r>
              <a:rPr lang="en-US" sz="2000" dirty="0"/>
              <a:t>    1, 2, 3,</a:t>
            </a:r>
          </a:p>
          <a:p>
            <a:r>
              <a:rPr lang="en-US" sz="2000" dirty="0"/>
              <a:t>    4, 5, 6,</a:t>
            </a:r>
          </a:p>
          <a:p>
            <a:r>
              <a:rPr lang="en-US" sz="2000" dirty="0"/>
              <a:t>    7, 8, 9</a:t>
            </a:r>
          </a:p>
          <a:p>
            <a:r>
              <a:rPr lang="en-US" sz="2000" dirty="0"/>
              <a:t>]</a:t>
            </a:r>
          </a:p>
          <a:p>
            <a:r>
              <a:rPr lang="en-US" sz="2000" dirty="0"/>
              <a:t>print(numbers)</a:t>
            </a:r>
            <a:endParaRPr lang="en-IN" sz="2000" dirty="0"/>
          </a:p>
        </p:txBody>
      </p:sp>
    </p:spTree>
    <p:extLst>
      <p:ext uri="{BB962C8B-B14F-4D97-AF65-F5344CB8AC3E}">
        <p14:creationId xmlns:p14="http://schemas.microsoft.com/office/powerpoint/2010/main" val="41755567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D7B1D9-2FF0-20D2-7965-DA1499263EE3}"/>
              </a:ext>
            </a:extLst>
          </p:cNvPr>
          <p:cNvSpPr txBox="1"/>
          <p:nvPr/>
        </p:nvSpPr>
        <p:spPr>
          <a:xfrm>
            <a:off x="498764" y="698269"/>
            <a:ext cx="10856421" cy="3785652"/>
          </a:xfrm>
          <a:prstGeom prst="rect">
            <a:avLst/>
          </a:prstGeom>
          <a:noFill/>
        </p:spPr>
        <p:txBody>
          <a:bodyPr wrap="square" rtlCol="0">
            <a:spAutoFit/>
          </a:bodyPr>
          <a:lstStyle/>
          <a:p>
            <a:r>
              <a:rPr lang="en-US" sz="2000" b="1" dirty="0"/>
              <a:t>Explicit Continuation</a:t>
            </a:r>
          </a:p>
          <a:p>
            <a:pPr marL="342900" indent="-342900">
              <a:buFont typeface="Arial" panose="020B0604020202020204" pitchFamily="34" charset="0"/>
              <a:buChar char="•"/>
            </a:pPr>
            <a:r>
              <a:rPr lang="en-US" sz="2000" b="0" i="0" dirty="0">
                <a:solidFill>
                  <a:srgbClr val="273239"/>
                </a:solidFill>
                <a:effectLst/>
              </a:rPr>
              <a:t>You can use backslash '\' to indicate that a statement should continue on the next line.</a:t>
            </a:r>
          </a:p>
          <a:p>
            <a:endParaRPr lang="en-US" sz="2000" dirty="0">
              <a:solidFill>
                <a:srgbClr val="273239"/>
              </a:solidFill>
            </a:endParaRPr>
          </a:p>
          <a:p>
            <a:r>
              <a:rPr lang="en-US" sz="2000" b="1" dirty="0">
                <a:solidFill>
                  <a:srgbClr val="273239"/>
                </a:solidFill>
              </a:rPr>
              <a:t>Example</a:t>
            </a:r>
          </a:p>
          <a:p>
            <a:r>
              <a:rPr lang="en-US" sz="2000" dirty="0"/>
              <a:t># Explicit continuation</a:t>
            </a:r>
          </a:p>
          <a:p>
            <a:r>
              <a:rPr lang="en-US" sz="2000" dirty="0"/>
              <a:t>s = “Python is awesome! " \</a:t>
            </a:r>
          </a:p>
          <a:p>
            <a:r>
              <a:rPr lang="en-US" sz="2000" dirty="0"/>
              <a:t>    “It is easy to learn!"</a:t>
            </a:r>
          </a:p>
          <a:p>
            <a:endParaRPr lang="en-US" sz="2000" dirty="0"/>
          </a:p>
          <a:p>
            <a:r>
              <a:rPr lang="en-US" sz="2000" dirty="0"/>
              <a:t>print(s)</a:t>
            </a:r>
          </a:p>
          <a:p>
            <a:endParaRPr lang="en-US" sz="2000" dirty="0"/>
          </a:p>
          <a:p>
            <a:r>
              <a:rPr lang="en-US" sz="2000" b="1" dirty="0"/>
              <a:t>Note: </a:t>
            </a:r>
            <a:r>
              <a:rPr lang="en-US" sz="2000" b="0" i="0" dirty="0">
                <a:solidFill>
                  <a:srgbClr val="273239"/>
                </a:solidFill>
                <a:effectLst/>
              </a:rPr>
              <a:t>Using a backslash does have some pitfalls, such as if there's a space after the backslash, it will result in a syntax error.</a:t>
            </a:r>
            <a:endParaRPr lang="en-IN" sz="2000" b="1" dirty="0"/>
          </a:p>
        </p:txBody>
      </p:sp>
      <p:pic>
        <p:nvPicPr>
          <p:cNvPr id="5" name="Picture 4">
            <a:extLst>
              <a:ext uri="{FF2B5EF4-FFF2-40B4-BE49-F238E27FC236}">
                <a16:creationId xmlns:a16="http://schemas.microsoft.com/office/drawing/2014/main" id="{9A927D08-C095-BD3D-9D07-2F19D60F3636}"/>
              </a:ext>
            </a:extLst>
          </p:cNvPr>
          <p:cNvPicPr/>
          <p:nvPr/>
        </p:nvPicPr>
        <p:blipFill>
          <a:blip r:embed="rId2" cstate="print"/>
          <a:stretch/>
        </p:blipFill>
        <p:spPr>
          <a:xfrm>
            <a:off x="11158980" y="187495"/>
            <a:ext cx="688680" cy="689040"/>
          </a:xfrm>
          <a:prstGeom prst="rect">
            <a:avLst/>
          </a:prstGeom>
          <a:ln w="0">
            <a:noFill/>
          </a:ln>
        </p:spPr>
      </p:pic>
    </p:spTree>
    <p:extLst>
      <p:ext uri="{BB962C8B-B14F-4D97-AF65-F5344CB8AC3E}">
        <p14:creationId xmlns:p14="http://schemas.microsoft.com/office/powerpoint/2010/main" val="28973329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EF3E816-2B36-E89E-ACA1-B997DC245408}"/>
              </a:ext>
            </a:extLst>
          </p:cNvPr>
          <p:cNvPicPr/>
          <p:nvPr/>
        </p:nvPicPr>
        <p:blipFill>
          <a:blip r:embed="rId2" cstate="print"/>
          <a:stretch/>
        </p:blipFill>
        <p:spPr>
          <a:xfrm>
            <a:off x="11158980" y="187495"/>
            <a:ext cx="688680" cy="689040"/>
          </a:xfrm>
          <a:prstGeom prst="rect">
            <a:avLst/>
          </a:prstGeom>
          <a:ln w="0">
            <a:noFill/>
          </a:ln>
        </p:spPr>
      </p:pic>
      <p:sp>
        <p:nvSpPr>
          <p:cNvPr id="6" name="TextBox 5">
            <a:extLst>
              <a:ext uri="{FF2B5EF4-FFF2-40B4-BE49-F238E27FC236}">
                <a16:creationId xmlns:a16="http://schemas.microsoft.com/office/drawing/2014/main" id="{E22B1197-2CB4-8B0C-E3DF-F0211E5532B7}"/>
              </a:ext>
            </a:extLst>
          </p:cNvPr>
          <p:cNvSpPr txBox="1"/>
          <p:nvPr/>
        </p:nvSpPr>
        <p:spPr>
          <a:xfrm>
            <a:off x="847898" y="665018"/>
            <a:ext cx="10191404" cy="6001643"/>
          </a:xfrm>
          <a:prstGeom prst="rect">
            <a:avLst/>
          </a:prstGeom>
          <a:noFill/>
        </p:spPr>
        <p:txBody>
          <a:bodyPr wrap="square" rtlCol="0">
            <a:spAutoFit/>
          </a:bodyPr>
          <a:lstStyle/>
          <a:p>
            <a:r>
              <a:rPr lang="en-US" sz="2400" b="1" i="1" u="sng" dirty="0">
                <a:solidFill>
                  <a:srgbClr val="FF0000"/>
                </a:solidFill>
                <a:effectLst>
                  <a:outerShdw blurRad="38100" dist="38100" dir="2700000" algn="tl">
                    <a:srgbClr val="000000">
                      <a:alpha val="43137"/>
                    </a:srgbClr>
                  </a:outerShdw>
                </a:effectLst>
              </a:rPr>
              <a:t>TAKING INPUT FROM USER IN PYTHON</a:t>
            </a:r>
          </a:p>
          <a:p>
            <a:endParaRPr lang="en-US" sz="2000" b="1" i="1" u="sng" dirty="0">
              <a:solidFill>
                <a:srgbClr val="FF0000"/>
              </a:solidFill>
              <a:effectLst>
                <a:outerShdw blurRad="38100" dist="38100" dir="2700000" algn="tl">
                  <a:srgbClr val="000000">
                    <a:alpha val="43137"/>
                  </a:srgbClr>
                </a:outerShdw>
              </a:effectLst>
            </a:endParaRPr>
          </a:p>
          <a:p>
            <a:pPr marL="342900" indent="-342900">
              <a:buFont typeface="Arial" panose="020B0604020202020204" pitchFamily="34" charset="0"/>
              <a:buChar char="•"/>
            </a:pPr>
            <a:r>
              <a:rPr lang="en-IN" sz="2000" dirty="0"/>
              <a:t>The </a:t>
            </a:r>
            <a:r>
              <a:rPr lang="en-IN" sz="2000" b="1" dirty="0"/>
              <a:t>input() </a:t>
            </a:r>
            <a:r>
              <a:rPr lang="en-IN" sz="2000" dirty="0"/>
              <a:t>function in Python </a:t>
            </a:r>
            <a:r>
              <a:rPr lang="en-US" sz="2000" b="0" i="0" dirty="0">
                <a:solidFill>
                  <a:srgbClr val="273239"/>
                </a:solidFill>
                <a:effectLst/>
              </a:rPr>
              <a:t>is used to take user input from the console. </a:t>
            </a:r>
          </a:p>
          <a:p>
            <a:pPr marL="342900" indent="-342900">
              <a:buFont typeface="Arial" panose="020B0604020202020204" pitchFamily="34" charset="0"/>
              <a:buChar char="•"/>
            </a:pPr>
            <a:r>
              <a:rPr lang="en-US" sz="2000" b="0" i="0" dirty="0">
                <a:solidFill>
                  <a:srgbClr val="273239"/>
                </a:solidFill>
                <a:effectLst/>
              </a:rPr>
              <a:t>The program execution halts until the user provides input and presses "Enter". </a:t>
            </a:r>
          </a:p>
          <a:p>
            <a:pPr marL="342900" indent="-342900">
              <a:buFont typeface="Arial" panose="020B0604020202020204" pitchFamily="34" charset="0"/>
              <a:buChar char="•"/>
            </a:pPr>
            <a:r>
              <a:rPr lang="en-US" sz="2000" b="0" i="0" dirty="0">
                <a:solidFill>
                  <a:srgbClr val="273239"/>
                </a:solidFill>
                <a:effectLst/>
              </a:rPr>
              <a:t>The entered data is then returned as a string. </a:t>
            </a:r>
          </a:p>
          <a:p>
            <a:pPr marL="342900" indent="-342900">
              <a:buFont typeface="Arial" panose="020B0604020202020204" pitchFamily="34" charset="0"/>
              <a:buChar char="•"/>
            </a:pPr>
            <a:r>
              <a:rPr lang="en-US" sz="2000" b="0" i="0" dirty="0">
                <a:solidFill>
                  <a:srgbClr val="273239"/>
                </a:solidFill>
                <a:effectLst/>
              </a:rPr>
              <a:t>We can also provide an optional prompt as an argument to guide the user on what to input.</a:t>
            </a:r>
          </a:p>
          <a:p>
            <a:pPr marL="342900" indent="-342900">
              <a:buFont typeface="Arial" panose="020B0604020202020204" pitchFamily="34" charset="0"/>
              <a:buChar char="•"/>
            </a:pPr>
            <a:endParaRPr lang="en-US" sz="2000" dirty="0">
              <a:solidFill>
                <a:srgbClr val="273239"/>
              </a:solidFill>
            </a:endParaRPr>
          </a:p>
          <a:p>
            <a:r>
              <a:rPr lang="en-US" sz="2000" b="1" dirty="0">
                <a:solidFill>
                  <a:srgbClr val="273239"/>
                </a:solidFill>
              </a:rPr>
              <a:t>Example : </a:t>
            </a:r>
            <a:r>
              <a:rPr lang="en-US" sz="2000" b="0" i="0" dirty="0">
                <a:solidFill>
                  <a:srgbClr val="273239"/>
                </a:solidFill>
                <a:effectLst/>
              </a:rPr>
              <a:t>In this example, the user will see the message "Please enter your name: ". After entering their name and pressing "Enter", they'll receive a greeting with the name they provided.</a:t>
            </a:r>
          </a:p>
          <a:p>
            <a:endParaRPr lang="en-US" sz="2000" dirty="0">
              <a:solidFill>
                <a:srgbClr val="273239"/>
              </a:solidFill>
            </a:endParaRPr>
          </a:p>
          <a:p>
            <a:r>
              <a:rPr lang="en-US" sz="2000" dirty="0"/>
              <a:t># Taking input from the user</a:t>
            </a:r>
          </a:p>
          <a:p>
            <a:r>
              <a:rPr lang="en-US" sz="2000" dirty="0"/>
              <a:t>name = input("Please enter your name: ")</a:t>
            </a:r>
          </a:p>
          <a:p>
            <a:endParaRPr lang="en-US" sz="2000" dirty="0"/>
          </a:p>
          <a:p>
            <a:r>
              <a:rPr lang="en-US" sz="2000" dirty="0"/>
              <a:t># Print the input</a:t>
            </a:r>
          </a:p>
          <a:p>
            <a:r>
              <a:rPr lang="en-US" sz="2000" dirty="0"/>
              <a:t>print("Hello," + name)</a:t>
            </a:r>
          </a:p>
          <a:p>
            <a:endParaRPr lang="en-US" sz="2000" dirty="0"/>
          </a:p>
          <a:p>
            <a:r>
              <a:rPr lang="en-US" sz="2000" dirty="0"/>
              <a:t>age = int(input(“Please enter your age: “))</a:t>
            </a:r>
          </a:p>
          <a:p>
            <a:endParaRPr lang="en-US" sz="2000" dirty="0"/>
          </a:p>
          <a:p>
            <a:r>
              <a:rPr lang="en-US" sz="2000" dirty="0"/>
              <a:t>Print(“Your age is “, age)</a:t>
            </a:r>
          </a:p>
        </p:txBody>
      </p:sp>
    </p:spTree>
    <p:extLst>
      <p:ext uri="{BB962C8B-B14F-4D97-AF65-F5344CB8AC3E}">
        <p14:creationId xmlns:p14="http://schemas.microsoft.com/office/powerpoint/2010/main" val="39671873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3EBE14-65FD-FFD4-0EF6-F81A308A1459}"/>
              </a:ext>
            </a:extLst>
          </p:cNvPr>
          <p:cNvSpPr txBox="1"/>
          <p:nvPr/>
        </p:nvSpPr>
        <p:spPr>
          <a:xfrm>
            <a:off x="1762298" y="2543695"/>
            <a:ext cx="8711738" cy="769441"/>
          </a:xfrm>
          <a:prstGeom prst="rect">
            <a:avLst/>
          </a:prstGeom>
          <a:noFill/>
        </p:spPr>
        <p:txBody>
          <a:bodyPr wrap="square" rtlCol="0">
            <a:spAutoFit/>
          </a:bodyPr>
          <a:lstStyle/>
          <a:p>
            <a:pPr algn="ctr"/>
            <a:r>
              <a:rPr lang="en-US" sz="4400" b="1" i="1" dirty="0">
                <a:solidFill>
                  <a:srgbClr val="FF0000"/>
                </a:solidFill>
                <a:effectLst>
                  <a:outerShdw blurRad="38100" dist="38100" dir="2700000" algn="tl">
                    <a:srgbClr val="000000">
                      <a:alpha val="43137"/>
                    </a:srgbClr>
                  </a:outerShdw>
                </a:effectLst>
              </a:rPr>
              <a:t>PYTHON VARIABLE </a:t>
            </a:r>
            <a:endParaRPr lang="en-IN" sz="4400" b="1" i="1" dirty="0">
              <a:solidFill>
                <a:srgbClr val="FF0000"/>
              </a:solidFill>
              <a:effectLst>
                <a:outerShdw blurRad="38100" dist="38100" dir="2700000" algn="tl">
                  <a:srgbClr val="000000">
                    <a:alpha val="43137"/>
                  </a:srgbClr>
                </a:outerShdw>
              </a:effectLst>
            </a:endParaRPr>
          </a:p>
        </p:txBody>
      </p:sp>
      <p:pic>
        <p:nvPicPr>
          <p:cNvPr id="5" name="Picture 4">
            <a:extLst>
              <a:ext uri="{FF2B5EF4-FFF2-40B4-BE49-F238E27FC236}">
                <a16:creationId xmlns:a16="http://schemas.microsoft.com/office/drawing/2014/main" id="{8E260E36-4812-8CC4-4672-E7CF02FA3789}"/>
              </a:ext>
            </a:extLst>
          </p:cNvPr>
          <p:cNvPicPr/>
          <p:nvPr/>
        </p:nvPicPr>
        <p:blipFill>
          <a:blip r:embed="rId2" cstate="print"/>
          <a:stretch/>
        </p:blipFill>
        <p:spPr>
          <a:xfrm>
            <a:off x="11353800" y="271729"/>
            <a:ext cx="688680" cy="689040"/>
          </a:xfrm>
          <a:prstGeom prst="rect">
            <a:avLst/>
          </a:prstGeom>
          <a:ln w="0">
            <a:noFill/>
          </a:ln>
        </p:spPr>
      </p:pic>
    </p:spTree>
    <p:extLst>
      <p:ext uri="{BB962C8B-B14F-4D97-AF65-F5344CB8AC3E}">
        <p14:creationId xmlns:p14="http://schemas.microsoft.com/office/powerpoint/2010/main" val="9916731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E94939-44FA-8A79-A654-8EB5BF84558E}"/>
              </a:ext>
            </a:extLst>
          </p:cNvPr>
          <p:cNvSpPr>
            <a:spLocks noGrp="1"/>
          </p:cNvSpPr>
          <p:nvPr>
            <p:ph idx="1"/>
          </p:nvPr>
        </p:nvSpPr>
        <p:spPr>
          <a:xfrm>
            <a:off x="349135" y="271729"/>
            <a:ext cx="11004666" cy="5905234"/>
          </a:xfrm>
        </p:spPr>
        <p:txBody>
          <a:bodyPr>
            <a:noAutofit/>
          </a:bodyPr>
          <a:lstStyle/>
          <a:p>
            <a:pPr marL="0" indent="0">
              <a:buNone/>
            </a:pPr>
            <a:r>
              <a:rPr lang="en-IN" sz="2400" b="1" i="1" u="sng" dirty="0">
                <a:solidFill>
                  <a:srgbClr val="FF0000"/>
                </a:solidFill>
                <a:effectLst>
                  <a:outerShdw blurRad="38100" dist="38100" dir="2700000" algn="tl">
                    <a:srgbClr val="000000">
                      <a:alpha val="43137"/>
                    </a:srgbClr>
                  </a:outerShdw>
                </a:effectLst>
                <a:cs typeface="Times New Roman" panose="02020603050405020304" pitchFamily="18" charset="0"/>
              </a:rPr>
              <a:t>PYTHON VARIABLES</a:t>
            </a:r>
          </a:p>
          <a:p>
            <a:pPr marL="0" indent="0">
              <a:buNone/>
            </a:pPr>
            <a:endParaRPr lang="en-IN" sz="2000" dirty="0">
              <a:cs typeface="Times New Roman" panose="02020603050405020304" pitchFamily="18" charset="0"/>
            </a:endParaRPr>
          </a:p>
          <a:p>
            <a:r>
              <a:rPr lang="en-IN" sz="2000" dirty="0">
                <a:cs typeface="Times New Roman" panose="02020603050405020304" pitchFamily="18" charset="0"/>
              </a:rPr>
              <a:t>In Python, </a:t>
            </a:r>
            <a:r>
              <a:rPr lang="en-US" sz="2000" b="0" i="0" dirty="0">
                <a:solidFill>
                  <a:srgbClr val="273239"/>
                </a:solidFill>
                <a:effectLst/>
              </a:rPr>
              <a:t>variables are used to store data that can be referenced and manipulated during program execution. </a:t>
            </a:r>
          </a:p>
          <a:p>
            <a:r>
              <a:rPr lang="en-US" sz="2000" b="0" i="0" dirty="0">
                <a:solidFill>
                  <a:srgbClr val="273239"/>
                </a:solidFill>
                <a:effectLst/>
              </a:rPr>
              <a:t>A variable is essentially a name that is assigned to a value. </a:t>
            </a:r>
          </a:p>
          <a:p>
            <a:r>
              <a:rPr lang="en-US" sz="2000" dirty="0">
                <a:solidFill>
                  <a:srgbClr val="273239"/>
                </a:solidFill>
              </a:rPr>
              <a:t>In </a:t>
            </a:r>
            <a:r>
              <a:rPr lang="en-US" sz="2000" b="0" i="0" dirty="0">
                <a:solidFill>
                  <a:srgbClr val="273239"/>
                </a:solidFill>
                <a:effectLst/>
              </a:rPr>
              <a:t>other programming languages, Python variables do not require explicit declaration of type. The type of the variable is inferred based on the value assigned.</a:t>
            </a:r>
            <a:endParaRPr lang="en-IN" sz="2000" dirty="0">
              <a:cs typeface="Times New Roman" panose="02020603050405020304" pitchFamily="18" charset="0"/>
            </a:endParaRPr>
          </a:p>
          <a:p>
            <a:pPr marL="0" indent="0">
              <a:buNone/>
            </a:pPr>
            <a:r>
              <a:rPr lang="en-IN" sz="2000" b="1" dirty="0">
                <a:cs typeface="Times New Roman" panose="02020603050405020304" pitchFamily="18" charset="0"/>
              </a:rPr>
              <a:t>Example</a:t>
            </a:r>
          </a:p>
          <a:p>
            <a:pPr marL="0" indent="0">
              <a:buNone/>
            </a:pPr>
            <a:r>
              <a:rPr lang="en-IN" sz="2000" dirty="0">
                <a:cs typeface="Times New Roman" panose="02020603050405020304" pitchFamily="18" charset="0"/>
              </a:rPr>
              <a:t> </a:t>
            </a:r>
            <a:r>
              <a:rPr lang="en-US" sz="2000" dirty="0">
                <a:cs typeface="Times New Roman" panose="02020603050405020304" pitchFamily="18" charset="0"/>
              </a:rPr>
              <a:t># Variable 'x' stores the integer value 10</a:t>
            </a:r>
          </a:p>
          <a:p>
            <a:pPr marL="0" indent="0">
              <a:buNone/>
            </a:pPr>
            <a:r>
              <a:rPr lang="en-US" sz="2000" dirty="0">
                <a:cs typeface="Times New Roman" panose="02020603050405020304" pitchFamily="18" charset="0"/>
              </a:rPr>
              <a:t>x = 5</a:t>
            </a:r>
          </a:p>
          <a:p>
            <a:pPr marL="0" indent="0">
              <a:buNone/>
            </a:pPr>
            <a:r>
              <a:rPr lang="en-US" sz="2000" dirty="0">
                <a:cs typeface="Times New Roman" panose="02020603050405020304" pitchFamily="18" charset="0"/>
              </a:rPr>
              <a:t># Variable 'name' stores the string "Samantha"</a:t>
            </a:r>
          </a:p>
          <a:p>
            <a:pPr marL="0" indent="0">
              <a:buNone/>
            </a:pPr>
            <a:r>
              <a:rPr lang="en-US" sz="2000" dirty="0">
                <a:cs typeface="Times New Roman" panose="02020603050405020304" pitchFamily="18" charset="0"/>
              </a:rPr>
              <a:t>name = "Samantha"  </a:t>
            </a:r>
          </a:p>
          <a:p>
            <a:pPr marL="0" indent="0">
              <a:buNone/>
            </a:pPr>
            <a:endParaRPr lang="en-US" sz="2000" dirty="0">
              <a:cs typeface="Times New Roman" panose="02020603050405020304" pitchFamily="18" charset="0"/>
            </a:endParaRPr>
          </a:p>
          <a:p>
            <a:pPr marL="0" indent="0">
              <a:buNone/>
            </a:pPr>
            <a:r>
              <a:rPr lang="en-US" sz="2000" dirty="0">
                <a:cs typeface="Times New Roman" panose="02020603050405020304" pitchFamily="18" charset="0"/>
              </a:rPr>
              <a:t>print(x)</a:t>
            </a:r>
          </a:p>
          <a:p>
            <a:pPr marL="0" indent="0">
              <a:buNone/>
            </a:pPr>
            <a:r>
              <a:rPr lang="en-US" sz="2000" dirty="0">
                <a:cs typeface="Times New Roman" panose="02020603050405020304" pitchFamily="18" charset="0"/>
              </a:rPr>
              <a:t>print(name)</a:t>
            </a:r>
            <a:endParaRPr lang="en-IN" sz="2000" dirty="0">
              <a:cs typeface="Times New Roman" panose="02020603050405020304" pitchFamily="18" charset="0"/>
            </a:endParaRPr>
          </a:p>
        </p:txBody>
      </p:sp>
      <p:pic>
        <p:nvPicPr>
          <p:cNvPr id="4" name="Picture 3">
            <a:extLst>
              <a:ext uri="{FF2B5EF4-FFF2-40B4-BE49-F238E27FC236}">
                <a16:creationId xmlns:a16="http://schemas.microsoft.com/office/drawing/2014/main" id="{9A245C99-44DB-C167-24AE-A684D86DF5D2}"/>
              </a:ext>
            </a:extLst>
          </p:cNvPr>
          <p:cNvPicPr/>
          <p:nvPr/>
        </p:nvPicPr>
        <p:blipFill>
          <a:blip r:embed="rId2" cstate="print"/>
          <a:stretch/>
        </p:blipFill>
        <p:spPr>
          <a:xfrm>
            <a:off x="11353800" y="271729"/>
            <a:ext cx="688680" cy="689040"/>
          </a:xfrm>
          <a:prstGeom prst="rect">
            <a:avLst/>
          </a:prstGeom>
          <a:ln w="0">
            <a:noFill/>
          </a:ln>
        </p:spPr>
      </p:pic>
    </p:spTree>
    <p:extLst>
      <p:ext uri="{BB962C8B-B14F-4D97-AF65-F5344CB8AC3E}">
        <p14:creationId xmlns:p14="http://schemas.microsoft.com/office/powerpoint/2010/main" val="11219465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33018B2-5092-D696-814C-A12541A2277F}"/>
              </a:ext>
            </a:extLst>
          </p:cNvPr>
          <p:cNvPicPr/>
          <p:nvPr/>
        </p:nvPicPr>
        <p:blipFill>
          <a:blip r:embed="rId2" cstate="print"/>
          <a:stretch/>
        </p:blipFill>
        <p:spPr>
          <a:xfrm>
            <a:off x="11503320" y="-8003"/>
            <a:ext cx="688680" cy="689040"/>
          </a:xfrm>
          <a:prstGeom prst="rect">
            <a:avLst/>
          </a:prstGeom>
          <a:ln w="0">
            <a:noFill/>
          </a:ln>
        </p:spPr>
      </p:pic>
      <p:sp>
        <p:nvSpPr>
          <p:cNvPr id="6" name="TextBox 5">
            <a:extLst>
              <a:ext uri="{FF2B5EF4-FFF2-40B4-BE49-F238E27FC236}">
                <a16:creationId xmlns:a16="http://schemas.microsoft.com/office/drawing/2014/main" id="{E7D6390A-F5FA-0CC8-A151-4F12A84A5A90}"/>
              </a:ext>
            </a:extLst>
          </p:cNvPr>
          <p:cNvSpPr txBox="1"/>
          <p:nvPr/>
        </p:nvSpPr>
        <p:spPr>
          <a:xfrm>
            <a:off x="365761" y="847898"/>
            <a:ext cx="10988040" cy="4462760"/>
          </a:xfrm>
          <a:prstGeom prst="rect">
            <a:avLst/>
          </a:prstGeom>
          <a:noFill/>
        </p:spPr>
        <p:txBody>
          <a:bodyPr wrap="square">
            <a:spAutoFit/>
          </a:bodyPr>
          <a:lstStyle/>
          <a:p>
            <a:r>
              <a:rPr lang="en-IN" sz="2400" b="1" u="sng" dirty="0">
                <a:solidFill>
                  <a:srgbClr val="FF0000"/>
                </a:solidFill>
                <a:cs typeface="Times New Roman" panose="02020603050405020304" pitchFamily="18" charset="0"/>
              </a:rPr>
              <a:t>RULES FOR NAMING VARIABLES</a:t>
            </a:r>
          </a:p>
          <a:p>
            <a:endParaRPr lang="en-IN" sz="2000" b="1" u="sng" dirty="0">
              <a:solidFill>
                <a:srgbClr val="FF0000"/>
              </a:solidFill>
              <a:cs typeface="Times New Roman" panose="02020603050405020304" pitchFamily="18" charset="0"/>
            </a:endParaRPr>
          </a:p>
          <a:p>
            <a:pPr marL="285750" indent="-285750">
              <a:buFont typeface="Arial" panose="020B0604020202020204" pitchFamily="34" charset="0"/>
              <a:buChar char="•"/>
            </a:pPr>
            <a:r>
              <a:rPr lang="en-IN" sz="2000" dirty="0">
                <a:cs typeface="Times New Roman" panose="02020603050405020304" pitchFamily="18" charset="0"/>
              </a:rPr>
              <a:t>A variable name cannot start with a number.</a:t>
            </a:r>
          </a:p>
          <a:p>
            <a:pPr marL="285750" indent="-285750">
              <a:buFont typeface="Arial" panose="020B0604020202020204" pitchFamily="34" charset="0"/>
              <a:buChar char="•"/>
            </a:pPr>
            <a:r>
              <a:rPr lang="en-IN" sz="2000" dirty="0">
                <a:cs typeface="Times New Roman" panose="02020603050405020304" pitchFamily="18" charset="0"/>
              </a:rPr>
              <a:t>A variable name can only contain letters, digits and underscores (A-z, 0-9, and _ )</a:t>
            </a:r>
          </a:p>
          <a:p>
            <a:pPr marL="285750" indent="-285750">
              <a:buFont typeface="Arial" panose="020B0604020202020204" pitchFamily="34" charset="0"/>
              <a:buChar char="•"/>
            </a:pPr>
            <a:r>
              <a:rPr lang="en-IN" sz="2000" dirty="0">
                <a:cs typeface="Times New Roman" panose="02020603050405020304" pitchFamily="18" charset="0"/>
              </a:rPr>
              <a:t>Variable names are case-sensitive (date, Date and DATE are three different variables)</a:t>
            </a:r>
          </a:p>
          <a:p>
            <a:pPr marL="285750" indent="-285750">
              <a:buFont typeface="Arial" panose="020B0604020202020204" pitchFamily="34" charset="0"/>
              <a:buChar char="•"/>
            </a:pPr>
            <a:r>
              <a:rPr lang="en-IN" sz="2000" dirty="0">
                <a:cs typeface="Times New Roman" panose="02020603050405020304" pitchFamily="18" charset="0"/>
              </a:rPr>
              <a:t>There are several techniques to write multi words variables</a:t>
            </a:r>
          </a:p>
          <a:p>
            <a:pPr marL="0" indent="0">
              <a:buNone/>
            </a:pPr>
            <a:r>
              <a:rPr lang="en-IN" sz="2000" dirty="0">
                <a:cs typeface="Times New Roman" panose="02020603050405020304" pitchFamily="18" charset="0"/>
              </a:rPr>
              <a:t>      * Camel case ( myVariableName )</a:t>
            </a:r>
          </a:p>
          <a:p>
            <a:pPr marL="0" indent="0">
              <a:buNone/>
            </a:pPr>
            <a:r>
              <a:rPr lang="en-IN" sz="2000" dirty="0">
                <a:cs typeface="Times New Roman" panose="02020603050405020304" pitchFamily="18" charset="0"/>
              </a:rPr>
              <a:t>      * Pascal case ( MyVariableName )</a:t>
            </a:r>
          </a:p>
          <a:p>
            <a:pPr marL="0" indent="0">
              <a:buNone/>
            </a:pPr>
            <a:r>
              <a:rPr lang="en-IN" sz="2000" dirty="0">
                <a:cs typeface="Times New Roman" panose="02020603050405020304" pitchFamily="18" charset="0"/>
              </a:rPr>
              <a:t>      * Snake case ( my_variable_name )</a:t>
            </a:r>
          </a:p>
          <a:p>
            <a:pPr marL="0" indent="0">
              <a:buNone/>
            </a:pPr>
            <a:endParaRPr lang="en-IN" sz="2000" dirty="0">
              <a:cs typeface="Times New Roman" panose="02020603050405020304" pitchFamily="18" charset="0"/>
            </a:endParaRPr>
          </a:p>
          <a:p>
            <a:pPr marL="0" indent="0">
              <a:buNone/>
            </a:pPr>
            <a:r>
              <a:rPr lang="en-IN" sz="2000" b="1" dirty="0">
                <a:cs typeface="Times New Roman" panose="02020603050405020304" pitchFamily="18" charset="0"/>
              </a:rPr>
              <a:t>Example</a:t>
            </a:r>
          </a:p>
          <a:p>
            <a:pPr marL="0" indent="0">
              <a:buNone/>
            </a:pPr>
            <a:r>
              <a:rPr lang="en-US" sz="2000" dirty="0">
                <a:cs typeface="Times New Roman" panose="02020603050405020304" pitchFamily="18" charset="0"/>
              </a:rPr>
              <a:t>age = 21</a:t>
            </a:r>
          </a:p>
          <a:p>
            <a:pPr marL="0" indent="0">
              <a:buNone/>
            </a:pPr>
            <a:r>
              <a:rPr lang="en-US" sz="2000" dirty="0">
                <a:cs typeface="Times New Roman" panose="02020603050405020304" pitchFamily="18" charset="0"/>
              </a:rPr>
              <a:t>_color = "lilac"</a:t>
            </a:r>
          </a:p>
          <a:p>
            <a:pPr marL="0" indent="0">
              <a:buNone/>
            </a:pPr>
            <a:r>
              <a:rPr lang="en-US" sz="2000" dirty="0" err="1">
                <a:cs typeface="Times New Roman" panose="02020603050405020304" pitchFamily="18" charset="0"/>
              </a:rPr>
              <a:t>total_score</a:t>
            </a:r>
            <a:r>
              <a:rPr lang="en-US" sz="2000" dirty="0">
                <a:cs typeface="Times New Roman" panose="02020603050405020304" pitchFamily="18" charset="0"/>
              </a:rPr>
              <a:t> = 90</a:t>
            </a:r>
            <a:endParaRPr lang="en-IN" sz="2000" dirty="0">
              <a:cs typeface="Times New Roman" panose="02020603050405020304" pitchFamily="18" charset="0"/>
            </a:endParaRPr>
          </a:p>
        </p:txBody>
      </p:sp>
    </p:spTree>
    <p:extLst>
      <p:ext uri="{BB962C8B-B14F-4D97-AF65-F5344CB8AC3E}">
        <p14:creationId xmlns:p14="http://schemas.microsoft.com/office/powerpoint/2010/main" val="10660756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24FEFA1-A686-E6EB-88F5-F6F131F8B401}"/>
              </a:ext>
            </a:extLst>
          </p:cNvPr>
          <p:cNvSpPr txBox="1"/>
          <p:nvPr/>
        </p:nvSpPr>
        <p:spPr>
          <a:xfrm>
            <a:off x="748145" y="698269"/>
            <a:ext cx="10939550" cy="5940088"/>
          </a:xfrm>
          <a:prstGeom prst="rect">
            <a:avLst/>
          </a:prstGeom>
          <a:noFill/>
        </p:spPr>
        <p:txBody>
          <a:bodyPr wrap="square" rtlCol="0">
            <a:spAutoFit/>
          </a:bodyPr>
          <a:lstStyle/>
          <a:p>
            <a:r>
              <a:rPr lang="en-US" sz="2000" b="1" u="sng" dirty="0">
                <a:solidFill>
                  <a:srgbClr val="FF0000"/>
                </a:solidFill>
              </a:rPr>
              <a:t>MULTIPLE ASSIGNMENTS</a:t>
            </a:r>
          </a:p>
          <a:p>
            <a:endParaRPr lang="en-US" sz="2000" b="1" u="sng" dirty="0">
              <a:solidFill>
                <a:srgbClr val="FF0000"/>
              </a:solidFill>
            </a:endParaRPr>
          </a:p>
          <a:p>
            <a:pPr marL="342900" indent="-342900">
              <a:buFont typeface="Arial" panose="020B0604020202020204" pitchFamily="34" charset="0"/>
              <a:buChar char="•"/>
            </a:pPr>
            <a:r>
              <a:rPr lang="en-US" sz="2000" b="0" i="0" dirty="0">
                <a:solidFill>
                  <a:srgbClr val="273239"/>
                </a:solidFill>
                <a:effectLst/>
              </a:rPr>
              <a:t>Python allows multiple variables to be assigned values in a single line.</a:t>
            </a:r>
            <a:endParaRPr lang="en-US" sz="2000" b="1" i="0" u="sng" dirty="0">
              <a:solidFill>
                <a:srgbClr val="FF0000"/>
              </a:solidFill>
              <a:effectLst/>
            </a:endParaRPr>
          </a:p>
          <a:p>
            <a:endParaRPr lang="en-US" sz="2000" b="1" u="sng" dirty="0">
              <a:solidFill>
                <a:srgbClr val="FF0000"/>
              </a:solidFill>
            </a:endParaRPr>
          </a:p>
          <a:p>
            <a:r>
              <a:rPr lang="en-IN" sz="2000" b="1" dirty="0"/>
              <a:t>Assigning the Same Value</a:t>
            </a:r>
          </a:p>
          <a:p>
            <a:pPr marL="342900" indent="-342900">
              <a:buFont typeface="Arial" panose="020B0604020202020204" pitchFamily="34" charset="0"/>
              <a:buChar char="•"/>
            </a:pPr>
            <a:r>
              <a:rPr lang="en-US" sz="2000" b="0" i="0" dirty="0">
                <a:solidFill>
                  <a:srgbClr val="273239"/>
                </a:solidFill>
                <a:effectLst/>
              </a:rPr>
              <a:t>Python allows assigning the same value to multiple variables in a single line, which can be useful for initializing variables with the same value.</a:t>
            </a:r>
          </a:p>
          <a:p>
            <a:pPr marL="342900" indent="-342900">
              <a:buFont typeface="Arial" panose="020B0604020202020204" pitchFamily="34" charset="0"/>
              <a:buChar char="•"/>
            </a:pPr>
            <a:endParaRPr lang="en-US" sz="2000" dirty="0">
              <a:solidFill>
                <a:srgbClr val="273239"/>
              </a:solidFill>
            </a:endParaRPr>
          </a:p>
          <a:p>
            <a:r>
              <a:rPr lang="en-US" sz="2000" b="1" dirty="0">
                <a:solidFill>
                  <a:srgbClr val="273239"/>
                </a:solidFill>
              </a:rPr>
              <a:t>Example</a:t>
            </a:r>
          </a:p>
          <a:p>
            <a:r>
              <a:rPr lang="en-IN" sz="2000" dirty="0"/>
              <a:t>a = b = c = 100</a:t>
            </a:r>
          </a:p>
          <a:p>
            <a:r>
              <a:rPr lang="en-IN" sz="2000" dirty="0"/>
              <a:t>print(a, b, c)</a:t>
            </a:r>
            <a:endParaRPr lang="en-US" sz="2000" dirty="0">
              <a:solidFill>
                <a:srgbClr val="273239"/>
              </a:solidFill>
            </a:endParaRPr>
          </a:p>
          <a:p>
            <a:endParaRPr lang="en-US" sz="2000" dirty="0">
              <a:solidFill>
                <a:srgbClr val="273239"/>
              </a:solidFill>
            </a:endParaRPr>
          </a:p>
          <a:p>
            <a:r>
              <a:rPr lang="en-US" sz="2000" b="1" dirty="0">
                <a:solidFill>
                  <a:srgbClr val="273239"/>
                </a:solidFill>
              </a:rPr>
              <a:t>Assigning Different Values</a:t>
            </a:r>
          </a:p>
          <a:p>
            <a:pPr marL="342900" indent="-342900">
              <a:buFont typeface="Arial" panose="020B0604020202020204" pitchFamily="34" charset="0"/>
              <a:buChar char="•"/>
            </a:pPr>
            <a:r>
              <a:rPr lang="en-US" sz="2000" b="0" i="0" dirty="0">
                <a:solidFill>
                  <a:srgbClr val="273239"/>
                </a:solidFill>
                <a:effectLst/>
              </a:rPr>
              <a:t>We can assign different values to multiple variables simultaneously, making the code concise and easier to read.</a:t>
            </a:r>
          </a:p>
          <a:p>
            <a:pPr marL="342900" indent="-342900">
              <a:buFont typeface="Arial" panose="020B0604020202020204" pitchFamily="34" charset="0"/>
              <a:buChar char="•"/>
            </a:pPr>
            <a:endParaRPr lang="en-US" sz="2000" dirty="0">
              <a:solidFill>
                <a:srgbClr val="273239"/>
              </a:solidFill>
            </a:endParaRPr>
          </a:p>
          <a:p>
            <a:r>
              <a:rPr lang="en-US" sz="2000" b="1" dirty="0">
                <a:solidFill>
                  <a:srgbClr val="273239"/>
                </a:solidFill>
              </a:rPr>
              <a:t>Example</a:t>
            </a:r>
          </a:p>
          <a:p>
            <a:r>
              <a:rPr lang="en-IN" sz="2000" dirty="0"/>
              <a:t>x, y, z = 1, 2.5, "Python"</a:t>
            </a:r>
          </a:p>
          <a:p>
            <a:r>
              <a:rPr lang="en-IN" sz="2000" dirty="0"/>
              <a:t>print(x, y, z)</a:t>
            </a:r>
          </a:p>
        </p:txBody>
      </p:sp>
    </p:spTree>
    <p:extLst>
      <p:ext uri="{BB962C8B-B14F-4D97-AF65-F5344CB8AC3E}">
        <p14:creationId xmlns:p14="http://schemas.microsoft.com/office/powerpoint/2010/main" val="37631325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067E2-BD02-6407-4FC9-090790F85AE9}"/>
              </a:ext>
            </a:extLst>
          </p:cNvPr>
          <p:cNvSpPr>
            <a:spLocks noGrp="1"/>
          </p:cNvSpPr>
          <p:nvPr>
            <p:ph type="title"/>
          </p:nvPr>
        </p:nvSpPr>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Object References</a:t>
            </a:r>
          </a:p>
        </p:txBody>
      </p:sp>
      <p:sp>
        <p:nvSpPr>
          <p:cNvPr id="3" name="Content Placeholder 2">
            <a:extLst>
              <a:ext uri="{FF2B5EF4-FFF2-40B4-BE49-F238E27FC236}">
                <a16:creationId xmlns:a16="http://schemas.microsoft.com/office/drawing/2014/main" id="{D7B6D0E7-DC1C-A060-03AA-6343DFC7F44C}"/>
              </a:ext>
            </a:extLst>
          </p:cNvPr>
          <p:cNvSpPr>
            <a:spLocks noGrp="1"/>
          </p:cNvSpPr>
          <p:nvPr>
            <p:ph idx="1"/>
          </p:nvPr>
        </p:nvSpPr>
        <p:spPr>
          <a:xfrm>
            <a:off x="1411406" y="1825625"/>
            <a:ext cx="10515600" cy="4351338"/>
          </a:xfrm>
        </p:spPr>
        <p:txBody>
          <a:bodyPr/>
          <a:lstStyle/>
          <a:p>
            <a:pPr marL="0" indent="0">
              <a:buNone/>
            </a:pPr>
            <a:endParaRPr lang="en-IN" dirty="0"/>
          </a:p>
          <a:p>
            <a:pPr marL="0" indent="0">
              <a:buNone/>
            </a:pPr>
            <a:endParaRPr lang="en-IN" dirty="0"/>
          </a:p>
          <a:p>
            <a:pPr marL="0" indent="0">
              <a:buNone/>
            </a:pPr>
            <a:r>
              <a:rPr lang="en-IN" dirty="0"/>
              <a:t>  	  	     a    </a:t>
            </a:r>
          </a:p>
        </p:txBody>
      </p:sp>
      <p:sp>
        <p:nvSpPr>
          <p:cNvPr id="4" name="Rectangle 3">
            <a:extLst>
              <a:ext uri="{FF2B5EF4-FFF2-40B4-BE49-F238E27FC236}">
                <a16:creationId xmlns:a16="http://schemas.microsoft.com/office/drawing/2014/main" id="{2C6191DD-CA3B-92EE-0A43-27CA3E69EC07}"/>
              </a:ext>
            </a:extLst>
          </p:cNvPr>
          <p:cNvSpPr/>
          <p:nvPr/>
        </p:nvSpPr>
        <p:spPr>
          <a:xfrm>
            <a:off x="1574692" y="1825625"/>
            <a:ext cx="1583140" cy="887105"/>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 a = 50</a:t>
            </a:r>
          </a:p>
        </p:txBody>
      </p:sp>
      <p:cxnSp>
        <p:nvCxnSpPr>
          <p:cNvPr id="6" name="Straight Arrow Connector 5">
            <a:extLst>
              <a:ext uri="{FF2B5EF4-FFF2-40B4-BE49-F238E27FC236}">
                <a16:creationId xmlns:a16="http://schemas.microsoft.com/office/drawing/2014/main" id="{47BB110E-E8BB-D0E3-6B30-3FBFD5D30548}"/>
              </a:ext>
            </a:extLst>
          </p:cNvPr>
          <p:cNvCxnSpPr/>
          <p:nvPr/>
        </p:nvCxnSpPr>
        <p:spPr>
          <a:xfrm>
            <a:off x="4653887" y="3111690"/>
            <a:ext cx="1842447" cy="0"/>
          </a:xfrm>
          <a:prstGeom prst="straightConnector1">
            <a:avLst/>
          </a:prstGeom>
          <a:ln w="57150">
            <a:tailEnd type="triangle"/>
          </a:ln>
        </p:spPr>
        <p:style>
          <a:lnRef idx="3">
            <a:schemeClr val="accent1"/>
          </a:lnRef>
          <a:fillRef idx="0">
            <a:schemeClr val="accent1"/>
          </a:fillRef>
          <a:effectRef idx="2">
            <a:schemeClr val="accent1"/>
          </a:effectRef>
          <a:fontRef idx="minor">
            <a:schemeClr val="tx1"/>
          </a:fontRef>
        </p:style>
      </p:cxnSp>
      <p:sp>
        <p:nvSpPr>
          <p:cNvPr id="8" name="Rectangle: Rounded Corners 7">
            <a:extLst>
              <a:ext uri="{FF2B5EF4-FFF2-40B4-BE49-F238E27FC236}">
                <a16:creationId xmlns:a16="http://schemas.microsoft.com/office/drawing/2014/main" id="{93F9304B-4B5B-CB4F-F737-320521667976}"/>
              </a:ext>
            </a:extLst>
          </p:cNvPr>
          <p:cNvSpPr/>
          <p:nvPr/>
        </p:nvSpPr>
        <p:spPr>
          <a:xfrm>
            <a:off x="7233313" y="2292824"/>
            <a:ext cx="2156347" cy="1665027"/>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50</a:t>
            </a:r>
          </a:p>
        </p:txBody>
      </p:sp>
      <p:sp>
        <p:nvSpPr>
          <p:cNvPr id="9" name="Rectangle 8">
            <a:extLst>
              <a:ext uri="{FF2B5EF4-FFF2-40B4-BE49-F238E27FC236}">
                <a16:creationId xmlns:a16="http://schemas.microsoft.com/office/drawing/2014/main" id="{8E9A61FA-D0EE-EDDD-D698-D6B8AA14273B}"/>
              </a:ext>
            </a:extLst>
          </p:cNvPr>
          <p:cNvSpPr/>
          <p:nvPr/>
        </p:nvSpPr>
        <p:spPr>
          <a:xfrm>
            <a:off x="3157832" y="4407054"/>
            <a:ext cx="1842447" cy="709683"/>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Variable</a:t>
            </a:r>
          </a:p>
        </p:txBody>
      </p:sp>
      <p:sp>
        <p:nvSpPr>
          <p:cNvPr id="10" name="Rectangle 9">
            <a:extLst>
              <a:ext uri="{FF2B5EF4-FFF2-40B4-BE49-F238E27FC236}">
                <a16:creationId xmlns:a16="http://schemas.microsoft.com/office/drawing/2014/main" id="{D70D3DFA-02AD-C2C7-FE0A-DA676655E463}"/>
              </a:ext>
            </a:extLst>
          </p:cNvPr>
          <p:cNvSpPr/>
          <p:nvPr/>
        </p:nvSpPr>
        <p:spPr>
          <a:xfrm>
            <a:off x="7390262" y="4407054"/>
            <a:ext cx="1842447" cy="709683"/>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Object</a:t>
            </a:r>
          </a:p>
        </p:txBody>
      </p:sp>
      <p:pic>
        <p:nvPicPr>
          <p:cNvPr id="5" name="Picture 4">
            <a:extLst>
              <a:ext uri="{FF2B5EF4-FFF2-40B4-BE49-F238E27FC236}">
                <a16:creationId xmlns:a16="http://schemas.microsoft.com/office/drawing/2014/main" id="{E8A615CC-9590-5ED7-CC84-1DF4D3A12884}"/>
              </a:ext>
            </a:extLst>
          </p:cNvPr>
          <p:cNvPicPr/>
          <p:nvPr/>
        </p:nvPicPr>
        <p:blipFill>
          <a:blip r:embed="rId2" cstate="print"/>
          <a:stretch/>
        </p:blipFill>
        <p:spPr>
          <a:xfrm>
            <a:off x="11503320" y="20605"/>
            <a:ext cx="688680" cy="689040"/>
          </a:xfrm>
          <a:prstGeom prst="rect">
            <a:avLst/>
          </a:prstGeom>
          <a:ln w="0">
            <a:noFill/>
          </a:ln>
        </p:spPr>
      </p:pic>
    </p:spTree>
    <p:extLst>
      <p:ext uri="{BB962C8B-B14F-4D97-AF65-F5344CB8AC3E}">
        <p14:creationId xmlns:p14="http://schemas.microsoft.com/office/powerpoint/2010/main" val="32853631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2D2ADE-BF82-180E-F349-5CA02133B210}"/>
              </a:ext>
            </a:extLst>
          </p:cNvPr>
          <p:cNvSpPr>
            <a:spLocks noGrp="1"/>
          </p:cNvSpPr>
          <p:nvPr>
            <p:ph idx="1"/>
          </p:nvPr>
        </p:nvSpPr>
        <p:spPr>
          <a:xfrm>
            <a:off x="1083859" y="681712"/>
            <a:ext cx="10515600" cy="5494575"/>
          </a:xfrm>
        </p:spPr>
        <p:txBody>
          <a:bodyPr/>
          <a:lstStyle/>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dirty="0"/>
              <a:t>        a                                                                                                b</a:t>
            </a:r>
          </a:p>
        </p:txBody>
      </p:sp>
      <p:sp>
        <p:nvSpPr>
          <p:cNvPr id="5" name="Rectangle 4">
            <a:extLst>
              <a:ext uri="{FF2B5EF4-FFF2-40B4-BE49-F238E27FC236}">
                <a16:creationId xmlns:a16="http://schemas.microsoft.com/office/drawing/2014/main" id="{737086F9-10BF-34F2-CEB1-213A05BC1163}"/>
              </a:ext>
            </a:extLst>
          </p:cNvPr>
          <p:cNvSpPr/>
          <p:nvPr/>
        </p:nvSpPr>
        <p:spPr>
          <a:xfrm>
            <a:off x="4995082" y="681037"/>
            <a:ext cx="1473958" cy="711035"/>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 a = 50</a:t>
            </a:r>
          </a:p>
          <a:p>
            <a:pPr algn="ctr"/>
            <a:r>
              <a:rPr lang="en-IN" dirty="0"/>
              <a:t> b = a  </a:t>
            </a:r>
          </a:p>
        </p:txBody>
      </p:sp>
      <p:cxnSp>
        <p:nvCxnSpPr>
          <p:cNvPr id="7" name="Straight Arrow Connector 6">
            <a:extLst>
              <a:ext uri="{FF2B5EF4-FFF2-40B4-BE49-F238E27FC236}">
                <a16:creationId xmlns:a16="http://schemas.microsoft.com/office/drawing/2014/main" id="{96014BD9-3E7C-E047-3481-D06F1A16D728}"/>
              </a:ext>
            </a:extLst>
          </p:cNvPr>
          <p:cNvCxnSpPr>
            <a:cxnSpLocks/>
          </p:cNvCxnSpPr>
          <p:nvPr/>
        </p:nvCxnSpPr>
        <p:spPr>
          <a:xfrm>
            <a:off x="2238233" y="3429000"/>
            <a:ext cx="1842448"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 name="Rectangle: Rounded Corners 7">
            <a:extLst>
              <a:ext uri="{FF2B5EF4-FFF2-40B4-BE49-F238E27FC236}">
                <a16:creationId xmlns:a16="http://schemas.microsoft.com/office/drawing/2014/main" id="{9CA275FB-0463-EA9B-4184-17BB8EA5AAEB}"/>
              </a:ext>
            </a:extLst>
          </p:cNvPr>
          <p:cNvSpPr/>
          <p:nvPr/>
        </p:nvSpPr>
        <p:spPr>
          <a:xfrm>
            <a:off x="4435522" y="2661313"/>
            <a:ext cx="2756848" cy="1501252"/>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50</a:t>
            </a:r>
          </a:p>
        </p:txBody>
      </p:sp>
      <p:cxnSp>
        <p:nvCxnSpPr>
          <p:cNvPr id="10" name="Straight Arrow Connector 9">
            <a:extLst>
              <a:ext uri="{FF2B5EF4-FFF2-40B4-BE49-F238E27FC236}">
                <a16:creationId xmlns:a16="http://schemas.microsoft.com/office/drawing/2014/main" id="{125CE61F-4E81-DDF5-B7ED-1DF2DEBBB2EC}"/>
              </a:ext>
            </a:extLst>
          </p:cNvPr>
          <p:cNvCxnSpPr>
            <a:cxnSpLocks/>
          </p:cNvCxnSpPr>
          <p:nvPr/>
        </p:nvCxnSpPr>
        <p:spPr>
          <a:xfrm flipH="1">
            <a:off x="7737413" y="3436257"/>
            <a:ext cx="1869744"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887F63AB-951C-61D3-13DB-D2B3F7573CFA}"/>
              </a:ext>
            </a:extLst>
          </p:cNvPr>
          <p:cNvSpPr/>
          <p:nvPr/>
        </p:nvSpPr>
        <p:spPr>
          <a:xfrm>
            <a:off x="1132764" y="4162565"/>
            <a:ext cx="1842448" cy="627797"/>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Variable</a:t>
            </a:r>
          </a:p>
        </p:txBody>
      </p:sp>
      <p:sp>
        <p:nvSpPr>
          <p:cNvPr id="15" name="Rectangle 14">
            <a:extLst>
              <a:ext uri="{FF2B5EF4-FFF2-40B4-BE49-F238E27FC236}">
                <a16:creationId xmlns:a16="http://schemas.microsoft.com/office/drawing/2014/main" id="{CC074B2C-7AFE-7738-5302-1BB324899D31}"/>
              </a:ext>
            </a:extLst>
          </p:cNvPr>
          <p:cNvSpPr/>
          <p:nvPr/>
        </p:nvSpPr>
        <p:spPr>
          <a:xfrm>
            <a:off x="4728950" y="4855527"/>
            <a:ext cx="2006221" cy="627797"/>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Object</a:t>
            </a:r>
          </a:p>
        </p:txBody>
      </p:sp>
      <p:sp>
        <p:nvSpPr>
          <p:cNvPr id="16" name="Rectangle 15">
            <a:extLst>
              <a:ext uri="{FF2B5EF4-FFF2-40B4-BE49-F238E27FC236}">
                <a16:creationId xmlns:a16="http://schemas.microsoft.com/office/drawing/2014/main" id="{0A550E41-C6C9-632A-1D99-4D556B00F33C}"/>
              </a:ext>
            </a:extLst>
          </p:cNvPr>
          <p:cNvSpPr/>
          <p:nvPr/>
        </p:nvSpPr>
        <p:spPr>
          <a:xfrm>
            <a:off x="8869907" y="4042010"/>
            <a:ext cx="2006221" cy="627797"/>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Variable</a:t>
            </a:r>
          </a:p>
        </p:txBody>
      </p:sp>
      <p:pic>
        <p:nvPicPr>
          <p:cNvPr id="2" name="Picture 1">
            <a:extLst>
              <a:ext uri="{FF2B5EF4-FFF2-40B4-BE49-F238E27FC236}">
                <a16:creationId xmlns:a16="http://schemas.microsoft.com/office/drawing/2014/main" id="{EC9021AC-E5C2-1C45-8C6F-CD437CD94AC4}"/>
              </a:ext>
            </a:extLst>
          </p:cNvPr>
          <p:cNvPicPr/>
          <p:nvPr/>
        </p:nvPicPr>
        <p:blipFill>
          <a:blip r:embed="rId2" cstate="print"/>
          <a:stretch/>
        </p:blipFill>
        <p:spPr>
          <a:xfrm>
            <a:off x="11503320" y="0"/>
            <a:ext cx="688680" cy="689040"/>
          </a:xfrm>
          <a:prstGeom prst="rect">
            <a:avLst/>
          </a:prstGeom>
          <a:ln w="0">
            <a:noFill/>
          </a:ln>
        </p:spPr>
      </p:pic>
    </p:spTree>
    <p:extLst>
      <p:ext uri="{BB962C8B-B14F-4D97-AF65-F5344CB8AC3E}">
        <p14:creationId xmlns:p14="http://schemas.microsoft.com/office/powerpoint/2010/main" val="12657344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00EB37-3852-DE7C-1618-76B3AD95E3BD}"/>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FE97FC1D-43F7-D8BA-A323-4B6F49F84742}"/>
              </a:ext>
            </a:extLst>
          </p:cNvPr>
          <p:cNvSpPr txBox="1"/>
          <p:nvPr/>
        </p:nvSpPr>
        <p:spPr>
          <a:xfrm>
            <a:off x="1504546" y="1534923"/>
            <a:ext cx="10343114" cy="3785652"/>
          </a:xfrm>
          <a:prstGeom prst="rect">
            <a:avLst/>
          </a:prstGeom>
          <a:noFill/>
        </p:spPr>
        <p:txBody>
          <a:bodyPr wrap="square">
            <a:spAutoFit/>
          </a:bodyPr>
          <a:lstStyle/>
          <a:p>
            <a:pPr marL="0" indent="0">
              <a:buNone/>
            </a:pPr>
            <a:r>
              <a:rPr lang="en-IN" sz="2000" b="1" u="sng" dirty="0">
                <a:solidFill>
                  <a:srgbClr val="FF0000"/>
                </a:solidFill>
                <a:cs typeface="Times New Roman" panose="02020603050405020304" pitchFamily="18" charset="0"/>
              </a:rPr>
              <a:t>GETTING THE TYPE OF VARIABLE</a:t>
            </a:r>
          </a:p>
          <a:p>
            <a:pPr marL="0" indent="0">
              <a:buNone/>
            </a:pPr>
            <a:endParaRPr lang="en-IN" sz="2000" b="1" i="1" dirty="0">
              <a:solidFill>
                <a:srgbClr val="FF0000"/>
              </a:solidFill>
              <a:cs typeface="Times New Roman" panose="02020603050405020304" pitchFamily="18" charset="0"/>
            </a:endParaRPr>
          </a:p>
          <a:p>
            <a:pPr marL="342900" indent="-342900">
              <a:buFont typeface="Arial" panose="020B0604020202020204" pitchFamily="34" charset="0"/>
              <a:buChar char="•"/>
            </a:pPr>
            <a:r>
              <a:rPr lang="en-US" sz="2000" b="0" i="0" dirty="0">
                <a:solidFill>
                  <a:srgbClr val="273239"/>
                </a:solidFill>
                <a:effectLst/>
              </a:rPr>
              <a:t>In Python, we can determine the type of a variable using the </a:t>
            </a:r>
            <a:r>
              <a:rPr lang="en-US" sz="2000" b="1" i="0" dirty="0">
                <a:solidFill>
                  <a:srgbClr val="273239"/>
                </a:solidFill>
                <a:effectLst/>
              </a:rPr>
              <a:t>type()</a:t>
            </a:r>
            <a:r>
              <a:rPr lang="en-US" sz="2000" b="0" i="0" dirty="0">
                <a:solidFill>
                  <a:srgbClr val="273239"/>
                </a:solidFill>
                <a:effectLst/>
              </a:rPr>
              <a:t> function. </a:t>
            </a:r>
          </a:p>
          <a:p>
            <a:pPr marL="342900" indent="-342900">
              <a:buFont typeface="Arial" panose="020B0604020202020204" pitchFamily="34" charset="0"/>
              <a:buChar char="•"/>
            </a:pPr>
            <a:r>
              <a:rPr lang="en-US" sz="2000" b="0" i="0" dirty="0">
                <a:solidFill>
                  <a:srgbClr val="273239"/>
                </a:solidFill>
                <a:effectLst/>
              </a:rPr>
              <a:t>This built-in function returns the type of the object passed to it.</a:t>
            </a:r>
            <a:r>
              <a:rPr lang="en-IN" sz="2000" dirty="0">
                <a:cs typeface="Times New Roman" panose="02020603050405020304" pitchFamily="18" charset="0"/>
              </a:rPr>
              <a:t>.</a:t>
            </a:r>
          </a:p>
          <a:p>
            <a:pPr marL="0" indent="0">
              <a:buNone/>
            </a:pPr>
            <a:endParaRPr lang="en-IN" sz="2000" dirty="0">
              <a:cs typeface="Times New Roman" panose="02020603050405020304" pitchFamily="18" charset="0"/>
            </a:endParaRPr>
          </a:p>
          <a:p>
            <a:pPr marL="0" indent="0">
              <a:buNone/>
            </a:pPr>
            <a:r>
              <a:rPr lang="en-IN" sz="2000" b="1" dirty="0">
                <a:cs typeface="Times New Roman" panose="02020603050405020304" pitchFamily="18" charset="0"/>
              </a:rPr>
              <a:t>Example</a:t>
            </a:r>
          </a:p>
          <a:p>
            <a:r>
              <a:rPr lang="en-IN" sz="2000" dirty="0">
                <a:cs typeface="Times New Roman" panose="02020603050405020304" pitchFamily="18" charset="0"/>
              </a:rPr>
              <a:t>x = 5</a:t>
            </a:r>
          </a:p>
          <a:p>
            <a:r>
              <a:rPr lang="en-IN" sz="2000" dirty="0">
                <a:cs typeface="Times New Roman" panose="02020603050405020304" pitchFamily="18" charset="0"/>
              </a:rPr>
              <a:t>y = “Ram”</a:t>
            </a:r>
          </a:p>
          <a:p>
            <a:r>
              <a:rPr lang="en-IN" sz="2000" dirty="0">
                <a:cs typeface="Times New Roman" panose="02020603050405020304" pitchFamily="18" charset="0"/>
              </a:rPr>
              <a:t>print(type(x))		</a:t>
            </a:r>
          </a:p>
          <a:p>
            <a:r>
              <a:rPr lang="en-IN" sz="2000" dirty="0">
                <a:cs typeface="Times New Roman" panose="02020603050405020304" pitchFamily="18" charset="0"/>
              </a:rPr>
              <a:t>print(type(y))	</a:t>
            </a:r>
          </a:p>
          <a:p>
            <a:pPr marL="0" indent="0">
              <a:buNone/>
            </a:pPr>
            <a:endParaRPr lang="en-IN" sz="2000" b="1" dirty="0">
              <a:cs typeface="Times New Roman" panose="02020603050405020304" pitchFamily="18" charset="0"/>
            </a:endParaRPr>
          </a:p>
          <a:p>
            <a:pPr marL="0" indent="0">
              <a:buNone/>
            </a:pPr>
            <a:r>
              <a:rPr lang="en-IN" sz="2000" b="1" dirty="0">
                <a:cs typeface="Times New Roman" panose="02020603050405020304" pitchFamily="18" charset="0"/>
              </a:rPr>
              <a:t>	</a:t>
            </a:r>
          </a:p>
        </p:txBody>
      </p:sp>
    </p:spTree>
    <p:extLst>
      <p:ext uri="{BB962C8B-B14F-4D97-AF65-F5344CB8AC3E}">
        <p14:creationId xmlns:p14="http://schemas.microsoft.com/office/powerpoint/2010/main" val="933079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8200016-0355-DC2A-76DE-BDB1C32EA872}"/>
              </a:ext>
            </a:extLst>
          </p:cNvPr>
          <p:cNvPicPr/>
          <p:nvPr/>
        </p:nvPicPr>
        <p:blipFill>
          <a:blip r:embed="rId2" cstate="print"/>
          <a:stretch/>
        </p:blipFill>
        <p:spPr>
          <a:xfrm>
            <a:off x="11353800" y="220746"/>
            <a:ext cx="688680" cy="689040"/>
          </a:xfrm>
          <a:prstGeom prst="rect">
            <a:avLst/>
          </a:prstGeom>
          <a:ln w="0">
            <a:noFill/>
          </a:ln>
        </p:spPr>
      </p:pic>
      <p:sp>
        <p:nvSpPr>
          <p:cNvPr id="5" name="Rectangle 4">
            <a:extLst>
              <a:ext uri="{FF2B5EF4-FFF2-40B4-BE49-F238E27FC236}">
                <a16:creationId xmlns:a16="http://schemas.microsoft.com/office/drawing/2014/main" id="{A3B5AADE-AC1D-F882-FB7A-E6E2DB53B5FA}"/>
              </a:ext>
            </a:extLst>
          </p:cNvPr>
          <p:cNvSpPr/>
          <p:nvPr/>
        </p:nvSpPr>
        <p:spPr>
          <a:xfrm>
            <a:off x="1130531" y="1197032"/>
            <a:ext cx="3541223" cy="1323439"/>
          </a:xfrm>
          <a:prstGeom prst="rect">
            <a:avLst/>
          </a:prstGeom>
          <a:effectLst>
            <a:glow rad="63500">
              <a:schemeClr val="accent1">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N" sz="2000" b="1" dirty="0"/>
          </a:p>
        </p:txBody>
      </p:sp>
      <p:sp>
        <p:nvSpPr>
          <p:cNvPr id="6" name="TextBox 5">
            <a:extLst>
              <a:ext uri="{FF2B5EF4-FFF2-40B4-BE49-F238E27FC236}">
                <a16:creationId xmlns:a16="http://schemas.microsoft.com/office/drawing/2014/main" id="{75D6BB15-7BBA-E5E7-815B-FA24BF1E86CB}"/>
              </a:ext>
            </a:extLst>
          </p:cNvPr>
          <p:cNvSpPr txBox="1"/>
          <p:nvPr/>
        </p:nvSpPr>
        <p:spPr>
          <a:xfrm>
            <a:off x="1180407" y="1197030"/>
            <a:ext cx="3424844" cy="1323439"/>
          </a:xfrm>
          <a:prstGeom prst="rect">
            <a:avLst/>
          </a:prstGeom>
          <a:noFill/>
        </p:spPr>
        <p:txBody>
          <a:bodyPr wrap="square" rtlCol="0">
            <a:spAutoFit/>
          </a:bodyPr>
          <a:lstStyle/>
          <a:p>
            <a:r>
              <a:rPr lang="en-US" sz="2000" b="1" dirty="0"/>
              <a:t>NUMERIC TYPES</a:t>
            </a:r>
          </a:p>
          <a:p>
            <a:pPr marL="342900" indent="-342900">
              <a:buFont typeface="Arial" panose="020B0604020202020204" pitchFamily="34" charset="0"/>
              <a:buChar char="•"/>
            </a:pPr>
            <a:r>
              <a:rPr lang="en-US" sz="2000" dirty="0"/>
              <a:t>int</a:t>
            </a:r>
          </a:p>
          <a:p>
            <a:pPr marL="342900" indent="-342900">
              <a:buFont typeface="Arial" panose="020B0604020202020204" pitchFamily="34" charset="0"/>
              <a:buChar char="•"/>
            </a:pPr>
            <a:r>
              <a:rPr lang="en-US" sz="2000" dirty="0"/>
              <a:t>float</a:t>
            </a:r>
          </a:p>
          <a:p>
            <a:pPr marL="342900" indent="-342900">
              <a:buFont typeface="Arial" panose="020B0604020202020204" pitchFamily="34" charset="0"/>
              <a:buChar char="•"/>
            </a:pPr>
            <a:r>
              <a:rPr lang="en-US" sz="2000" dirty="0"/>
              <a:t>complex</a:t>
            </a:r>
            <a:endParaRPr lang="en-IN" sz="2000" dirty="0"/>
          </a:p>
        </p:txBody>
      </p:sp>
      <p:sp>
        <p:nvSpPr>
          <p:cNvPr id="7" name="Rectangle 6">
            <a:extLst>
              <a:ext uri="{FF2B5EF4-FFF2-40B4-BE49-F238E27FC236}">
                <a16:creationId xmlns:a16="http://schemas.microsoft.com/office/drawing/2014/main" id="{C3088118-3639-A59A-1481-BF1A8B660B8C}"/>
              </a:ext>
            </a:extLst>
          </p:cNvPr>
          <p:cNvSpPr/>
          <p:nvPr/>
        </p:nvSpPr>
        <p:spPr>
          <a:xfrm>
            <a:off x="6237316" y="1197031"/>
            <a:ext cx="3541223" cy="1323439"/>
          </a:xfrm>
          <a:prstGeom prst="rect">
            <a:avLst/>
          </a:prstGeom>
          <a:effectLst>
            <a:glow rad="63500">
              <a:schemeClr val="accent1">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N" sz="2000" b="1" dirty="0"/>
          </a:p>
        </p:txBody>
      </p:sp>
      <p:sp>
        <p:nvSpPr>
          <p:cNvPr id="8" name="Rectangle 7">
            <a:extLst>
              <a:ext uri="{FF2B5EF4-FFF2-40B4-BE49-F238E27FC236}">
                <a16:creationId xmlns:a16="http://schemas.microsoft.com/office/drawing/2014/main" id="{0E75F695-3D64-74D3-D7E3-F368D5E403FC}"/>
              </a:ext>
            </a:extLst>
          </p:cNvPr>
          <p:cNvSpPr/>
          <p:nvPr/>
        </p:nvSpPr>
        <p:spPr>
          <a:xfrm>
            <a:off x="1130530" y="3014090"/>
            <a:ext cx="3541223" cy="1323439"/>
          </a:xfrm>
          <a:prstGeom prst="rect">
            <a:avLst/>
          </a:prstGeom>
          <a:effectLst>
            <a:glow rad="63500">
              <a:schemeClr val="accent1">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N" sz="2000" b="1" dirty="0"/>
          </a:p>
        </p:txBody>
      </p:sp>
      <p:sp>
        <p:nvSpPr>
          <p:cNvPr id="9" name="Rectangle 8">
            <a:extLst>
              <a:ext uri="{FF2B5EF4-FFF2-40B4-BE49-F238E27FC236}">
                <a16:creationId xmlns:a16="http://schemas.microsoft.com/office/drawing/2014/main" id="{86006BBD-B5E0-312E-AD16-99D82286F438}"/>
              </a:ext>
            </a:extLst>
          </p:cNvPr>
          <p:cNvSpPr/>
          <p:nvPr/>
        </p:nvSpPr>
        <p:spPr>
          <a:xfrm>
            <a:off x="6237315" y="3014090"/>
            <a:ext cx="3541223" cy="1323439"/>
          </a:xfrm>
          <a:prstGeom prst="rect">
            <a:avLst/>
          </a:prstGeom>
          <a:effectLst>
            <a:glow rad="63500">
              <a:schemeClr val="accent1">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N" sz="2000" b="1" dirty="0"/>
          </a:p>
        </p:txBody>
      </p:sp>
      <p:sp>
        <p:nvSpPr>
          <p:cNvPr id="10" name="Rectangle 9">
            <a:extLst>
              <a:ext uri="{FF2B5EF4-FFF2-40B4-BE49-F238E27FC236}">
                <a16:creationId xmlns:a16="http://schemas.microsoft.com/office/drawing/2014/main" id="{8FD00A11-0FB6-45CA-1AAD-2148D2AAEED4}"/>
              </a:ext>
            </a:extLst>
          </p:cNvPr>
          <p:cNvSpPr/>
          <p:nvPr/>
        </p:nvSpPr>
        <p:spPr>
          <a:xfrm>
            <a:off x="1138842" y="4831147"/>
            <a:ext cx="3541223" cy="1323439"/>
          </a:xfrm>
          <a:prstGeom prst="rect">
            <a:avLst/>
          </a:prstGeom>
          <a:effectLst>
            <a:glow rad="63500">
              <a:schemeClr val="accent1">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N" sz="2000" b="1" dirty="0"/>
          </a:p>
        </p:txBody>
      </p:sp>
      <p:sp>
        <p:nvSpPr>
          <p:cNvPr id="11" name="Rectangle 10">
            <a:extLst>
              <a:ext uri="{FF2B5EF4-FFF2-40B4-BE49-F238E27FC236}">
                <a16:creationId xmlns:a16="http://schemas.microsoft.com/office/drawing/2014/main" id="{B504EEAB-4BE8-9CAF-93E4-60AF801B0AF9}"/>
              </a:ext>
            </a:extLst>
          </p:cNvPr>
          <p:cNvSpPr/>
          <p:nvPr/>
        </p:nvSpPr>
        <p:spPr>
          <a:xfrm>
            <a:off x="6237314" y="4831147"/>
            <a:ext cx="3541223" cy="1323439"/>
          </a:xfrm>
          <a:prstGeom prst="rect">
            <a:avLst/>
          </a:prstGeom>
          <a:effectLst>
            <a:glow rad="63500">
              <a:schemeClr val="accent1">
                <a:satMod val="175000"/>
                <a:alpha val="40000"/>
              </a:schemeClr>
            </a:glo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IN" sz="2000" b="1" dirty="0"/>
          </a:p>
        </p:txBody>
      </p:sp>
      <p:sp>
        <p:nvSpPr>
          <p:cNvPr id="12" name="TextBox 11">
            <a:extLst>
              <a:ext uri="{FF2B5EF4-FFF2-40B4-BE49-F238E27FC236}">
                <a16:creationId xmlns:a16="http://schemas.microsoft.com/office/drawing/2014/main" id="{4AF9937A-33E6-4F8B-9701-91C9EC5D9037}"/>
              </a:ext>
            </a:extLst>
          </p:cNvPr>
          <p:cNvSpPr txBox="1"/>
          <p:nvPr/>
        </p:nvSpPr>
        <p:spPr>
          <a:xfrm>
            <a:off x="6400799" y="1197031"/>
            <a:ext cx="3158837" cy="707886"/>
          </a:xfrm>
          <a:prstGeom prst="rect">
            <a:avLst/>
          </a:prstGeom>
          <a:noFill/>
        </p:spPr>
        <p:txBody>
          <a:bodyPr wrap="square" rtlCol="0">
            <a:spAutoFit/>
          </a:bodyPr>
          <a:lstStyle/>
          <a:p>
            <a:r>
              <a:rPr lang="en-US" sz="2000" b="1" dirty="0"/>
              <a:t>TEXT TYPE</a:t>
            </a:r>
          </a:p>
          <a:p>
            <a:pPr marL="342900" indent="-342900">
              <a:buFont typeface="Arial" panose="020B0604020202020204" pitchFamily="34" charset="0"/>
              <a:buChar char="•"/>
            </a:pPr>
            <a:r>
              <a:rPr lang="en-US" sz="2000" dirty="0"/>
              <a:t>str</a:t>
            </a:r>
            <a:endParaRPr lang="en-IN" sz="2000" dirty="0"/>
          </a:p>
        </p:txBody>
      </p:sp>
      <p:sp>
        <p:nvSpPr>
          <p:cNvPr id="13" name="TextBox 12">
            <a:extLst>
              <a:ext uri="{FF2B5EF4-FFF2-40B4-BE49-F238E27FC236}">
                <a16:creationId xmlns:a16="http://schemas.microsoft.com/office/drawing/2014/main" id="{51DC11D0-9B66-3916-0F2A-F8A36FEBCD7E}"/>
              </a:ext>
            </a:extLst>
          </p:cNvPr>
          <p:cNvSpPr txBox="1"/>
          <p:nvPr/>
        </p:nvSpPr>
        <p:spPr>
          <a:xfrm>
            <a:off x="1246910" y="3014090"/>
            <a:ext cx="3291839" cy="1015663"/>
          </a:xfrm>
          <a:prstGeom prst="rect">
            <a:avLst/>
          </a:prstGeom>
          <a:noFill/>
        </p:spPr>
        <p:txBody>
          <a:bodyPr wrap="square" rtlCol="0">
            <a:spAutoFit/>
          </a:bodyPr>
          <a:lstStyle/>
          <a:p>
            <a:r>
              <a:rPr lang="en-US" sz="2000" b="1" dirty="0"/>
              <a:t>SEQUENCE TYPES</a:t>
            </a:r>
          </a:p>
          <a:p>
            <a:pPr marL="342900" indent="-342900">
              <a:buFont typeface="Arial" panose="020B0604020202020204" pitchFamily="34" charset="0"/>
              <a:buChar char="•"/>
            </a:pPr>
            <a:r>
              <a:rPr lang="en-US" sz="2000" dirty="0"/>
              <a:t>List</a:t>
            </a:r>
          </a:p>
          <a:p>
            <a:pPr marL="342900" indent="-342900">
              <a:buFont typeface="Arial" panose="020B0604020202020204" pitchFamily="34" charset="0"/>
              <a:buChar char="•"/>
            </a:pPr>
            <a:r>
              <a:rPr lang="en-US" sz="2000" dirty="0"/>
              <a:t>Tuple</a:t>
            </a:r>
          </a:p>
        </p:txBody>
      </p:sp>
      <p:sp>
        <p:nvSpPr>
          <p:cNvPr id="14" name="TextBox 13">
            <a:extLst>
              <a:ext uri="{FF2B5EF4-FFF2-40B4-BE49-F238E27FC236}">
                <a16:creationId xmlns:a16="http://schemas.microsoft.com/office/drawing/2014/main" id="{F63C1039-3A68-00D0-FB54-07778354573F}"/>
              </a:ext>
            </a:extLst>
          </p:cNvPr>
          <p:cNvSpPr txBox="1"/>
          <p:nvPr/>
        </p:nvSpPr>
        <p:spPr>
          <a:xfrm>
            <a:off x="1130530" y="4831144"/>
            <a:ext cx="3549535" cy="707886"/>
          </a:xfrm>
          <a:prstGeom prst="rect">
            <a:avLst/>
          </a:prstGeom>
          <a:noFill/>
        </p:spPr>
        <p:txBody>
          <a:bodyPr wrap="square" rtlCol="0">
            <a:spAutoFit/>
          </a:bodyPr>
          <a:lstStyle/>
          <a:p>
            <a:r>
              <a:rPr lang="en-US" sz="2000" b="1" dirty="0"/>
              <a:t>MAPPING TYPE</a:t>
            </a:r>
          </a:p>
          <a:p>
            <a:pPr marL="342900" indent="-342900">
              <a:buFont typeface="Arial" panose="020B0604020202020204" pitchFamily="34" charset="0"/>
              <a:buChar char="•"/>
            </a:pPr>
            <a:r>
              <a:rPr lang="en-US" sz="2000" dirty="0"/>
              <a:t>Dictionary</a:t>
            </a:r>
            <a:endParaRPr lang="en-IN" sz="2000" dirty="0"/>
          </a:p>
        </p:txBody>
      </p:sp>
      <p:sp>
        <p:nvSpPr>
          <p:cNvPr id="15" name="TextBox 14">
            <a:extLst>
              <a:ext uri="{FF2B5EF4-FFF2-40B4-BE49-F238E27FC236}">
                <a16:creationId xmlns:a16="http://schemas.microsoft.com/office/drawing/2014/main" id="{0F077FD8-0146-2D5D-F405-0B4216316375}"/>
              </a:ext>
            </a:extLst>
          </p:cNvPr>
          <p:cNvSpPr txBox="1"/>
          <p:nvPr/>
        </p:nvSpPr>
        <p:spPr>
          <a:xfrm flipH="1">
            <a:off x="6237312" y="3014086"/>
            <a:ext cx="3541223" cy="707887"/>
          </a:xfrm>
          <a:prstGeom prst="rect">
            <a:avLst/>
          </a:prstGeom>
          <a:noFill/>
        </p:spPr>
        <p:txBody>
          <a:bodyPr wrap="square" rtlCol="0">
            <a:spAutoFit/>
          </a:bodyPr>
          <a:lstStyle/>
          <a:p>
            <a:r>
              <a:rPr lang="en-US" sz="2000" b="1" dirty="0"/>
              <a:t>SET TYPE</a:t>
            </a:r>
          </a:p>
          <a:p>
            <a:pPr marL="342900" indent="-342900">
              <a:buFont typeface="Arial" panose="020B0604020202020204" pitchFamily="34" charset="0"/>
              <a:buChar char="•"/>
            </a:pPr>
            <a:r>
              <a:rPr lang="en-US" sz="2000" dirty="0"/>
              <a:t>Set </a:t>
            </a:r>
            <a:endParaRPr lang="en-IN" sz="2000" dirty="0"/>
          </a:p>
        </p:txBody>
      </p:sp>
      <p:sp>
        <p:nvSpPr>
          <p:cNvPr id="16" name="TextBox 15">
            <a:extLst>
              <a:ext uri="{FF2B5EF4-FFF2-40B4-BE49-F238E27FC236}">
                <a16:creationId xmlns:a16="http://schemas.microsoft.com/office/drawing/2014/main" id="{093BE9D0-C1CA-44C8-5E90-E996C927C71A}"/>
              </a:ext>
            </a:extLst>
          </p:cNvPr>
          <p:cNvSpPr txBox="1"/>
          <p:nvPr/>
        </p:nvSpPr>
        <p:spPr>
          <a:xfrm>
            <a:off x="6237314" y="4831147"/>
            <a:ext cx="3541223" cy="707886"/>
          </a:xfrm>
          <a:prstGeom prst="rect">
            <a:avLst/>
          </a:prstGeom>
          <a:noFill/>
        </p:spPr>
        <p:txBody>
          <a:bodyPr wrap="square" rtlCol="0">
            <a:spAutoFit/>
          </a:bodyPr>
          <a:lstStyle/>
          <a:p>
            <a:r>
              <a:rPr lang="en-US" sz="2000" b="1" dirty="0"/>
              <a:t>BOOLEAN TYPE</a:t>
            </a:r>
          </a:p>
          <a:p>
            <a:pPr marL="342900" indent="-342900">
              <a:buFont typeface="Arial" panose="020B0604020202020204" pitchFamily="34" charset="0"/>
              <a:buChar char="•"/>
            </a:pPr>
            <a:r>
              <a:rPr lang="en-US" sz="2000" dirty="0"/>
              <a:t>bool</a:t>
            </a:r>
            <a:endParaRPr lang="en-IN" sz="2000" dirty="0"/>
          </a:p>
        </p:txBody>
      </p:sp>
      <p:sp>
        <p:nvSpPr>
          <p:cNvPr id="18" name="TextBox 17">
            <a:extLst>
              <a:ext uri="{FF2B5EF4-FFF2-40B4-BE49-F238E27FC236}">
                <a16:creationId xmlns:a16="http://schemas.microsoft.com/office/drawing/2014/main" id="{13B7AE55-1F67-41EE-A7F3-C40F15699801}"/>
              </a:ext>
            </a:extLst>
          </p:cNvPr>
          <p:cNvSpPr txBox="1"/>
          <p:nvPr/>
        </p:nvSpPr>
        <p:spPr>
          <a:xfrm>
            <a:off x="2177935" y="220746"/>
            <a:ext cx="6961908" cy="769441"/>
          </a:xfrm>
          <a:prstGeom prst="rect">
            <a:avLst/>
          </a:prstGeom>
          <a:noFill/>
        </p:spPr>
        <p:txBody>
          <a:bodyPr wrap="square">
            <a:spAutoFit/>
          </a:bodyPr>
          <a:lstStyle/>
          <a:p>
            <a:pPr algn="ctr"/>
            <a:r>
              <a:rPr lang="en-US" sz="4400" b="1" i="1" dirty="0">
                <a:solidFill>
                  <a:srgbClr val="FF0000"/>
                </a:solidFill>
                <a:effectLst>
                  <a:outerShdw blurRad="38100" dist="38100" dir="2700000" algn="tl">
                    <a:srgbClr val="000000">
                      <a:alpha val="43137"/>
                    </a:srgbClr>
                  </a:outerShdw>
                </a:effectLst>
              </a:rPr>
              <a:t>PYTHON DATA TYPES</a:t>
            </a:r>
            <a:endParaRPr lang="en-IN" sz="4400" b="1" i="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2755366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FF035-29C7-C87C-CAF5-CC8C8BAB4BC0}"/>
              </a:ext>
            </a:extLst>
          </p:cNvPr>
          <p:cNvSpPr>
            <a:spLocks noGrp="1"/>
          </p:cNvSpPr>
          <p:nvPr>
            <p:ph type="title"/>
          </p:nvPr>
        </p:nvSpPr>
        <p:spPr/>
        <p:txBody>
          <a:bodyPr/>
          <a:lstStyle/>
          <a:p>
            <a:pPr algn="ctr"/>
            <a:r>
              <a:rPr lang="en-US"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NUMERIC DATA TYPE</a:t>
            </a:r>
            <a:endPar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endParaRPr>
          </a:p>
        </p:txBody>
      </p:sp>
      <p:sp>
        <p:nvSpPr>
          <p:cNvPr id="6" name="Rectangle: Rounded Corners 5">
            <a:extLst>
              <a:ext uri="{FF2B5EF4-FFF2-40B4-BE49-F238E27FC236}">
                <a16:creationId xmlns:a16="http://schemas.microsoft.com/office/drawing/2014/main" id="{FA038821-D35C-C297-7332-CEE2C2364B71}"/>
              </a:ext>
            </a:extLst>
          </p:cNvPr>
          <p:cNvSpPr/>
          <p:nvPr/>
        </p:nvSpPr>
        <p:spPr>
          <a:xfrm>
            <a:off x="5056909" y="1995054"/>
            <a:ext cx="2108662" cy="803564"/>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latin typeface="Times New Roman" panose="02020603050405020304" pitchFamily="18" charset="0"/>
                <a:cs typeface="Times New Roman" panose="02020603050405020304" pitchFamily="18" charset="0"/>
              </a:rPr>
              <a:t>Numeric</a:t>
            </a:r>
            <a:r>
              <a:rPr lang="en-IN" sz="28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Data</a:t>
            </a:r>
            <a:r>
              <a:rPr lang="en-IN" sz="28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Type</a:t>
            </a:r>
          </a:p>
        </p:txBody>
      </p:sp>
      <p:sp>
        <p:nvSpPr>
          <p:cNvPr id="7" name="Oval 6">
            <a:extLst>
              <a:ext uri="{FF2B5EF4-FFF2-40B4-BE49-F238E27FC236}">
                <a16:creationId xmlns:a16="http://schemas.microsoft.com/office/drawing/2014/main" id="{CEF28876-FB15-390F-B299-C2D6E24D93D1}"/>
              </a:ext>
            </a:extLst>
          </p:cNvPr>
          <p:cNvSpPr/>
          <p:nvPr/>
        </p:nvSpPr>
        <p:spPr>
          <a:xfrm>
            <a:off x="3048000" y="4308764"/>
            <a:ext cx="1745673" cy="1066800"/>
          </a:xfrm>
          <a:prstGeom prst="ellipse">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latin typeface="Times New Roman" panose="02020603050405020304" pitchFamily="18" charset="0"/>
                <a:cs typeface="Times New Roman" panose="02020603050405020304" pitchFamily="18" charset="0"/>
              </a:rPr>
              <a:t>int</a:t>
            </a:r>
          </a:p>
        </p:txBody>
      </p:sp>
      <p:sp>
        <p:nvSpPr>
          <p:cNvPr id="9" name="Oval 8">
            <a:extLst>
              <a:ext uri="{FF2B5EF4-FFF2-40B4-BE49-F238E27FC236}">
                <a16:creationId xmlns:a16="http://schemas.microsoft.com/office/drawing/2014/main" id="{3DED9729-39EE-1365-C2EE-3CE4609CF58A}"/>
              </a:ext>
            </a:extLst>
          </p:cNvPr>
          <p:cNvSpPr/>
          <p:nvPr/>
        </p:nvSpPr>
        <p:spPr>
          <a:xfrm>
            <a:off x="5410200" y="4455622"/>
            <a:ext cx="1634837" cy="1066800"/>
          </a:xfrm>
          <a:prstGeom prst="ellipse">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latin typeface="Times New Roman" panose="02020603050405020304" pitchFamily="18" charset="0"/>
                <a:cs typeface="Times New Roman" panose="02020603050405020304" pitchFamily="18" charset="0"/>
              </a:rPr>
              <a:t>float</a:t>
            </a:r>
          </a:p>
        </p:txBody>
      </p:sp>
      <p:sp>
        <p:nvSpPr>
          <p:cNvPr id="10" name="Oval 9">
            <a:extLst>
              <a:ext uri="{FF2B5EF4-FFF2-40B4-BE49-F238E27FC236}">
                <a16:creationId xmlns:a16="http://schemas.microsoft.com/office/drawing/2014/main" id="{67764CDB-F6D4-E783-1556-8F7B99A1B373}"/>
              </a:ext>
            </a:extLst>
          </p:cNvPr>
          <p:cNvSpPr/>
          <p:nvPr/>
        </p:nvSpPr>
        <p:spPr>
          <a:xfrm>
            <a:off x="7807036" y="4308763"/>
            <a:ext cx="1530928" cy="1205345"/>
          </a:xfrm>
          <a:prstGeom prst="ellipse">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latin typeface="Times New Roman" panose="02020603050405020304" pitchFamily="18" charset="0"/>
                <a:cs typeface="Times New Roman" panose="02020603050405020304" pitchFamily="18" charset="0"/>
              </a:rPr>
              <a:t>complex</a:t>
            </a:r>
          </a:p>
        </p:txBody>
      </p:sp>
      <p:cxnSp>
        <p:nvCxnSpPr>
          <p:cNvPr id="12" name="Straight Arrow Connector 11">
            <a:extLst>
              <a:ext uri="{FF2B5EF4-FFF2-40B4-BE49-F238E27FC236}">
                <a16:creationId xmlns:a16="http://schemas.microsoft.com/office/drawing/2014/main" id="{62B3C5CA-49AC-A050-BBEC-D77747E59319}"/>
              </a:ext>
            </a:extLst>
          </p:cNvPr>
          <p:cNvCxnSpPr>
            <a:cxnSpLocks/>
            <a:endCxn id="9" idx="0"/>
          </p:cNvCxnSpPr>
          <p:nvPr/>
        </p:nvCxnSpPr>
        <p:spPr>
          <a:xfrm>
            <a:off x="6192982" y="2798618"/>
            <a:ext cx="34637" cy="16570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8941054-D27B-8113-9243-CC465B25E181}"/>
              </a:ext>
            </a:extLst>
          </p:cNvPr>
          <p:cNvCxnSpPr/>
          <p:nvPr/>
        </p:nvCxnSpPr>
        <p:spPr>
          <a:xfrm flipH="1">
            <a:off x="3823855" y="2798618"/>
            <a:ext cx="1856509" cy="15101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79BA409-5B10-E810-A2BA-CC6882A75AD1}"/>
              </a:ext>
            </a:extLst>
          </p:cNvPr>
          <p:cNvCxnSpPr>
            <a:cxnSpLocks/>
          </p:cNvCxnSpPr>
          <p:nvPr/>
        </p:nvCxnSpPr>
        <p:spPr>
          <a:xfrm>
            <a:off x="6778336" y="2798618"/>
            <a:ext cx="1589808" cy="15101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F2E05FFD-99A7-0FE7-01D8-65DC861AA82E}"/>
              </a:ext>
            </a:extLst>
          </p:cNvPr>
          <p:cNvPicPr/>
          <p:nvPr/>
        </p:nvPicPr>
        <p:blipFill>
          <a:blip r:embed="rId2" cstate="print"/>
          <a:stretch/>
        </p:blipFill>
        <p:spPr>
          <a:xfrm>
            <a:off x="11503320" y="20605"/>
            <a:ext cx="688680" cy="689040"/>
          </a:xfrm>
          <a:prstGeom prst="rect">
            <a:avLst/>
          </a:prstGeom>
          <a:ln w="0">
            <a:noFill/>
          </a:ln>
        </p:spPr>
      </p:pic>
    </p:spTree>
    <p:extLst>
      <p:ext uri="{BB962C8B-B14F-4D97-AF65-F5344CB8AC3E}">
        <p14:creationId xmlns:p14="http://schemas.microsoft.com/office/powerpoint/2010/main" val="13228021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1F93-3466-54F0-3AE8-17287BD15B14}"/>
              </a:ext>
            </a:extLst>
          </p:cNvPr>
          <p:cNvSpPr>
            <a:spLocks noGrp="1"/>
          </p:cNvSpPr>
          <p:nvPr>
            <p:ph type="title"/>
          </p:nvPr>
        </p:nvSpPr>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int</a:t>
            </a:r>
          </a:p>
        </p:txBody>
      </p:sp>
      <p:pic>
        <p:nvPicPr>
          <p:cNvPr id="4" name="Picture 3">
            <a:extLst>
              <a:ext uri="{FF2B5EF4-FFF2-40B4-BE49-F238E27FC236}">
                <a16:creationId xmlns:a16="http://schemas.microsoft.com/office/drawing/2014/main" id="{75D91A86-C1FC-1243-4235-076DAA8A0E16}"/>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4EB033B8-3ABA-27F9-6FF9-7DE005BDC6D4}"/>
              </a:ext>
            </a:extLst>
          </p:cNvPr>
          <p:cNvSpPr txBox="1"/>
          <p:nvPr/>
        </p:nvSpPr>
        <p:spPr>
          <a:xfrm>
            <a:off x="838199" y="2415796"/>
            <a:ext cx="10773697" cy="2554545"/>
          </a:xfrm>
          <a:prstGeom prst="rect">
            <a:avLst/>
          </a:prstGeom>
          <a:noFill/>
        </p:spPr>
        <p:txBody>
          <a:bodyPr wrap="square">
            <a:spAutoFit/>
          </a:bodyPr>
          <a:lstStyle/>
          <a:p>
            <a:pPr marL="0" indent="0" algn="just">
              <a:buNone/>
            </a:pPr>
            <a:r>
              <a:rPr lang="en-IN" sz="2000" dirty="0">
                <a:cs typeface="Times New Roman" panose="02020603050405020304" pitchFamily="18" charset="0"/>
              </a:rPr>
              <a:t>int, or integer, is a whole number, positive or negative, without decimals, of unlimited length.</a:t>
            </a:r>
          </a:p>
          <a:p>
            <a:pPr marL="0" indent="0">
              <a:buNone/>
            </a:pPr>
            <a:endParaRPr lang="en-IN" sz="2000" dirty="0">
              <a:cs typeface="Times New Roman" panose="02020603050405020304" pitchFamily="18" charset="0"/>
            </a:endParaRPr>
          </a:p>
          <a:p>
            <a:pPr marL="0" indent="0">
              <a:buNone/>
            </a:pPr>
            <a:r>
              <a:rPr lang="en-IN" sz="2000" b="1" dirty="0">
                <a:cs typeface="Times New Roman" panose="02020603050405020304" pitchFamily="18" charset="0"/>
              </a:rPr>
              <a:t>Example</a:t>
            </a:r>
          </a:p>
          <a:p>
            <a:pPr marL="0" indent="0">
              <a:buNone/>
            </a:pPr>
            <a:r>
              <a:rPr lang="en-IN" sz="2000" dirty="0">
                <a:cs typeface="Times New Roman" panose="02020603050405020304" pitchFamily="18" charset="0"/>
              </a:rPr>
              <a:t> x = 1</a:t>
            </a:r>
          </a:p>
          <a:p>
            <a:pPr marL="0" indent="0">
              <a:buNone/>
            </a:pPr>
            <a:r>
              <a:rPr lang="en-IN" sz="2000" dirty="0">
                <a:cs typeface="Times New Roman" panose="02020603050405020304" pitchFamily="18" charset="0"/>
              </a:rPr>
              <a:t> y = 3569871122556364428</a:t>
            </a:r>
          </a:p>
          <a:p>
            <a:pPr marL="0" indent="0">
              <a:buNone/>
            </a:pPr>
            <a:r>
              <a:rPr lang="en-IN" sz="2000" dirty="0">
                <a:cs typeface="Times New Roman" panose="02020603050405020304" pitchFamily="18" charset="0"/>
              </a:rPr>
              <a:t> z = -8955641</a:t>
            </a:r>
          </a:p>
          <a:p>
            <a:pPr marL="0" indent="0">
              <a:buNone/>
            </a:pPr>
            <a:endParaRPr lang="en-IN" sz="2000" dirty="0">
              <a:cs typeface="Times New Roman" panose="02020603050405020304" pitchFamily="18" charset="0"/>
            </a:endParaRPr>
          </a:p>
          <a:p>
            <a:pPr marL="0" indent="0">
              <a:buNone/>
            </a:pPr>
            <a:r>
              <a:rPr lang="en-IN" sz="2000" dirty="0">
                <a:cs typeface="Times New Roman" panose="02020603050405020304" pitchFamily="18" charset="0"/>
              </a:rPr>
              <a:t> print(x, y, z)</a:t>
            </a:r>
          </a:p>
        </p:txBody>
      </p:sp>
    </p:spTree>
    <p:extLst>
      <p:ext uri="{BB962C8B-B14F-4D97-AF65-F5344CB8AC3E}">
        <p14:creationId xmlns:p14="http://schemas.microsoft.com/office/powerpoint/2010/main" val="31022792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A289C-09DF-06F5-F7BD-0649EEA41DEA}"/>
              </a:ext>
            </a:extLst>
          </p:cNvPr>
          <p:cNvSpPr>
            <a:spLocks noGrp="1"/>
          </p:cNvSpPr>
          <p:nvPr>
            <p:ph type="title"/>
          </p:nvPr>
        </p:nvSpPr>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float</a:t>
            </a:r>
          </a:p>
        </p:txBody>
      </p:sp>
      <p:pic>
        <p:nvPicPr>
          <p:cNvPr id="4" name="Picture 3">
            <a:extLst>
              <a:ext uri="{FF2B5EF4-FFF2-40B4-BE49-F238E27FC236}">
                <a16:creationId xmlns:a16="http://schemas.microsoft.com/office/drawing/2014/main" id="{FA970896-32B9-4DBA-0068-8AB33D396C9D}"/>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7EE0D936-CA17-8CF9-5F4F-74C8FD8F06A8}"/>
              </a:ext>
            </a:extLst>
          </p:cNvPr>
          <p:cNvSpPr txBox="1"/>
          <p:nvPr/>
        </p:nvSpPr>
        <p:spPr>
          <a:xfrm>
            <a:off x="838199" y="1723298"/>
            <a:ext cx="10419735" cy="4093428"/>
          </a:xfrm>
          <a:prstGeom prst="rect">
            <a:avLst/>
          </a:prstGeom>
          <a:noFill/>
        </p:spPr>
        <p:txBody>
          <a:bodyPr wrap="square">
            <a:spAutoFit/>
          </a:bodyPr>
          <a:lstStyle/>
          <a:p>
            <a:pPr algn="just"/>
            <a:r>
              <a:rPr lang="en-IN" sz="2000" dirty="0">
                <a:cs typeface="Times New Roman" panose="02020603050405020304" pitchFamily="18" charset="0"/>
              </a:rPr>
              <a:t>float, or floating point number is a number, positive or negative, containing one or more decimals.</a:t>
            </a:r>
          </a:p>
          <a:p>
            <a:pPr algn="just"/>
            <a:r>
              <a:rPr lang="en-IN" sz="2000" dirty="0">
                <a:cs typeface="Times New Roman" panose="02020603050405020304" pitchFamily="18" charset="0"/>
              </a:rPr>
              <a:t>Float can also be scientific numbers with an </a:t>
            </a:r>
            <a:r>
              <a:rPr lang="en-IN" sz="2000" b="1" dirty="0">
                <a:solidFill>
                  <a:srgbClr val="FF0000"/>
                </a:solidFill>
                <a:effectLst>
                  <a:outerShdw blurRad="38100" dist="38100" dir="2700000" algn="tl">
                    <a:srgbClr val="000000">
                      <a:alpha val="43137"/>
                    </a:srgbClr>
                  </a:outerShdw>
                </a:effectLst>
                <a:cs typeface="Times New Roman" panose="02020603050405020304" pitchFamily="18" charset="0"/>
              </a:rPr>
              <a:t>“e” </a:t>
            </a:r>
            <a:r>
              <a:rPr lang="en-IN" sz="2000" dirty="0">
                <a:cs typeface="Times New Roman" panose="02020603050405020304" pitchFamily="18" charset="0"/>
              </a:rPr>
              <a:t>to indicate the power of 10.</a:t>
            </a:r>
          </a:p>
          <a:p>
            <a:pPr marL="0" indent="0" algn="just">
              <a:buNone/>
            </a:pPr>
            <a:endParaRPr lang="en-IN" sz="2000" dirty="0">
              <a:cs typeface="Times New Roman" panose="02020603050405020304" pitchFamily="18" charset="0"/>
            </a:endParaRPr>
          </a:p>
          <a:p>
            <a:pPr marL="0" indent="0" algn="just">
              <a:buNone/>
            </a:pPr>
            <a:r>
              <a:rPr lang="en-IN" sz="2000" b="1" dirty="0">
                <a:cs typeface="Times New Roman" panose="02020603050405020304" pitchFamily="18" charset="0"/>
              </a:rPr>
              <a:t>Example</a:t>
            </a:r>
          </a:p>
          <a:p>
            <a:pPr marL="0" indent="0" algn="just">
              <a:buNone/>
            </a:pPr>
            <a:r>
              <a:rPr lang="en-IN" sz="2000" dirty="0">
                <a:cs typeface="Times New Roman" panose="02020603050405020304" pitchFamily="18" charset="0"/>
              </a:rPr>
              <a:t> x = 50.6987</a:t>
            </a:r>
          </a:p>
          <a:p>
            <a:pPr marL="0" indent="0" algn="just">
              <a:buNone/>
            </a:pPr>
            <a:r>
              <a:rPr lang="en-IN" sz="2000" dirty="0">
                <a:cs typeface="Times New Roman" panose="02020603050405020304" pitchFamily="18" charset="0"/>
              </a:rPr>
              <a:t> y = 6.8</a:t>
            </a:r>
          </a:p>
          <a:p>
            <a:pPr marL="0" indent="0" algn="just">
              <a:buNone/>
            </a:pPr>
            <a:r>
              <a:rPr lang="en-IN" sz="2000" dirty="0">
                <a:cs typeface="Times New Roman" panose="02020603050405020304" pitchFamily="18" charset="0"/>
              </a:rPr>
              <a:t> z = -56.587</a:t>
            </a:r>
          </a:p>
          <a:p>
            <a:pPr marL="0" indent="0" algn="just">
              <a:buNone/>
            </a:pPr>
            <a:r>
              <a:rPr lang="en-IN" sz="2000" dirty="0">
                <a:cs typeface="Times New Roman" panose="02020603050405020304" pitchFamily="18" charset="0"/>
              </a:rPr>
              <a:t> a = 35e3</a:t>
            </a:r>
          </a:p>
          <a:p>
            <a:pPr marL="0" indent="0" algn="just">
              <a:buNone/>
            </a:pPr>
            <a:r>
              <a:rPr lang="en-IN" sz="2000" dirty="0">
                <a:cs typeface="Times New Roman" panose="02020603050405020304" pitchFamily="18" charset="0"/>
              </a:rPr>
              <a:t> b = 12E7</a:t>
            </a:r>
          </a:p>
          <a:p>
            <a:pPr marL="0" indent="0" algn="just">
              <a:buNone/>
            </a:pPr>
            <a:r>
              <a:rPr lang="en-IN" sz="2000" dirty="0">
                <a:cs typeface="Times New Roman" panose="02020603050405020304" pitchFamily="18" charset="0"/>
              </a:rPr>
              <a:t> c = -97.9e10</a:t>
            </a:r>
          </a:p>
          <a:p>
            <a:pPr marL="0" indent="0" algn="just">
              <a:buNone/>
            </a:pPr>
            <a:endParaRPr lang="en-IN" sz="2000" dirty="0">
              <a:cs typeface="Times New Roman" panose="02020603050405020304" pitchFamily="18" charset="0"/>
            </a:endParaRPr>
          </a:p>
          <a:p>
            <a:pPr marL="0" indent="0" algn="just">
              <a:buNone/>
            </a:pPr>
            <a:r>
              <a:rPr lang="en-IN" sz="2000" dirty="0">
                <a:cs typeface="Times New Roman" panose="02020603050405020304" pitchFamily="18" charset="0"/>
              </a:rPr>
              <a:t> print(x, y, z)</a:t>
            </a:r>
          </a:p>
          <a:p>
            <a:pPr marL="0" indent="0" algn="just">
              <a:buNone/>
            </a:pPr>
            <a:r>
              <a:rPr lang="en-IN" sz="2000" dirty="0">
                <a:cs typeface="Times New Roman" panose="02020603050405020304" pitchFamily="18" charset="0"/>
              </a:rPr>
              <a:t> print(a, b, c)</a:t>
            </a:r>
          </a:p>
        </p:txBody>
      </p:sp>
    </p:spTree>
    <p:extLst>
      <p:ext uri="{BB962C8B-B14F-4D97-AF65-F5344CB8AC3E}">
        <p14:creationId xmlns:p14="http://schemas.microsoft.com/office/powerpoint/2010/main" val="15154246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4A782-5AD7-0D7C-52CD-FEC3FC469F4A}"/>
              </a:ext>
            </a:extLst>
          </p:cNvPr>
          <p:cNvSpPr>
            <a:spLocks noGrp="1"/>
          </p:cNvSpPr>
          <p:nvPr>
            <p:ph type="title"/>
          </p:nvPr>
        </p:nvSpPr>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complex</a:t>
            </a:r>
          </a:p>
        </p:txBody>
      </p:sp>
      <p:pic>
        <p:nvPicPr>
          <p:cNvPr id="4" name="Picture 3">
            <a:extLst>
              <a:ext uri="{FF2B5EF4-FFF2-40B4-BE49-F238E27FC236}">
                <a16:creationId xmlns:a16="http://schemas.microsoft.com/office/drawing/2014/main" id="{4B32C2D4-3419-1461-CD0D-C52EF21E5562}"/>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CCD1A164-4250-A50B-A764-5390DE92D263}"/>
              </a:ext>
            </a:extLst>
          </p:cNvPr>
          <p:cNvSpPr txBox="1"/>
          <p:nvPr/>
        </p:nvSpPr>
        <p:spPr>
          <a:xfrm>
            <a:off x="953729" y="1877961"/>
            <a:ext cx="8190271" cy="3170099"/>
          </a:xfrm>
          <a:prstGeom prst="rect">
            <a:avLst/>
          </a:prstGeom>
          <a:noFill/>
        </p:spPr>
        <p:txBody>
          <a:bodyPr wrap="square">
            <a:spAutoFit/>
          </a:bodyPr>
          <a:lstStyle/>
          <a:p>
            <a:pPr marL="0" indent="0" algn="just">
              <a:buNone/>
            </a:pPr>
            <a:r>
              <a:rPr lang="en-IN" sz="2000" dirty="0">
                <a:cs typeface="Times New Roman" panose="02020603050405020304" pitchFamily="18" charset="0"/>
              </a:rPr>
              <a:t>complex numbers are written with a </a:t>
            </a:r>
            <a:r>
              <a:rPr lang="en-IN" sz="2000" b="1" dirty="0">
                <a:solidFill>
                  <a:srgbClr val="FF0000"/>
                </a:solidFill>
                <a:effectLst>
                  <a:outerShdw blurRad="38100" dist="38100" dir="2700000" algn="tl">
                    <a:srgbClr val="000000">
                      <a:alpha val="43137"/>
                    </a:srgbClr>
                  </a:outerShdw>
                </a:effectLst>
                <a:cs typeface="Times New Roman" panose="02020603050405020304" pitchFamily="18" charset="0"/>
              </a:rPr>
              <a:t>“j” </a:t>
            </a:r>
            <a:r>
              <a:rPr lang="en-IN" sz="2000" dirty="0">
                <a:cs typeface="Times New Roman" panose="02020603050405020304" pitchFamily="18" charset="0"/>
              </a:rPr>
              <a:t>as the imaginary part.</a:t>
            </a:r>
          </a:p>
          <a:p>
            <a:pPr marL="0" indent="0" algn="just">
              <a:buNone/>
            </a:pPr>
            <a:endParaRPr lang="en-IN" sz="2000" dirty="0">
              <a:cs typeface="Times New Roman" panose="02020603050405020304" pitchFamily="18" charset="0"/>
            </a:endParaRPr>
          </a:p>
          <a:p>
            <a:pPr marL="0" indent="0" algn="just">
              <a:buNone/>
            </a:pPr>
            <a:r>
              <a:rPr lang="en-IN" sz="2000" b="1" dirty="0">
                <a:cs typeface="Times New Roman" panose="02020603050405020304" pitchFamily="18" charset="0"/>
              </a:rPr>
              <a:t>Example</a:t>
            </a:r>
          </a:p>
          <a:p>
            <a:pPr marL="0" indent="0" algn="just">
              <a:buNone/>
            </a:pPr>
            <a:r>
              <a:rPr lang="en-IN" sz="2000" dirty="0">
                <a:cs typeface="Times New Roman" panose="02020603050405020304" pitchFamily="18" charset="0"/>
              </a:rPr>
              <a:t> x = 3 + 5j</a:t>
            </a:r>
          </a:p>
          <a:p>
            <a:pPr marL="0" indent="0" algn="just">
              <a:buNone/>
            </a:pPr>
            <a:r>
              <a:rPr lang="en-IN" sz="2000" dirty="0">
                <a:cs typeface="Times New Roman" panose="02020603050405020304" pitchFamily="18" charset="0"/>
              </a:rPr>
              <a:t> y = 9j</a:t>
            </a:r>
          </a:p>
          <a:p>
            <a:pPr marL="0" indent="0" algn="just">
              <a:buNone/>
            </a:pPr>
            <a:r>
              <a:rPr lang="en-IN" sz="2000" dirty="0">
                <a:cs typeface="Times New Roman" panose="02020603050405020304" pitchFamily="18" charset="0"/>
              </a:rPr>
              <a:t> z = -8j</a:t>
            </a:r>
          </a:p>
          <a:p>
            <a:pPr marL="0" indent="0" algn="just">
              <a:buNone/>
            </a:pPr>
            <a:endParaRPr lang="en-IN" sz="2000" dirty="0">
              <a:cs typeface="Times New Roman" panose="02020603050405020304" pitchFamily="18" charset="0"/>
            </a:endParaRPr>
          </a:p>
          <a:p>
            <a:pPr marL="0" indent="0" algn="just">
              <a:buNone/>
            </a:pPr>
            <a:r>
              <a:rPr lang="en-IN" sz="2000" dirty="0">
                <a:cs typeface="Times New Roman" panose="02020603050405020304" pitchFamily="18" charset="0"/>
              </a:rPr>
              <a:t> print(x)</a:t>
            </a:r>
          </a:p>
          <a:p>
            <a:pPr marL="0" indent="0" algn="just">
              <a:buNone/>
            </a:pPr>
            <a:r>
              <a:rPr lang="en-IN" sz="2000" dirty="0">
                <a:cs typeface="Times New Roman" panose="02020603050405020304" pitchFamily="18" charset="0"/>
              </a:rPr>
              <a:t> print(y)</a:t>
            </a:r>
          </a:p>
          <a:p>
            <a:pPr marL="0" indent="0" algn="just">
              <a:buNone/>
            </a:pPr>
            <a:r>
              <a:rPr lang="en-IN" sz="2000" dirty="0">
                <a:cs typeface="Times New Roman" panose="02020603050405020304" pitchFamily="18" charset="0"/>
              </a:rPr>
              <a:t> print(z)</a:t>
            </a:r>
          </a:p>
        </p:txBody>
      </p:sp>
    </p:spTree>
    <p:extLst>
      <p:ext uri="{BB962C8B-B14F-4D97-AF65-F5344CB8AC3E}">
        <p14:creationId xmlns:p14="http://schemas.microsoft.com/office/powerpoint/2010/main" val="20598897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F7B04-04CC-4535-0842-DD1361F3D3EF}"/>
              </a:ext>
            </a:extLst>
          </p:cNvPr>
          <p:cNvSpPr>
            <a:spLocks noGrp="1"/>
          </p:cNvSpPr>
          <p:nvPr>
            <p:ph type="title"/>
          </p:nvPr>
        </p:nvSpPr>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Type Conversion</a:t>
            </a:r>
          </a:p>
        </p:txBody>
      </p:sp>
      <p:pic>
        <p:nvPicPr>
          <p:cNvPr id="4" name="Picture 3">
            <a:extLst>
              <a:ext uri="{FF2B5EF4-FFF2-40B4-BE49-F238E27FC236}">
                <a16:creationId xmlns:a16="http://schemas.microsoft.com/office/drawing/2014/main" id="{E4C94B11-D27E-8155-95C1-5E636E4DCCF6}"/>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53564E2B-2503-A7B9-6144-34A7E64BF396}"/>
              </a:ext>
            </a:extLst>
          </p:cNvPr>
          <p:cNvSpPr txBox="1"/>
          <p:nvPr/>
        </p:nvSpPr>
        <p:spPr>
          <a:xfrm>
            <a:off x="688679" y="1690688"/>
            <a:ext cx="9998985" cy="707886"/>
          </a:xfrm>
          <a:prstGeom prst="rect">
            <a:avLst/>
          </a:prstGeom>
          <a:noFill/>
        </p:spPr>
        <p:txBody>
          <a:bodyPr wrap="square">
            <a:spAutoFit/>
          </a:bodyPr>
          <a:lstStyle/>
          <a:p>
            <a:pPr algn="just"/>
            <a:r>
              <a:rPr lang="en-IN" sz="2000" dirty="0">
                <a:cs typeface="Times New Roman" panose="02020603050405020304" pitchFamily="18" charset="0"/>
              </a:rPr>
              <a:t>You can convert from one type to another with the int( ), float( ), and complex( ) methods.</a:t>
            </a:r>
          </a:p>
          <a:p>
            <a:pPr algn="just"/>
            <a:r>
              <a:rPr lang="en-IN" sz="2000" dirty="0">
                <a:cs typeface="Times New Roman" panose="02020603050405020304" pitchFamily="18" charset="0"/>
              </a:rPr>
              <a:t>You cannot convert complex numbers into another number type.</a:t>
            </a:r>
          </a:p>
        </p:txBody>
      </p:sp>
    </p:spTree>
    <p:extLst>
      <p:ext uri="{BB962C8B-B14F-4D97-AF65-F5344CB8AC3E}">
        <p14:creationId xmlns:p14="http://schemas.microsoft.com/office/powerpoint/2010/main" val="8814342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F4DBAEF-FAFF-B845-2D30-33E60E7B9848}"/>
              </a:ext>
            </a:extLst>
          </p:cNvPr>
          <p:cNvPicPr/>
          <p:nvPr/>
        </p:nvPicPr>
        <p:blipFill>
          <a:blip r:embed="rId2" cstate="print"/>
          <a:stretch/>
        </p:blipFill>
        <p:spPr>
          <a:xfrm>
            <a:off x="11503320" y="0"/>
            <a:ext cx="688680" cy="689040"/>
          </a:xfrm>
          <a:prstGeom prst="rect">
            <a:avLst/>
          </a:prstGeom>
          <a:ln w="0">
            <a:noFill/>
          </a:ln>
        </p:spPr>
      </p:pic>
      <p:sp>
        <p:nvSpPr>
          <p:cNvPr id="7" name="TextBox 6">
            <a:extLst>
              <a:ext uri="{FF2B5EF4-FFF2-40B4-BE49-F238E27FC236}">
                <a16:creationId xmlns:a16="http://schemas.microsoft.com/office/drawing/2014/main" id="{D07B147D-CF46-893C-BCCE-DF74A67CFDA7}"/>
              </a:ext>
            </a:extLst>
          </p:cNvPr>
          <p:cNvSpPr txBox="1"/>
          <p:nvPr/>
        </p:nvSpPr>
        <p:spPr>
          <a:xfrm>
            <a:off x="1160206" y="689040"/>
            <a:ext cx="2910349" cy="3139321"/>
          </a:xfrm>
          <a:prstGeom prst="rect">
            <a:avLst/>
          </a:prstGeom>
          <a:noFill/>
        </p:spPr>
        <p:txBody>
          <a:bodyPr wrap="square">
            <a:spAutoFit/>
          </a:bodyPr>
          <a:lstStyle/>
          <a:p>
            <a:pPr marL="0" indent="0">
              <a:buNone/>
            </a:pPr>
            <a:r>
              <a:rPr lang="en-IN" sz="1800" b="1" dirty="0">
                <a:cs typeface="Times New Roman" panose="02020603050405020304" pitchFamily="18" charset="0"/>
              </a:rPr>
              <a:t>Example</a:t>
            </a:r>
          </a:p>
          <a:p>
            <a:pPr marL="0" indent="0">
              <a:buNone/>
            </a:pPr>
            <a:endParaRPr lang="en-IN" sz="1800" b="1" dirty="0">
              <a:effectLst>
                <a:outerShdw blurRad="38100" dist="38100" dir="2700000" algn="tl">
                  <a:srgbClr val="000000">
                    <a:alpha val="43137"/>
                  </a:srgbClr>
                </a:outerShdw>
              </a:effectLst>
              <a:cs typeface="Times New Roman" panose="02020603050405020304" pitchFamily="18" charset="0"/>
            </a:endParaRPr>
          </a:p>
          <a:p>
            <a:pPr marL="0" indent="0">
              <a:buNone/>
            </a:pPr>
            <a:r>
              <a:rPr lang="en-IN" sz="1800" dirty="0">
                <a:effectLst>
                  <a:outerShdw blurRad="38100" dist="38100" dir="2700000" algn="tl">
                    <a:srgbClr val="000000">
                      <a:alpha val="43137"/>
                    </a:srgbClr>
                  </a:outerShdw>
                </a:effectLst>
                <a:cs typeface="Times New Roman" panose="02020603050405020304" pitchFamily="18" charset="0"/>
              </a:rPr>
              <a:t> </a:t>
            </a:r>
            <a:r>
              <a:rPr lang="en-IN" sz="1800" dirty="0">
                <a:cs typeface="Times New Roman" panose="02020603050405020304" pitchFamily="18" charset="0"/>
              </a:rPr>
              <a:t>x = 1</a:t>
            </a:r>
          </a:p>
          <a:p>
            <a:pPr marL="0" indent="0">
              <a:buNone/>
            </a:pPr>
            <a:r>
              <a:rPr lang="en-IN" sz="1800" dirty="0">
                <a:cs typeface="Times New Roman" panose="02020603050405020304" pitchFamily="18" charset="0"/>
              </a:rPr>
              <a:t> y = 2.8</a:t>
            </a:r>
          </a:p>
          <a:p>
            <a:pPr marL="0" indent="0">
              <a:buNone/>
            </a:pPr>
            <a:r>
              <a:rPr lang="en-IN" sz="1800" dirty="0">
                <a:cs typeface="Times New Roman" panose="02020603050405020304" pitchFamily="18" charset="0"/>
              </a:rPr>
              <a:t> z = 1j</a:t>
            </a:r>
          </a:p>
          <a:p>
            <a:pPr marL="0" indent="0">
              <a:buNone/>
            </a:pPr>
            <a:r>
              <a:rPr lang="en-IN" sz="1800" i="1" dirty="0">
                <a:cs typeface="Times New Roman" panose="02020603050405020304" pitchFamily="18" charset="0"/>
              </a:rPr>
              <a:t>#convert from int to float</a:t>
            </a:r>
          </a:p>
          <a:p>
            <a:pPr marL="0" indent="0">
              <a:buNone/>
            </a:pPr>
            <a:r>
              <a:rPr lang="en-IN" sz="1800" i="1" dirty="0">
                <a:cs typeface="Times New Roman" panose="02020603050405020304" pitchFamily="18" charset="0"/>
              </a:rPr>
              <a:t> </a:t>
            </a:r>
            <a:r>
              <a:rPr lang="en-IN" sz="1800" dirty="0">
                <a:cs typeface="Times New Roman" panose="02020603050405020304" pitchFamily="18" charset="0"/>
              </a:rPr>
              <a:t>a = float(x)</a:t>
            </a:r>
          </a:p>
          <a:p>
            <a:pPr marL="0" indent="0">
              <a:buNone/>
            </a:pPr>
            <a:r>
              <a:rPr lang="en-IN" sz="1800" i="1" dirty="0">
                <a:cs typeface="Times New Roman" panose="02020603050405020304" pitchFamily="18" charset="0"/>
              </a:rPr>
              <a:t>#convert from float to int</a:t>
            </a:r>
          </a:p>
          <a:p>
            <a:pPr marL="0" indent="0">
              <a:buNone/>
            </a:pPr>
            <a:r>
              <a:rPr lang="en-IN" sz="1800" dirty="0">
                <a:cs typeface="Times New Roman" panose="02020603050405020304" pitchFamily="18" charset="0"/>
              </a:rPr>
              <a:t> b = int(y)</a:t>
            </a:r>
          </a:p>
          <a:p>
            <a:pPr marL="0" indent="0">
              <a:buNone/>
            </a:pPr>
            <a:r>
              <a:rPr lang="en-IN" sz="1800" i="1" dirty="0">
                <a:cs typeface="Times New Roman" panose="02020603050405020304" pitchFamily="18" charset="0"/>
              </a:rPr>
              <a:t>#convert from int to complex</a:t>
            </a:r>
          </a:p>
          <a:p>
            <a:pPr marL="0" indent="0">
              <a:buNone/>
            </a:pPr>
            <a:r>
              <a:rPr lang="en-IN" sz="1800" i="1" dirty="0">
                <a:cs typeface="Times New Roman" panose="02020603050405020304" pitchFamily="18" charset="0"/>
              </a:rPr>
              <a:t> </a:t>
            </a:r>
            <a:r>
              <a:rPr lang="en-IN" sz="1800" dirty="0">
                <a:cs typeface="Times New Roman" panose="02020603050405020304" pitchFamily="18" charset="0"/>
              </a:rPr>
              <a:t>c = complex(x)</a:t>
            </a:r>
          </a:p>
        </p:txBody>
      </p:sp>
      <p:sp>
        <p:nvSpPr>
          <p:cNvPr id="9" name="TextBox 8">
            <a:extLst>
              <a:ext uri="{FF2B5EF4-FFF2-40B4-BE49-F238E27FC236}">
                <a16:creationId xmlns:a16="http://schemas.microsoft.com/office/drawing/2014/main" id="{BE6C4B46-0626-F6F7-6904-858D8822C1D2}"/>
              </a:ext>
            </a:extLst>
          </p:cNvPr>
          <p:cNvSpPr txBox="1"/>
          <p:nvPr/>
        </p:nvSpPr>
        <p:spPr>
          <a:xfrm>
            <a:off x="1160206" y="3726426"/>
            <a:ext cx="7983794" cy="2308324"/>
          </a:xfrm>
          <a:prstGeom prst="rect">
            <a:avLst/>
          </a:prstGeom>
          <a:noFill/>
        </p:spPr>
        <p:txBody>
          <a:bodyPr wrap="square">
            <a:spAutoFit/>
          </a:bodyPr>
          <a:lstStyle/>
          <a:p>
            <a:pPr marL="0" indent="0">
              <a:buNone/>
            </a:pPr>
            <a:r>
              <a:rPr lang="en-IN" sz="1800" dirty="0">
                <a:cs typeface="Times New Roman" panose="02020603050405020304" pitchFamily="18" charset="0"/>
              </a:rPr>
              <a:t> </a:t>
            </a:r>
          </a:p>
          <a:p>
            <a:pPr marL="0" indent="0">
              <a:buNone/>
            </a:pPr>
            <a:r>
              <a:rPr lang="en-IN" sz="1800" dirty="0">
                <a:cs typeface="Times New Roman" panose="02020603050405020304" pitchFamily="18" charset="0"/>
              </a:rPr>
              <a:t>print(a)		#1.0</a:t>
            </a:r>
          </a:p>
          <a:p>
            <a:pPr marL="0" indent="0">
              <a:buNone/>
            </a:pPr>
            <a:r>
              <a:rPr lang="en-IN" sz="1800" dirty="0">
                <a:cs typeface="Times New Roman" panose="02020603050405020304" pitchFamily="18" charset="0"/>
              </a:rPr>
              <a:t> print(b)		#2</a:t>
            </a:r>
          </a:p>
          <a:p>
            <a:pPr marL="0" indent="0">
              <a:buNone/>
            </a:pPr>
            <a:r>
              <a:rPr lang="en-IN" sz="1800" dirty="0">
                <a:cs typeface="Times New Roman" panose="02020603050405020304" pitchFamily="18" charset="0"/>
              </a:rPr>
              <a:t> print(c)		#(1+0j)</a:t>
            </a:r>
          </a:p>
          <a:p>
            <a:pPr marL="0" indent="0">
              <a:buNone/>
            </a:pPr>
            <a:endParaRPr lang="en-IN" sz="1800" dirty="0">
              <a:cs typeface="Times New Roman" panose="02020603050405020304" pitchFamily="18" charset="0"/>
            </a:endParaRPr>
          </a:p>
          <a:p>
            <a:pPr marL="0" indent="0">
              <a:buNone/>
            </a:pPr>
            <a:r>
              <a:rPr lang="en-IN" sz="1800" dirty="0">
                <a:cs typeface="Times New Roman" panose="02020603050405020304" pitchFamily="18" charset="0"/>
              </a:rPr>
              <a:t> print(type(a))	#&lt;class ‘float’&gt;</a:t>
            </a:r>
          </a:p>
          <a:p>
            <a:pPr marL="0" indent="0">
              <a:buNone/>
            </a:pPr>
            <a:r>
              <a:rPr lang="en-IN" sz="1800" dirty="0">
                <a:cs typeface="Times New Roman" panose="02020603050405020304" pitchFamily="18" charset="0"/>
              </a:rPr>
              <a:t> print(type(b))	#&lt;class ‘int’&gt;</a:t>
            </a:r>
          </a:p>
          <a:p>
            <a:pPr marL="0" indent="0">
              <a:buNone/>
            </a:pPr>
            <a:r>
              <a:rPr lang="en-IN" sz="1800" dirty="0">
                <a:cs typeface="Times New Roman" panose="02020603050405020304" pitchFamily="18" charset="0"/>
              </a:rPr>
              <a:t> print(type(c))	#&lt;class ‘complex’&gt;</a:t>
            </a:r>
            <a:endParaRPr lang="en-IN" sz="1800" dirty="0"/>
          </a:p>
        </p:txBody>
      </p:sp>
    </p:spTree>
    <p:extLst>
      <p:ext uri="{BB962C8B-B14F-4D97-AF65-F5344CB8AC3E}">
        <p14:creationId xmlns:p14="http://schemas.microsoft.com/office/powerpoint/2010/main" val="834574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8BC7C-A4C4-52BF-5C53-155212D845F3}"/>
              </a:ext>
            </a:extLst>
          </p:cNvPr>
          <p:cNvSpPr>
            <a:spLocks noGrp="1"/>
          </p:cNvSpPr>
          <p:nvPr>
            <p:ph type="title"/>
          </p:nvPr>
        </p:nvSpPr>
        <p:spPr/>
        <p:txBody>
          <a:bodyPr/>
          <a:lstStyle/>
          <a:p>
            <a:pPr algn="ctr"/>
            <a:r>
              <a:rPr lang="en-US"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T</a:t>
            </a: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EXT TYPE -STRING</a:t>
            </a:r>
          </a:p>
        </p:txBody>
      </p:sp>
      <p:pic>
        <p:nvPicPr>
          <p:cNvPr id="4" name="Picture 3">
            <a:extLst>
              <a:ext uri="{FF2B5EF4-FFF2-40B4-BE49-F238E27FC236}">
                <a16:creationId xmlns:a16="http://schemas.microsoft.com/office/drawing/2014/main" id="{1AC15926-6359-A4B5-A23B-7D6388B8E6CF}"/>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52D0FC62-124A-5136-F283-2BB4544F02E3}"/>
              </a:ext>
            </a:extLst>
          </p:cNvPr>
          <p:cNvSpPr txBox="1"/>
          <p:nvPr/>
        </p:nvSpPr>
        <p:spPr>
          <a:xfrm>
            <a:off x="838199" y="2012573"/>
            <a:ext cx="10515599" cy="1323439"/>
          </a:xfrm>
          <a:prstGeom prst="rect">
            <a:avLst/>
          </a:prstGeom>
          <a:noFill/>
        </p:spPr>
        <p:txBody>
          <a:bodyPr wrap="square">
            <a:spAutoFit/>
          </a:bodyPr>
          <a:lstStyle/>
          <a:p>
            <a:pPr marL="342900" indent="-342900" algn="just">
              <a:buFont typeface="Arial" panose="020B0604020202020204" pitchFamily="34" charset="0"/>
              <a:buChar char="•"/>
            </a:pPr>
            <a:r>
              <a:rPr lang="en-US" sz="2000" b="0" i="0" dirty="0">
                <a:solidFill>
                  <a:srgbClr val="273239"/>
                </a:solidFill>
                <a:effectLst/>
              </a:rPr>
              <a:t>A string is a sequence of characters. </a:t>
            </a:r>
          </a:p>
          <a:p>
            <a:pPr marL="342900" indent="-342900" algn="just">
              <a:buFont typeface="Arial" panose="020B0604020202020204" pitchFamily="34" charset="0"/>
              <a:buChar char="•"/>
            </a:pPr>
            <a:r>
              <a:rPr lang="en-US" sz="2000" b="0" i="0" dirty="0">
                <a:solidFill>
                  <a:srgbClr val="273239"/>
                </a:solidFill>
                <a:effectLst/>
              </a:rPr>
              <a:t>Python treats anything inside quotes as a string. </a:t>
            </a:r>
          </a:p>
          <a:p>
            <a:pPr marL="342900" indent="-342900" algn="just">
              <a:buFont typeface="Arial" panose="020B0604020202020204" pitchFamily="34" charset="0"/>
              <a:buChar char="•"/>
            </a:pPr>
            <a:r>
              <a:rPr lang="en-US" sz="2000" b="0" i="0" dirty="0">
                <a:solidFill>
                  <a:srgbClr val="273239"/>
                </a:solidFill>
                <a:effectLst/>
              </a:rPr>
              <a:t>This includes letters, numbers, and symbols. </a:t>
            </a:r>
          </a:p>
          <a:p>
            <a:pPr marL="342900" indent="-342900" algn="just">
              <a:buFont typeface="Arial" panose="020B0604020202020204" pitchFamily="34" charset="0"/>
              <a:buChar char="•"/>
            </a:pPr>
            <a:r>
              <a:rPr lang="en-US" sz="2000" b="0" i="0" dirty="0">
                <a:solidFill>
                  <a:srgbClr val="273239"/>
                </a:solidFill>
                <a:effectLst/>
              </a:rPr>
              <a:t>Python has no character data type so single character is a string of length 1.</a:t>
            </a:r>
            <a:endParaRPr lang="en-IN" sz="2000" dirty="0">
              <a:cs typeface="Times New Roman" panose="02020603050405020304" pitchFamily="18" charset="0"/>
            </a:endParaRPr>
          </a:p>
        </p:txBody>
      </p:sp>
    </p:spTree>
    <p:extLst>
      <p:ext uri="{BB962C8B-B14F-4D97-AF65-F5344CB8AC3E}">
        <p14:creationId xmlns:p14="http://schemas.microsoft.com/office/powerpoint/2010/main" val="30218113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A0CD71-D9BE-98D4-FFE0-A19015555A3B}"/>
              </a:ext>
            </a:extLst>
          </p:cNvPr>
          <p:cNvSpPr>
            <a:spLocks noGrp="1"/>
          </p:cNvSpPr>
          <p:nvPr>
            <p:ph idx="1"/>
          </p:nvPr>
        </p:nvSpPr>
        <p:spPr>
          <a:xfrm>
            <a:off x="838200" y="344557"/>
            <a:ext cx="10515600" cy="5832406"/>
          </a:xfrm>
        </p:spPr>
        <p:txBody>
          <a:bodyPr>
            <a:normAutofit/>
          </a:bodyPr>
          <a:lstStyle/>
          <a:p>
            <a:pPr marL="0" indent="0">
              <a:buNone/>
            </a:pPr>
            <a:endParaRPr lang="en-IN" sz="2000" dirty="0">
              <a:cs typeface="Times New Roman" panose="02020603050405020304" pitchFamily="18" charset="0"/>
            </a:endParaRPr>
          </a:p>
          <a:p>
            <a:pPr marL="0" indent="0">
              <a:buNone/>
            </a:pPr>
            <a:r>
              <a:rPr lang="en-IN" sz="2000" dirty="0">
                <a:cs typeface="Times New Roman" panose="02020603050405020304" pitchFamily="18" charset="0"/>
              </a:rPr>
              <a:t>Strings can be defined inside a single quote or double quotes.</a:t>
            </a:r>
          </a:p>
          <a:p>
            <a:pPr marL="0" indent="0">
              <a:buNone/>
            </a:pPr>
            <a:endParaRPr lang="en-IN" sz="2000" dirty="0">
              <a:cs typeface="Times New Roman" panose="02020603050405020304" pitchFamily="18" charset="0"/>
            </a:endParaRPr>
          </a:p>
          <a:p>
            <a:pPr marL="0" indent="0">
              <a:buNone/>
            </a:pPr>
            <a:endParaRPr lang="en-IN" sz="2000" dirty="0">
              <a:cs typeface="Times New Roman" panose="02020603050405020304" pitchFamily="18" charset="0"/>
            </a:endParaRPr>
          </a:p>
          <a:p>
            <a:pPr marL="0" indent="0">
              <a:buNone/>
            </a:pPr>
            <a:endParaRPr lang="en-IN" sz="2000" dirty="0">
              <a:cs typeface="Times New Roman" panose="02020603050405020304" pitchFamily="18" charset="0"/>
            </a:endParaRPr>
          </a:p>
          <a:p>
            <a:pPr marL="0" indent="0">
              <a:buNone/>
            </a:pPr>
            <a:endParaRPr lang="en-IN" sz="2000" dirty="0">
              <a:cs typeface="Times New Roman" panose="02020603050405020304" pitchFamily="18" charset="0"/>
            </a:endParaRPr>
          </a:p>
          <a:p>
            <a:pPr marL="0" indent="0">
              <a:buNone/>
            </a:pPr>
            <a:endParaRPr lang="en-IN" sz="2000" dirty="0">
              <a:cs typeface="Times New Roman" panose="02020603050405020304" pitchFamily="18" charset="0"/>
            </a:endParaRPr>
          </a:p>
          <a:p>
            <a:pPr marL="0" indent="0">
              <a:buNone/>
            </a:pPr>
            <a:endParaRPr lang="en-IN" sz="2000" dirty="0">
              <a:cs typeface="Times New Roman" panose="02020603050405020304" pitchFamily="18" charset="0"/>
            </a:endParaRPr>
          </a:p>
          <a:p>
            <a:pPr marL="0" indent="0">
              <a:buNone/>
            </a:pPr>
            <a:endParaRPr lang="en-IN" sz="2000" dirty="0">
              <a:cs typeface="Times New Roman" panose="02020603050405020304" pitchFamily="18" charset="0"/>
            </a:endParaRPr>
          </a:p>
          <a:p>
            <a:pPr marL="0" indent="0">
              <a:buNone/>
            </a:pPr>
            <a:r>
              <a:rPr lang="en-IN" sz="2000" dirty="0">
                <a:cs typeface="Times New Roman" panose="02020603050405020304" pitchFamily="18" charset="0"/>
              </a:rPr>
              <a:t>Triple quotes are generally used for multi-line string.</a:t>
            </a:r>
          </a:p>
          <a:p>
            <a:pPr marL="0" indent="0">
              <a:buNone/>
            </a:pPr>
            <a:endParaRPr lang="en-IN" sz="2000" dirty="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374A50DF-0AAB-3B20-6409-89E89F472DFC}"/>
              </a:ext>
            </a:extLst>
          </p:cNvPr>
          <p:cNvSpPr/>
          <p:nvPr/>
        </p:nvSpPr>
        <p:spPr>
          <a:xfrm>
            <a:off x="3061252" y="1192696"/>
            <a:ext cx="5724939" cy="223630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2400" b="1" dirty="0">
                <a:cs typeface="Times New Roman" panose="02020603050405020304" pitchFamily="18" charset="0"/>
              </a:rPr>
              <a:t>Using Single quote</a:t>
            </a:r>
          </a:p>
          <a:p>
            <a:pPr algn="ctr"/>
            <a:r>
              <a:rPr lang="en-IN" sz="2400" b="1" dirty="0">
                <a:cs typeface="Times New Roman" panose="02020603050405020304" pitchFamily="18" charset="0"/>
              </a:rPr>
              <a:t> str1 = ‘Python’</a:t>
            </a:r>
          </a:p>
          <a:p>
            <a:pPr algn="ctr"/>
            <a:endParaRPr lang="en-IN" sz="2400" b="1" dirty="0">
              <a:cs typeface="Times New Roman" panose="02020603050405020304" pitchFamily="18" charset="0"/>
            </a:endParaRPr>
          </a:p>
          <a:p>
            <a:pPr algn="ctr"/>
            <a:r>
              <a:rPr lang="en-IN" sz="2400" b="1" dirty="0">
                <a:cs typeface="Times New Roman" panose="02020603050405020304" pitchFamily="18" charset="0"/>
              </a:rPr>
              <a:t>Using Double quotes</a:t>
            </a:r>
          </a:p>
          <a:p>
            <a:pPr algn="ctr"/>
            <a:r>
              <a:rPr lang="en-IN" sz="2400" b="1" dirty="0">
                <a:cs typeface="Times New Roman" panose="02020603050405020304" pitchFamily="18" charset="0"/>
              </a:rPr>
              <a:t> str2 = “Hello, How are you?”</a:t>
            </a:r>
          </a:p>
        </p:txBody>
      </p:sp>
      <p:sp>
        <p:nvSpPr>
          <p:cNvPr id="6" name="Rectangle: Rounded Corners 5">
            <a:extLst>
              <a:ext uri="{FF2B5EF4-FFF2-40B4-BE49-F238E27FC236}">
                <a16:creationId xmlns:a16="http://schemas.microsoft.com/office/drawing/2014/main" id="{EBBD6DD9-C6B6-1E5C-5CBC-8408E346E320}"/>
              </a:ext>
            </a:extLst>
          </p:cNvPr>
          <p:cNvSpPr/>
          <p:nvPr/>
        </p:nvSpPr>
        <p:spPr>
          <a:xfrm>
            <a:off x="3299789" y="4625009"/>
            <a:ext cx="4929809" cy="140473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IN" dirty="0"/>
              <a:t> </a:t>
            </a:r>
            <a:r>
              <a:rPr lang="en-IN" sz="2000" b="1" dirty="0">
                <a:cs typeface="Times New Roman" panose="02020603050405020304" pitchFamily="18" charset="0"/>
              </a:rPr>
              <a:t>str3 = ‘ ‘ ‘ Python is a</a:t>
            </a:r>
          </a:p>
          <a:p>
            <a:pPr algn="ctr"/>
            <a:r>
              <a:rPr lang="en-IN" sz="2000" b="1" dirty="0">
                <a:cs typeface="Times New Roman" panose="02020603050405020304" pitchFamily="18" charset="0"/>
              </a:rPr>
              <a:t>                       simple programming</a:t>
            </a:r>
          </a:p>
          <a:p>
            <a:pPr algn="ctr"/>
            <a:r>
              <a:rPr lang="en-IN" sz="2000" b="1" dirty="0">
                <a:cs typeface="Times New Roman" panose="02020603050405020304" pitchFamily="18" charset="0"/>
              </a:rPr>
              <a:t>         language ’ ’ ’</a:t>
            </a:r>
          </a:p>
        </p:txBody>
      </p:sp>
      <p:pic>
        <p:nvPicPr>
          <p:cNvPr id="2" name="Picture 1">
            <a:extLst>
              <a:ext uri="{FF2B5EF4-FFF2-40B4-BE49-F238E27FC236}">
                <a16:creationId xmlns:a16="http://schemas.microsoft.com/office/drawing/2014/main" id="{A447943C-A964-9DE1-1835-A7337C7C42A0}"/>
              </a:ext>
            </a:extLst>
          </p:cNvPr>
          <p:cNvPicPr/>
          <p:nvPr/>
        </p:nvPicPr>
        <p:blipFill>
          <a:blip r:embed="rId2" cstate="print"/>
          <a:stretch/>
        </p:blipFill>
        <p:spPr>
          <a:xfrm>
            <a:off x="11503320" y="37"/>
            <a:ext cx="688680" cy="689040"/>
          </a:xfrm>
          <a:prstGeom prst="rect">
            <a:avLst/>
          </a:prstGeom>
          <a:ln w="0">
            <a:noFill/>
          </a:ln>
        </p:spPr>
      </p:pic>
    </p:spTree>
    <p:extLst>
      <p:ext uri="{BB962C8B-B14F-4D97-AF65-F5344CB8AC3E}">
        <p14:creationId xmlns:p14="http://schemas.microsoft.com/office/powerpoint/2010/main" val="3580494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78D4F-E99D-3A37-48F2-55ED1590E0E3}"/>
              </a:ext>
            </a:extLst>
          </p:cNvPr>
          <p:cNvSpPr>
            <a:spLocks noGrp="1"/>
          </p:cNvSpPr>
          <p:nvPr>
            <p:ph type="title"/>
          </p:nvPr>
        </p:nvSpPr>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String Indexing</a:t>
            </a:r>
          </a:p>
        </p:txBody>
      </p:sp>
      <p:sp>
        <p:nvSpPr>
          <p:cNvPr id="3" name="Content Placeholder 2">
            <a:extLst>
              <a:ext uri="{FF2B5EF4-FFF2-40B4-BE49-F238E27FC236}">
                <a16:creationId xmlns:a16="http://schemas.microsoft.com/office/drawing/2014/main" id="{B0F0B7CB-8B55-E5CD-8F2F-E7FB2279525B}"/>
              </a:ext>
            </a:extLst>
          </p:cNvPr>
          <p:cNvSpPr>
            <a:spLocks noGrp="1"/>
          </p:cNvSpPr>
          <p:nvPr>
            <p:ph idx="1"/>
          </p:nvPr>
        </p:nvSpPr>
        <p:spPr>
          <a:xfrm>
            <a:off x="838200" y="1908313"/>
            <a:ext cx="10515600" cy="4268650"/>
          </a:xfrm>
        </p:spPr>
        <p:txBody>
          <a:bodyPr>
            <a:normAutofit/>
          </a:bodyPr>
          <a:lstStyle/>
          <a:p>
            <a:pPr marL="0" indent="0" algn="ctr">
              <a:buNone/>
            </a:pPr>
            <a:r>
              <a:rPr lang="en-IN" b="1" dirty="0">
                <a:solidFill>
                  <a:srgbClr val="0070C0"/>
                </a:solidFill>
                <a:cs typeface="Times New Roman" panose="02020603050405020304" pitchFamily="18" charset="0"/>
              </a:rPr>
              <a:t>REVERSE INDEX</a:t>
            </a:r>
          </a:p>
          <a:p>
            <a:pPr marL="0" indent="0" algn="ctr">
              <a:buNone/>
            </a:pPr>
            <a:endParaRPr lang="en-IN" b="1" dirty="0">
              <a:solidFill>
                <a:srgbClr val="0070C0"/>
              </a:solidFill>
              <a:cs typeface="Times New Roman" panose="02020603050405020304" pitchFamily="18" charset="0"/>
            </a:endParaRPr>
          </a:p>
          <a:p>
            <a:pPr marL="0" indent="0">
              <a:buNone/>
            </a:pPr>
            <a:r>
              <a:rPr lang="en-IN" b="1" dirty="0">
                <a:solidFill>
                  <a:srgbClr val="0070C0"/>
                </a:solidFill>
                <a:cs typeface="Times New Roman" panose="02020603050405020304" pitchFamily="18" charset="0"/>
              </a:rPr>
              <a:t>  </a:t>
            </a:r>
            <a:r>
              <a:rPr lang="en-IN" b="1" dirty="0">
                <a:cs typeface="Times New Roman" panose="02020603050405020304" pitchFamily="18" charset="0"/>
              </a:rPr>
              <a:t>[-11]   [-10]    [-9]    [-8]     [-7]       [-6]     [-5]     [-4]     [-3]    [-2]     [-1]</a:t>
            </a:r>
            <a:endParaRPr lang="en-IN" b="1" dirty="0">
              <a:solidFill>
                <a:srgbClr val="0070C0"/>
              </a:solidFill>
              <a:cs typeface="Times New Roman" panose="02020603050405020304" pitchFamily="18" charset="0"/>
            </a:endParaRPr>
          </a:p>
          <a:p>
            <a:pPr marL="0" indent="0">
              <a:buNone/>
            </a:pPr>
            <a:endParaRPr lang="en-IN" dirty="0"/>
          </a:p>
          <a:p>
            <a:pPr marL="0" indent="0">
              <a:buNone/>
            </a:pPr>
            <a:endParaRPr lang="en-IN" dirty="0"/>
          </a:p>
          <a:p>
            <a:pPr marL="0" indent="0">
              <a:buNone/>
            </a:pPr>
            <a:r>
              <a:rPr lang="en-IN" dirty="0"/>
              <a:t>   </a:t>
            </a:r>
            <a:r>
              <a:rPr lang="en-IN" b="1" dirty="0">
                <a:cs typeface="Times New Roman" panose="02020603050405020304" pitchFamily="18" charset="0"/>
              </a:rPr>
              <a:t>[0]       [1]      [2]       [3]       [4]      [5]       [6]      [7]      [8]     [9]      [10]</a:t>
            </a:r>
            <a:endParaRPr lang="en-IN" dirty="0"/>
          </a:p>
          <a:p>
            <a:pPr marL="0" indent="0">
              <a:buNone/>
            </a:pPr>
            <a:endParaRPr lang="en-IN" dirty="0"/>
          </a:p>
          <a:p>
            <a:pPr marL="0" indent="0" algn="ctr">
              <a:buNone/>
            </a:pPr>
            <a:r>
              <a:rPr lang="en-IN" b="1" dirty="0">
                <a:solidFill>
                  <a:srgbClr val="0070C0"/>
                </a:solidFill>
                <a:cs typeface="Times New Roman" panose="02020603050405020304" pitchFamily="18" charset="0"/>
              </a:rPr>
              <a:t>FORWARD INDEX</a:t>
            </a:r>
          </a:p>
        </p:txBody>
      </p:sp>
      <p:graphicFrame>
        <p:nvGraphicFramePr>
          <p:cNvPr id="4" name="Table 3">
            <a:extLst>
              <a:ext uri="{FF2B5EF4-FFF2-40B4-BE49-F238E27FC236}">
                <a16:creationId xmlns:a16="http://schemas.microsoft.com/office/drawing/2014/main" id="{66FC6397-01B9-E0BB-A40C-F162DE40DE1A}"/>
              </a:ext>
            </a:extLst>
          </p:cNvPr>
          <p:cNvGraphicFramePr>
            <a:graphicFrameLocks noGrp="1"/>
          </p:cNvGraphicFramePr>
          <p:nvPr>
            <p:extLst>
              <p:ext uri="{D42A27DB-BD31-4B8C-83A1-F6EECF244321}">
                <p14:modId xmlns:p14="http://schemas.microsoft.com/office/powerpoint/2010/main" val="18718274"/>
              </p:ext>
            </p:extLst>
          </p:nvPr>
        </p:nvGraphicFramePr>
        <p:xfrm>
          <a:off x="1007165" y="3538330"/>
          <a:ext cx="10346635" cy="874643"/>
        </p:xfrm>
        <a:graphic>
          <a:graphicData uri="http://schemas.openxmlformats.org/drawingml/2006/table">
            <a:tbl>
              <a:tblPr firstRow="1" bandRow="1">
                <a:tableStyleId>{5940675A-B579-460E-94D1-54222C63F5DA}</a:tableStyleId>
              </a:tblPr>
              <a:tblGrid>
                <a:gridCol w="940603">
                  <a:extLst>
                    <a:ext uri="{9D8B030D-6E8A-4147-A177-3AD203B41FA5}">
                      <a16:colId xmlns:a16="http://schemas.microsoft.com/office/drawing/2014/main" val="2303504758"/>
                    </a:ext>
                  </a:extLst>
                </a:gridCol>
                <a:gridCol w="940603">
                  <a:extLst>
                    <a:ext uri="{9D8B030D-6E8A-4147-A177-3AD203B41FA5}">
                      <a16:colId xmlns:a16="http://schemas.microsoft.com/office/drawing/2014/main" val="1225818709"/>
                    </a:ext>
                  </a:extLst>
                </a:gridCol>
                <a:gridCol w="940603">
                  <a:extLst>
                    <a:ext uri="{9D8B030D-6E8A-4147-A177-3AD203B41FA5}">
                      <a16:colId xmlns:a16="http://schemas.microsoft.com/office/drawing/2014/main" val="2098275886"/>
                    </a:ext>
                  </a:extLst>
                </a:gridCol>
                <a:gridCol w="940603">
                  <a:extLst>
                    <a:ext uri="{9D8B030D-6E8A-4147-A177-3AD203B41FA5}">
                      <a16:colId xmlns:a16="http://schemas.microsoft.com/office/drawing/2014/main" val="3155148055"/>
                    </a:ext>
                  </a:extLst>
                </a:gridCol>
                <a:gridCol w="952331">
                  <a:extLst>
                    <a:ext uri="{9D8B030D-6E8A-4147-A177-3AD203B41FA5}">
                      <a16:colId xmlns:a16="http://schemas.microsoft.com/office/drawing/2014/main" val="50960311"/>
                    </a:ext>
                  </a:extLst>
                </a:gridCol>
                <a:gridCol w="928877">
                  <a:extLst>
                    <a:ext uri="{9D8B030D-6E8A-4147-A177-3AD203B41FA5}">
                      <a16:colId xmlns:a16="http://schemas.microsoft.com/office/drawing/2014/main" val="413145982"/>
                    </a:ext>
                  </a:extLst>
                </a:gridCol>
                <a:gridCol w="940603">
                  <a:extLst>
                    <a:ext uri="{9D8B030D-6E8A-4147-A177-3AD203B41FA5}">
                      <a16:colId xmlns:a16="http://schemas.microsoft.com/office/drawing/2014/main" val="3357246204"/>
                    </a:ext>
                  </a:extLst>
                </a:gridCol>
                <a:gridCol w="940603">
                  <a:extLst>
                    <a:ext uri="{9D8B030D-6E8A-4147-A177-3AD203B41FA5}">
                      <a16:colId xmlns:a16="http://schemas.microsoft.com/office/drawing/2014/main" val="1408582359"/>
                    </a:ext>
                  </a:extLst>
                </a:gridCol>
                <a:gridCol w="940603">
                  <a:extLst>
                    <a:ext uri="{9D8B030D-6E8A-4147-A177-3AD203B41FA5}">
                      <a16:colId xmlns:a16="http://schemas.microsoft.com/office/drawing/2014/main" val="3830697293"/>
                    </a:ext>
                  </a:extLst>
                </a:gridCol>
                <a:gridCol w="940603">
                  <a:extLst>
                    <a:ext uri="{9D8B030D-6E8A-4147-A177-3AD203B41FA5}">
                      <a16:colId xmlns:a16="http://schemas.microsoft.com/office/drawing/2014/main" val="139563615"/>
                    </a:ext>
                  </a:extLst>
                </a:gridCol>
                <a:gridCol w="940603">
                  <a:extLst>
                    <a:ext uri="{9D8B030D-6E8A-4147-A177-3AD203B41FA5}">
                      <a16:colId xmlns:a16="http://schemas.microsoft.com/office/drawing/2014/main" val="4111060543"/>
                    </a:ext>
                  </a:extLst>
                </a:gridCol>
              </a:tblGrid>
              <a:tr h="874643">
                <a:tc>
                  <a:txBody>
                    <a:bodyPr/>
                    <a:lstStyle/>
                    <a:p>
                      <a:pPr algn="ctr"/>
                      <a:r>
                        <a:rPr lang="en-IN" sz="4400" dirty="0">
                          <a:solidFill>
                            <a:srgbClr val="CC00FF"/>
                          </a:solidFill>
                          <a:latin typeface="Arial Black" panose="020B0A04020102020204" pitchFamily="34" charset="0"/>
                          <a:cs typeface="Times New Roman" panose="02020603050405020304" pitchFamily="18" charset="0"/>
                        </a:rPr>
                        <a:t>H</a:t>
                      </a:r>
                    </a:p>
                  </a:txBody>
                  <a:tcPr/>
                </a:tc>
                <a:tc>
                  <a:txBody>
                    <a:bodyPr/>
                    <a:lstStyle/>
                    <a:p>
                      <a:pPr algn="ctr"/>
                      <a:r>
                        <a:rPr lang="en-IN" sz="4400" dirty="0">
                          <a:solidFill>
                            <a:srgbClr val="CC00FF"/>
                          </a:solidFill>
                          <a:latin typeface="Arial Black" panose="020B0A04020102020204" pitchFamily="34" charset="0"/>
                          <a:cs typeface="Times New Roman" panose="02020603050405020304" pitchFamily="18" charset="0"/>
                        </a:rPr>
                        <a:t>E</a:t>
                      </a:r>
                    </a:p>
                  </a:txBody>
                  <a:tcPr/>
                </a:tc>
                <a:tc>
                  <a:txBody>
                    <a:bodyPr/>
                    <a:lstStyle/>
                    <a:p>
                      <a:pPr algn="ctr"/>
                      <a:r>
                        <a:rPr lang="en-IN" sz="4400" dirty="0">
                          <a:solidFill>
                            <a:srgbClr val="CC00FF"/>
                          </a:solidFill>
                          <a:latin typeface="Arial Black" panose="020B0A04020102020204" pitchFamily="34" charset="0"/>
                          <a:cs typeface="Times New Roman" panose="02020603050405020304" pitchFamily="18" charset="0"/>
                        </a:rPr>
                        <a:t>L</a:t>
                      </a:r>
                    </a:p>
                  </a:txBody>
                  <a:tcPr/>
                </a:tc>
                <a:tc>
                  <a:txBody>
                    <a:bodyPr/>
                    <a:lstStyle/>
                    <a:p>
                      <a:pPr algn="ctr"/>
                      <a:r>
                        <a:rPr lang="en-IN" sz="4400" dirty="0">
                          <a:solidFill>
                            <a:srgbClr val="CC00FF"/>
                          </a:solidFill>
                          <a:latin typeface="Arial Black" panose="020B0A04020102020204" pitchFamily="34" charset="0"/>
                          <a:cs typeface="Times New Roman" panose="02020603050405020304" pitchFamily="18" charset="0"/>
                        </a:rPr>
                        <a:t>L</a:t>
                      </a:r>
                    </a:p>
                  </a:txBody>
                  <a:tcPr/>
                </a:tc>
                <a:tc>
                  <a:txBody>
                    <a:bodyPr/>
                    <a:lstStyle/>
                    <a:p>
                      <a:pPr algn="ctr"/>
                      <a:r>
                        <a:rPr lang="en-IN" sz="4400" dirty="0">
                          <a:solidFill>
                            <a:srgbClr val="CC00FF"/>
                          </a:solidFill>
                          <a:latin typeface="Arial Black" panose="020B0A04020102020204" pitchFamily="34" charset="0"/>
                          <a:cs typeface="Times New Roman" panose="02020603050405020304" pitchFamily="18" charset="0"/>
                        </a:rPr>
                        <a:t>O</a:t>
                      </a:r>
                    </a:p>
                  </a:txBody>
                  <a:tcPr/>
                </a:tc>
                <a:tc>
                  <a:txBody>
                    <a:bodyPr/>
                    <a:lstStyle/>
                    <a:p>
                      <a:pPr algn="ctr"/>
                      <a:endParaRPr lang="en-IN" sz="4400" dirty="0">
                        <a:solidFill>
                          <a:srgbClr val="CC00FF"/>
                        </a:solidFill>
                        <a:latin typeface="Arial Black" panose="020B0A04020102020204" pitchFamily="34" charset="0"/>
                        <a:cs typeface="Times New Roman" panose="02020603050405020304" pitchFamily="18" charset="0"/>
                      </a:endParaRPr>
                    </a:p>
                  </a:txBody>
                  <a:tcPr/>
                </a:tc>
                <a:tc>
                  <a:txBody>
                    <a:bodyPr/>
                    <a:lstStyle/>
                    <a:p>
                      <a:pPr algn="ctr"/>
                      <a:r>
                        <a:rPr lang="en-IN" sz="4400" dirty="0">
                          <a:solidFill>
                            <a:srgbClr val="CC00FF"/>
                          </a:solidFill>
                          <a:latin typeface="Arial Black" panose="020B0A04020102020204" pitchFamily="34" charset="0"/>
                          <a:cs typeface="Times New Roman" panose="02020603050405020304" pitchFamily="18" charset="0"/>
                        </a:rPr>
                        <a:t>W</a:t>
                      </a:r>
                    </a:p>
                  </a:txBody>
                  <a:tcPr/>
                </a:tc>
                <a:tc>
                  <a:txBody>
                    <a:bodyPr/>
                    <a:lstStyle/>
                    <a:p>
                      <a:pPr algn="ctr"/>
                      <a:r>
                        <a:rPr lang="en-IN" sz="4400" dirty="0">
                          <a:solidFill>
                            <a:srgbClr val="CC00FF"/>
                          </a:solidFill>
                          <a:latin typeface="Arial Black" panose="020B0A04020102020204" pitchFamily="34" charset="0"/>
                          <a:cs typeface="Times New Roman" panose="02020603050405020304" pitchFamily="18" charset="0"/>
                        </a:rPr>
                        <a:t>O</a:t>
                      </a:r>
                    </a:p>
                  </a:txBody>
                  <a:tcPr/>
                </a:tc>
                <a:tc>
                  <a:txBody>
                    <a:bodyPr/>
                    <a:lstStyle/>
                    <a:p>
                      <a:pPr algn="ctr"/>
                      <a:r>
                        <a:rPr lang="en-IN" sz="4400" dirty="0">
                          <a:solidFill>
                            <a:srgbClr val="CC00FF"/>
                          </a:solidFill>
                          <a:latin typeface="Arial Black" panose="020B0A04020102020204" pitchFamily="34" charset="0"/>
                          <a:cs typeface="Times New Roman" panose="02020603050405020304" pitchFamily="18" charset="0"/>
                        </a:rPr>
                        <a:t>R</a:t>
                      </a:r>
                    </a:p>
                  </a:txBody>
                  <a:tcPr/>
                </a:tc>
                <a:tc>
                  <a:txBody>
                    <a:bodyPr/>
                    <a:lstStyle/>
                    <a:p>
                      <a:pPr algn="ctr"/>
                      <a:r>
                        <a:rPr lang="en-IN" sz="4400" dirty="0">
                          <a:solidFill>
                            <a:srgbClr val="CC00FF"/>
                          </a:solidFill>
                          <a:latin typeface="Arial Black" panose="020B0A04020102020204" pitchFamily="34" charset="0"/>
                          <a:cs typeface="Times New Roman" panose="02020603050405020304" pitchFamily="18" charset="0"/>
                        </a:rPr>
                        <a:t>L</a:t>
                      </a:r>
                    </a:p>
                  </a:txBody>
                  <a:tcPr/>
                </a:tc>
                <a:tc>
                  <a:txBody>
                    <a:bodyPr/>
                    <a:lstStyle/>
                    <a:p>
                      <a:pPr algn="ctr"/>
                      <a:r>
                        <a:rPr lang="en-IN" sz="4400" dirty="0">
                          <a:solidFill>
                            <a:srgbClr val="CC00FF"/>
                          </a:solidFill>
                          <a:latin typeface="Arial Black" panose="020B0A04020102020204" pitchFamily="34" charset="0"/>
                          <a:cs typeface="Times New Roman" panose="02020603050405020304" pitchFamily="18" charset="0"/>
                        </a:rPr>
                        <a:t>D</a:t>
                      </a:r>
                    </a:p>
                  </a:txBody>
                  <a:tcPr/>
                </a:tc>
                <a:extLst>
                  <a:ext uri="{0D108BD9-81ED-4DB2-BD59-A6C34878D82A}">
                    <a16:rowId xmlns:a16="http://schemas.microsoft.com/office/drawing/2014/main" val="555599762"/>
                  </a:ext>
                </a:extLst>
              </a:tr>
            </a:tbl>
          </a:graphicData>
        </a:graphic>
      </p:graphicFrame>
      <p:pic>
        <p:nvPicPr>
          <p:cNvPr id="5" name="Picture 4">
            <a:extLst>
              <a:ext uri="{FF2B5EF4-FFF2-40B4-BE49-F238E27FC236}">
                <a16:creationId xmlns:a16="http://schemas.microsoft.com/office/drawing/2014/main" id="{F4634A54-7A9F-7867-BB25-0088FCC9FA42}"/>
              </a:ext>
            </a:extLst>
          </p:cNvPr>
          <p:cNvPicPr/>
          <p:nvPr/>
        </p:nvPicPr>
        <p:blipFill>
          <a:blip r:embed="rId2" cstate="print"/>
          <a:stretch/>
        </p:blipFill>
        <p:spPr>
          <a:xfrm>
            <a:off x="11503320" y="20605"/>
            <a:ext cx="688680" cy="689040"/>
          </a:xfrm>
          <a:prstGeom prst="rect">
            <a:avLst/>
          </a:prstGeom>
          <a:ln w="0">
            <a:noFill/>
          </a:ln>
        </p:spPr>
      </p:pic>
    </p:spTree>
    <p:extLst>
      <p:ext uri="{BB962C8B-B14F-4D97-AF65-F5344CB8AC3E}">
        <p14:creationId xmlns:p14="http://schemas.microsoft.com/office/powerpoint/2010/main" val="10295337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1C1D27A-E412-833D-4C33-D8B06B9E64FD}"/>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2856360D-E1CC-FD50-B6A3-95BFD84EBE91}"/>
              </a:ext>
            </a:extLst>
          </p:cNvPr>
          <p:cNvSpPr txBox="1"/>
          <p:nvPr/>
        </p:nvSpPr>
        <p:spPr>
          <a:xfrm>
            <a:off x="665019" y="709645"/>
            <a:ext cx="10760066" cy="3939540"/>
          </a:xfrm>
          <a:prstGeom prst="rect">
            <a:avLst/>
          </a:prstGeom>
          <a:noFill/>
        </p:spPr>
        <p:txBody>
          <a:bodyPr wrap="square">
            <a:spAutoFit/>
          </a:bodyPr>
          <a:lstStyle/>
          <a:p>
            <a:pPr algn="l">
              <a:lnSpc>
                <a:spcPct val="110000"/>
              </a:lnSpc>
            </a:pPr>
            <a:r>
              <a:rPr lang="en-IN" sz="2000" b="1" dirty="0">
                <a:solidFill>
                  <a:srgbClr val="FF0000"/>
                </a:solidFill>
                <a:cs typeface="Times New Roman" panose="02020603050405020304" pitchFamily="18" charset="0"/>
              </a:rPr>
              <a:t>ACCESSING CHARACTERS IN STRING</a:t>
            </a:r>
          </a:p>
          <a:p>
            <a:pPr algn="l">
              <a:lnSpc>
                <a:spcPct val="110000"/>
              </a:lnSpc>
            </a:pPr>
            <a:endParaRPr lang="en-IN" sz="2000" dirty="0">
              <a:cs typeface="Times New Roman" panose="02020603050405020304" pitchFamily="18" charset="0"/>
            </a:endParaRPr>
          </a:p>
          <a:p>
            <a:pPr marL="342900" indent="-342900" algn="l">
              <a:lnSpc>
                <a:spcPct val="110000"/>
              </a:lnSpc>
              <a:buFont typeface="Arial" panose="020B0604020202020204" pitchFamily="34" charset="0"/>
              <a:buChar char="•"/>
            </a:pPr>
            <a:r>
              <a:rPr lang="en-IN" sz="2000" dirty="0">
                <a:cs typeface="Times New Roman" panose="02020603050405020304" pitchFamily="18" charset="0"/>
              </a:rPr>
              <a:t>Strings in Python are arrays </a:t>
            </a:r>
            <a:r>
              <a:rPr lang="en-US" sz="2000" b="0" i="0" dirty="0">
                <a:solidFill>
                  <a:srgbClr val="000000"/>
                </a:solidFill>
                <a:effectLst/>
                <a:cs typeface="Times New Roman" panose="02020603050405020304" pitchFamily="18" charset="0"/>
              </a:rPr>
              <a:t>of bytes representing Unicode characters.</a:t>
            </a:r>
          </a:p>
          <a:p>
            <a:pPr marL="342900" indent="-342900" algn="l">
              <a:lnSpc>
                <a:spcPct val="110000"/>
              </a:lnSpc>
              <a:buFont typeface="Arial" panose="020B0604020202020204" pitchFamily="34" charset="0"/>
              <a:buChar char="•"/>
            </a:pPr>
            <a:r>
              <a:rPr lang="en-US" sz="2000" b="0" i="0" dirty="0">
                <a:solidFill>
                  <a:srgbClr val="000000"/>
                </a:solidFill>
                <a:effectLst/>
                <a:cs typeface="Times New Roman" panose="02020603050405020304" pitchFamily="18" charset="0"/>
              </a:rPr>
              <a:t>Python does not have a character data type; a single character is simply a string with a length of 1.</a:t>
            </a:r>
          </a:p>
          <a:p>
            <a:pPr marL="342900" indent="-342900" algn="l">
              <a:lnSpc>
                <a:spcPct val="110000"/>
              </a:lnSpc>
              <a:buFont typeface="Arial" panose="020B0604020202020204" pitchFamily="34" charset="0"/>
              <a:buChar char="•"/>
            </a:pPr>
            <a:r>
              <a:rPr lang="en-US" sz="2000" b="0" i="0" dirty="0">
                <a:solidFill>
                  <a:srgbClr val="000000"/>
                </a:solidFill>
                <a:effectLst/>
                <a:cs typeface="Times New Roman" panose="02020603050405020304" pitchFamily="18" charset="0"/>
              </a:rPr>
              <a:t>Square brackets can be used to access elements of the string.</a:t>
            </a:r>
          </a:p>
          <a:p>
            <a:pPr marL="0" indent="0" algn="l">
              <a:buNone/>
            </a:pPr>
            <a:endParaRPr lang="en-US" sz="2000" dirty="0">
              <a:solidFill>
                <a:srgbClr val="000000"/>
              </a:solidFill>
              <a:cs typeface="Times New Roman" panose="02020603050405020304" pitchFamily="18" charset="0"/>
            </a:endParaRPr>
          </a:p>
          <a:p>
            <a:pPr marL="0" indent="0" algn="l">
              <a:buNone/>
            </a:pPr>
            <a:r>
              <a:rPr lang="en-US" sz="2000" b="1" dirty="0">
                <a:solidFill>
                  <a:srgbClr val="000000"/>
                </a:solidFill>
                <a:cs typeface="Times New Roman" panose="02020603050405020304" pitchFamily="18" charset="0"/>
              </a:rPr>
              <a:t>Example</a:t>
            </a:r>
          </a:p>
          <a:p>
            <a:pPr marL="0" indent="0" algn="l">
              <a:buNone/>
            </a:pPr>
            <a:r>
              <a:rPr lang="en-US" sz="2000" dirty="0">
                <a:solidFill>
                  <a:srgbClr val="000000"/>
                </a:solidFill>
                <a:cs typeface="Times New Roman" panose="02020603050405020304" pitchFamily="18" charset="0"/>
              </a:rPr>
              <a:t> str = “Hello World”</a:t>
            </a:r>
          </a:p>
          <a:p>
            <a:pPr marL="0" indent="0" algn="l">
              <a:buNone/>
            </a:pPr>
            <a:r>
              <a:rPr lang="en-US" sz="2000" i="0" dirty="0">
                <a:solidFill>
                  <a:srgbClr val="000000"/>
                </a:solidFill>
                <a:effectLst/>
                <a:cs typeface="Times New Roman" panose="02020603050405020304" pitchFamily="18" charset="0"/>
              </a:rPr>
              <a:t> print(str[1])</a:t>
            </a:r>
            <a:r>
              <a:rPr lang="en-US" sz="2000" i="0">
                <a:solidFill>
                  <a:srgbClr val="000000"/>
                </a:solidFill>
                <a:effectLst/>
                <a:cs typeface="Times New Roman" panose="02020603050405020304" pitchFamily="18" charset="0"/>
              </a:rPr>
              <a:t>	</a:t>
            </a:r>
            <a:endParaRPr lang="en-US" sz="2000" i="0" dirty="0">
              <a:solidFill>
                <a:srgbClr val="000000"/>
              </a:solidFill>
              <a:effectLst/>
              <a:cs typeface="Times New Roman" panose="02020603050405020304" pitchFamily="18" charset="0"/>
            </a:endParaRPr>
          </a:p>
          <a:p>
            <a:pPr marL="0" indent="0" algn="l">
              <a:buNone/>
            </a:pPr>
            <a:r>
              <a:rPr lang="en-US" sz="2000" dirty="0">
                <a:solidFill>
                  <a:srgbClr val="000000"/>
                </a:solidFill>
                <a:cs typeface="Times New Roman" panose="02020603050405020304" pitchFamily="18" charset="0"/>
              </a:rPr>
              <a:t> print(str[9])	</a:t>
            </a:r>
          </a:p>
          <a:p>
            <a:pPr marL="0" indent="0" algn="l">
              <a:buNone/>
            </a:pPr>
            <a:r>
              <a:rPr lang="en-US" sz="2000" i="0" dirty="0">
                <a:solidFill>
                  <a:srgbClr val="000000"/>
                </a:solidFill>
                <a:effectLst/>
                <a:cs typeface="Times New Roman" panose="02020603050405020304" pitchFamily="18" charset="0"/>
              </a:rPr>
              <a:t> print(str[-</a:t>
            </a:r>
            <a:r>
              <a:rPr lang="en-US" sz="2000" dirty="0">
                <a:solidFill>
                  <a:srgbClr val="000000"/>
                </a:solidFill>
                <a:cs typeface="Times New Roman" panose="02020603050405020304" pitchFamily="18" charset="0"/>
              </a:rPr>
              <a:t>3</a:t>
            </a:r>
            <a:r>
              <a:rPr lang="en-US" sz="2000" i="0" dirty="0">
                <a:solidFill>
                  <a:srgbClr val="000000"/>
                </a:solidFill>
                <a:effectLst/>
                <a:cs typeface="Times New Roman" panose="02020603050405020304" pitchFamily="18" charset="0"/>
              </a:rPr>
              <a:t>])	</a:t>
            </a:r>
          </a:p>
          <a:p>
            <a:pPr marL="0" indent="0" algn="l">
              <a:buNone/>
            </a:pPr>
            <a:r>
              <a:rPr lang="en-US" sz="2000" i="0" dirty="0">
                <a:solidFill>
                  <a:srgbClr val="000000"/>
                </a:solidFill>
                <a:effectLst/>
                <a:cs typeface="Times New Roman" panose="02020603050405020304" pitchFamily="18" charset="0"/>
              </a:rPr>
              <a:t> print(str[-5])		</a:t>
            </a:r>
          </a:p>
        </p:txBody>
      </p:sp>
    </p:spTree>
    <p:extLst>
      <p:ext uri="{BB962C8B-B14F-4D97-AF65-F5344CB8AC3E}">
        <p14:creationId xmlns:p14="http://schemas.microsoft.com/office/powerpoint/2010/main" val="11226590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A99025-61B9-BCE5-EA86-F78BC0BA9836}"/>
              </a:ext>
            </a:extLst>
          </p:cNvPr>
          <p:cNvPicPr/>
          <p:nvPr/>
        </p:nvPicPr>
        <p:blipFill>
          <a:blip r:embed="rId2" cstate="print"/>
          <a:stretch/>
        </p:blipFill>
        <p:spPr>
          <a:xfrm>
            <a:off x="11503320" y="0"/>
            <a:ext cx="688680" cy="689040"/>
          </a:xfrm>
          <a:prstGeom prst="rect">
            <a:avLst/>
          </a:prstGeom>
          <a:ln w="0">
            <a:noFill/>
          </a:ln>
        </p:spPr>
      </p:pic>
      <p:sp>
        <p:nvSpPr>
          <p:cNvPr id="6" name="TextBox 5">
            <a:extLst>
              <a:ext uri="{FF2B5EF4-FFF2-40B4-BE49-F238E27FC236}">
                <a16:creationId xmlns:a16="http://schemas.microsoft.com/office/drawing/2014/main" id="{C5D43368-BF34-1939-89F8-DFB217CD41D5}"/>
              </a:ext>
            </a:extLst>
          </p:cNvPr>
          <p:cNvSpPr txBox="1"/>
          <p:nvPr/>
        </p:nvSpPr>
        <p:spPr>
          <a:xfrm>
            <a:off x="781397" y="1130531"/>
            <a:ext cx="10053752" cy="3785652"/>
          </a:xfrm>
          <a:prstGeom prst="rect">
            <a:avLst/>
          </a:prstGeom>
          <a:noFill/>
        </p:spPr>
        <p:txBody>
          <a:bodyPr wrap="square">
            <a:spAutoFit/>
          </a:bodyPr>
          <a:lstStyle/>
          <a:p>
            <a:pPr marL="0" indent="0">
              <a:buNone/>
            </a:pPr>
            <a:r>
              <a:rPr lang="en-IN" sz="2000" b="1" dirty="0">
                <a:solidFill>
                  <a:srgbClr val="FF0000"/>
                </a:solidFill>
              </a:rPr>
              <a:t>STRING LENGTH</a:t>
            </a:r>
          </a:p>
          <a:p>
            <a:pPr marL="0" indent="0">
              <a:buNone/>
            </a:pPr>
            <a:endParaRPr lang="en-IN" sz="2000" dirty="0"/>
          </a:p>
          <a:p>
            <a:pPr marL="0" indent="0">
              <a:buNone/>
            </a:pPr>
            <a:r>
              <a:rPr lang="en-IN" sz="2000" dirty="0"/>
              <a:t>In Python, we use </a:t>
            </a:r>
            <a:r>
              <a:rPr lang="en-IN" sz="2000" dirty="0">
                <a:solidFill>
                  <a:srgbClr val="CC00FF"/>
                </a:solidFill>
              </a:rPr>
              <a:t>len() </a:t>
            </a:r>
            <a:r>
              <a:rPr lang="en-IN" sz="2000" dirty="0"/>
              <a:t>function to return the length of a string.</a:t>
            </a:r>
          </a:p>
          <a:p>
            <a:pPr marL="0" indent="0">
              <a:buNone/>
            </a:pPr>
            <a:endParaRPr lang="en-IN" sz="2000" dirty="0"/>
          </a:p>
          <a:p>
            <a:pPr marL="0" indent="0">
              <a:buNone/>
            </a:pPr>
            <a:r>
              <a:rPr lang="en-IN" sz="2000" b="1" dirty="0"/>
              <a:t>Example</a:t>
            </a:r>
          </a:p>
          <a:p>
            <a:pPr marL="0" indent="0">
              <a:buNone/>
            </a:pPr>
            <a:r>
              <a:rPr lang="en-IN" sz="2000" dirty="0"/>
              <a:t> str1 = “Hello World”</a:t>
            </a:r>
          </a:p>
          <a:p>
            <a:pPr marL="0" indent="0">
              <a:buNone/>
            </a:pPr>
            <a:r>
              <a:rPr lang="en-IN" sz="2000" dirty="0"/>
              <a:t> print(len(str1))		# 11</a:t>
            </a:r>
          </a:p>
          <a:p>
            <a:pPr marL="0" indent="0">
              <a:buNone/>
            </a:pPr>
            <a:r>
              <a:rPr lang="en-IN" sz="2000" dirty="0"/>
              <a:t> str2 = “a”</a:t>
            </a:r>
          </a:p>
          <a:p>
            <a:pPr marL="0" indent="0">
              <a:buNone/>
            </a:pPr>
            <a:r>
              <a:rPr lang="en-IN" sz="2000" dirty="0"/>
              <a:t> print(len(str2))		# 1</a:t>
            </a:r>
          </a:p>
          <a:p>
            <a:pPr marL="0" indent="0">
              <a:buNone/>
            </a:pPr>
            <a:r>
              <a:rPr lang="en-IN" sz="2000" dirty="0"/>
              <a:t> str3 = “How are you?”</a:t>
            </a:r>
          </a:p>
          <a:p>
            <a:pPr marL="0" indent="0">
              <a:buNone/>
            </a:pPr>
            <a:r>
              <a:rPr lang="en-IN" sz="2000" dirty="0"/>
              <a:t> print(len(str3))		#12</a:t>
            </a:r>
          </a:p>
          <a:p>
            <a:pPr marL="0" indent="0">
              <a:buNone/>
            </a:pPr>
            <a:endParaRPr lang="en-IN" sz="2000" dirty="0"/>
          </a:p>
        </p:txBody>
      </p:sp>
    </p:spTree>
    <p:extLst>
      <p:ext uri="{BB962C8B-B14F-4D97-AF65-F5344CB8AC3E}">
        <p14:creationId xmlns:p14="http://schemas.microsoft.com/office/powerpoint/2010/main" val="38095193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6B05AF4-CF49-7963-AB51-085BB3FA226B}"/>
              </a:ext>
            </a:extLst>
          </p:cNvPr>
          <p:cNvPicPr/>
          <p:nvPr/>
        </p:nvPicPr>
        <p:blipFill>
          <a:blip r:embed="rId2" cstate="print"/>
          <a:stretch/>
        </p:blipFill>
        <p:spPr>
          <a:xfrm>
            <a:off x="11503320" y="0"/>
            <a:ext cx="688680" cy="689040"/>
          </a:xfrm>
          <a:prstGeom prst="rect">
            <a:avLst/>
          </a:prstGeom>
          <a:ln w="0">
            <a:noFill/>
          </a:ln>
        </p:spPr>
      </p:pic>
      <p:sp>
        <p:nvSpPr>
          <p:cNvPr id="6" name="TextBox 5">
            <a:extLst>
              <a:ext uri="{FF2B5EF4-FFF2-40B4-BE49-F238E27FC236}">
                <a16:creationId xmlns:a16="http://schemas.microsoft.com/office/drawing/2014/main" id="{91D9F786-8831-2818-F2FB-0DF0E3E300E9}"/>
              </a:ext>
            </a:extLst>
          </p:cNvPr>
          <p:cNvSpPr txBox="1"/>
          <p:nvPr/>
        </p:nvSpPr>
        <p:spPr>
          <a:xfrm>
            <a:off x="714895" y="689041"/>
            <a:ext cx="10538124" cy="2862322"/>
          </a:xfrm>
          <a:prstGeom prst="rect">
            <a:avLst/>
          </a:prstGeom>
          <a:noFill/>
        </p:spPr>
        <p:txBody>
          <a:bodyPr wrap="square">
            <a:spAutoFit/>
          </a:bodyPr>
          <a:lstStyle/>
          <a:p>
            <a:pPr algn="l"/>
            <a:r>
              <a:rPr lang="en-IN" sz="2000" b="1" dirty="0">
                <a:solidFill>
                  <a:srgbClr val="FF0000"/>
                </a:solidFill>
                <a:cs typeface="Times New Roman" panose="02020603050405020304" pitchFamily="18" charset="0"/>
              </a:rPr>
              <a:t>STRING SLICING</a:t>
            </a:r>
          </a:p>
          <a:p>
            <a:pPr algn="l"/>
            <a:endParaRPr lang="en-IN" sz="2000" dirty="0">
              <a:cs typeface="Times New Roman" panose="02020603050405020304" pitchFamily="18" charset="0"/>
            </a:endParaRPr>
          </a:p>
          <a:p>
            <a:pPr algn="l"/>
            <a:r>
              <a:rPr lang="en-IN" sz="2000" dirty="0">
                <a:cs typeface="Times New Roman" panose="02020603050405020304" pitchFamily="18" charset="0"/>
              </a:rPr>
              <a:t>You can return a range </a:t>
            </a:r>
            <a:r>
              <a:rPr lang="en-US" sz="2000" b="0" i="0" dirty="0">
                <a:solidFill>
                  <a:srgbClr val="000000"/>
                </a:solidFill>
                <a:effectLst/>
                <a:cs typeface="Times New Roman" panose="02020603050405020304" pitchFamily="18" charset="0"/>
              </a:rPr>
              <a:t>of characters by using the slice syntax.</a:t>
            </a:r>
          </a:p>
          <a:p>
            <a:pPr algn="l"/>
            <a:r>
              <a:rPr lang="en-US" sz="2000" b="0" i="0" dirty="0">
                <a:solidFill>
                  <a:srgbClr val="000000"/>
                </a:solidFill>
                <a:effectLst/>
                <a:cs typeface="Times New Roman" panose="02020603050405020304" pitchFamily="18" charset="0"/>
              </a:rPr>
              <a:t>Specify the start index and the end index, separated by a colon, to return a part of the string.</a:t>
            </a:r>
          </a:p>
          <a:p>
            <a:endParaRPr lang="en-IN" sz="2000" dirty="0">
              <a:cs typeface="Times New Roman" panose="02020603050405020304" pitchFamily="18" charset="0"/>
            </a:endParaRPr>
          </a:p>
          <a:p>
            <a:pPr marL="0" indent="0">
              <a:buNone/>
            </a:pPr>
            <a:r>
              <a:rPr lang="en-IN" sz="2000" b="1" dirty="0">
                <a:cs typeface="Times New Roman" panose="02020603050405020304" pitchFamily="18" charset="0"/>
              </a:rPr>
              <a:t>Example</a:t>
            </a:r>
          </a:p>
          <a:p>
            <a:pPr marL="0" indent="0">
              <a:buNone/>
            </a:pPr>
            <a:r>
              <a:rPr lang="en-IN" sz="2000" dirty="0">
                <a:cs typeface="Times New Roman" panose="02020603050405020304" pitchFamily="18" charset="0"/>
              </a:rPr>
              <a:t> str = “Hello World”</a:t>
            </a:r>
          </a:p>
          <a:p>
            <a:pPr marL="0" indent="0">
              <a:buNone/>
            </a:pPr>
            <a:r>
              <a:rPr lang="en-IN" sz="2000" dirty="0">
                <a:cs typeface="Times New Roman" panose="02020603050405020304" pitchFamily="18" charset="0"/>
              </a:rPr>
              <a:t> print(str[2:8])</a:t>
            </a:r>
          </a:p>
          <a:p>
            <a:pPr marL="0" indent="0">
              <a:buNone/>
            </a:pPr>
            <a:r>
              <a:rPr lang="en-IN" sz="2000" dirty="0">
                <a:cs typeface="Times New Roman" panose="02020603050405020304" pitchFamily="18" charset="0"/>
              </a:rPr>
              <a:t># </a:t>
            </a:r>
            <a:r>
              <a:rPr lang="en-IN" sz="2000" dirty="0" err="1">
                <a:cs typeface="Times New Roman" panose="02020603050405020304" pitchFamily="18" charset="0"/>
              </a:rPr>
              <a:t>llo</a:t>
            </a:r>
            <a:r>
              <a:rPr lang="en-IN" sz="2000" dirty="0">
                <a:cs typeface="Times New Roman" panose="02020603050405020304" pitchFamily="18" charset="0"/>
              </a:rPr>
              <a:t> Wo</a:t>
            </a:r>
          </a:p>
        </p:txBody>
      </p:sp>
    </p:spTree>
    <p:extLst>
      <p:ext uri="{BB962C8B-B14F-4D97-AF65-F5344CB8AC3E}">
        <p14:creationId xmlns:p14="http://schemas.microsoft.com/office/powerpoint/2010/main" val="24087109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C912241-13C8-078E-207E-2075AF2960D1}"/>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58FB3CDC-7300-D273-83B0-F2117641614B}"/>
              </a:ext>
            </a:extLst>
          </p:cNvPr>
          <p:cNvSpPr txBox="1"/>
          <p:nvPr/>
        </p:nvSpPr>
        <p:spPr>
          <a:xfrm>
            <a:off x="629265" y="623185"/>
            <a:ext cx="10540179" cy="4401205"/>
          </a:xfrm>
          <a:prstGeom prst="rect">
            <a:avLst/>
          </a:prstGeom>
          <a:noFill/>
        </p:spPr>
        <p:txBody>
          <a:bodyPr wrap="square">
            <a:spAutoFit/>
          </a:bodyPr>
          <a:lstStyle/>
          <a:p>
            <a:pPr marL="0" indent="0">
              <a:buNone/>
            </a:pPr>
            <a:r>
              <a:rPr lang="en-IN" sz="2000" b="1" dirty="0">
                <a:solidFill>
                  <a:srgbClr val="FF0000"/>
                </a:solidFill>
                <a:cs typeface="Times New Roman" panose="02020603050405020304" pitchFamily="18" charset="0"/>
              </a:rPr>
              <a:t>Slice from the Start</a:t>
            </a:r>
          </a:p>
          <a:p>
            <a:pPr marL="0" indent="0">
              <a:buNone/>
            </a:pPr>
            <a:endParaRPr lang="en-IN" sz="2000" b="1" dirty="0">
              <a:solidFill>
                <a:srgbClr val="FF0000"/>
              </a:solidFill>
              <a:cs typeface="Times New Roman" panose="02020603050405020304" pitchFamily="18" charset="0"/>
            </a:endParaRPr>
          </a:p>
          <a:p>
            <a:pPr marL="0" indent="0">
              <a:buNone/>
            </a:pPr>
            <a:r>
              <a:rPr lang="en-IN" sz="2000" dirty="0">
                <a:cs typeface="Times New Roman" panose="02020603050405020304" pitchFamily="18" charset="0"/>
              </a:rPr>
              <a:t>By leaving out the start index, the range will start at the first character.</a:t>
            </a:r>
          </a:p>
          <a:p>
            <a:pPr marL="0" indent="0">
              <a:buNone/>
            </a:pPr>
            <a:r>
              <a:rPr lang="en-IN" sz="2000" b="1" dirty="0">
                <a:cs typeface="Times New Roman" panose="02020603050405020304" pitchFamily="18" charset="0"/>
              </a:rPr>
              <a:t>Example: </a:t>
            </a:r>
            <a:r>
              <a:rPr lang="en-IN" sz="2000" dirty="0">
                <a:cs typeface="Times New Roman" panose="02020603050405020304" pitchFamily="18" charset="0"/>
              </a:rPr>
              <a:t>Get the characters from the start to position 5.</a:t>
            </a:r>
          </a:p>
          <a:p>
            <a:pPr marL="0" indent="0">
              <a:buNone/>
            </a:pPr>
            <a:r>
              <a:rPr lang="en-IN" sz="2000" b="1" dirty="0">
                <a:cs typeface="Times New Roman" panose="02020603050405020304" pitchFamily="18" charset="0"/>
              </a:rPr>
              <a:t> </a:t>
            </a:r>
            <a:r>
              <a:rPr lang="en-IN" sz="2000" dirty="0">
                <a:cs typeface="Times New Roman" panose="02020603050405020304" pitchFamily="18" charset="0"/>
              </a:rPr>
              <a:t>str = “Python is awesome”</a:t>
            </a:r>
          </a:p>
          <a:p>
            <a:pPr marL="0" indent="0">
              <a:buNone/>
            </a:pPr>
            <a:r>
              <a:rPr lang="en-IN" sz="2000" b="1" dirty="0">
                <a:cs typeface="Times New Roman" panose="02020603050405020304" pitchFamily="18" charset="0"/>
              </a:rPr>
              <a:t> </a:t>
            </a:r>
            <a:r>
              <a:rPr lang="en-IN" sz="2000" dirty="0">
                <a:cs typeface="Times New Roman" panose="02020603050405020304" pitchFamily="18" charset="0"/>
              </a:rPr>
              <a:t>print(str[:5])    			# </a:t>
            </a:r>
            <a:r>
              <a:rPr lang="en-IN" sz="2000" dirty="0" err="1">
                <a:cs typeface="Times New Roman" panose="02020603050405020304" pitchFamily="18" charset="0"/>
              </a:rPr>
              <a:t>Pytho</a:t>
            </a:r>
            <a:endParaRPr lang="en-IN" sz="2000" dirty="0">
              <a:cs typeface="Times New Roman" panose="02020603050405020304" pitchFamily="18" charset="0"/>
            </a:endParaRPr>
          </a:p>
          <a:p>
            <a:pPr marL="0" indent="0">
              <a:buNone/>
            </a:pPr>
            <a:endParaRPr lang="en-IN" sz="2000" b="1" dirty="0">
              <a:cs typeface="Times New Roman" panose="02020603050405020304" pitchFamily="18" charset="0"/>
            </a:endParaRPr>
          </a:p>
          <a:p>
            <a:pPr marL="0" indent="0">
              <a:buNone/>
            </a:pPr>
            <a:r>
              <a:rPr lang="en-IN" sz="2000" b="1" dirty="0">
                <a:solidFill>
                  <a:srgbClr val="FF0000"/>
                </a:solidFill>
                <a:cs typeface="Times New Roman" panose="02020603050405020304" pitchFamily="18" charset="0"/>
              </a:rPr>
              <a:t>Slice to the End</a:t>
            </a:r>
          </a:p>
          <a:p>
            <a:pPr marL="0" indent="0">
              <a:buNone/>
            </a:pPr>
            <a:endParaRPr lang="en-IN" sz="2000" b="1" dirty="0">
              <a:solidFill>
                <a:srgbClr val="FF0000"/>
              </a:solidFill>
              <a:cs typeface="Times New Roman" panose="02020603050405020304" pitchFamily="18" charset="0"/>
            </a:endParaRPr>
          </a:p>
          <a:p>
            <a:pPr marL="0" indent="0">
              <a:buNone/>
            </a:pPr>
            <a:r>
              <a:rPr lang="en-US" sz="2000" b="0" i="0" dirty="0">
                <a:solidFill>
                  <a:srgbClr val="000000"/>
                </a:solidFill>
                <a:effectLst/>
                <a:cs typeface="Times New Roman" panose="02020603050405020304" pitchFamily="18" charset="0"/>
              </a:rPr>
              <a:t>By leaving out the </a:t>
            </a:r>
            <a:r>
              <a:rPr lang="en-US" sz="2000" b="0" i="1" dirty="0">
                <a:solidFill>
                  <a:srgbClr val="000000"/>
                </a:solidFill>
                <a:effectLst/>
                <a:cs typeface="Times New Roman" panose="02020603050405020304" pitchFamily="18" charset="0"/>
              </a:rPr>
              <a:t>end </a:t>
            </a:r>
            <a:r>
              <a:rPr lang="en-US" sz="2000" b="0" i="0" dirty="0">
                <a:solidFill>
                  <a:srgbClr val="000000"/>
                </a:solidFill>
                <a:effectLst/>
                <a:cs typeface="Times New Roman" panose="02020603050405020304" pitchFamily="18" charset="0"/>
              </a:rPr>
              <a:t>index, the range will go to the end.</a:t>
            </a:r>
          </a:p>
          <a:p>
            <a:pPr marL="0" indent="0">
              <a:buNone/>
            </a:pPr>
            <a:r>
              <a:rPr lang="en-US" sz="2000" b="1" dirty="0">
                <a:solidFill>
                  <a:srgbClr val="000000"/>
                </a:solidFill>
                <a:cs typeface="Times New Roman" panose="02020603050405020304" pitchFamily="18" charset="0"/>
              </a:rPr>
              <a:t>Example: </a:t>
            </a:r>
            <a:r>
              <a:rPr lang="en-US" sz="2000" b="0" i="0" dirty="0">
                <a:solidFill>
                  <a:srgbClr val="000000"/>
                </a:solidFill>
                <a:effectLst/>
                <a:cs typeface="Times New Roman" panose="02020603050405020304" pitchFamily="18" charset="0"/>
              </a:rPr>
              <a:t>Get the characters from position 8, and all the way to the end.</a:t>
            </a:r>
          </a:p>
          <a:p>
            <a:pPr marL="0" indent="0">
              <a:buNone/>
            </a:pPr>
            <a:r>
              <a:rPr lang="en-US" sz="2000" dirty="0">
                <a:solidFill>
                  <a:srgbClr val="000000"/>
                </a:solidFill>
                <a:cs typeface="Times New Roman" panose="02020603050405020304" pitchFamily="18" charset="0"/>
              </a:rPr>
              <a:t> str = “Python is awesome”</a:t>
            </a:r>
          </a:p>
          <a:p>
            <a:pPr marL="0" indent="0">
              <a:buNone/>
            </a:pPr>
            <a:r>
              <a:rPr lang="en-US" sz="2000" b="1" dirty="0">
                <a:solidFill>
                  <a:srgbClr val="000000"/>
                </a:solidFill>
                <a:cs typeface="Times New Roman" panose="02020603050405020304" pitchFamily="18" charset="0"/>
              </a:rPr>
              <a:t> </a:t>
            </a:r>
            <a:r>
              <a:rPr lang="en-US" sz="2000" dirty="0">
                <a:solidFill>
                  <a:srgbClr val="000000"/>
                </a:solidFill>
                <a:cs typeface="Times New Roman" panose="02020603050405020304" pitchFamily="18" charset="0"/>
              </a:rPr>
              <a:t>print(str[8:])				# s awesome</a:t>
            </a:r>
            <a:endParaRPr lang="en-IN" sz="2000" b="1" dirty="0">
              <a:solidFill>
                <a:srgbClr val="FF0000"/>
              </a:solidFill>
              <a:cs typeface="Times New Roman" panose="02020603050405020304" pitchFamily="18" charset="0"/>
            </a:endParaRPr>
          </a:p>
          <a:p>
            <a:pPr marL="0" indent="0">
              <a:buNone/>
            </a:pPr>
            <a:endParaRPr lang="en-IN" sz="2000" b="1" dirty="0">
              <a:cs typeface="Times New Roman" panose="02020603050405020304" pitchFamily="18" charset="0"/>
            </a:endParaRPr>
          </a:p>
        </p:txBody>
      </p:sp>
    </p:spTree>
    <p:extLst>
      <p:ext uri="{BB962C8B-B14F-4D97-AF65-F5344CB8AC3E}">
        <p14:creationId xmlns:p14="http://schemas.microsoft.com/office/powerpoint/2010/main" val="980799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020377-09D6-564D-F47A-5BF4CBCEE6F8}"/>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5006227E-4402-635E-7630-03F70D8ED5D0}"/>
              </a:ext>
            </a:extLst>
          </p:cNvPr>
          <p:cNvSpPr txBox="1"/>
          <p:nvPr/>
        </p:nvSpPr>
        <p:spPr>
          <a:xfrm>
            <a:off x="665018" y="532016"/>
            <a:ext cx="10597832" cy="2554545"/>
          </a:xfrm>
          <a:prstGeom prst="rect">
            <a:avLst/>
          </a:prstGeom>
          <a:noFill/>
        </p:spPr>
        <p:txBody>
          <a:bodyPr wrap="square">
            <a:spAutoFit/>
          </a:bodyPr>
          <a:lstStyle/>
          <a:p>
            <a:pPr marL="0" indent="0">
              <a:buNone/>
            </a:pPr>
            <a:r>
              <a:rPr lang="en-US" sz="2000" b="1" i="0" dirty="0">
                <a:solidFill>
                  <a:srgbClr val="FF0000"/>
                </a:solidFill>
                <a:effectLst/>
                <a:cs typeface="Times New Roman" panose="02020603050405020304" pitchFamily="18" charset="0"/>
              </a:rPr>
              <a:t>NEGATIVE INDEXING</a:t>
            </a:r>
          </a:p>
          <a:p>
            <a:pPr marL="0" indent="0">
              <a:buNone/>
            </a:pPr>
            <a:endParaRPr lang="en-US" sz="2000" dirty="0">
              <a:solidFill>
                <a:srgbClr val="000000"/>
              </a:solidFill>
              <a:cs typeface="Times New Roman" panose="02020603050405020304" pitchFamily="18" charset="0"/>
            </a:endParaRPr>
          </a:p>
          <a:p>
            <a:pPr marL="342900" indent="-342900">
              <a:buFont typeface="Arial" panose="020B0604020202020204" pitchFamily="34" charset="0"/>
              <a:buChar char="•"/>
            </a:pPr>
            <a:r>
              <a:rPr lang="en-US" sz="2000" b="0" i="0" dirty="0">
                <a:solidFill>
                  <a:srgbClr val="000000"/>
                </a:solidFill>
                <a:effectLst/>
                <a:cs typeface="Times New Roman" panose="02020603050405020304" pitchFamily="18" charset="0"/>
              </a:rPr>
              <a:t>Use negative indexes to start the slice from the end of the string.</a:t>
            </a:r>
          </a:p>
          <a:p>
            <a:pPr marL="0" indent="0">
              <a:buNone/>
            </a:pPr>
            <a:endParaRPr lang="en-US" sz="2000" dirty="0">
              <a:solidFill>
                <a:srgbClr val="000000"/>
              </a:solidFill>
              <a:cs typeface="Times New Roman" panose="02020603050405020304" pitchFamily="18" charset="0"/>
            </a:endParaRPr>
          </a:p>
          <a:p>
            <a:pPr marL="0" indent="0">
              <a:buNone/>
            </a:pPr>
            <a:r>
              <a:rPr lang="en-US" sz="2000" b="1" dirty="0">
                <a:solidFill>
                  <a:srgbClr val="000000"/>
                </a:solidFill>
                <a:cs typeface="Times New Roman" panose="02020603050405020304" pitchFamily="18" charset="0"/>
              </a:rPr>
              <a:t>Example:</a:t>
            </a:r>
          </a:p>
          <a:p>
            <a:pPr marL="0" indent="0">
              <a:buNone/>
            </a:pPr>
            <a:r>
              <a:rPr lang="en-US" sz="2000" dirty="0">
                <a:solidFill>
                  <a:srgbClr val="000000"/>
                </a:solidFill>
                <a:cs typeface="Times New Roman" panose="02020603050405020304" pitchFamily="18" charset="0"/>
              </a:rPr>
              <a:t> str = “Hello world”</a:t>
            </a:r>
          </a:p>
          <a:p>
            <a:pPr marL="0" indent="0">
              <a:buNone/>
            </a:pPr>
            <a:r>
              <a:rPr lang="en-US" sz="2000" dirty="0">
                <a:solidFill>
                  <a:srgbClr val="000000"/>
                </a:solidFill>
                <a:cs typeface="Times New Roman" panose="02020603050405020304" pitchFamily="18" charset="0"/>
              </a:rPr>
              <a:t> print(str[-5:-2])</a:t>
            </a:r>
          </a:p>
          <a:p>
            <a:pPr marL="0" indent="0">
              <a:buNone/>
            </a:pPr>
            <a:r>
              <a:rPr lang="en-US" sz="2000" dirty="0">
                <a:solidFill>
                  <a:srgbClr val="000000"/>
                </a:solidFill>
                <a:cs typeface="Times New Roman" panose="02020603050405020304" pitchFamily="18" charset="0"/>
              </a:rPr>
              <a:t># </a:t>
            </a:r>
            <a:r>
              <a:rPr lang="en-US" sz="2000" dirty="0" err="1">
                <a:solidFill>
                  <a:srgbClr val="000000"/>
                </a:solidFill>
                <a:cs typeface="Times New Roman" panose="02020603050405020304" pitchFamily="18" charset="0"/>
              </a:rPr>
              <a:t>wor</a:t>
            </a:r>
            <a:endParaRPr lang="en-IN" sz="2000" dirty="0">
              <a:cs typeface="Times New Roman" panose="02020603050405020304" pitchFamily="18" charset="0"/>
            </a:endParaRPr>
          </a:p>
        </p:txBody>
      </p:sp>
    </p:spTree>
    <p:extLst>
      <p:ext uri="{BB962C8B-B14F-4D97-AF65-F5344CB8AC3E}">
        <p14:creationId xmlns:p14="http://schemas.microsoft.com/office/powerpoint/2010/main" val="18162334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D0FDDE-3C3B-F2A2-6844-8D75040DCDFF}"/>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30C967D2-6AAD-3098-50A1-6E073670F8DD}"/>
              </a:ext>
            </a:extLst>
          </p:cNvPr>
          <p:cNvSpPr txBox="1"/>
          <p:nvPr/>
        </p:nvSpPr>
        <p:spPr>
          <a:xfrm>
            <a:off x="598516" y="897775"/>
            <a:ext cx="10521767" cy="4401205"/>
          </a:xfrm>
          <a:prstGeom prst="rect">
            <a:avLst/>
          </a:prstGeom>
          <a:noFill/>
        </p:spPr>
        <p:txBody>
          <a:bodyPr wrap="square">
            <a:spAutoFit/>
          </a:bodyPr>
          <a:lstStyle/>
          <a:p>
            <a:pPr marL="0" indent="0">
              <a:buNone/>
            </a:pPr>
            <a:r>
              <a:rPr lang="en-IN" sz="2000" b="1" dirty="0">
                <a:solidFill>
                  <a:srgbClr val="FF0000"/>
                </a:solidFill>
                <a:cs typeface="Times New Roman" panose="02020603050405020304" pitchFamily="18" charset="0"/>
              </a:rPr>
              <a:t>STRING CONCATENATION</a:t>
            </a:r>
          </a:p>
          <a:p>
            <a:pPr marL="0" indent="0">
              <a:buNone/>
            </a:pPr>
            <a:endParaRPr lang="en-IN" sz="2000" dirty="0">
              <a:cs typeface="Times New Roman" panose="02020603050405020304" pitchFamily="18" charset="0"/>
            </a:endParaRPr>
          </a:p>
          <a:p>
            <a:pPr marL="342900" indent="-342900">
              <a:buFont typeface="Arial" panose="020B0604020202020204" pitchFamily="34" charset="0"/>
              <a:buChar char="•"/>
            </a:pPr>
            <a:r>
              <a:rPr lang="en-IN" sz="2000" dirty="0">
                <a:cs typeface="Times New Roman" panose="02020603050405020304" pitchFamily="18" charset="0"/>
              </a:rPr>
              <a:t>To concatenate, or combine, two strings you can use the + operator.</a:t>
            </a:r>
          </a:p>
          <a:p>
            <a:pPr marL="0" indent="0">
              <a:buNone/>
            </a:pPr>
            <a:endParaRPr lang="en-IN" sz="2000" dirty="0">
              <a:cs typeface="Times New Roman" panose="02020603050405020304" pitchFamily="18" charset="0"/>
            </a:endParaRPr>
          </a:p>
          <a:p>
            <a:pPr marL="0" indent="0">
              <a:buNone/>
            </a:pPr>
            <a:r>
              <a:rPr lang="en-IN" sz="2000" b="1" dirty="0">
                <a:cs typeface="Times New Roman" panose="02020603050405020304" pitchFamily="18" charset="0"/>
              </a:rPr>
              <a:t>Example: </a:t>
            </a:r>
            <a:r>
              <a:rPr lang="en-IN" sz="2000" dirty="0">
                <a:cs typeface="Times New Roman" panose="02020603050405020304" pitchFamily="18" charset="0"/>
              </a:rPr>
              <a:t>Merge variable ‘a’ with variable ‘b’ into variable ‘c’.</a:t>
            </a:r>
          </a:p>
          <a:p>
            <a:pPr marL="0" indent="0">
              <a:buNone/>
            </a:pPr>
            <a:r>
              <a:rPr lang="en-IN" sz="2000" dirty="0">
                <a:cs typeface="Times New Roman" panose="02020603050405020304" pitchFamily="18" charset="0"/>
              </a:rPr>
              <a:t> a = “Hello”</a:t>
            </a:r>
          </a:p>
          <a:p>
            <a:pPr marL="0" indent="0">
              <a:buNone/>
            </a:pPr>
            <a:r>
              <a:rPr lang="en-IN" sz="2000" dirty="0">
                <a:cs typeface="Times New Roman" panose="02020603050405020304" pitchFamily="18" charset="0"/>
              </a:rPr>
              <a:t> b = “World”</a:t>
            </a:r>
          </a:p>
          <a:p>
            <a:pPr marL="0" indent="0">
              <a:buNone/>
            </a:pPr>
            <a:r>
              <a:rPr lang="en-IN" sz="2000" dirty="0">
                <a:cs typeface="Times New Roman" panose="02020603050405020304" pitchFamily="18" charset="0"/>
              </a:rPr>
              <a:t> c = a + b</a:t>
            </a:r>
          </a:p>
          <a:p>
            <a:pPr marL="0" indent="0">
              <a:buNone/>
            </a:pPr>
            <a:r>
              <a:rPr lang="en-IN" sz="2000" dirty="0">
                <a:cs typeface="Times New Roman" panose="02020603050405020304" pitchFamily="18" charset="0"/>
              </a:rPr>
              <a:t> print(c)		#HelloWorld</a:t>
            </a:r>
          </a:p>
          <a:p>
            <a:pPr marL="0" indent="0">
              <a:buNone/>
            </a:pPr>
            <a:endParaRPr lang="en-IN" sz="2000" dirty="0">
              <a:cs typeface="Times New Roman" panose="02020603050405020304" pitchFamily="18" charset="0"/>
            </a:endParaRPr>
          </a:p>
          <a:p>
            <a:pPr marL="0" indent="0">
              <a:buNone/>
            </a:pPr>
            <a:r>
              <a:rPr lang="en-IN" sz="2000" dirty="0">
                <a:cs typeface="Times New Roman" panose="02020603050405020304" pitchFamily="18" charset="0"/>
              </a:rPr>
              <a:t>To add a space between them, and a “  ” </a:t>
            </a:r>
          </a:p>
          <a:p>
            <a:pPr marL="0" indent="0">
              <a:buNone/>
            </a:pPr>
            <a:endParaRPr lang="en-IN" sz="2000" b="1" dirty="0">
              <a:cs typeface="Times New Roman" panose="02020603050405020304" pitchFamily="18" charset="0"/>
            </a:endParaRPr>
          </a:p>
          <a:p>
            <a:pPr marL="0" indent="0">
              <a:buNone/>
            </a:pPr>
            <a:r>
              <a:rPr lang="en-IN" sz="2000" dirty="0">
                <a:cs typeface="Times New Roman" panose="02020603050405020304" pitchFamily="18" charset="0"/>
              </a:rPr>
              <a:t> c = a + “ ” + b</a:t>
            </a:r>
          </a:p>
          <a:p>
            <a:pPr marL="0" indent="0">
              <a:buNone/>
            </a:pPr>
            <a:r>
              <a:rPr lang="en-IN" sz="2000" dirty="0">
                <a:cs typeface="Times New Roman" panose="02020603050405020304" pitchFamily="18" charset="0"/>
              </a:rPr>
              <a:t> print(c)		#Hello World</a:t>
            </a:r>
          </a:p>
        </p:txBody>
      </p:sp>
    </p:spTree>
    <p:extLst>
      <p:ext uri="{BB962C8B-B14F-4D97-AF65-F5344CB8AC3E}">
        <p14:creationId xmlns:p14="http://schemas.microsoft.com/office/powerpoint/2010/main" val="391403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703861D-AC6A-8607-AF03-A2B6A82A8A77}"/>
              </a:ext>
            </a:extLst>
          </p:cNvPr>
          <p:cNvPicPr/>
          <p:nvPr/>
        </p:nvPicPr>
        <p:blipFill>
          <a:blip r:embed="rId2" cstate="print"/>
          <a:stretch/>
        </p:blipFill>
        <p:spPr>
          <a:xfrm>
            <a:off x="11503320" y="23349"/>
            <a:ext cx="688680" cy="689040"/>
          </a:xfrm>
          <a:prstGeom prst="rect">
            <a:avLst/>
          </a:prstGeom>
          <a:ln w="0">
            <a:noFill/>
          </a:ln>
        </p:spPr>
      </p:pic>
      <p:sp>
        <p:nvSpPr>
          <p:cNvPr id="5" name="TextBox 4">
            <a:extLst>
              <a:ext uri="{FF2B5EF4-FFF2-40B4-BE49-F238E27FC236}">
                <a16:creationId xmlns:a16="http://schemas.microsoft.com/office/drawing/2014/main" id="{49D6B4E8-968A-6422-3A1B-7F7616D13B49}"/>
              </a:ext>
            </a:extLst>
          </p:cNvPr>
          <p:cNvSpPr txBox="1"/>
          <p:nvPr/>
        </p:nvSpPr>
        <p:spPr>
          <a:xfrm>
            <a:off x="835742" y="511277"/>
            <a:ext cx="8308258" cy="1938992"/>
          </a:xfrm>
          <a:prstGeom prst="rect">
            <a:avLst/>
          </a:prstGeom>
          <a:noFill/>
        </p:spPr>
        <p:txBody>
          <a:bodyPr wrap="square">
            <a:spAutoFit/>
          </a:bodyPr>
          <a:lstStyle/>
          <a:p>
            <a:pPr marL="0" indent="0">
              <a:buNone/>
            </a:pPr>
            <a:r>
              <a:rPr lang="en-IN" sz="2000" b="1" dirty="0">
                <a:cs typeface="Times New Roman" panose="02020603050405020304" pitchFamily="18" charset="0"/>
              </a:rPr>
              <a:t>Note: </a:t>
            </a:r>
            <a:r>
              <a:rPr lang="en-IN" sz="2000" dirty="0">
                <a:cs typeface="Times New Roman" panose="02020603050405020304" pitchFamily="18" charset="0"/>
              </a:rPr>
              <a:t>We cannot combine strings and numbers using + symbol.</a:t>
            </a:r>
          </a:p>
          <a:p>
            <a:pPr marL="0" indent="0">
              <a:buNone/>
            </a:pPr>
            <a:endParaRPr lang="en-IN" sz="2000" dirty="0">
              <a:cs typeface="Times New Roman" panose="02020603050405020304" pitchFamily="18" charset="0"/>
            </a:endParaRPr>
          </a:p>
          <a:p>
            <a:pPr marL="0" indent="0">
              <a:buNone/>
            </a:pPr>
            <a:r>
              <a:rPr lang="en-IN" sz="2000" b="1" dirty="0">
                <a:cs typeface="Times New Roman" panose="02020603050405020304" pitchFamily="18" charset="0"/>
              </a:rPr>
              <a:t>Example	FORMAT ERROR</a:t>
            </a:r>
          </a:p>
          <a:p>
            <a:pPr marL="0" indent="0">
              <a:buNone/>
            </a:pPr>
            <a:r>
              <a:rPr lang="en-IN" sz="2000" dirty="0">
                <a:cs typeface="Times New Roman" panose="02020603050405020304" pitchFamily="18" charset="0"/>
              </a:rPr>
              <a:t> age = 20</a:t>
            </a:r>
          </a:p>
          <a:p>
            <a:pPr marL="0" indent="0">
              <a:buNone/>
            </a:pPr>
            <a:r>
              <a:rPr lang="en-IN" sz="2000" dirty="0">
                <a:cs typeface="Times New Roman" panose="02020603050405020304" pitchFamily="18" charset="0"/>
              </a:rPr>
              <a:t> txt = “My name is Alex, I am ” + age</a:t>
            </a:r>
          </a:p>
          <a:p>
            <a:pPr marL="0" indent="0">
              <a:buNone/>
            </a:pPr>
            <a:r>
              <a:rPr lang="en-IN" sz="2000" dirty="0">
                <a:cs typeface="Times New Roman" panose="02020603050405020304" pitchFamily="18" charset="0"/>
              </a:rPr>
              <a:t> print(txt)</a:t>
            </a:r>
          </a:p>
        </p:txBody>
      </p:sp>
    </p:spTree>
    <p:extLst>
      <p:ext uri="{BB962C8B-B14F-4D97-AF65-F5344CB8AC3E}">
        <p14:creationId xmlns:p14="http://schemas.microsoft.com/office/powerpoint/2010/main" val="23576028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7AB508-3B93-9DCB-427E-2CC343431C8E}"/>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3F3A4D36-0264-A828-1A2E-F7B5DCD501DA}"/>
              </a:ext>
            </a:extLst>
          </p:cNvPr>
          <p:cNvSpPr txBox="1"/>
          <p:nvPr/>
        </p:nvSpPr>
        <p:spPr>
          <a:xfrm>
            <a:off x="465513" y="709646"/>
            <a:ext cx="11037807" cy="3170099"/>
          </a:xfrm>
          <a:prstGeom prst="rect">
            <a:avLst/>
          </a:prstGeom>
          <a:noFill/>
        </p:spPr>
        <p:txBody>
          <a:bodyPr wrap="square">
            <a:spAutoFit/>
          </a:bodyPr>
          <a:lstStyle/>
          <a:p>
            <a:r>
              <a:rPr lang="en-IN" sz="2000" b="1" dirty="0">
                <a:solidFill>
                  <a:srgbClr val="FF0000"/>
                </a:solidFill>
                <a:cs typeface="Times New Roman" panose="02020603050405020304" pitchFamily="18" charset="0"/>
              </a:rPr>
              <a:t>STRING</a:t>
            </a:r>
            <a:r>
              <a:rPr lang="en-IN" sz="2000" b="1" dirty="0">
                <a:cs typeface="Times New Roman" panose="02020603050405020304" pitchFamily="18" charset="0"/>
              </a:rPr>
              <a:t> </a:t>
            </a:r>
            <a:r>
              <a:rPr lang="en-IN" sz="2000" b="1" dirty="0">
                <a:solidFill>
                  <a:srgbClr val="FF0000"/>
                </a:solidFill>
                <a:cs typeface="Times New Roman" panose="02020603050405020304" pitchFamily="18" charset="0"/>
              </a:rPr>
              <a:t>FORMAT</a:t>
            </a:r>
          </a:p>
          <a:p>
            <a:endParaRPr lang="en-IN" sz="2000" dirty="0">
              <a:cs typeface="Times New Roman" panose="02020603050405020304" pitchFamily="18" charset="0"/>
            </a:endParaRPr>
          </a:p>
          <a:p>
            <a:r>
              <a:rPr lang="en-IN" sz="2000" dirty="0">
                <a:cs typeface="Times New Roman" panose="02020603050405020304" pitchFamily="18" charset="0"/>
              </a:rPr>
              <a:t>To format the string we use f-string.</a:t>
            </a:r>
          </a:p>
          <a:p>
            <a:r>
              <a:rPr lang="en-IN" sz="2000" dirty="0">
                <a:cs typeface="Times New Roman" panose="02020603050405020304" pitchFamily="18" charset="0"/>
              </a:rPr>
              <a:t>To specify a string as an f-string, simply put an ‘</a:t>
            </a:r>
            <a:r>
              <a:rPr lang="en-IN" sz="2000" dirty="0">
                <a:solidFill>
                  <a:srgbClr val="CC00FF"/>
                </a:solidFill>
                <a:cs typeface="Times New Roman" panose="02020603050405020304" pitchFamily="18" charset="0"/>
              </a:rPr>
              <a:t>f</a:t>
            </a:r>
            <a:r>
              <a:rPr lang="en-IN" sz="2000" dirty="0">
                <a:cs typeface="Times New Roman" panose="02020603050405020304" pitchFamily="18" charset="0"/>
              </a:rPr>
              <a:t>’ in front of the string literal, and add curly brackets </a:t>
            </a:r>
            <a:r>
              <a:rPr lang="en-IN" sz="2000" dirty="0">
                <a:solidFill>
                  <a:srgbClr val="CC00FF"/>
                </a:solidFill>
                <a:cs typeface="Times New Roman" panose="02020603050405020304" pitchFamily="18" charset="0"/>
              </a:rPr>
              <a:t>{}</a:t>
            </a:r>
            <a:r>
              <a:rPr lang="en-IN" sz="2000" dirty="0">
                <a:cs typeface="Times New Roman" panose="02020603050405020304" pitchFamily="18" charset="0"/>
              </a:rPr>
              <a:t> as placeholders for variables and other operations.</a:t>
            </a:r>
          </a:p>
          <a:p>
            <a:pPr marL="0" indent="0">
              <a:buNone/>
            </a:pPr>
            <a:endParaRPr lang="en-IN" sz="2000" dirty="0">
              <a:cs typeface="Times New Roman" panose="02020603050405020304" pitchFamily="18" charset="0"/>
            </a:endParaRPr>
          </a:p>
          <a:p>
            <a:pPr marL="0" indent="0">
              <a:buNone/>
            </a:pPr>
            <a:r>
              <a:rPr lang="en-IN" sz="2000" b="1" dirty="0">
                <a:cs typeface="Times New Roman" panose="02020603050405020304" pitchFamily="18" charset="0"/>
              </a:rPr>
              <a:t>Example</a:t>
            </a:r>
          </a:p>
          <a:p>
            <a:pPr marL="0" indent="0">
              <a:buNone/>
            </a:pPr>
            <a:r>
              <a:rPr lang="en-IN" sz="2000" dirty="0">
                <a:cs typeface="Times New Roman" panose="02020603050405020304" pitchFamily="18" charset="0"/>
              </a:rPr>
              <a:t> age = 20</a:t>
            </a:r>
          </a:p>
          <a:p>
            <a:pPr marL="0" indent="0">
              <a:buNone/>
            </a:pPr>
            <a:r>
              <a:rPr lang="en-IN" sz="2000" dirty="0">
                <a:cs typeface="Times New Roman" panose="02020603050405020304" pitchFamily="18" charset="0"/>
              </a:rPr>
              <a:t> txt = </a:t>
            </a:r>
            <a:r>
              <a:rPr lang="en-IN" sz="2000" dirty="0" err="1">
                <a:cs typeface="Times New Roman" panose="02020603050405020304" pitchFamily="18" charset="0"/>
              </a:rPr>
              <a:t>f“My</a:t>
            </a:r>
            <a:r>
              <a:rPr lang="en-IN" sz="2000" dirty="0">
                <a:cs typeface="Times New Roman" panose="02020603050405020304" pitchFamily="18" charset="0"/>
              </a:rPr>
              <a:t> name is Ram, I am {age}”</a:t>
            </a:r>
          </a:p>
          <a:p>
            <a:pPr marL="0" indent="0">
              <a:buNone/>
            </a:pPr>
            <a:r>
              <a:rPr lang="en-IN" sz="2000" dirty="0">
                <a:cs typeface="Times New Roman" panose="02020603050405020304" pitchFamily="18" charset="0"/>
              </a:rPr>
              <a:t> print(txt)		# My name is Ram, I am 20</a:t>
            </a:r>
          </a:p>
        </p:txBody>
      </p:sp>
    </p:spTree>
    <p:extLst>
      <p:ext uri="{BB962C8B-B14F-4D97-AF65-F5344CB8AC3E}">
        <p14:creationId xmlns:p14="http://schemas.microsoft.com/office/powerpoint/2010/main" val="566656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CF6173B-E363-D63F-09BA-2E7AF7012953}"/>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58F9DFB2-3BF0-AD36-D819-A2CBD1EA640D}"/>
              </a:ext>
            </a:extLst>
          </p:cNvPr>
          <p:cNvSpPr txBox="1"/>
          <p:nvPr/>
        </p:nvSpPr>
        <p:spPr>
          <a:xfrm>
            <a:off x="498764" y="689040"/>
            <a:ext cx="10415042" cy="4862870"/>
          </a:xfrm>
          <a:prstGeom prst="rect">
            <a:avLst/>
          </a:prstGeom>
          <a:noFill/>
        </p:spPr>
        <p:txBody>
          <a:bodyPr wrap="square">
            <a:spAutoFit/>
          </a:bodyPr>
          <a:lstStyle/>
          <a:p>
            <a:pPr marL="0" indent="0">
              <a:buNone/>
            </a:pPr>
            <a:r>
              <a:rPr lang="en-IN" sz="2000" b="1" dirty="0">
                <a:cs typeface="Times New Roman" panose="02020603050405020304" pitchFamily="18" charset="0"/>
              </a:rPr>
              <a:t>Example:</a:t>
            </a:r>
          </a:p>
          <a:p>
            <a:pPr marL="0" indent="0">
              <a:buNone/>
            </a:pPr>
            <a:endParaRPr lang="en-IN" sz="2000" b="1" dirty="0">
              <a:cs typeface="Times New Roman" panose="02020603050405020304" pitchFamily="18" charset="0"/>
            </a:endParaRPr>
          </a:p>
          <a:p>
            <a:pPr marL="0" indent="0">
              <a:buNone/>
            </a:pPr>
            <a:r>
              <a:rPr lang="en-IN" sz="2000" dirty="0">
                <a:cs typeface="Times New Roman" panose="02020603050405020304" pitchFamily="18" charset="0"/>
              </a:rPr>
              <a:t>Add a placeholder for the price variable:</a:t>
            </a:r>
          </a:p>
          <a:p>
            <a:pPr marL="0" indent="0">
              <a:buNone/>
            </a:pPr>
            <a:r>
              <a:rPr lang="en-IN" sz="2000" dirty="0">
                <a:cs typeface="Times New Roman" panose="02020603050405020304" pitchFamily="18" charset="0"/>
              </a:rPr>
              <a:t>	price = 89</a:t>
            </a:r>
          </a:p>
          <a:p>
            <a:pPr marL="0" indent="0">
              <a:buNone/>
            </a:pPr>
            <a:r>
              <a:rPr lang="en-IN" sz="2000" dirty="0">
                <a:cs typeface="Times New Roman" panose="02020603050405020304" pitchFamily="18" charset="0"/>
              </a:rPr>
              <a:t>	txt = f“ The price is {price} dollars”</a:t>
            </a:r>
          </a:p>
          <a:p>
            <a:pPr marL="0" indent="0">
              <a:buNone/>
            </a:pPr>
            <a:r>
              <a:rPr lang="en-IN" sz="2000" dirty="0">
                <a:cs typeface="Times New Roman" panose="02020603050405020304" pitchFamily="18" charset="0"/>
              </a:rPr>
              <a:t>	print(txt)			# The price is 89 dollars</a:t>
            </a:r>
          </a:p>
          <a:p>
            <a:pPr marL="0" indent="0">
              <a:buNone/>
            </a:pPr>
            <a:endParaRPr lang="en-IN" sz="2000" dirty="0">
              <a:cs typeface="Times New Roman" panose="02020603050405020304" pitchFamily="18" charset="0"/>
            </a:endParaRPr>
          </a:p>
          <a:p>
            <a:pPr algn="l"/>
            <a:r>
              <a:rPr lang="en-US" sz="2000" b="0" i="0" dirty="0">
                <a:solidFill>
                  <a:srgbClr val="000000"/>
                </a:solidFill>
                <a:effectLst/>
                <a:cs typeface="Times New Roman" panose="02020603050405020304" pitchFamily="18" charset="0"/>
              </a:rPr>
              <a:t>A placeholder can contain Python code, like math operations.</a:t>
            </a:r>
          </a:p>
          <a:p>
            <a:pPr marL="0" indent="0" algn="l">
              <a:buNone/>
            </a:pPr>
            <a:endParaRPr lang="en-US" sz="2000" b="0" i="0" dirty="0">
              <a:solidFill>
                <a:srgbClr val="000000"/>
              </a:solidFill>
              <a:effectLst/>
              <a:cs typeface="Times New Roman" panose="02020603050405020304" pitchFamily="18" charset="0"/>
            </a:endParaRPr>
          </a:p>
          <a:p>
            <a:pPr marL="0" indent="0" algn="l">
              <a:buNone/>
            </a:pPr>
            <a:r>
              <a:rPr lang="en-US" sz="2000" b="1" dirty="0">
                <a:solidFill>
                  <a:srgbClr val="000000"/>
                </a:solidFill>
                <a:cs typeface="Times New Roman" panose="02020603050405020304" pitchFamily="18" charset="0"/>
              </a:rPr>
              <a:t>Example:</a:t>
            </a:r>
          </a:p>
          <a:p>
            <a:pPr marL="0" indent="0" algn="l">
              <a:buNone/>
            </a:pPr>
            <a:endParaRPr lang="en-US" sz="2000" b="1" i="0" dirty="0">
              <a:solidFill>
                <a:srgbClr val="000000"/>
              </a:solidFill>
              <a:effectLst/>
              <a:cs typeface="Times New Roman" panose="02020603050405020304" pitchFamily="18" charset="0"/>
            </a:endParaRPr>
          </a:p>
          <a:p>
            <a:pPr marL="0" indent="0" algn="l">
              <a:spcBef>
                <a:spcPts val="0"/>
              </a:spcBef>
              <a:spcAft>
                <a:spcPts val="1800"/>
              </a:spcAft>
              <a:buNone/>
            </a:pPr>
            <a:r>
              <a:rPr lang="en-US" sz="2000" b="0" i="0" dirty="0">
                <a:solidFill>
                  <a:srgbClr val="000000"/>
                </a:solidFill>
                <a:effectLst/>
                <a:cs typeface="Times New Roman" panose="02020603050405020304" pitchFamily="18" charset="0"/>
              </a:rPr>
              <a:t>Perform a math operation in the placeholder, and return the result.</a:t>
            </a:r>
          </a:p>
          <a:p>
            <a:pPr marL="0" indent="0" algn="l">
              <a:spcBef>
                <a:spcPts val="0"/>
              </a:spcBef>
              <a:spcAft>
                <a:spcPts val="1800"/>
              </a:spcAft>
              <a:buNone/>
            </a:pPr>
            <a:r>
              <a:rPr lang="en-US" sz="2000" dirty="0">
                <a:solidFill>
                  <a:srgbClr val="000000"/>
                </a:solidFill>
                <a:cs typeface="Times New Roman" panose="02020603050405020304" pitchFamily="18" charset="0"/>
              </a:rPr>
              <a:t>	txt = </a:t>
            </a:r>
            <a:r>
              <a:rPr lang="en-US" sz="2000" dirty="0" err="1">
                <a:solidFill>
                  <a:srgbClr val="000000"/>
                </a:solidFill>
                <a:cs typeface="Times New Roman" panose="02020603050405020304" pitchFamily="18" charset="0"/>
              </a:rPr>
              <a:t>f“The</a:t>
            </a:r>
            <a:r>
              <a:rPr lang="en-US" sz="2000" dirty="0">
                <a:solidFill>
                  <a:srgbClr val="000000"/>
                </a:solidFill>
                <a:cs typeface="Times New Roman" panose="02020603050405020304" pitchFamily="18" charset="0"/>
              </a:rPr>
              <a:t> price is {20 + 30} dollars”</a:t>
            </a:r>
          </a:p>
          <a:p>
            <a:pPr marL="0" indent="0" algn="l">
              <a:spcBef>
                <a:spcPts val="0"/>
              </a:spcBef>
              <a:spcAft>
                <a:spcPts val="1800"/>
              </a:spcAft>
              <a:buNone/>
            </a:pPr>
            <a:r>
              <a:rPr lang="en-US" sz="2000" b="0" i="0" dirty="0">
                <a:solidFill>
                  <a:srgbClr val="000000"/>
                </a:solidFill>
                <a:effectLst/>
                <a:cs typeface="Times New Roman" panose="02020603050405020304" pitchFamily="18" charset="0"/>
              </a:rPr>
              <a:t>	print(txt)			#The price is 50 dollars</a:t>
            </a:r>
          </a:p>
        </p:txBody>
      </p:sp>
    </p:spTree>
    <p:extLst>
      <p:ext uri="{BB962C8B-B14F-4D97-AF65-F5344CB8AC3E}">
        <p14:creationId xmlns:p14="http://schemas.microsoft.com/office/powerpoint/2010/main" val="13714459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D3CA523-87E6-48F6-7141-63305B71275D}"/>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668CAE22-4D02-BC89-E30D-CB4CC81728E0}"/>
              </a:ext>
            </a:extLst>
          </p:cNvPr>
          <p:cNvSpPr txBox="1"/>
          <p:nvPr/>
        </p:nvSpPr>
        <p:spPr>
          <a:xfrm>
            <a:off x="415636" y="689040"/>
            <a:ext cx="10999616" cy="2554545"/>
          </a:xfrm>
          <a:prstGeom prst="rect">
            <a:avLst/>
          </a:prstGeom>
          <a:noFill/>
        </p:spPr>
        <p:txBody>
          <a:bodyPr wrap="square">
            <a:spAutoFit/>
          </a:bodyPr>
          <a:lstStyle/>
          <a:p>
            <a:pPr algn="just"/>
            <a:r>
              <a:rPr lang="en-IN" sz="2000" dirty="0">
                <a:cs typeface="Times New Roman" panose="02020603050405020304" pitchFamily="18" charset="0"/>
              </a:rPr>
              <a:t>A placeholder can include a modifier to format the value.</a:t>
            </a:r>
          </a:p>
          <a:p>
            <a:pPr algn="just"/>
            <a:r>
              <a:rPr lang="en-IN" sz="2000" dirty="0">
                <a:cs typeface="Times New Roman" panose="02020603050405020304" pitchFamily="18" charset="0"/>
              </a:rPr>
              <a:t>A modifier is included by adding a colon </a:t>
            </a:r>
            <a:r>
              <a:rPr lang="en-IN" sz="2000" dirty="0">
                <a:solidFill>
                  <a:srgbClr val="CC00FF"/>
                </a:solidFill>
                <a:cs typeface="Times New Roman" panose="02020603050405020304" pitchFamily="18" charset="0"/>
              </a:rPr>
              <a:t>: </a:t>
            </a:r>
            <a:r>
              <a:rPr lang="en-IN" sz="2000" dirty="0">
                <a:cs typeface="Times New Roman" panose="02020603050405020304" pitchFamily="18" charset="0"/>
              </a:rPr>
              <a:t>followed by a legal formatting type, like </a:t>
            </a:r>
            <a:r>
              <a:rPr lang="en-IN" sz="2000" dirty="0">
                <a:solidFill>
                  <a:srgbClr val="CC00FF"/>
                </a:solidFill>
                <a:cs typeface="Times New Roman" panose="02020603050405020304" pitchFamily="18" charset="0"/>
              </a:rPr>
              <a:t>.2f </a:t>
            </a:r>
            <a:r>
              <a:rPr lang="en-IN" sz="2000" dirty="0">
                <a:cs typeface="Times New Roman" panose="02020603050405020304" pitchFamily="18" charset="0"/>
              </a:rPr>
              <a:t>which means fixed point number with 2 decimals.</a:t>
            </a:r>
          </a:p>
          <a:p>
            <a:pPr algn="just"/>
            <a:endParaRPr lang="en-IN" sz="2000" dirty="0">
              <a:cs typeface="Times New Roman" panose="02020603050405020304" pitchFamily="18" charset="0"/>
            </a:endParaRPr>
          </a:p>
          <a:p>
            <a:pPr marL="0" indent="0" algn="just">
              <a:buNone/>
            </a:pPr>
            <a:r>
              <a:rPr lang="en-IN" sz="2000" b="1" dirty="0">
                <a:cs typeface="Times New Roman" panose="02020603050405020304" pitchFamily="18" charset="0"/>
              </a:rPr>
              <a:t>Example</a:t>
            </a:r>
          </a:p>
          <a:p>
            <a:pPr marL="0" indent="0" algn="just">
              <a:buNone/>
            </a:pPr>
            <a:r>
              <a:rPr lang="en-IN" sz="2000" dirty="0">
                <a:cs typeface="Times New Roman" panose="02020603050405020304" pitchFamily="18" charset="0"/>
              </a:rPr>
              <a:t>	price = 30</a:t>
            </a:r>
          </a:p>
          <a:p>
            <a:pPr marL="0" indent="0" algn="just">
              <a:buNone/>
            </a:pPr>
            <a:r>
              <a:rPr lang="en-IN" sz="2000" dirty="0">
                <a:cs typeface="Times New Roman" panose="02020603050405020304" pitchFamily="18" charset="0"/>
              </a:rPr>
              <a:t>	txt = </a:t>
            </a:r>
            <a:r>
              <a:rPr lang="en-IN" sz="2000" dirty="0" err="1">
                <a:cs typeface="Times New Roman" panose="02020603050405020304" pitchFamily="18" charset="0"/>
              </a:rPr>
              <a:t>f“The</a:t>
            </a:r>
            <a:r>
              <a:rPr lang="en-IN" sz="2000" dirty="0">
                <a:cs typeface="Times New Roman" panose="02020603050405020304" pitchFamily="18" charset="0"/>
              </a:rPr>
              <a:t> price is {price:.2f} dollars”</a:t>
            </a:r>
          </a:p>
          <a:p>
            <a:pPr marL="0" indent="0" algn="just">
              <a:buNone/>
            </a:pPr>
            <a:r>
              <a:rPr lang="en-IN" sz="2000" dirty="0">
                <a:cs typeface="Times New Roman" panose="02020603050405020304" pitchFamily="18" charset="0"/>
              </a:rPr>
              <a:t>	print(txt)		# The price is 30.00 dollars</a:t>
            </a:r>
          </a:p>
        </p:txBody>
      </p:sp>
    </p:spTree>
    <p:extLst>
      <p:ext uri="{BB962C8B-B14F-4D97-AF65-F5344CB8AC3E}">
        <p14:creationId xmlns:p14="http://schemas.microsoft.com/office/powerpoint/2010/main" val="14198759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666332-78A1-757C-CE43-67F2B58BAE0D}"/>
              </a:ext>
            </a:extLst>
          </p:cNvPr>
          <p:cNvPicPr/>
          <p:nvPr/>
        </p:nvPicPr>
        <p:blipFill>
          <a:blip r:embed="rId2" cstate="print"/>
          <a:stretch/>
        </p:blipFill>
        <p:spPr>
          <a:xfrm>
            <a:off x="11503320" y="0"/>
            <a:ext cx="688680" cy="689040"/>
          </a:xfrm>
          <a:prstGeom prst="rect">
            <a:avLst/>
          </a:prstGeom>
          <a:ln w="0">
            <a:noFill/>
          </a:ln>
        </p:spPr>
      </p:pic>
      <p:sp>
        <p:nvSpPr>
          <p:cNvPr id="6" name="TextBox 5">
            <a:extLst>
              <a:ext uri="{FF2B5EF4-FFF2-40B4-BE49-F238E27FC236}">
                <a16:creationId xmlns:a16="http://schemas.microsoft.com/office/drawing/2014/main" id="{6FE1EBF1-B8AA-2462-1FCF-6B969EC348D4}"/>
              </a:ext>
            </a:extLst>
          </p:cNvPr>
          <p:cNvSpPr txBox="1"/>
          <p:nvPr/>
        </p:nvSpPr>
        <p:spPr>
          <a:xfrm>
            <a:off x="681644" y="548641"/>
            <a:ext cx="10241995" cy="2862322"/>
          </a:xfrm>
          <a:prstGeom prst="rect">
            <a:avLst/>
          </a:prstGeom>
          <a:noFill/>
        </p:spPr>
        <p:txBody>
          <a:bodyPr wrap="square">
            <a:spAutoFit/>
          </a:bodyPr>
          <a:lstStyle/>
          <a:p>
            <a:r>
              <a:rPr lang="en-US" sz="2000" b="1" i="0" dirty="0">
                <a:solidFill>
                  <a:srgbClr val="FF0000"/>
                </a:solidFill>
                <a:effectLst/>
                <a:cs typeface="Times New Roman" panose="02020603050405020304" pitchFamily="18" charset="0"/>
              </a:rPr>
              <a:t>ESCAPE CHARACTER</a:t>
            </a:r>
          </a:p>
          <a:p>
            <a:endParaRPr lang="en-US" sz="2000" dirty="0">
              <a:solidFill>
                <a:srgbClr val="000000"/>
              </a:solidFill>
              <a:cs typeface="Times New Roman" panose="02020603050405020304" pitchFamily="18" charset="0"/>
            </a:endParaRPr>
          </a:p>
          <a:p>
            <a:pPr marL="285750" indent="-285750">
              <a:buFont typeface="Arial" panose="020B0604020202020204" pitchFamily="34" charset="0"/>
              <a:buChar char="•"/>
            </a:pPr>
            <a:r>
              <a:rPr lang="en-US" sz="2000" b="0" i="0" dirty="0">
                <a:solidFill>
                  <a:srgbClr val="000000"/>
                </a:solidFill>
                <a:effectLst/>
                <a:cs typeface="Times New Roman" panose="02020603050405020304" pitchFamily="18" charset="0"/>
              </a:rPr>
              <a:t>To insert characters that are illegal in a string, use an escape character.</a:t>
            </a:r>
          </a:p>
          <a:p>
            <a:pPr marL="285750" indent="-285750">
              <a:buFont typeface="Arial" panose="020B0604020202020204" pitchFamily="34" charset="0"/>
              <a:buChar char="•"/>
            </a:pPr>
            <a:r>
              <a:rPr lang="en-US" sz="2000" dirty="0">
                <a:solidFill>
                  <a:srgbClr val="000000"/>
                </a:solidFill>
                <a:cs typeface="Times New Roman" panose="02020603050405020304" pitchFamily="18" charset="0"/>
              </a:rPr>
              <a:t>An escape character is a backslash </a:t>
            </a:r>
            <a:r>
              <a:rPr lang="en-US" sz="2000" b="1" dirty="0">
                <a:solidFill>
                  <a:srgbClr val="FF0000"/>
                </a:solidFill>
                <a:effectLst>
                  <a:outerShdw blurRad="38100" dist="38100" dir="2700000" algn="tl">
                    <a:srgbClr val="000000">
                      <a:alpha val="43137"/>
                    </a:srgbClr>
                  </a:outerShdw>
                </a:effectLst>
                <a:cs typeface="Times New Roman" panose="02020603050405020304" pitchFamily="18" charset="0"/>
              </a:rPr>
              <a:t>\</a:t>
            </a:r>
            <a:r>
              <a:rPr lang="en-US" sz="2000" dirty="0">
                <a:solidFill>
                  <a:srgbClr val="000000"/>
                </a:solidFill>
                <a:cs typeface="Times New Roman" panose="02020603050405020304" pitchFamily="18" charset="0"/>
              </a:rPr>
              <a:t> followed by the character you want to insert.</a:t>
            </a:r>
          </a:p>
          <a:p>
            <a:pPr marL="0" indent="0">
              <a:buNone/>
            </a:pPr>
            <a:endParaRPr lang="en-US" sz="2000" b="0" i="0" dirty="0">
              <a:solidFill>
                <a:srgbClr val="000000"/>
              </a:solidFill>
              <a:effectLst/>
              <a:cs typeface="Times New Roman" panose="02020603050405020304" pitchFamily="18" charset="0"/>
            </a:endParaRPr>
          </a:p>
          <a:p>
            <a:pPr marL="0" indent="0">
              <a:buNone/>
            </a:pPr>
            <a:r>
              <a:rPr lang="en-IN" sz="2000" b="1" dirty="0">
                <a:cs typeface="Times New Roman" panose="02020603050405020304" pitchFamily="18" charset="0"/>
              </a:rPr>
              <a:t>Example</a:t>
            </a:r>
          </a:p>
          <a:p>
            <a:pPr marL="0" indent="0">
              <a:buNone/>
            </a:pPr>
            <a:r>
              <a:rPr lang="en-IN" sz="2000" dirty="0">
                <a:cs typeface="Times New Roman" panose="02020603050405020304" pitchFamily="18" charset="0"/>
              </a:rPr>
              <a:t>	txt = “We are the so called “Vikings” from the north.”</a:t>
            </a:r>
          </a:p>
          <a:p>
            <a:pPr marL="0" indent="0">
              <a:buNone/>
            </a:pPr>
            <a:r>
              <a:rPr lang="en-IN" sz="2000" dirty="0">
                <a:cs typeface="Times New Roman" panose="02020603050405020304" pitchFamily="18" charset="0"/>
              </a:rPr>
              <a:t>	# You will get an error if you use double quotes inside a string</a:t>
            </a:r>
          </a:p>
          <a:p>
            <a:pPr marL="0" indent="0">
              <a:buNone/>
            </a:pPr>
            <a:r>
              <a:rPr lang="en-IN" sz="2000" dirty="0">
                <a:cs typeface="Times New Roman" panose="02020603050405020304" pitchFamily="18" charset="0"/>
              </a:rPr>
              <a:t>	that is surrounded by double quotes.</a:t>
            </a:r>
          </a:p>
        </p:txBody>
      </p:sp>
      <p:sp>
        <p:nvSpPr>
          <p:cNvPr id="8" name="TextBox 7">
            <a:extLst>
              <a:ext uri="{FF2B5EF4-FFF2-40B4-BE49-F238E27FC236}">
                <a16:creationId xmlns:a16="http://schemas.microsoft.com/office/drawing/2014/main" id="{C3EF878E-597A-DA97-2711-FD19EB9D49A1}"/>
              </a:ext>
            </a:extLst>
          </p:cNvPr>
          <p:cNvSpPr txBox="1"/>
          <p:nvPr/>
        </p:nvSpPr>
        <p:spPr>
          <a:xfrm>
            <a:off x="681644" y="4006735"/>
            <a:ext cx="10241995" cy="1938992"/>
          </a:xfrm>
          <a:prstGeom prst="rect">
            <a:avLst/>
          </a:prstGeom>
          <a:noFill/>
        </p:spPr>
        <p:txBody>
          <a:bodyPr wrap="square">
            <a:spAutoFit/>
          </a:bodyPr>
          <a:lstStyle/>
          <a:p>
            <a:r>
              <a:rPr lang="en-IN" sz="2000" dirty="0">
                <a:cs typeface="Times New Roman" panose="02020603050405020304" pitchFamily="18" charset="0"/>
              </a:rPr>
              <a:t>To fix this problem, use the escape character \”</a:t>
            </a:r>
          </a:p>
          <a:p>
            <a:endParaRPr lang="en-IN" sz="2000" dirty="0">
              <a:cs typeface="Times New Roman" panose="02020603050405020304" pitchFamily="18" charset="0"/>
            </a:endParaRPr>
          </a:p>
          <a:p>
            <a:endParaRPr lang="en-IN" sz="2000" dirty="0">
              <a:cs typeface="Times New Roman" panose="02020603050405020304" pitchFamily="18" charset="0"/>
            </a:endParaRPr>
          </a:p>
          <a:p>
            <a:pPr marL="457200" lvl="1" indent="0">
              <a:buNone/>
            </a:pPr>
            <a:r>
              <a:rPr lang="en-IN" sz="2000" dirty="0">
                <a:cs typeface="Times New Roman" panose="02020603050405020304" pitchFamily="18" charset="0"/>
              </a:rPr>
              <a:t>	 txt = “We are the so called \“Vikings\” from the north.”</a:t>
            </a:r>
          </a:p>
          <a:p>
            <a:pPr marL="457200" lvl="1" indent="0">
              <a:buNone/>
            </a:pPr>
            <a:r>
              <a:rPr lang="en-IN" sz="2000" dirty="0">
                <a:cs typeface="Times New Roman" panose="02020603050405020304" pitchFamily="18" charset="0"/>
              </a:rPr>
              <a:t>	 print(txt)</a:t>
            </a:r>
          </a:p>
          <a:p>
            <a:pPr marL="457200" lvl="1" indent="0">
              <a:buNone/>
            </a:pPr>
            <a:r>
              <a:rPr lang="en-IN" sz="2000" dirty="0">
                <a:cs typeface="Times New Roman" panose="02020603050405020304" pitchFamily="18" charset="0"/>
              </a:rPr>
              <a:t>	 # We are the so called “Vikings” from the north.</a:t>
            </a:r>
          </a:p>
        </p:txBody>
      </p:sp>
    </p:spTree>
    <p:extLst>
      <p:ext uri="{BB962C8B-B14F-4D97-AF65-F5344CB8AC3E}">
        <p14:creationId xmlns:p14="http://schemas.microsoft.com/office/powerpoint/2010/main" val="20033511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10ED66-E4F1-2F0C-C88B-2C013E3B716B}"/>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C9C6FBA4-5D99-277C-9812-82359345422E}"/>
              </a:ext>
            </a:extLst>
          </p:cNvPr>
          <p:cNvSpPr txBox="1"/>
          <p:nvPr/>
        </p:nvSpPr>
        <p:spPr>
          <a:xfrm>
            <a:off x="399011" y="709645"/>
            <a:ext cx="11104309" cy="2862322"/>
          </a:xfrm>
          <a:prstGeom prst="rect">
            <a:avLst/>
          </a:prstGeom>
          <a:noFill/>
        </p:spPr>
        <p:txBody>
          <a:bodyPr wrap="square">
            <a:spAutoFit/>
          </a:bodyPr>
          <a:lstStyle/>
          <a:p>
            <a:pPr algn="just"/>
            <a:r>
              <a:rPr lang="en-US" sz="2000" b="1" i="0" dirty="0">
                <a:solidFill>
                  <a:srgbClr val="FF0000"/>
                </a:solidFill>
                <a:effectLst/>
                <a:cs typeface="Times New Roman" panose="02020603050405020304" pitchFamily="18" charset="0"/>
              </a:rPr>
              <a:t>STRING METHODS</a:t>
            </a:r>
          </a:p>
          <a:p>
            <a:pPr algn="just"/>
            <a:endParaRPr lang="en-US" sz="2000" dirty="0">
              <a:solidFill>
                <a:srgbClr val="000000"/>
              </a:solidFill>
              <a:cs typeface="Times New Roman" panose="02020603050405020304" pitchFamily="18" charset="0"/>
            </a:endParaRPr>
          </a:p>
          <a:p>
            <a:pPr marL="342900" indent="-342900" algn="just">
              <a:buFont typeface="Arial" panose="020B0604020202020204" pitchFamily="34" charset="0"/>
              <a:buChar char="•"/>
            </a:pPr>
            <a:r>
              <a:rPr lang="en-US" sz="2000" b="0" i="0" dirty="0">
                <a:solidFill>
                  <a:srgbClr val="000000"/>
                </a:solidFill>
                <a:effectLst/>
                <a:cs typeface="Times New Roman" panose="02020603050405020304" pitchFamily="18" charset="0"/>
              </a:rPr>
              <a:t>Python has a set of built-in methods that you can use on strings.</a:t>
            </a:r>
          </a:p>
          <a:p>
            <a:pPr marL="342900" indent="-342900" algn="just">
              <a:buFont typeface="Arial" panose="020B0604020202020204" pitchFamily="34" charset="0"/>
              <a:buChar char="•"/>
            </a:pPr>
            <a:r>
              <a:rPr lang="en-US" sz="2000" b="0" i="0" dirty="0">
                <a:solidFill>
                  <a:srgbClr val="000000"/>
                </a:solidFill>
                <a:effectLst/>
                <a:cs typeface="Times New Roman" panose="02020603050405020304" pitchFamily="18" charset="0"/>
              </a:rPr>
              <a:t>All string methods return new values. They do not change the original string.</a:t>
            </a:r>
          </a:p>
          <a:p>
            <a:pPr algn="just"/>
            <a:endParaRPr lang="en-US" sz="2000" dirty="0">
              <a:solidFill>
                <a:srgbClr val="000000"/>
              </a:solidFill>
              <a:cs typeface="Times New Roman" panose="02020603050405020304" pitchFamily="18" charset="0"/>
            </a:endParaRPr>
          </a:p>
          <a:p>
            <a:pPr marL="0" indent="0" algn="just">
              <a:buNone/>
            </a:pPr>
            <a:r>
              <a:rPr lang="en-US" sz="2000" b="1" dirty="0">
                <a:solidFill>
                  <a:srgbClr val="000000"/>
                </a:solidFill>
                <a:cs typeface="Times New Roman" panose="02020603050405020304" pitchFamily="18" charset="0"/>
              </a:rPr>
              <a:t>Some of the string methods are:</a:t>
            </a:r>
          </a:p>
          <a:p>
            <a:pPr algn="just">
              <a:buFont typeface="Wingdings" panose="05000000000000000000" pitchFamily="2" charset="2"/>
              <a:buChar char="v"/>
            </a:pPr>
            <a:r>
              <a:rPr lang="en-US" sz="2000" b="1" dirty="0">
                <a:solidFill>
                  <a:srgbClr val="000000"/>
                </a:solidFill>
                <a:cs typeface="Times New Roman" panose="02020603050405020304" pitchFamily="18" charset="0"/>
              </a:rPr>
              <a:t>Upper</a:t>
            </a:r>
            <a:r>
              <a:rPr lang="en-US" sz="2000" b="1" dirty="0">
                <a:solidFill>
                  <a:srgbClr val="000000"/>
                </a:solidFill>
                <a:effectLst>
                  <a:outerShdw blurRad="38100" dist="38100" dir="2700000" algn="tl">
                    <a:srgbClr val="000000">
                      <a:alpha val="43137"/>
                    </a:srgbClr>
                  </a:outerShdw>
                </a:effectLst>
                <a:cs typeface="Times New Roman" panose="02020603050405020304" pitchFamily="18" charset="0"/>
              </a:rPr>
              <a:t> </a:t>
            </a:r>
            <a:r>
              <a:rPr lang="en-US" sz="2000" b="1" dirty="0">
                <a:solidFill>
                  <a:srgbClr val="000000"/>
                </a:solidFill>
                <a:cs typeface="Times New Roman" panose="02020603050405020304" pitchFamily="18" charset="0"/>
              </a:rPr>
              <a:t>Case</a:t>
            </a:r>
            <a:r>
              <a:rPr lang="en-US" sz="2000" dirty="0">
                <a:solidFill>
                  <a:srgbClr val="000000"/>
                </a:solidFill>
                <a:cs typeface="Times New Roman" panose="02020603050405020304" pitchFamily="18" charset="0"/>
              </a:rPr>
              <a:t>: The </a:t>
            </a:r>
            <a:r>
              <a:rPr lang="en-US" sz="2000" b="1" dirty="0">
                <a:solidFill>
                  <a:srgbClr val="CC00FF"/>
                </a:solidFill>
                <a:cs typeface="Times New Roman" panose="02020603050405020304" pitchFamily="18" charset="0"/>
              </a:rPr>
              <a:t>upper() </a:t>
            </a:r>
            <a:r>
              <a:rPr lang="en-US" sz="2000" dirty="0">
                <a:solidFill>
                  <a:srgbClr val="000000"/>
                </a:solidFill>
                <a:cs typeface="Times New Roman" panose="02020603050405020304" pitchFamily="18" charset="0"/>
              </a:rPr>
              <a:t>method returns the string in upper case.</a:t>
            </a:r>
          </a:p>
          <a:p>
            <a:pPr marL="0" indent="0" algn="just">
              <a:buNone/>
            </a:pPr>
            <a:r>
              <a:rPr lang="en-US" sz="2000" dirty="0">
                <a:solidFill>
                  <a:srgbClr val="000000"/>
                </a:solidFill>
                <a:cs typeface="Times New Roman" panose="02020603050405020304" pitchFamily="18" charset="0"/>
              </a:rPr>
              <a:t>	 a = “Hello world”</a:t>
            </a:r>
          </a:p>
          <a:p>
            <a:pPr marL="0" indent="0" algn="just">
              <a:buNone/>
            </a:pPr>
            <a:r>
              <a:rPr lang="en-US" sz="2000" dirty="0">
                <a:solidFill>
                  <a:srgbClr val="000000"/>
                </a:solidFill>
                <a:cs typeface="Times New Roman" panose="02020603050405020304" pitchFamily="18" charset="0"/>
              </a:rPr>
              <a:t>	 print(</a:t>
            </a:r>
            <a:r>
              <a:rPr lang="en-US" sz="2000" dirty="0" err="1">
                <a:solidFill>
                  <a:srgbClr val="000000"/>
                </a:solidFill>
                <a:cs typeface="Times New Roman" panose="02020603050405020304" pitchFamily="18" charset="0"/>
              </a:rPr>
              <a:t>a.upper</a:t>
            </a:r>
            <a:r>
              <a:rPr lang="en-US" sz="2000" dirty="0">
                <a:solidFill>
                  <a:srgbClr val="000000"/>
                </a:solidFill>
                <a:cs typeface="Times New Roman" panose="02020603050405020304" pitchFamily="18" charset="0"/>
              </a:rPr>
              <a:t>())		#HELLO WORLD</a:t>
            </a:r>
            <a:endParaRPr lang="en-IN" sz="2000" dirty="0">
              <a:cs typeface="Times New Roman" panose="02020603050405020304" pitchFamily="18" charset="0"/>
            </a:endParaRPr>
          </a:p>
        </p:txBody>
      </p:sp>
      <p:sp>
        <p:nvSpPr>
          <p:cNvPr id="8" name="TextBox 7">
            <a:extLst>
              <a:ext uri="{FF2B5EF4-FFF2-40B4-BE49-F238E27FC236}">
                <a16:creationId xmlns:a16="http://schemas.microsoft.com/office/drawing/2014/main" id="{9D1A0D4F-C67B-D19D-BB32-22EE5B040FC9}"/>
              </a:ext>
            </a:extLst>
          </p:cNvPr>
          <p:cNvSpPr txBox="1"/>
          <p:nvPr/>
        </p:nvSpPr>
        <p:spPr>
          <a:xfrm>
            <a:off x="399011" y="3807229"/>
            <a:ext cx="10839796" cy="1323439"/>
          </a:xfrm>
          <a:prstGeom prst="rect">
            <a:avLst/>
          </a:prstGeom>
          <a:noFill/>
        </p:spPr>
        <p:txBody>
          <a:bodyPr wrap="square">
            <a:spAutoFit/>
          </a:bodyPr>
          <a:lstStyle/>
          <a:p>
            <a:pPr algn="just">
              <a:buFont typeface="Wingdings" panose="05000000000000000000" pitchFamily="2" charset="2"/>
              <a:buChar char="v"/>
            </a:pPr>
            <a:r>
              <a:rPr lang="en-IN" sz="2000" b="1" dirty="0">
                <a:cs typeface="Times New Roman" panose="02020603050405020304" pitchFamily="18" charset="0"/>
              </a:rPr>
              <a:t>Lower</a:t>
            </a:r>
            <a:r>
              <a:rPr lang="en-IN" sz="2000" b="1" dirty="0">
                <a:effectLst>
                  <a:outerShdw blurRad="38100" dist="38100" dir="2700000" algn="tl">
                    <a:srgbClr val="000000">
                      <a:alpha val="43137"/>
                    </a:srgbClr>
                  </a:outerShdw>
                </a:effectLst>
                <a:cs typeface="Times New Roman" panose="02020603050405020304" pitchFamily="18" charset="0"/>
              </a:rPr>
              <a:t> </a:t>
            </a:r>
            <a:r>
              <a:rPr lang="en-IN" sz="2000" b="1" dirty="0">
                <a:cs typeface="Times New Roman" panose="02020603050405020304" pitchFamily="18" charset="0"/>
              </a:rPr>
              <a:t>Case</a:t>
            </a:r>
            <a:r>
              <a:rPr lang="en-IN" sz="2000" b="1" dirty="0">
                <a:effectLst>
                  <a:outerShdw blurRad="38100" dist="38100" dir="2700000" algn="tl">
                    <a:srgbClr val="000000">
                      <a:alpha val="43137"/>
                    </a:srgbClr>
                  </a:outerShdw>
                </a:effectLst>
                <a:cs typeface="Times New Roman" panose="02020603050405020304" pitchFamily="18" charset="0"/>
              </a:rPr>
              <a:t>: </a:t>
            </a:r>
            <a:r>
              <a:rPr lang="en-IN" sz="2000" dirty="0">
                <a:cs typeface="Times New Roman" panose="02020603050405020304" pitchFamily="18" charset="0"/>
              </a:rPr>
              <a:t>The </a:t>
            </a:r>
            <a:r>
              <a:rPr lang="en-IN" sz="2000" b="1" dirty="0">
                <a:solidFill>
                  <a:srgbClr val="CC00FF"/>
                </a:solidFill>
                <a:cs typeface="Times New Roman" panose="02020603050405020304" pitchFamily="18" charset="0"/>
              </a:rPr>
              <a:t>lower() </a:t>
            </a:r>
            <a:r>
              <a:rPr lang="en-IN" sz="2000" dirty="0">
                <a:cs typeface="Times New Roman" panose="02020603050405020304" pitchFamily="18" charset="0"/>
              </a:rPr>
              <a:t>method returns the string in lower case.</a:t>
            </a:r>
          </a:p>
          <a:p>
            <a:pPr marL="0" indent="0" algn="just">
              <a:buNone/>
            </a:pPr>
            <a:r>
              <a:rPr lang="en-IN" sz="2000" b="1" dirty="0">
                <a:effectLst>
                  <a:outerShdw blurRad="38100" dist="38100" dir="2700000" algn="tl">
                    <a:srgbClr val="000000">
                      <a:alpha val="43137"/>
                    </a:srgbClr>
                  </a:outerShdw>
                </a:effectLst>
                <a:cs typeface="Times New Roman" panose="02020603050405020304" pitchFamily="18" charset="0"/>
              </a:rPr>
              <a:t>	 </a:t>
            </a:r>
            <a:r>
              <a:rPr lang="en-IN" sz="2000" dirty="0">
                <a:cs typeface="Times New Roman" panose="02020603050405020304" pitchFamily="18" charset="0"/>
              </a:rPr>
              <a:t>a = “HELLO WORLD”</a:t>
            </a:r>
          </a:p>
          <a:p>
            <a:pPr marL="0" indent="0" algn="just">
              <a:buNone/>
            </a:pPr>
            <a:r>
              <a:rPr lang="en-IN" sz="2000" b="1" dirty="0">
                <a:effectLst>
                  <a:outerShdw blurRad="38100" dist="38100" dir="2700000" algn="tl">
                    <a:srgbClr val="000000">
                      <a:alpha val="43137"/>
                    </a:srgbClr>
                  </a:outerShdw>
                </a:effectLst>
                <a:cs typeface="Times New Roman" panose="02020603050405020304" pitchFamily="18" charset="0"/>
              </a:rPr>
              <a:t>	 </a:t>
            </a:r>
            <a:r>
              <a:rPr lang="en-IN" sz="2000" dirty="0">
                <a:cs typeface="Times New Roman" panose="02020603050405020304" pitchFamily="18" charset="0"/>
              </a:rPr>
              <a:t>print(</a:t>
            </a:r>
            <a:r>
              <a:rPr lang="en-IN" sz="2000" dirty="0" err="1">
                <a:cs typeface="Times New Roman" panose="02020603050405020304" pitchFamily="18" charset="0"/>
              </a:rPr>
              <a:t>a.lower</a:t>
            </a:r>
            <a:r>
              <a:rPr lang="en-IN" sz="2000" dirty="0">
                <a:cs typeface="Times New Roman" panose="02020603050405020304" pitchFamily="18" charset="0"/>
              </a:rPr>
              <a:t>())		# hello world</a:t>
            </a:r>
          </a:p>
          <a:p>
            <a:pPr marL="0" indent="0" algn="just">
              <a:buNone/>
            </a:pPr>
            <a:endParaRPr lang="en-IN" sz="2000" b="1" dirty="0">
              <a:effectLst>
                <a:outerShdw blurRad="38100" dist="38100" dir="2700000" algn="tl">
                  <a:srgbClr val="000000">
                    <a:alpha val="43137"/>
                  </a:srgbClr>
                </a:outerShdw>
              </a:effectLst>
              <a:cs typeface="Times New Roman" panose="02020603050405020304" pitchFamily="18" charset="0"/>
            </a:endParaRPr>
          </a:p>
        </p:txBody>
      </p:sp>
    </p:spTree>
    <p:extLst>
      <p:ext uri="{BB962C8B-B14F-4D97-AF65-F5344CB8AC3E}">
        <p14:creationId xmlns:p14="http://schemas.microsoft.com/office/powerpoint/2010/main" val="16240185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C285385-4CD3-8554-F21A-CAC6AD7E9651}"/>
              </a:ext>
            </a:extLst>
          </p:cNvPr>
          <p:cNvPicPr/>
          <p:nvPr/>
        </p:nvPicPr>
        <p:blipFill>
          <a:blip r:embed="rId2" cstate="print"/>
          <a:stretch/>
        </p:blipFill>
        <p:spPr>
          <a:xfrm>
            <a:off x="11463406" y="0"/>
            <a:ext cx="688680" cy="689040"/>
          </a:xfrm>
          <a:prstGeom prst="rect">
            <a:avLst/>
          </a:prstGeom>
          <a:ln w="0">
            <a:noFill/>
          </a:ln>
        </p:spPr>
      </p:pic>
      <p:sp>
        <p:nvSpPr>
          <p:cNvPr id="4" name="TextBox 3">
            <a:extLst>
              <a:ext uri="{FF2B5EF4-FFF2-40B4-BE49-F238E27FC236}">
                <a16:creationId xmlns:a16="http://schemas.microsoft.com/office/drawing/2014/main" id="{3DD10093-17C1-B555-E48F-B3590738BD53}"/>
              </a:ext>
            </a:extLst>
          </p:cNvPr>
          <p:cNvSpPr txBox="1"/>
          <p:nvPr/>
        </p:nvSpPr>
        <p:spPr>
          <a:xfrm>
            <a:off x="532015" y="689040"/>
            <a:ext cx="10789920" cy="1938992"/>
          </a:xfrm>
          <a:prstGeom prst="rect">
            <a:avLst/>
          </a:prstGeom>
          <a:noFill/>
        </p:spPr>
        <p:txBody>
          <a:bodyPr wrap="square">
            <a:spAutoFit/>
          </a:bodyPr>
          <a:lstStyle/>
          <a:p>
            <a:pPr algn="just">
              <a:buFont typeface="Wingdings" panose="05000000000000000000" pitchFamily="2" charset="2"/>
              <a:buChar char="v"/>
            </a:pPr>
            <a:r>
              <a:rPr lang="en-IN" sz="2000" b="1" dirty="0">
                <a:cs typeface="Times New Roman" panose="02020603050405020304" pitchFamily="18" charset="0"/>
              </a:rPr>
              <a:t>Remove</a:t>
            </a:r>
            <a:r>
              <a:rPr lang="en-IN" sz="2000" b="1" dirty="0">
                <a:effectLst>
                  <a:outerShdw blurRad="38100" dist="38100" dir="2700000" algn="tl">
                    <a:srgbClr val="000000">
                      <a:alpha val="43137"/>
                    </a:srgbClr>
                  </a:outerShdw>
                </a:effectLst>
                <a:cs typeface="Times New Roman" panose="02020603050405020304" pitchFamily="18" charset="0"/>
              </a:rPr>
              <a:t> </a:t>
            </a:r>
            <a:r>
              <a:rPr lang="en-IN" sz="2000" b="1" dirty="0">
                <a:cs typeface="Times New Roman" panose="02020603050405020304" pitchFamily="18" charset="0"/>
              </a:rPr>
              <a:t>Whitespace</a:t>
            </a:r>
            <a:r>
              <a:rPr lang="en-IN" sz="2000" b="1" dirty="0">
                <a:effectLst>
                  <a:outerShdw blurRad="38100" dist="38100" dir="2700000" algn="tl">
                    <a:srgbClr val="000000">
                      <a:alpha val="43137"/>
                    </a:srgbClr>
                  </a:outerShdw>
                </a:effectLst>
                <a:cs typeface="Times New Roman" panose="02020603050405020304" pitchFamily="18" charset="0"/>
              </a:rPr>
              <a:t>: </a:t>
            </a:r>
            <a:endParaRPr lang="en-IN" sz="2000" dirty="0">
              <a:cs typeface="Times New Roman" panose="02020603050405020304" pitchFamily="18" charset="0"/>
            </a:endParaRPr>
          </a:p>
          <a:p>
            <a:pPr marL="342900" indent="-342900" algn="just">
              <a:buFont typeface="Arial" panose="020B0604020202020204" pitchFamily="34" charset="0"/>
              <a:buChar char="•"/>
            </a:pPr>
            <a:r>
              <a:rPr lang="en-US" sz="2000" b="0" i="0" dirty="0">
                <a:solidFill>
                  <a:srgbClr val="000000"/>
                </a:solidFill>
                <a:effectLst/>
                <a:cs typeface="Times New Roman" panose="02020603050405020304" pitchFamily="18" charset="0"/>
              </a:rPr>
              <a:t>Whitespace is the space before and/or after the actual text, and very often you want to remove this space.</a:t>
            </a:r>
          </a:p>
          <a:p>
            <a:pPr marL="342900" indent="-342900" algn="just">
              <a:buFont typeface="Arial" panose="020B0604020202020204" pitchFamily="34" charset="0"/>
              <a:buChar char="•"/>
            </a:pPr>
            <a:r>
              <a:rPr lang="en-US" sz="2000" dirty="0">
                <a:solidFill>
                  <a:srgbClr val="000000"/>
                </a:solidFill>
                <a:cs typeface="Times New Roman" panose="02020603050405020304" pitchFamily="18" charset="0"/>
              </a:rPr>
              <a:t> The </a:t>
            </a:r>
            <a:r>
              <a:rPr lang="en-US" sz="2000" b="1" dirty="0">
                <a:solidFill>
                  <a:srgbClr val="CC00FF"/>
                </a:solidFill>
                <a:cs typeface="Times New Roman" panose="02020603050405020304" pitchFamily="18" charset="0"/>
              </a:rPr>
              <a:t>strip() </a:t>
            </a:r>
            <a:r>
              <a:rPr lang="en-US" sz="2000" dirty="0">
                <a:solidFill>
                  <a:srgbClr val="000000"/>
                </a:solidFill>
                <a:cs typeface="Times New Roman" panose="02020603050405020304" pitchFamily="18" charset="0"/>
              </a:rPr>
              <a:t>method removes any whitespace from the beginning or the end.</a:t>
            </a:r>
          </a:p>
          <a:p>
            <a:pPr marL="0" indent="0" algn="just">
              <a:buNone/>
            </a:pPr>
            <a:r>
              <a:rPr lang="en-US" sz="2000" dirty="0">
                <a:solidFill>
                  <a:srgbClr val="000000"/>
                </a:solidFill>
                <a:cs typeface="Times New Roman" panose="02020603050405020304" pitchFamily="18" charset="0"/>
              </a:rPr>
              <a:t>		a = “   Hello world    ”</a:t>
            </a:r>
          </a:p>
          <a:p>
            <a:pPr marL="0" indent="0" algn="just">
              <a:buNone/>
            </a:pPr>
            <a:r>
              <a:rPr lang="en-US" sz="2000" dirty="0">
                <a:solidFill>
                  <a:srgbClr val="000000"/>
                </a:solidFill>
                <a:cs typeface="Times New Roman" panose="02020603050405020304" pitchFamily="18" charset="0"/>
              </a:rPr>
              <a:t>		print(</a:t>
            </a:r>
            <a:r>
              <a:rPr lang="en-US" sz="2000" dirty="0" err="1">
                <a:solidFill>
                  <a:srgbClr val="000000"/>
                </a:solidFill>
                <a:cs typeface="Times New Roman" panose="02020603050405020304" pitchFamily="18" charset="0"/>
              </a:rPr>
              <a:t>a.strip</a:t>
            </a:r>
            <a:r>
              <a:rPr lang="en-US" sz="2000" dirty="0">
                <a:solidFill>
                  <a:srgbClr val="000000"/>
                </a:solidFill>
                <a:cs typeface="Times New Roman" panose="02020603050405020304" pitchFamily="18" charset="0"/>
              </a:rPr>
              <a:t>())		#Hello world</a:t>
            </a:r>
            <a:endParaRPr lang="en-IN" sz="2000" dirty="0">
              <a:cs typeface="Times New Roman" panose="02020603050405020304" pitchFamily="18" charset="0"/>
            </a:endParaRPr>
          </a:p>
        </p:txBody>
      </p:sp>
      <p:sp>
        <p:nvSpPr>
          <p:cNvPr id="7" name="TextBox 6">
            <a:extLst>
              <a:ext uri="{FF2B5EF4-FFF2-40B4-BE49-F238E27FC236}">
                <a16:creationId xmlns:a16="http://schemas.microsoft.com/office/drawing/2014/main" id="{B5C22C65-0BF2-8432-F79B-AF9BB48BEA44}"/>
              </a:ext>
            </a:extLst>
          </p:cNvPr>
          <p:cNvSpPr txBox="1"/>
          <p:nvPr/>
        </p:nvSpPr>
        <p:spPr>
          <a:xfrm>
            <a:off x="532014" y="3208713"/>
            <a:ext cx="10931391" cy="2554545"/>
          </a:xfrm>
          <a:prstGeom prst="rect">
            <a:avLst/>
          </a:prstGeom>
          <a:noFill/>
        </p:spPr>
        <p:txBody>
          <a:bodyPr wrap="square">
            <a:spAutoFit/>
          </a:bodyPr>
          <a:lstStyle/>
          <a:p>
            <a:pPr algn="just">
              <a:buFont typeface="Wingdings" panose="05000000000000000000" pitchFamily="2" charset="2"/>
              <a:buChar char="v"/>
            </a:pPr>
            <a:r>
              <a:rPr lang="en-IN" sz="2000" b="1" dirty="0">
                <a:cs typeface="Times New Roman" panose="02020603050405020304" pitchFamily="18" charset="0"/>
              </a:rPr>
              <a:t>Replace</a:t>
            </a:r>
            <a:r>
              <a:rPr lang="en-IN" sz="2000" b="1" dirty="0">
                <a:effectLst>
                  <a:outerShdw blurRad="38100" dist="38100" dir="2700000" algn="tl">
                    <a:srgbClr val="000000">
                      <a:alpha val="43137"/>
                    </a:srgbClr>
                  </a:outerShdw>
                </a:effectLst>
                <a:cs typeface="Times New Roman" panose="02020603050405020304" pitchFamily="18" charset="0"/>
              </a:rPr>
              <a:t> </a:t>
            </a:r>
            <a:r>
              <a:rPr lang="en-IN" sz="2000" b="1" dirty="0">
                <a:cs typeface="Times New Roman" panose="02020603050405020304" pitchFamily="18" charset="0"/>
              </a:rPr>
              <a:t>string</a:t>
            </a:r>
            <a:r>
              <a:rPr lang="en-IN" sz="2000" b="1" dirty="0">
                <a:effectLst>
                  <a:outerShdw blurRad="38100" dist="38100" dir="2700000" algn="tl">
                    <a:srgbClr val="000000">
                      <a:alpha val="43137"/>
                    </a:srgbClr>
                  </a:outerShdw>
                </a:effectLst>
                <a:cs typeface="Times New Roman" panose="02020603050405020304" pitchFamily="18" charset="0"/>
              </a:rPr>
              <a:t>: </a:t>
            </a:r>
            <a:r>
              <a:rPr lang="en-IN" sz="2000" dirty="0">
                <a:cs typeface="Times New Roman" panose="02020603050405020304" pitchFamily="18" charset="0"/>
              </a:rPr>
              <a:t>The </a:t>
            </a:r>
            <a:r>
              <a:rPr lang="en-IN" sz="2000" b="1" dirty="0">
                <a:solidFill>
                  <a:srgbClr val="CC00FF"/>
                </a:solidFill>
                <a:cs typeface="Times New Roman" panose="02020603050405020304" pitchFamily="18" charset="0"/>
              </a:rPr>
              <a:t>replace() </a:t>
            </a:r>
            <a:r>
              <a:rPr lang="en-IN" sz="2000" dirty="0">
                <a:cs typeface="Times New Roman" panose="02020603050405020304" pitchFamily="18" charset="0"/>
              </a:rPr>
              <a:t>method replaces a string with another string.</a:t>
            </a:r>
          </a:p>
          <a:p>
            <a:pPr marL="0" indent="0" algn="just">
              <a:buNone/>
            </a:pPr>
            <a:r>
              <a:rPr lang="en-IN" sz="2000" b="1" dirty="0">
                <a:effectLst>
                  <a:outerShdw blurRad="38100" dist="38100" dir="2700000" algn="tl">
                    <a:srgbClr val="000000">
                      <a:alpha val="43137"/>
                    </a:srgbClr>
                  </a:outerShdw>
                </a:effectLst>
                <a:cs typeface="Times New Roman" panose="02020603050405020304" pitchFamily="18" charset="0"/>
              </a:rPr>
              <a:t>	</a:t>
            </a:r>
            <a:r>
              <a:rPr lang="en-IN" sz="2000" b="1">
                <a:effectLst>
                  <a:outerShdw blurRad="38100" dist="38100" dir="2700000" algn="tl">
                    <a:srgbClr val="000000">
                      <a:alpha val="43137"/>
                    </a:srgbClr>
                  </a:outerShdw>
                </a:effectLst>
                <a:cs typeface="Times New Roman" panose="02020603050405020304" pitchFamily="18" charset="0"/>
              </a:rPr>
              <a:t> </a:t>
            </a:r>
            <a:r>
              <a:rPr lang="en-IN" sz="2000">
                <a:cs typeface="Times New Roman" panose="02020603050405020304" pitchFamily="18" charset="0"/>
              </a:rPr>
              <a:t>a </a:t>
            </a:r>
            <a:r>
              <a:rPr lang="en-IN" sz="2000" dirty="0">
                <a:cs typeface="Times New Roman" panose="02020603050405020304" pitchFamily="18" charset="0"/>
              </a:rPr>
              <a:t>= “MOM”</a:t>
            </a:r>
          </a:p>
          <a:p>
            <a:pPr marL="0" indent="0" algn="just">
              <a:buNone/>
            </a:pPr>
            <a:r>
              <a:rPr lang="en-IN" sz="2000" b="1" dirty="0">
                <a:effectLst>
                  <a:outerShdw blurRad="38100" dist="38100" dir="2700000" algn="tl">
                    <a:srgbClr val="000000">
                      <a:alpha val="43137"/>
                    </a:srgbClr>
                  </a:outerShdw>
                </a:effectLst>
                <a:cs typeface="Times New Roman" panose="02020603050405020304" pitchFamily="18" charset="0"/>
              </a:rPr>
              <a:t>	 </a:t>
            </a:r>
            <a:r>
              <a:rPr lang="en-IN" sz="2000" dirty="0">
                <a:cs typeface="Times New Roman" panose="02020603050405020304" pitchFamily="18" charset="0"/>
              </a:rPr>
              <a:t>print(</a:t>
            </a:r>
            <a:r>
              <a:rPr lang="en-IN" sz="2000" dirty="0" err="1">
                <a:cs typeface="Times New Roman" panose="02020603050405020304" pitchFamily="18" charset="0"/>
              </a:rPr>
              <a:t>a.replace</a:t>
            </a:r>
            <a:r>
              <a:rPr lang="en-IN" sz="2000" dirty="0">
                <a:cs typeface="Times New Roman" panose="02020603050405020304" pitchFamily="18" charset="0"/>
              </a:rPr>
              <a:t>(“M”, “D”))		#DOD</a:t>
            </a:r>
          </a:p>
          <a:p>
            <a:pPr marL="0" indent="0" algn="just">
              <a:buNone/>
            </a:pPr>
            <a:endParaRPr lang="en-IN" sz="2000" b="1" dirty="0">
              <a:effectLst>
                <a:outerShdw blurRad="38100" dist="38100" dir="2700000" algn="tl">
                  <a:srgbClr val="000000">
                    <a:alpha val="43137"/>
                  </a:srgbClr>
                </a:outerShdw>
              </a:effectLst>
              <a:cs typeface="Times New Roman" panose="02020603050405020304" pitchFamily="18" charset="0"/>
            </a:endParaRPr>
          </a:p>
          <a:p>
            <a:pPr algn="just">
              <a:buFont typeface="Wingdings" panose="05000000000000000000" pitchFamily="2" charset="2"/>
              <a:buChar char="v"/>
            </a:pPr>
            <a:r>
              <a:rPr lang="en-IN" sz="2000" dirty="0">
                <a:effectLst>
                  <a:outerShdw blurRad="38100" dist="38100" dir="2700000" algn="tl">
                    <a:srgbClr val="000000">
                      <a:alpha val="43137"/>
                    </a:srgbClr>
                  </a:outerShdw>
                </a:effectLst>
                <a:cs typeface="Times New Roman" panose="02020603050405020304" pitchFamily="18" charset="0"/>
              </a:rPr>
              <a:t>Split</a:t>
            </a:r>
            <a:r>
              <a:rPr lang="en-IN" sz="2000" b="1" dirty="0">
                <a:effectLst>
                  <a:outerShdw blurRad="38100" dist="38100" dir="2700000" algn="tl">
                    <a:srgbClr val="000000">
                      <a:alpha val="43137"/>
                    </a:srgbClr>
                  </a:outerShdw>
                </a:effectLst>
                <a:cs typeface="Times New Roman" panose="02020603050405020304" pitchFamily="18" charset="0"/>
              </a:rPr>
              <a:t> </a:t>
            </a:r>
            <a:r>
              <a:rPr lang="en-IN" sz="2000" b="1" dirty="0">
                <a:cs typeface="Times New Roman" panose="02020603050405020304" pitchFamily="18" charset="0"/>
              </a:rPr>
              <a:t>string</a:t>
            </a:r>
            <a:r>
              <a:rPr lang="en-IN" sz="2000" b="1" dirty="0">
                <a:effectLst>
                  <a:outerShdw blurRad="38100" dist="38100" dir="2700000" algn="tl">
                    <a:srgbClr val="000000">
                      <a:alpha val="43137"/>
                    </a:srgbClr>
                  </a:outerShdw>
                </a:effectLst>
                <a:cs typeface="Times New Roman" panose="02020603050405020304" pitchFamily="18" charset="0"/>
              </a:rPr>
              <a:t>: </a:t>
            </a:r>
            <a:r>
              <a:rPr lang="en-IN" sz="2000" dirty="0">
                <a:cs typeface="Times New Roman" panose="02020603050405020304" pitchFamily="18" charset="0"/>
              </a:rPr>
              <a:t>The </a:t>
            </a:r>
            <a:r>
              <a:rPr lang="en-IN" sz="2000" b="1" dirty="0">
                <a:solidFill>
                  <a:srgbClr val="CC00FF"/>
                </a:solidFill>
                <a:cs typeface="Times New Roman" panose="02020603050405020304" pitchFamily="18" charset="0"/>
              </a:rPr>
              <a:t>split() </a:t>
            </a:r>
            <a:r>
              <a:rPr lang="en-IN" sz="2000" dirty="0">
                <a:cs typeface="Times New Roman" panose="02020603050405020304" pitchFamily="18" charset="0"/>
              </a:rPr>
              <a:t>method returns a list where the text between the specified separator becomes the list items.</a:t>
            </a:r>
          </a:p>
          <a:p>
            <a:pPr marL="0" indent="0" algn="just">
              <a:buNone/>
            </a:pPr>
            <a:r>
              <a:rPr lang="en-IN" sz="2000" dirty="0">
                <a:cs typeface="Times New Roman" panose="02020603050405020304" pitchFamily="18" charset="0"/>
              </a:rPr>
              <a:t>	 txt = “Python is awesome”</a:t>
            </a:r>
          </a:p>
          <a:p>
            <a:pPr marL="0" indent="0" algn="just">
              <a:buNone/>
            </a:pPr>
            <a:r>
              <a:rPr lang="en-IN" sz="2000" dirty="0">
                <a:cs typeface="Times New Roman" panose="02020603050405020304" pitchFamily="18" charset="0"/>
              </a:rPr>
              <a:t>	 print(</a:t>
            </a:r>
            <a:r>
              <a:rPr lang="en-IN" sz="2000" dirty="0" err="1">
                <a:cs typeface="Times New Roman" panose="02020603050405020304" pitchFamily="18" charset="0"/>
              </a:rPr>
              <a:t>txt.split</a:t>
            </a:r>
            <a:r>
              <a:rPr lang="en-IN" sz="2000" dirty="0">
                <a:cs typeface="Times New Roman" panose="02020603050405020304" pitchFamily="18" charset="0"/>
              </a:rPr>
              <a:t>(“ ”))			    #[‘Python’, ‘is’, ‘awesome’]</a:t>
            </a:r>
          </a:p>
        </p:txBody>
      </p:sp>
    </p:spTree>
    <p:extLst>
      <p:ext uri="{BB962C8B-B14F-4D97-AF65-F5344CB8AC3E}">
        <p14:creationId xmlns:p14="http://schemas.microsoft.com/office/powerpoint/2010/main" val="28595307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F52CA-3A2E-E71B-60EE-4205637EFEEA}"/>
              </a:ext>
            </a:extLst>
          </p:cNvPr>
          <p:cNvSpPr>
            <a:spLocks noGrp="1"/>
          </p:cNvSpPr>
          <p:nvPr>
            <p:ph type="title"/>
          </p:nvPr>
        </p:nvSpPr>
        <p:spPr/>
        <p:txBody>
          <a:bodyPr/>
          <a:lstStyle/>
          <a:p>
            <a:pPr algn="ctr"/>
            <a:r>
              <a:rPr lang="en-US"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S</a:t>
            </a: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EQUENCE TYPES</a:t>
            </a:r>
          </a:p>
        </p:txBody>
      </p:sp>
      <p:pic>
        <p:nvPicPr>
          <p:cNvPr id="4" name="Picture 3">
            <a:extLst>
              <a:ext uri="{FF2B5EF4-FFF2-40B4-BE49-F238E27FC236}">
                <a16:creationId xmlns:a16="http://schemas.microsoft.com/office/drawing/2014/main" id="{63BD8411-4C6D-98FE-113A-BA996EA69316}"/>
              </a:ext>
            </a:extLst>
          </p:cNvPr>
          <p:cNvPicPr/>
          <p:nvPr/>
        </p:nvPicPr>
        <p:blipFill>
          <a:blip r:embed="rId2" cstate="print"/>
          <a:stretch/>
        </p:blipFill>
        <p:spPr>
          <a:xfrm>
            <a:off x="11503320" y="0"/>
            <a:ext cx="688680" cy="689040"/>
          </a:xfrm>
          <a:prstGeom prst="rect">
            <a:avLst/>
          </a:prstGeom>
          <a:ln w="0">
            <a:noFill/>
          </a:ln>
        </p:spPr>
      </p:pic>
      <p:sp>
        <p:nvSpPr>
          <p:cNvPr id="6" name="TextBox 5">
            <a:extLst>
              <a:ext uri="{FF2B5EF4-FFF2-40B4-BE49-F238E27FC236}">
                <a16:creationId xmlns:a16="http://schemas.microsoft.com/office/drawing/2014/main" id="{6E0625A0-59D3-7D54-1961-BCE92C4EA310}"/>
              </a:ext>
            </a:extLst>
          </p:cNvPr>
          <p:cNvSpPr txBox="1"/>
          <p:nvPr/>
        </p:nvSpPr>
        <p:spPr>
          <a:xfrm>
            <a:off x="714895" y="1861798"/>
            <a:ext cx="10788425" cy="3662541"/>
          </a:xfrm>
          <a:prstGeom prst="rect">
            <a:avLst/>
          </a:prstGeom>
          <a:noFill/>
        </p:spPr>
        <p:txBody>
          <a:bodyPr wrap="square">
            <a:spAutoFit/>
          </a:bodyPr>
          <a:lstStyle/>
          <a:p>
            <a:pPr marL="0" indent="0">
              <a:buNone/>
            </a:pPr>
            <a:r>
              <a:rPr lang="en-IN" sz="3200" b="1" dirty="0">
                <a:solidFill>
                  <a:srgbClr val="FF0000"/>
                </a:solidFill>
                <a:cs typeface="Times New Roman" panose="02020603050405020304" pitchFamily="18" charset="0"/>
              </a:rPr>
              <a:t>LIST</a:t>
            </a:r>
          </a:p>
          <a:p>
            <a:pPr marL="0" indent="0">
              <a:buNone/>
            </a:pPr>
            <a:endParaRPr lang="en-IN" sz="2000" b="1" dirty="0">
              <a:cs typeface="Times New Roman" panose="02020603050405020304" pitchFamily="18" charset="0"/>
            </a:endParaRPr>
          </a:p>
          <a:p>
            <a:pPr marL="0" indent="0">
              <a:buNone/>
            </a:pPr>
            <a:r>
              <a:rPr lang="en-IN" sz="2000" b="1" dirty="0">
                <a:cs typeface="Times New Roman" panose="02020603050405020304" pitchFamily="18" charset="0"/>
              </a:rPr>
              <a:t>Definition:-</a:t>
            </a:r>
          </a:p>
          <a:p>
            <a:pPr marL="0" indent="0" algn="just">
              <a:buNone/>
            </a:pPr>
            <a:r>
              <a:rPr lang="en-IN" sz="2000" b="1" dirty="0">
                <a:cs typeface="Times New Roman" panose="02020603050405020304" pitchFamily="18" charset="0"/>
              </a:rPr>
              <a:t>	</a:t>
            </a:r>
            <a:r>
              <a:rPr lang="en-IN" sz="2000" dirty="0">
                <a:cs typeface="Times New Roman" panose="02020603050405020304" pitchFamily="18" charset="0"/>
              </a:rPr>
              <a:t>A list is a collection of objects, values, or items of different types and these collections are enclosed within the square brackets </a:t>
            </a:r>
            <a:r>
              <a:rPr lang="en-IN" sz="2000" b="1" dirty="0">
                <a:solidFill>
                  <a:srgbClr val="FF0000"/>
                </a:solidFill>
                <a:cs typeface="Times New Roman" panose="02020603050405020304" pitchFamily="18" charset="0"/>
              </a:rPr>
              <a:t>[ ]</a:t>
            </a:r>
            <a:r>
              <a:rPr lang="en-IN" sz="2000" b="1" dirty="0">
                <a:cs typeface="Times New Roman" panose="02020603050405020304" pitchFamily="18" charset="0"/>
              </a:rPr>
              <a:t> </a:t>
            </a:r>
            <a:r>
              <a:rPr lang="en-IN" sz="2000" dirty="0">
                <a:cs typeface="Times New Roman" panose="02020603050405020304" pitchFamily="18" charset="0"/>
              </a:rPr>
              <a:t>and separated by commas (</a:t>
            </a:r>
            <a:r>
              <a:rPr lang="en-IN" sz="2000" b="1" dirty="0">
                <a:solidFill>
                  <a:srgbClr val="FF0000"/>
                </a:solidFill>
                <a:cs typeface="Times New Roman" panose="02020603050405020304" pitchFamily="18" charset="0"/>
              </a:rPr>
              <a:t>,</a:t>
            </a:r>
            <a:r>
              <a:rPr lang="en-IN" sz="2000" dirty="0">
                <a:cs typeface="Times New Roman" panose="02020603050405020304" pitchFamily="18" charset="0"/>
              </a:rPr>
              <a:t>).</a:t>
            </a:r>
          </a:p>
          <a:p>
            <a:pPr marL="0" indent="0" algn="just">
              <a:buNone/>
            </a:pPr>
            <a:endParaRPr lang="en-IN" sz="2000" b="1" dirty="0">
              <a:cs typeface="Times New Roman" panose="02020603050405020304" pitchFamily="18" charset="0"/>
            </a:endParaRPr>
          </a:p>
          <a:p>
            <a:pPr marL="0" indent="0" algn="just">
              <a:buNone/>
            </a:pPr>
            <a:r>
              <a:rPr lang="en-IN" sz="2000" b="1" dirty="0">
                <a:cs typeface="Times New Roman" panose="02020603050405020304" pitchFamily="18" charset="0"/>
              </a:rPr>
              <a:t>Example: -</a:t>
            </a:r>
          </a:p>
          <a:p>
            <a:pPr marL="0" indent="0" algn="just">
              <a:buNone/>
            </a:pPr>
            <a:r>
              <a:rPr lang="en-IN" sz="2000" b="1" dirty="0">
                <a:cs typeface="Times New Roman" panose="02020603050405020304" pitchFamily="18" charset="0"/>
              </a:rPr>
              <a:t>		</a:t>
            </a:r>
            <a:r>
              <a:rPr lang="en-IN" sz="2000" dirty="0">
                <a:cs typeface="Times New Roman" panose="02020603050405020304" pitchFamily="18" charset="0"/>
              </a:rPr>
              <a:t>list1 = [“apple”, 50, True, 40.569, “car”]</a:t>
            </a:r>
          </a:p>
          <a:p>
            <a:pPr marL="0" indent="0" algn="just">
              <a:buNone/>
            </a:pPr>
            <a:endParaRPr lang="en-IN" sz="2000" b="1" dirty="0">
              <a:cs typeface="Times New Roman" panose="02020603050405020304" pitchFamily="18" charset="0"/>
            </a:endParaRPr>
          </a:p>
          <a:p>
            <a:pPr marL="0" indent="0" algn="just">
              <a:buNone/>
            </a:pPr>
            <a:r>
              <a:rPr lang="en-IN" sz="2000" dirty="0">
                <a:cs typeface="Times New Roman" panose="02020603050405020304" pitchFamily="18" charset="0"/>
              </a:rPr>
              <a:t>List items are indexed, the first item has index [0], the second item has index [1], etc. It also supports the reverse indexing, the last item has index [-1] and so on.</a:t>
            </a:r>
          </a:p>
        </p:txBody>
      </p:sp>
    </p:spTree>
    <p:extLst>
      <p:ext uri="{BB962C8B-B14F-4D97-AF65-F5344CB8AC3E}">
        <p14:creationId xmlns:p14="http://schemas.microsoft.com/office/powerpoint/2010/main" val="12186289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5BB67-110B-0B47-5049-5632D06A37F6}"/>
              </a:ext>
            </a:extLst>
          </p:cNvPr>
          <p:cNvSpPr>
            <a:spLocks noGrp="1"/>
          </p:cNvSpPr>
          <p:nvPr>
            <p:ph type="title"/>
          </p:nvPr>
        </p:nvSpPr>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Characteristics Of List</a:t>
            </a:r>
          </a:p>
        </p:txBody>
      </p:sp>
      <p:pic>
        <p:nvPicPr>
          <p:cNvPr id="4" name="Picture 3">
            <a:extLst>
              <a:ext uri="{FF2B5EF4-FFF2-40B4-BE49-F238E27FC236}">
                <a16:creationId xmlns:a16="http://schemas.microsoft.com/office/drawing/2014/main" id="{01781311-27A8-D6C8-695F-53016B8E6301}"/>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EAED20FD-E134-38F9-9BFB-F9B10B43CEBB}"/>
              </a:ext>
            </a:extLst>
          </p:cNvPr>
          <p:cNvSpPr txBox="1"/>
          <p:nvPr/>
        </p:nvSpPr>
        <p:spPr>
          <a:xfrm>
            <a:off x="838199" y="2000297"/>
            <a:ext cx="10515599" cy="2554545"/>
          </a:xfrm>
          <a:prstGeom prst="rect">
            <a:avLst/>
          </a:prstGeom>
          <a:noFill/>
        </p:spPr>
        <p:txBody>
          <a:bodyPr wrap="square">
            <a:spAutoFit/>
          </a:bodyPr>
          <a:lstStyle/>
          <a:p>
            <a:pPr marL="342900" indent="-342900" algn="just">
              <a:buFont typeface="Arial" panose="020B0604020202020204" pitchFamily="34" charset="0"/>
              <a:buChar char="•"/>
            </a:pPr>
            <a:r>
              <a:rPr lang="en-IN" sz="2000" dirty="0">
                <a:cs typeface="Times New Roman" panose="02020603050405020304" pitchFamily="18" charset="0"/>
              </a:rPr>
              <a:t>The lists are </a:t>
            </a:r>
            <a:r>
              <a:rPr lang="en-IN" sz="2000" b="1" dirty="0">
                <a:cs typeface="Times New Roman" panose="02020603050405020304" pitchFamily="18" charset="0"/>
              </a:rPr>
              <a:t>ordered. </a:t>
            </a:r>
            <a:r>
              <a:rPr lang="en-IN" sz="2000" dirty="0">
                <a:cs typeface="Times New Roman" panose="02020603050405020304" pitchFamily="18" charset="0"/>
              </a:rPr>
              <a:t>This means that the items have a defined order, and that order will not change. (</a:t>
            </a:r>
            <a:r>
              <a:rPr lang="en-IN" sz="2000" b="1" dirty="0">
                <a:cs typeface="Times New Roman" panose="02020603050405020304" pitchFamily="18" charset="0"/>
              </a:rPr>
              <a:t>Note: -</a:t>
            </a:r>
            <a:r>
              <a:rPr lang="en-IN" sz="2000" dirty="0">
                <a:cs typeface="Times New Roman" panose="02020603050405020304" pitchFamily="18" charset="0"/>
              </a:rPr>
              <a:t> There are some list methods that will change the order, but in general, the order of the items will not change.)</a:t>
            </a:r>
          </a:p>
          <a:p>
            <a:pPr marL="342900" indent="-342900" algn="just">
              <a:buFont typeface="Arial" panose="020B0604020202020204" pitchFamily="34" charset="0"/>
              <a:buChar char="•"/>
            </a:pPr>
            <a:r>
              <a:rPr lang="en-IN" sz="2000" dirty="0">
                <a:cs typeface="Times New Roman" panose="02020603050405020304" pitchFamily="18" charset="0"/>
              </a:rPr>
              <a:t>List can store different types of elements.</a:t>
            </a:r>
          </a:p>
          <a:p>
            <a:pPr marL="342900" indent="-342900" algn="just">
              <a:buFont typeface="Arial" panose="020B0604020202020204" pitchFamily="34" charset="0"/>
              <a:buChar char="•"/>
            </a:pPr>
            <a:r>
              <a:rPr lang="en-IN" sz="2000" dirty="0">
                <a:cs typeface="Times New Roman" panose="02020603050405020304" pitchFamily="18" charset="0"/>
              </a:rPr>
              <a:t>Elements of the list can be accessed by index.</a:t>
            </a:r>
          </a:p>
          <a:p>
            <a:pPr marL="342900" indent="-342900" algn="just">
              <a:buFont typeface="Arial" panose="020B0604020202020204" pitchFamily="34" charset="0"/>
              <a:buChar char="•"/>
            </a:pPr>
            <a:r>
              <a:rPr lang="en-IN" sz="2000" dirty="0">
                <a:cs typeface="Times New Roman" panose="02020603050405020304" pitchFamily="18" charset="0"/>
              </a:rPr>
              <a:t>The lists are </a:t>
            </a:r>
            <a:r>
              <a:rPr lang="en-IN" sz="2000" b="1" dirty="0">
                <a:cs typeface="Times New Roman" panose="02020603050405020304" pitchFamily="18" charset="0"/>
              </a:rPr>
              <a:t>mutable</a:t>
            </a:r>
            <a:r>
              <a:rPr lang="en-IN" sz="2000" dirty="0">
                <a:cs typeface="Times New Roman" panose="02020603050405020304" pitchFamily="18" charset="0"/>
              </a:rPr>
              <a:t> or </a:t>
            </a:r>
            <a:r>
              <a:rPr lang="en-IN" sz="2000" b="1" dirty="0">
                <a:cs typeface="Times New Roman" panose="02020603050405020304" pitchFamily="18" charset="0"/>
              </a:rPr>
              <a:t>changeable.</a:t>
            </a:r>
            <a:r>
              <a:rPr lang="en-IN" sz="2000" dirty="0">
                <a:cs typeface="Times New Roman" panose="02020603050405020304" pitchFamily="18" charset="0"/>
              </a:rPr>
              <a:t> This means that we can change, add, and remove items in a list after it has been created.</a:t>
            </a:r>
          </a:p>
          <a:p>
            <a:pPr marL="342900" indent="-342900" algn="just">
              <a:buFont typeface="Arial" panose="020B0604020202020204" pitchFamily="34" charset="0"/>
              <a:buChar char="•"/>
            </a:pPr>
            <a:r>
              <a:rPr lang="en-IN" sz="2000" dirty="0">
                <a:cs typeface="Times New Roman" panose="02020603050405020304" pitchFamily="18" charset="0"/>
              </a:rPr>
              <a:t>Lists allow duplicate elements.</a:t>
            </a:r>
          </a:p>
        </p:txBody>
      </p:sp>
    </p:spTree>
    <p:extLst>
      <p:ext uri="{BB962C8B-B14F-4D97-AF65-F5344CB8AC3E}">
        <p14:creationId xmlns:p14="http://schemas.microsoft.com/office/powerpoint/2010/main" val="27832573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8C2B7C8-57B8-0882-41FC-10E8D3D46689}"/>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74B9C65E-F896-C67F-0CAB-CCF2DA5090BC}"/>
              </a:ext>
            </a:extLst>
          </p:cNvPr>
          <p:cNvSpPr txBox="1"/>
          <p:nvPr/>
        </p:nvSpPr>
        <p:spPr>
          <a:xfrm>
            <a:off x="1150373" y="1723298"/>
            <a:ext cx="10176387" cy="3785652"/>
          </a:xfrm>
          <a:prstGeom prst="rect">
            <a:avLst/>
          </a:prstGeom>
          <a:noFill/>
        </p:spPr>
        <p:txBody>
          <a:bodyPr wrap="square">
            <a:spAutoFit/>
          </a:bodyPr>
          <a:lstStyle/>
          <a:p>
            <a:pPr marL="0" indent="0" algn="just">
              <a:buNone/>
            </a:pPr>
            <a:r>
              <a:rPr lang="en-IN" sz="2000" b="1" dirty="0">
                <a:cs typeface="Times New Roman" panose="02020603050405020304" pitchFamily="18" charset="0"/>
              </a:rPr>
              <a:t>LIST LENGTH: - </a:t>
            </a:r>
          </a:p>
          <a:p>
            <a:pPr marL="0" indent="0" algn="just">
              <a:buNone/>
            </a:pPr>
            <a:r>
              <a:rPr lang="en-IN" sz="2000" dirty="0">
                <a:cs typeface="Times New Roman" panose="02020603050405020304" pitchFamily="18" charset="0"/>
              </a:rPr>
              <a:t>To determine how many items a list has, use the </a:t>
            </a:r>
            <a:r>
              <a:rPr lang="en-IN" sz="2000" b="1" dirty="0">
                <a:solidFill>
                  <a:srgbClr val="FF0000"/>
                </a:solidFill>
                <a:cs typeface="Times New Roman" panose="02020603050405020304" pitchFamily="18" charset="0"/>
              </a:rPr>
              <a:t>len() </a:t>
            </a:r>
            <a:r>
              <a:rPr lang="en-IN" sz="2000" dirty="0">
                <a:cs typeface="Times New Roman" panose="02020603050405020304" pitchFamily="18" charset="0"/>
              </a:rPr>
              <a:t>function.</a:t>
            </a:r>
          </a:p>
          <a:p>
            <a:pPr marL="0" indent="0" algn="just">
              <a:buNone/>
            </a:pPr>
            <a:endParaRPr lang="en-IN" sz="2000" b="1" dirty="0">
              <a:cs typeface="Times New Roman" panose="02020603050405020304" pitchFamily="18" charset="0"/>
            </a:endParaRPr>
          </a:p>
          <a:p>
            <a:pPr marL="0" indent="0" algn="just">
              <a:buNone/>
            </a:pPr>
            <a:r>
              <a:rPr lang="en-IN" sz="2000" b="1" u="sng" dirty="0">
                <a:cs typeface="Times New Roman" panose="02020603050405020304" pitchFamily="18" charset="0"/>
              </a:rPr>
              <a:t>Example</a:t>
            </a:r>
          </a:p>
          <a:p>
            <a:pPr marL="0" indent="0" algn="just">
              <a:buNone/>
            </a:pPr>
            <a:r>
              <a:rPr lang="en-IN" sz="2000" dirty="0">
                <a:cs typeface="Times New Roman" panose="02020603050405020304" pitchFamily="18" charset="0"/>
              </a:rPr>
              <a:t>	list1 = [10, 20, 30, 40, 50]</a:t>
            </a:r>
          </a:p>
          <a:p>
            <a:pPr marL="0" indent="0" algn="just">
              <a:buNone/>
            </a:pPr>
            <a:r>
              <a:rPr lang="en-IN" sz="2000" dirty="0">
                <a:cs typeface="Times New Roman" panose="02020603050405020304" pitchFamily="18" charset="0"/>
              </a:rPr>
              <a:t>	print(len(list1))			#5</a:t>
            </a:r>
          </a:p>
          <a:p>
            <a:pPr marL="0" indent="0" algn="just">
              <a:buNone/>
            </a:pPr>
            <a:endParaRPr lang="en-IN" sz="2000" dirty="0">
              <a:cs typeface="Times New Roman" panose="02020603050405020304" pitchFamily="18" charset="0"/>
            </a:endParaRPr>
          </a:p>
          <a:p>
            <a:pPr marL="0" indent="0" algn="just">
              <a:buNone/>
            </a:pPr>
            <a:r>
              <a:rPr lang="en-IN" sz="2000" b="1" dirty="0">
                <a:cs typeface="Times New Roman" panose="02020603050405020304" pitchFamily="18" charset="0"/>
              </a:rPr>
              <a:t> type( ) – </a:t>
            </a:r>
            <a:r>
              <a:rPr lang="en-IN" sz="2000" dirty="0">
                <a:cs typeface="Times New Roman" panose="02020603050405020304" pitchFamily="18" charset="0"/>
              </a:rPr>
              <a:t>Lists are defined as objects with the data type ‘list’.</a:t>
            </a:r>
          </a:p>
          <a:p>
            <a:pPr marL="0" indent="0" algn="just">
              <a:buNone/>
            </a:pPr>
            <a:r>
              <a:rPr lang="en-IN" sz="2000" b="1" u="sng" dirty="0">
                <a:cs typeface="Times New Roman" panose="02020603050405020304" pitchFamily="18" charset="0"/>
              </a:rPr>
              <a:t>Example</a:t>
            </a:r>
          </a:p>
          <a:p>
            <a:pPr marL="0" indent="0" algn="just">
              <a:buNone/>
            </a:pPr>
            <a:r>
              <a:rPr lang="en-IN" sz="2000" dirty="0">
                <a:cs typeface="Times New Roman" panose="02020603050405020304" pitchFamily="18" charset="0"/>
              </a:rPr>
              <a:t>	list2 = [“apple”, 50, True, 40.569, “car”]</a:t>
            </a:r>
          </a:p>
          <a:p>
            <a:pPr marL="0" indent="0" algn="just">
              <a:buNone/>
            </a:pPr>
            <a:r>
              <a:rPr lang="en-IN" sz="2000" dirty="0">
                <a:cs typeface="Times New Roman" panose="02020603050405020304" pitchFamily="18" charset="0"/>
              </a:rPr>
              <a:t>	print(type(list2))					#&lt;class  ‘list’&gt;</a:t>
            </a:r>
          </a:p>
          <a:p>
            <a:pPr marL="0" indent="0">
              <a:buNone/>
            </a:pPr>
            <a:endParaRPr lang="en-IN" sz="2000" dirty="0">
              <a:cs typeface="Times New Roman" panose="02020603050405020304" pitchFamily="18" charset="0"/>
            </a:endParaRPr>
          </a:p>
        </p:txBody>
      </p:sp>
    </p:spTree>
    <p:extLst>
      <p:ext uri="{BB962C8B-B14F-4D97-AF65-F5344CB8AC3E}">
        <p14:creationId xmlns:p14="http://schemas.microsoft.com/office/powerpoint/2010/main" val="41412382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685EDE6-96F1-9085-6771-C40F09C49F6A}"/>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98B2B998-47F7-4B0A-96A1-E0E2CE689B47}"/>
              </a:ext>
            </a:extLst>
          </p:cNvPr>
          <p:cNvSpPr txBox="1"/>
          <p:nvPr/>
        </p:nvSpPr>
        <p:spPr>
          <a:xfrm>
            <a:off x="845573" y="924233"/>
            <a:ext cx="9340645" cy="2862322"/>
          </a:xfrm>
          <a:prstGeom prst="rect">
            <a:avLst/>
          </a:prstGeom>
          <a:noFill/>
        </p:spPr>
        <p:txBody>
          <a:bodyPr wrap="square">
            <a:spAutoFit/>
          </a:bodyPr>
          <a:lstStyle/>
          <a:p>
            <a:pPr marL="0" indent="0">
              <a:buNone/>
            </a:pPr>
            <a:r>
              <a:rPr lang="en-IN" sz="2000" b="1" dirty="0">
                <a:solidFill>
                  <a:srgbClr val="FF0000"/>
                </a:solidFill>
                <a:cs typeface="Times New Roman" panose="02020603050405020304" pitchFamily="18" charset="0"/>
              </a:rPr>
              <a:t>Access List Items</a:t>
            </a:r>
          </a:p>
          <a:p>
            <a:pPr marL="0" indent="0">
              <a:buNone/>
            </a:pPr>
            <a:endParaRPr lang="en-IN" sz="2000" dirty="0">
              <a:cs typeface="Times New Roman" panose="02020603050405020304" pitchFamily="18" charset="0"/>
            </a:endParaRPr>
          </a:p>
          <a:p>
            <a:pPr marL="342900" indent="-342900">
              <a:buFont typeface="Arial" panose="020B0604020202020204" pitchFamily="34" charset="0"/>
              <a:buChar char="•"/>
            </a:pPr>
            <a:r>
              <a:rPr lang="en-IN" sz="2000" dirty="0">
                <a:cs typeface="Times New Roman" panose="02020603050405020304" pitchFamily="18" charset="0"/>
              </a:rPr>
              <a:t>List items are indexed and you can access them by referring to the index number.</a:t>
            </a:r>
          </a:p>
          <a:p>
            <a:pPr marL="0" indent="0">
              <a:buNone/>
            </a:pPr>
            <a:r>
              <a:rPr lang="en-IN" sz="2000" b="1" u="sng" dirty="0">
                <a:cs typeface="Times New Roman" panose="02020603050405020304" pitchFamily="18" charset="0"/>
              </a:rPr>
              <a:t>Example</a:t>
            </a:r>
          </a:p>
          <a:p>
            <a:pPr marL="0" indent="0">
              <a:buNone/>
            </a:pPr>
            <a:r>
              <a:rPr lang="en-IN" sz="2000" dirty="0">
                <a:cs typeface="Times New Roman" panose="02020603050405020304" pitchFamily="18" charset="0"/>
              </a:rPr>
              <a:t>	</a:t>
            </a:r>
            <a:r>
              <a:rPr lang="en-IN" sz="2000" dirty="0" err="1">
                <a:cs typeface="Times New Roman" panose="02020603050405020304" pitchFamily="18" charset="0"/>
              </a:rPr>
              <a:t>myList</a:t>
            </a:r>
            <a:r>
              <a:rPr lang="en-IN" sz="2000" dirty="0">
                <a:cs typeface="Times New Roman" panose="02020603050405020304" pitchFamily="18" charset="0"/>
              </a:rPr>
              <a:t> = [“apple”, “banana”, “orange”, “grapes”, “mango”]</a:t>
            </a:r>
          </a:p>
          <a:p>
            <a:pPr marL="0" indent="0">
              <a:buNone/>
            </a:pPr>
            <a:r>
              <a:rPr lang="en-IN" sz="2000" dirty="0">
                <a:cs typeface="Times New Roman" panose="02020603050405020304" pitchFamily="18" charset="0"/>
              </a:rPr>
              <a:t>	print(</a:t>
            </a:r>
            <a:r>
              <a:rPr lang="en-IN" sz="2000" dirty="0" err="1">
                <a:cs typeface="Times New Roman" panose="02020603050405020304" pitchFamily="18" charset="0"/>
              </a:rPr>
              <a:t>myList</a:t>
            </a:r>
            <a:r>
              <a:rPr lang="en-IN" sz="2000" dirty="0">
                <a:cs typeface="Times New Roman" panose="02020603050405020304" pitchFamily="18" charset="0"/>
              </a:rPr>
              <a:t>[3])		#grapes</a:t>
            </a:r>
          </a:p>
          <a:p>
            <a:pPr marL="0" indent="0">
              <a:buNone/>
            </a:pPr>
            <a:r>
              <a:rPr lang="en-IN" sz="2000" dirty="0">
                <a:cs typeface="Times New Roman" panose="02020603050405020304" pitchFamily="18" charset="0"/>
              </a:rPr>
              <a:t>	print(</a:t>
            </a:r>
            <a:r>
              <a:rPr lang="en-IN" sz="2000" dirty="0" err="1">
                <a:cs typeface="Times New Roman" panose="02020603050405020304" pitchFamily="18" charset="0"/>
              </a:rPr>
              <a:t>myList</a:t>
            </a:r>
            <a:r>
              <a:rPr lang="en-IN" sz="2000" dirty="0">
                <a:cs typeface="Times New Roman" panose="02020603050405020304" pitchFamily="18" charset="0"/>
              </a:rPr>
              <a:t>[0])		#apple</a:t>
            </a:r>
          </a:p>
          <a:p>
            <a:pPr marL="0" indent="0">
              <a:buNone/>
            </a:pPr>
            <a:r>
              <a:rPr lang="en-IN" sz="2000" dirty="0">
                <a:cs typeface="Times New Roman" panose="02020603050405020304" pitchFamily="18" charset="0"/>
              </a:rPr>
              <a:t>	print(</a:t>
            </a:r>
            <a:r>
              <a:rPr lang="en-IN" sz="2000" dirty="0" err="1">
                <a:cs typeface="Times New Roman" panose="02020603050405020304" pitchFamily="18" charset="0"/>
              </a:rPr>
              <a:t>myList</a:t>
            </a:r>
            <a:r>
              <a:rPr lang="en-IN" sz="2000" dirty="0">
                <a:cs typeface="Times New Roman" panose="02020603050405020304" pitchFamily="18" charset="0"/>
              </a:rPr>
              <a:t>[-4])		#banana</a:t>
            </a:r>
          </a:p>
          <a:p>
            <a:pPr marL="0" indent="0">
              <a:buNone/>
            </a:pPr>
            <a:r>
              <a:rPr lang="en-IN" sz="2000" dirty="0">
                <a:cs typeface="Times New Roman" panose="02020603050405020304" pitchFamily="18" charset="0"/>
              </a:rPr>
              <a:t>	print(</a:t>
            </a:r>
            <a:r>
              <a:rPr lang="en-IN" sz="2000" dirty="0" err="1">
                <a:cs typeface="Times New Roman" panose="02020603050405020304" pitchFamily="18" charset="0"/>
              </a:rPr>
              <a:t>myList</a:t>
            </a:r>
            <a:r>
              <a:rPr lang="en-IN" sz="2000" dirty="0">
                <a:cs typeface="Times New Roman" panose="02020603050405020304" pitchFamily="18" charset="0"/>
              </a:rPr>
              <a:t>[-1])		#mango</a:t>
            </a:r>
          </a:p>
        </p:txBody>
      </p:sp>
    </p:spTree>
    <p:extLst>
      <p:ext uri="{BB962C8B-B14F-4D97-AF65-F5344CB8AC3E}">
        <p14:creationId xmlns:p14="http://schemas.microsoft.com/office/powerpoint/2010/main" val="13134558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B2B245-F394-C864-55D6-AF0210468E50}"/>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F0175EA8-F30E-409F-A62B-DEF449188564}"/>
              </a:ext>
            </a:extLst>
          </p:cNvPr>
          <p:cNvSpPr txBox="1"/>
          <p:nvPr/>
        </p:nvSpPr>
        <p:spPr>
          <a:xfrm>
            <a:off x="845574" y="1376516"/>
            <a:ext cx="10657746" cy="3477875"/>
          </a:xfrm>
          <a:prstGeom prst="rect">
            <a:avLst/>
          </a:prstGeom>
          <a:noFill/>
        </p:spPr>
        <p:txBody>
          <a:bodyPr wrap="square">
            <a:spAutoFit/>
          </a:bodyPr>
          <a:lstStyle/>
          <a:p>
            <a:pPr marL="0" indent="0">
              <a:buNone/>
            </a:pPr>
            <a:r>
              <a:rPr lang="en-IN" sz="2000" b="1" dirty="0">
                <a:solidFill>
                  <a:srgbClr val="FF0000"/>
                </a:solidFill>
                <a:cs typeface="Times New Roman" panose="02020603050405020304" pitchFamily="18" charset="0"/>
              </a:rPr>
              <a:t>Range of Indexes: - </a:t>
            </a:r>
          </a:p>
          <a:p>
            <a:pPr algn="just"/>
            <a:endParaRPr lang="en-IN" sz="2000" dirty="0">
              <a:cs typeface="Times New Roman" panose="02020603050405020304" pitchFamily="18" charset="0"/>
            </a:endParaRPr>
          </a:p>
          <a:p>
            <a:pPr marL="285750" indent="-285750" algn="just">
              <a:buFont typeface="Arial" panose="020B0604020202020204" pitchFamily="34" charset="0"/>
              <a:buChar char="•"/>
            </a:pPr>
            <a:r>
              <a:rPr lang="en-IN" sz="2000" dirty="0">
                <a:cs typeface="Times New Roman" panose="02020603050405020304" pitchFamily="18" charset="0"/>
              </a:rPr>
              <a:t>You can specify a range of indexes by specifying where to start and where to end the range.</a:t>
            </a:r>
          </a:p>
          <a:p>
            <a:pPr marL="285750" indent="-285750" algn="just">
              <a:buFont typeface="Arial" panose="020B0604020202020204" pitchFamily="34" charset="0"/>
              <a:buChar char="•"/>
            </a:pPr>
            <a:r>
              <a:rPr lang="en-IN" sz="2000" dirty="0">
                <a:cs typeface="Times New Roman" panose="02020603050405020304" pitchFamily="18" charset="0"/>
              </a:rPr>
              <a:t>When specifying a range, the return value will be a new list with the specified items</a:t>
            </a:r>
          </a:p>
          <a:p>
            <a:pPr marL="0" indent="0" algn="just">
              <a:buNone/>
            </a:pPr>
            <a:endParaRPr lang="en-IN" sz="2000" dirty="0">
              <a:cs typeface="Times New Roman" panose="02020603050405020304" pitchFamily="18" charset="0"/>
            </a:endParaRPr>
          </a:p>
          <a:p>
            <a:pPr marL="0" indent="0" algn="just">
              <a:buNone/>
            </a:pPr>
            <a:r>
              <a:rPr lang="en-IN" sz="2000" b="1" u="sng" dirty="0">
                <a:cs typeface="Times New Roman" panose="02020603050405020304" pitchFamily="18" charset="0"/>
              </a:rPr>
              <a:t>Example</a:t>
            </a:r>
          </a:p>
          <a:p>
            <a:pPr marL="0" indent="0" algn="just">
              <a:buNone/>
            </a:pPr>
            <a:r>
              <a:rPr lang="en-IN" sz="2000" dirty="0">
                <a:cs typeface="Times New Roman" panose="02020603050405020304" pitchFamily="18" charset="0"/>
              </a:rPr>
              <a:t>	 </a:t>
            </a:r>
            <a:r>
              <a:rPr lang="en-IN" sz="2000" dirty="0" err="1">
                <a:cs typeface="Times New Roman" panose="02020603050405020304" pitchFamily="18" charset="0"/>
              </a:rPr>
              <a:t>myList</a:t>
            </a:r>
            <a:r>
              <a:rPr lang="en-IN" sz="2000" dirty="0">
                <a:cs typeface="Times New Roman" panose="02020603050405020304" pitchFamily="18" charset="0"/>
              </a:rPr>
              <a:t> = [“apple”, “banana”, “orange”, “grapes”, “mango”]</a:t>
            </a:r>
          </a:p>
          <a:p>
            <a:pPr marL="0" indent="0" algn="just">
              <a:buNone/>
            </a:pPr>
            <a:r>
              <a:rPr lang="en-IN" sz="2000" dirty="0">
                <a:cs typeface="Times New Roman" panose="02020603050405020304" pitchFamily="18" charset="0"/>
              </a:rPr>
              <a:t>	print(</a:t>
            </a:r>
            <a:r>
              <a:rPr lang="en-IN" sz="2000" dirty="0" err="1">
                <a:cs typeface="Times New Roman" panose="02020603050405020304" pitchFamily="18" charset="0"/>
              </a:rPr>
              <a:t>myList</a:t>
            </a:r>
            <a:r>
              <a:rPr lang="en-IN" sz="2000" dirty="0">
                <a:cs typeface="Times New Roman" panose="02020603050405020304" pitchFamily="18" charset="0"/>
              </a:rPr>
              <a:t>[1:4])		#[‘banana’, ‘orange’, ‘grapes’]</a:t>
            </a:r>
          </a:p>
          <a:p>
            <a:pPr marL="0" indent="0" algn="just">
              <a:buNone/>
            </a:pPr>
            <a:r>
              <a:rPr lang="en-IN" sz="2000" dirty="0">
                <a:cs typeface="Times New Roman" panose="02020603050405020304" pitchFamily="18" charset="0"/>
              </a:rPr>
              <a:t>	print(</a:t>
            </a:r>
            <a:r>
              <a:rPr lang="en-IN" sz="2000" dirty="0" err="1">
                <a:cs typeface="Times New Roman" panose="02020603050405020304" pitchFamily="18" charset="0"/>
              </a:rPr>
              <a:t>myList</a:t>
            </a:r>
            <a:r>
              <a:rPr lang="en-IN" sz="2000" dirty="0">
                <a:cs typeface="Times New Roman" panose="02020603050405020304" pitchFamily="18" charset="0"/>
              </a:rPr>
              <a:t>[:3])		#[‘apple’, ‘banana’, ‘orange’]</a:t>
            </a:r>
          </a:p>
          <a:p>
            <a:pPr marL="0" indent="0" algn="just">
              <a:buNone/>
            </a:pPr>
            <a:r>
              <a:rPr lang="en-IN" sz="2000" dirty="0">
                <a:cs typeface="Times New Roman" panose="02020603050405020304" pitchFamily="18" charset="0"/>
              </a:rPr>
              <a:t>	print(</a:t>
            </a:r>
            <a:r>
              <a:rPr lang="en-IN" sz="2000" dirty="0" err="1">
                <a:cs typeface="Times New Roman" panose="02020603050405020304" pitchFamily="18" charset="0"/>
              </a:rPr>
              <a:t>myList</a:t>
            </a:r>
            <a:r>
              <a:rPr lang="en-IN" sz="2000" dirty="0">
                <a:cs typeface="Times New Roman" panose="02020603050405020304" pitchFamily="18" charset="0"/>
              </a:rPr>
              <a:t>[2:])		#[‘orange’, ‘grapes’, ‘mango’]</a:t>
            </a:r>
          </a:p>
          <a:p>
            <a:pPr marL="0" indent="0" algn="just">
              <a:buNone/>
            </a:pPr>
            <a:r>
              <a:rPr lang="en-IN" sz="2000" dirty="0">
                <a:cs typeface="Times New Roman" panose="02020603050405020304" pitchFamily="18" charset="0"/>
              </a:rPr>
              <a:t>	print(</a:t>
            </a:r>
            <a:r>
              <a:rPr lang="en-IN" sz="2000" dirty="0" err="1">
                <a:cs typeface="Times New Roman" panose="02020603050405020304" pitchFamily="18" charset="0"/>
              </a:rPr>
              <a:t>myList</a:t>
            </a:r>
            <a:r>
              <a:rPr lang="en-IN" sz="2000" dirty="0">
                <a:cs typeface="Times New Roman" panose="02020603050405020304" pitchFamily="18" charset="0"/>
              </a:rPr>
              <a:t>[-4:-2])	#[‘banana’, ‘orange’]</a:t>
            </a:r>
          </a:p>
        </p:txBody>
      </p:sp>
    </p:spTree>
    <p:extLst>
      <p:ext uri="{BB962C8B-B14F-4D97-AF65-F5344CB8AC3E}">
        <p14:creationId xmlns:p14="http://schemas.microsoft.com/office/powerpoint/2010/main" val="41681527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7B72071-F7D5-2BF5-7C94-DB1EA9267B3A}"/>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9C9BE866-AA12-C19C-5A0F-1A2668169E76}"/>
              </a:ext>
            </a:extLst>
          </p:cNvPr>
          <p:cNvSpPr txBox="1"/>
          <p:nvPr/>
        </p:nvSpPr>
        <p:spPr>
          <a:xfrm>
            <a:off x="747252" y="550607"/>
            <a:ext cx="8396748" cy="4401205"/>
          </a:xfrm>
          <a:prstGeom prst="rect">
            <a:avLst/>
          </a:prstGeom>
          <a:noFill/>
        </p:spPr>
        <p:txBody>
          <a:bodyPr wrap="square">
            <a:spAutoFit/>
          </a:bodyPr>
          <a:lstStyle/>
          <a:p>
            <a:pPr marL="0" indent="0">
              <a:buNone/>
            </a:pPr>
            <a:r>
              <a:rPr lang="en-IN" sz="2000" b="1" dirty="0">
                <a:cs typeface="Times New Roman" panose="02020603050405020304" pitchFamily="18" charset="0"/>
              </a:rPr>
              <a:t>Check if Item Exists or not: -</a:t>
            </a:r>
          </a:p>
          <a:p>
            <a:pPr marL="0" indent="0">
              <a:buNone/>
            </a:pPr>
            <a:endParaRPr lang="en-IN" sz="2000" b="1" dirty="0">
              <a:cs typeface="Times New Roman" panose="02020603050405020304" pitchFamily="18" charset="0"/>
            </a:endParaRPr>
          </a:p>
          <a:p>
            <a:pPr marL="0" indent="0">
              <a:buNone/>
            </a:pPr>
            <a:r>
              <a:rPr lang="en-IN" sz="2000" dirty="0">
                <a:cs typeface="Times New Roman" panose="02020603050405020304" pitchFamily="18" charset="0"/>
              </a:rPr>
              <a:t>	</a:t>
            </a:r>
            <a:r>
              <a:rPr lang="en-IN" sz="2000" dirty="0" err="1">
                <a:cs typeface="Times New Roman" panose="02020603050405020304" pitchFamily="18" charset="0"/>
              </a:rPr>
              <a:t>myList</a:t>
            </a:r>
            <a:r>
              <a:rPr lang="en-IN" sz="2000" dirty="0">
                <a:cs typeface="Times New Roman" panose="02020603050405020304" pitchFamily="18" charset="0"/>
              </a:rPr>
              <a:t> = [“apple”, “banana”, “orange”, “grapes”, “mango”]</a:t>
            </a:r>
          </a:p>
          <a:p>
            <a:pPr marL="0" indent="0">
              <a:buNone/>
            </a:pPr>
            <a:r>
              <a:rPr lang="en-IN" sz="2000" dirty="0">
                <a:cs typeface="Times New Roman" panose="02020603050405020304" pitchFamily="18" charset="0"/>
              </a:rPr>
              <a:t>	if “orange” in </a:t>
            </a:r>
            <a:r>
              <a:rPr lang="en-IN" sz="2000" dirty="0" err="1">
                <a:cs typeface="Times New Roman" panose="02020603050405020304" pitchFamily="18" charset="0"/>
              </a:rPr>
              <a:t>myList</a:t>
            </a:r>
            <a:r>
              <a:rPr lang="en-IN" sz="2000" dirty="0">
                <a:cs typeface="Times New Roman" panose="02020603050405020304" pitchFamily="18" charset="0"/>
              </a:rPr>
              <a:t>:</a:t>
            </a:r>
          </a:p>
          <a:p>
            <a:pPr marL="0" indent="0">
              <a:buNone/>
            </a:pPr>
            <a:r>
              <a:rPr lang="en-IN" sz="2000" dirty="0">
                <a:cs typeface="Times New Roman" panose="02020603050405020304" pitchFamily="18" charset="0"/>
              </a:rPr>
              <a:t>		print(“Yes, ‘orange’ is in this list.”)</a:t>
            </a:r>
          </a:p>
          <a:p>
            <a:pPr marL="0" indent="0">
              <a:buNone/>
            </a:pPr>
            <a:r>
              <a:rPr lang="en-IN" sz="2000" dirty="0">
                <a:cs typeface="Times New Roman" panose="02020603050405020304" pitchFamily="18" charset="0"/>
              </a:rPr>
              <a:t>	else:</a:t>
            </a:r>
          </a:p>
          <a:p>
            <a:pPr marL="0" indent="0">
              <a:buNone/>
            </a:pPr>
            <a:r>
              <a:rPr lang="en-IN" sz="2000" dirty="0">
                <a:cs typeface="Times New Roman" panose="02020603050405020304" pitchFamily="18" charset="0"/>
              </a:rPr>
              <a:t>		print(“No, ‘orange’ is not in this list.”)</a:t>
            </a:r>
          </a:p>
          <a:p>
            <a:pPr marL="0" indent="0">
              <a:buNone/>
            </a:pPr>
            <a:r>
              <a:rPr lang="en-IN" sz="2000" dirty="0">
                <a:cs typeface="Times New Roman" panose="02020603050405020304" pitchFamily="18" charset="0"/>
              </a:rPr>
              <a:t>	#Yes, ‘orange’ is in this list.</a:t>
            </a:r>
          </a:p>
          <a:p>
            <a:pPr marL="0" indent="0">
              <a:buNone/>
            </a:pPr>
            <a:endParaRPr lang="en-IN" sz="2000" dirty="0">
              <a:cs typeface="Times New Roman" panose="02020603050405020304" pitchFamily="18" charset="0"/>
            </a:endParaRPr>
          </a:p>
          <a:p>
            <a:pPr marL="0" indent="0">
              <a:buNone/>
            </a:pPr>
            <a:r>
              <a:rPr lang="en-IN" sz="2000" dirty="0">
                <a:cs typeface="Times New Roman" panose="02020603050405020304" pitchFamily="18" charset="0"/>
              </a:rPr>
              <a:t>	if “orange” not in </a:t>
            </a:r>
            <a:r>
              <a:rPr lang="en-IN" sz="2000" dirty="0" err="1">
                <a:cs typeface="Times New Roman" panose="02020603050405020304" pitchFamily="18" charset="0"/>
              </a:rPr>
              <a:t>myList</a:t>
            </a:r>
            <a:r>
              <a:rPr lang="en-IN" sz="2000" dirty="0">
                <a:cs typeface="Times New Roman" panose="02020603050405020304" pitchFamily="18" charset="0"/>
              </a:rPr>
              <a:t>:</a:t>
            </a:r>
          </a:p>
          <a:p>
            <a:pPr marL="0" indent="0">
              <a:buNone/>
            </a:pPr>
            <a:r>
              <a:rPr lang="en-IN" sz="2000" dirty="0">
                <a:cs typeface="Times New Roman" panose="02020603050405020304" pitchFamily="18" charset="0"/>
              </a:rPr>
              <a:t>		print(“Yes, ‘orange’ is not in this list.”)</a:t>
            </a:r>
          </a:p>
          <a:p>
            <a:pPr marL="0" indent="0">
              <a:buNone/>
            </a:pPr>
            <a:r>
              <a:rPr lang="en-IN" sz="2000" dirty="0">
                <a:cs typeface="Times New Roman" panose="02020603050405020304" pitchFamily="18" charset="0"/>
              </a:rPr>
              <a:t>	else:</a:t>
            </a:r>
          </a:p>
          <a:p>
            <a:pPr marL="0" indent="0">
              <a:buNone/>
            </a:pPr>
            <a:r>
              <a:rPr lang="en-IN" sz="2000" dirty="0">
                <a:cs typeface="Times New Roman" panose="02020603050405020304" pitchFamily="18" charset="0"/>
              </a:rPr>
              <a:t>		print(“No, ‘orange’ is in this list.”)</a:t>
            </a:r>
          </a:p>
          <a:p>
            <a:pPr marL="0" indent="0">
              <a:buNone/>
            </a:pPr>
            <a:r>
              <a:rPr lang="en-IN" sz="2000" dirty="0">
                <a:cs typeface="Times New Roman" panose="02020603050405020304" pitchFamily="18" charset="0"/>
              </a:rPr>
              <a:t>	#No, ‘orange’ is in this list.</a:t>
            </a:r>
          </a:p>
        </p:txBody>
      </p:sp>
    </p:spTree>
    <p:extLst>
      <p:ext uri="{BB962C8B-B14F-4D97-AF65-F5344CB8AC3E}">
        <p14:creationId xmlns:p14="http://schemas.microsoft.com/office/powerpoint/2010/main" val="16713613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DC81C-787E-0F1D-C320-5DD4235196FB}"/>
              </a:ext>
            </a:extLst>
          </p:cNvPr>
          <p:cNvSpPr>
            <a:spLocks noGrp="1"/>
          </p:cNvSpPr>
          <p:nvPr>
            <p:ph type="title"/>
          </p:nvPr>
        </p:nvSpPr>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Change List Items</a:t>
            </a:r>
          </a:p>
        </p:txBody>
      </p:sp>
      <p:pic>
        <p:nvPicPr>
          <p:cNvPr id="4" name="Picture 3">
            <a:extLst>
              <a:ext uri="{FF2B5EF4-FFF2-40B4-BE49-F238E27FC236}">
                <a16:creationId xmlns:a16="http://schemas.microsoft.com/office/drawing/2014/main" id="{49EB4F19-F635-0561-B5CA-557EB79B58D9}"/>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CAEEF444-326B-0962-55E5-91DE2A3A349A}"/>
              </a:ext>
            </a:extLst>
          </p:cNvPr>
          <p:cNvSpPr txBox="1"/>
          <p:nvPr/>
        </p:nvSpPr>
        <p:spPr>
          <a:xfrm>
            <a:off x="1012723" y="1828801"/>
            <a:ext cx="9301316" cy="2862322"/>
          </a:xfrm>
          <a:prstGeom prst="rect">
            <a:avLst/>
          </a:prstGeom>
          <a:noFill/>
        </p:spPr>
        <p:txBody>
          <a:bodyPr wrap="square">
            <a:spAutoFit/>
          </a:bodyPr>
          <a:lstStyle/>
          <a:p>
            <a:pPr marL="0" indent="0">
              <a:buNone/>
            </a:pPr>
            <a:r>
              <a:rPr lang="en-IN" sz="2000" b="1" dirty="0">
                <a:solidFill>
                  <a:srgbClr val="FF0000"/>
                </a:solidFill>
                <a:cs typeface="Times New Roman" panose="02020603050405020304" pitchFamily="18" charset="0"/>
              </a:rPr>
              <a:t>CHANGE ITEM VALUE</a:t>
            </a:r>
          </a:p>
          <a:p>
            <a:pPr marL="0" indent="0">
              <a:buNone/>
            </a:pPr>
            <a:endParaRPr lang="en-IN" sz="2000" b="1" dirty="0">
              <a:solidFill>
                <a:srgbClr val="FF0000"/>
              </a:solidFill>
              <a:cs typeface="Times New Roman" panose="02020603050405020304" pitchFamily="18" charset="0"/>
            </a:endParaRPr>
          </a:p>
          <a:p>
            <a:pPr marL="285750" indent="-285750">
              <a:buFont typeface="Arial" panose="020B0604020202020204" pitchFamily="34" charset="0"/>
              <a:buChar char="•"/>
            </a:pPr>
            <a:r>
              <a:rPr lang="en-IN" sz="2000" dirty="0">
                <a:cs typeface="Times New Roman" panose="02020603050405020304" pitchFamily="18" charset="0"/>
              </a:rPr>
              <a:t>To change the value of a specific item, refer to the index number.</a:t>
            </a:r>
          </a:p>
          <a:p>
            <a:pPr marL="0" indent="0">
              <a:buNone/>
            </a:pPr>
            <a:endParaRPr lang="en-IN" sz="2000" dirty="0">
              <a:cs typeface="Times New Roman" panose="02020603050405020304" pitchFamily="18" charset="0"/>
            </a:endParaRPr>
          </a:p>
          <a:p>
            <a:pPr marL="0" indent="0" algn="just">
              <a:buNone/>
            </a:pPr>
            <a:r>
              <a:rPr lang="en-IN" sz="2000" b="1" u="sng" dirty="0">
                <a:cs typeface="Times New Roman" panose="02020603050405020304" pitchFamily="18" charset="0"/>
              </a:rPr>
              <a:t>Example</a:t>
            </a:r>
          </a:p>
          <a:p>
            <a:pPr marL="0" indent="0" algn="just">
              <a:buNone/>
            </a:pPr>
            <a:r>
              <a:rPr lang="en-IN" sz="2000" dirty="0">
                <a:cs typeface="Times New Roman" panose="02020603050405020304" pitchFamily="18" charset="0"/>
              </a:rPr>
              <a:t>	</a:t>
            </a:r>
            <a:r>
              <a:rPr lang="en-IN" sz="2000" dirty="0" err="1">
                <a:cs typeface="Times New Roman" panose="02020603050405020304" pitchFamily="18" charset="0"/>
              </a:rPr>
              <a:t>myList</a:t>
            </a:r>
            <a:r>
              <a:rPr lang="en-IN" sz="2000" dirty="0">
                <a:cs typeface="Times New Roman" panose="02020603050405020304" pitchFamily="18" charset="0"/>
              </a:rPr>
              <a:t> = [“apple”, “banana”, “cherry”]</a:t>
            </a:r>
          </a:p>
          <a:p>
            <a:pPr marL="0" indent="0" algn="just">
              <a:buNone/>
            </a:pPr>
            <a:r>
              <a:rPr lang="en-IN" sz="2000" dirty="0">
                <a:cs typeface="Times New Roman" panose="02020603050405020304" pitchFamily="18" charset="0"/>
              </a:rPr>
              <a:t>	</a:t>
            </a:r>
            <a:r>
              <a:rPr lang="en-IN" sz="2000" dirty="0" err="1">
                <a:cs typeface="Times New Roman" panose="02020603050405020304" pitchFamily="18" charset="0"/>
              </a:rPr>
              <a:t>myList</a:t>
            </a:r>
            <a:r>
              <a:rPr lang="en-IN" sz="2000" dirty="0">
                <a:cs typeface="Times New Roman" panose="02020603050405020304" pitchFamily="18" charset="0"/>
              </a:rPr>
              <a:t>[1] = “mango”</a:t>
            </a:r>
          </a:p>
          <a:p>
            <a:pPr marL="0" indent="0" algn="just">
              <a:buNone/>
            </a:pPr>
            <a:r>
              <a:rPr lang="en-IN" sz="2000" dirty="0">
                <a:cs typeface="Times New Roman" panose="02020603050405020304" pitchFamily="18" charset="0"/>
              </a:rPr>
              <a:t>	print(</a:t>
            </a:r>
            <a:r>
              <a:rPr lang="en-IN" sz="2000" dirty="0" err="1">
                <a:cs typeface="Times New Roman" panose="02020603050405020304" pitchFamily="18" charset="0"/>
              </a:rPr>
              <a:t>myList</a:t>
            </a:r>
            <a:r>
              <a:rPr lang="en-IN" sz="2000" dirty="0">
                <a:cs typeface="Times New Roman" panose="02020603050405020304" pitchFamily="18" charset="0"/>
              </a:rPr>
              <a:t>)</a:t>
            </a:r>
          </a:p>
          <a:p>
            <a:pPr marL="0" indent="0" algn="just">
              <a:buNone/>
            </a:pPr>
            <a:r>
              <a:rPr lang="en-IN" sz="2000" dirty="0">
                <a:cs typeface="Times New Roman" panose="02020603050405020304" pitchFamily="18" charset="0"/>
              </a:rPr>
              <a:t>	#[‘apple’, ‘mango’, ‘cherry’]</a:t>
            </a:r>
          </a:p>
        </p:txBody>
      </p:sp>
    </p:spTree>
    <p:extLst>
      <p:ext uri="{BB962C8B-B14F-4D97-AF65-F5344CB8AC3E}">
        <p14:creationId xmlns:p14="http://schemas.microsoft.com/office/powerpoint/2010/main" val="40810666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E551A40-72A5-484B-C2AA-FD29FFEF72AD}"/>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163C188C-5059-3855-FFAE-D73003FAB624}"/>
              </a:ext>
            </a:extLst>
          </p:cNvPr>
          <p:cNvSpPr txBox="1"/>
          <p:nvPr/>
        </p:nvSpPr>
        <p:spPr>
          <a:xfrm>
            <a:off x="465513" y="599768"/>
            <a:ext cx="10920241" cy="5324535"/>
          </a:xfrm>
          <a:prstGeom prst="rect">
            <a:avLst/>
          </a:prstGeom>
          <a:noFill/>
        </p:spPr>
        <p:txBody>
          <a:bodyPr wrap="square">
            <a:spAutoFit/>
          </a:bodyPr>
          <a:lstStyle/>
          <a:p>
            <a:pPr marL="0" indent="0">
              <a:buNone/>
            </a:pPr>
            <a:r>
              <a:rPr lang="en-IN" sz="2000" b="1" dirty="0">
                <a:solidFill>
                  <a:srgbClr val="FF0000"/>
                </a:solidFill>
                <a:cs typeface="Times New Roman" panose="02020603050405020304" pitchFamily="18" charset="0"/>
              </a:rPr>
              <a:t>Change a Range of Item Values:-</a:t>
            </a:r>
          </a:p>
          <a:p>
            <a:pPr marL="0" indent="0" algn="just">
              <a:buNone/>
            </a:pPr>
            <a:endParaRPr lang="en-IN" sz="2000" dirty="0">
              <a:cs typeface="Times New Roman" panose="02020603050405020304" pitchFamily="18" charset="0"/>
            </a:endParaRPr>
          </a:p>
          <a:p>
            <a:pPr marL="285750" indent="-285750" algn="just">
              <a:buFont typeface="Arial" panose="020B0604020202020204" pitchFamily="34" charset="0"/>
              <a:buChar char="•"/>
            </a:pPr>
            <a:r>
              <a:rPr lang="en-IN" sz="2000" dirty="0">
                <a:cs typeface="Times New Roman" panose="02020603050405020304" pitchFamily="18" charset="0"/>
              </a:rPr>
              <a:t>T</a:t>
            </a:r>
            <a:r>
              <a:rPr lang="en-US" sz="2000" b="0" i="0" dirty="0">
                <a:solidFill>
                  <a:srgbClr val="000000"/>
                </a:solidFill>
                <a:effectLst/>
                <a:cs typeface="Times New Roman" panose="02020603050405020304" pitchFamily="18" charset="0"/>
              </a:rPr>
              <a:t>o change the value of items within a specific range, define a list with the new values, and refer to the range of index numbers where you want to insert the new values.</a:t>
            </a:r>
          </a:p>
          <a:p>
            <a:pPr marL="0" indent="0" algn="just">
              <a:buNone/>
            </a:pPr>
            <a:r>
              <a:rPr lang="en-US" sz="2000" b="1" u="sng" dirty="0">
                <a:solidFill>
                  <a:srgbClr val="000000"/>
                </a:solidFill>
                <a:cs typeface="Times New Roman" panose="02020603050405020304" pitchFamily="18" charset="0"/>
              </a:rPr>
              <a:t>Example</a:t>
            </a:r>
          </a:p>
          <a:p>
            <a:pPr marL="0" indent="0" algn="just">
              <a:buNone/>
            </a:pPr>
            <a:r>
              <a:rPr lang="en-US" sz="2000" dirty="0">
                <a:solidFill>
                  <a:srgbClr val="000000"/>
                </a:solidFill>
                <a:cs typeface="Times New Roman" panose="02020603050405020304" pitchFamily="18" charset="0"/>
              </a:rPr>
              <a:t>	</a:t>
            </a:r>
            <a:r>
              <a:rPr lang="en-IN" sz="2000" dirty="0">
                <a:cs typeface="Times New Roman" panose="02020603050405020304" pitchFamily="18" charset="0"/>
              </a:rPr>
              <a:t> </a:t>
            </a:r>
            <a:r>
              <a:rPr lang="en-IN" sz="2000" dirty="0" err="1">
                <a:cs typeface="Times New Roman" panose="02020603050405020304" pitchFamily="18" charset="0"/>
              </a:rPr>
              <a:t>myList</a:t>
            </a:r>
            <a:r>
              <a:rPr lang="en-IN" sz="2000" dirty="0">
                <a:cs typeface="Times New Roman" panose="02020603050405020304" pitchFamily="18" charset="0"/>
              </a:rPr>
              <a:t> = [“apple”, “banana”, “orange”, “grapes”, “mango”]</a:t>
            </a:r>
          </a:p>
          <a:p>
            <a:pPr marL="0" indent="0" algn="just">
              <a:buNone/>
            </a:pPr>
            <a:r>
              <a:rPr lang="en-IN" sz="2000" dirty="0">
                <a:cs typeface="Times New Roman" panose="02020603050405020304" pitchFamily="18" charset="0"/>
              </a:rPr>
              <a:t>	</a:t>
            </a:r>
            <a:r>
              <a:rPr lang="en-IN" sz="2000" dirty="0" err="1">
                <a:cs typeface="Times New Roman" panose="02020603050405020304" pitchFamily="18" charset="0"/>
              </a:rPr>
              <a:t>myList</a:t>
            </a:r>
            <a:r>
              <a:rPr lang="en-IN" sz="2000" dirty="0">
                <a:cs typeface="Times New Roman" panose="02020603050405020304" pitchFamily="18" charset="0"/>
              </a:rPr>
              <a:t>[1:3] = [“kiwi”, “cherry”]</a:t>
            </a:r>
          </a:p>
          <a:p>
            <a:pPr marL="0" indent="0" algn="just">
              <a:buNone/>
            </a:pPr>
            <a:r>
              <a:rPr lang="en-IN" sz="2000" dirty="0">
                <a:cs typeface="Times New Roman" panose="02020603050405020304" pitchFamily="18" charset="0"/>
              </a:rPr>
              <a:t>	print(</a:t>
            </a:r>
            <a:r>
              <a:rPr lang="en-IN" sz="2000" dirty="0" err="1">
                <a:cs typeface="Times New Roman" panose="02020603050405020304" pitchFamily="18" charset="0"/>
              </a:rPr>
              <a:t>myList</a:t>
            </a:r>
            <a:r>
              <a:rPr lang="en-IN" sz="2000" dirty="0">
                <a:cs typeface="Times New Roman" panose="02020603050405020304" pitchFamily="18" charset="0"/>
              </a:rPr>
              <a:t>)</a:t>
            </a:r>
          </a:p>
          <a:p>
            <a:pPr marL="0" indent="0" algn="just">
              <a:buNone/>
            </a:pPr>
            <a:r>
              <a:rPr lang="en-IN" sz="2000" dirty="0">
                <a:cs typeface="Times New Roman" panose="02020603050405020304" pitchFamily="18" charset="0"/>
              </a:rPr>
              <a:t>	#[‘apple’, ‘kiwi’, ‘cherry’, ‘grapes’, ‘mango’]</a:t>
            </a:r>
          </a:p>
          <a:p>
            <a:pPr marL="0" indent="0" algn="just">
              <a:buNone/>
            </a:pPr>
            <a:endParaRPr lang="en-IN" sz="2000" dirty="0">
              <a:cs typeface="Times New Roman" panose="02020603050405020304" pitchFamily="18" charset="0"/>
            </a:endParaRPr>
          </a:p>
          <a:p>
            <a:pPr marL="285750" indent="-285750" algn="just">
              <a:buFont typeface="Arial" panose="020B0604020202020204" pitchFamily="34" charset="0"/>
              <a:buChar char="•"/>
            </a:pPr>
            <a:r>
              <a:rPr lang="en-US" sz="2000" b="0" i="0" dirty="0">
                <a:solidFill>
                  <a:srgbClr val="000000"/>
                </a:solidFill>
                <a:effectLst/>
                <a:cs typeface="Times New Roman" panose="02020603050405020304" pitchFamily="18" charset="0"/>
              </a:rPr>
              <a:t>If you insert </a:t>
            </a:r>
            <a:r>
              <a:rPr lang="en-US" sz="2000" b="0" i="1" dirty="0">
                <a:solidFill>
                  <a:srgbClr val="000000"/>
                </a:solidFill>
                <a:effectLst/>
                <a:cs typeface="Times New Roman" panose="02020603050405020304" pitchFamily="18" charset="0"/>
              </a:rPr>
              <a:t>more</a:t>
            </a:r>
            <a:r>
              <a:rPr lang="en-US" sz="2000" b="0" i="0" dirty="0">
                <a:solidFill>
                  <a:srgbClr val="000000"/>
                </a:solidFill>
                <a:effectLst/>
                <a:cs typeface="Times New Roman" panose="02020603050405020304" pitchFamily="18" charset="0"/>
              </a:rPr>
              <a:t> items than you replace, the new items will be inserted where you specified, and the remaining items will move accordingly.</a:t>
            </a:r>
          </a:p>
          <a:p>
            <a:pPr marL="0" indent="0" algn="just">
              <a:buNone/>
            </a:pPr>
            <a:r>
              <a:rPr lang="en-US" sz="2000" b="1" u="sng" dirty="0">
                <a:solidFill>
                  <a:srgbClr val="000000"/>
                </a:solidFill>
                <a:cs typeface="Times New Roman" panose="02020603050405020304" pitchFamily="18" charset="0"/>
              </a:rPr>
              <a:t>Example</a:t>
            </a:r>
          </a:p>
          <a:p>
            <a:pPr marL="0" indent="0" algn="just">
              <a:buNone/>
            </a:pPr>
            <a:r>
              <a:rPr lang="en-US" sz="2000" dirty="0">
                <a:solidFill>
                  <a:srgbClr val="000000"/>
                </a:solidFill>
                <a:cs typeface="Times New Roman" panose="02020603050405020304" pitchFamily="18" charset="0"/>
              </a:rPr>
              <a:t>	</a:t>
            </a:r>
            <a:r>
              <a:rPr lang="en-IN" sz="2000" dirty="0">
                <a:cs typeface="Times New Roman" panose="02020603050405020304" pitchFamily="18" charset="0"/>
              </a:rPr>
              <a:t> </a:t>
            </a:r>
            <a:r>
              <a:rPr lang="en-IN" sz="2000" dirty="0" err="1">
                <a:cs typeface="Times New Roman" panose="02020603050405020304" pitchFamily="18" charset="0"/>
              </a:rPr>
              <a:t>myList</a:t>
            </a:r>
            <a:r>
              <a:rPr lang="en-IN" sz="2000" dirty="0">
                <a:cs typeface="Times New Roman" panose="02020603050405020304" pitchFamily="18" charset="0"/>
              </a:rPr>
              <a:t> = [“apple”, “banana”, “orange”, “grapes”, “mango”]</a:t>
            </a:r>
          </a:p>
          <a:p>
            <a:pPr marL="0" indent="0" algn="just">
              <a:buNone/>
            </a:pPr>
            <a:r>
              <a:rPr lang="en-IN" sz="2000" dirty="0">
                <a:cs typeface="Times New Roman" panose="02020603050405020304" pitchFamily="18" charset="0"/>
              </a:rPr>
              <a:t>	</a:t>
            </a:r>
            <a:r>
              <a:rPr lang="en-IN" sz="2000" dirty="0" err="1">
                <a:cs typeface="Times New Roman" panose="02020603050405020304" pitchFamily="18" charset="0"/>
              </a:rPr>
              <a:t>myList</a:t>
            </a:r>
            <a:r>
              <a:rPr lang="en-IN" sz="2000" dirty="0">
                <a:cs typeface="Times New Roman" panose="02020603050405020304" pitchFamily="18" charset="0"/>
              </a:rPr>
              <a:t>[1:2] = [“kiwi”, “cherry”]</a:t>
            </a:r>
          </a:p>
          <a:p>
            <a:pPr marL="0" indent="0" algn="just">
              <a:buNone/>
            </a:pPr>
            <a:r>
              <a:rPr lang="en-IN" sz="2000" dirty="0">
                <a:cs typeface="Times New Roman" panose="02020603050405020304" pitchFamily="18" charset="0"/>
              </a:rPr>
              <a:t>	print(</a:t>
            </a:r>
            <a:r>
              <a:rPr lang="en-IN" sz="2000" dirty="0" err="1">
                <a:cs typeface="Times New Roman" panose="02020603050405020304" pitchFamily="18" charset="0"/>
              </a:rPr>
              <a:t>myList</a:t>
            </a:r>
            <a:r>
              <a:rPr lang="en-IN" sz="2000" dirty="0">
                <a:cs typeface="Times New Roman" panose="02020603050405020304" pitchFamily="18" charset="0"/>
              </a:rPr>
              <a:t>)</a:t>
            </a:r>
          </a:p>
          <a:p>
            <a:pPr marL="0" indent="0" algn="just">
              <a:buNone/>
            </a:pPr>
            <a:r>
              <a:rPr lang="en-IN" sz="2000" dirty="0">
                <a:cs typeface="Times New Roman" panose="02020603050405020304" pitchFamily="18" charset="0"/>
              </a:rPr>
              <a:t>	#[‘apple’, ‘kiwi’, ‘cherry’, ‘orange’, ‘grapes’, ‘mango’]</a:t>
            </a:r>
          </a:p>
        </p:txBody>
      </p:sp>
    </p:spTree>
    <p:extLst>
      <p:ext uri="{BB962C8B-B14F-4D97-AF65-F5344CB8AC3E}">
        <p14:creationId xmlns:p14="http://schemas.microsoft.com/office/powerpoint/2010/main" val="10104097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E84D295-035D-1D32-7F17-95E320266814}"/>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4B74431F-CC51-BC44-7C5E-716C1D3E36F2}"/>
              </a:ext>
            </a:extLst>
          </p:cNvPr>
          <p:cNvSpPr txBox="1"/>
          <p:nvPr/>
        </p:nvSpPr>
        <p:spPr>
          <a:xfrm>
            <a:off x="580103" y="894736"/>
            <a:ext cx="11061291" cy="3170099"/>
          </a:xfrm>
          <a:prstGeom prst="rect">
            <a:avLst/>
          </a:prstGeom>
          <a:noFill/>
        </p:spPr>
        <p:txBody>
          <a:bodyPr wrap="square">
            <a:spAutoFit/>
          </a:bodyPr>
          <a:lstStyle/>
          <a:p>
            <a:pPr algn="just"/>
            <a:r>
              <a:rPr lang="en-US" sz="2000" b="0" i="0" dirty="0">
                <a:solidFill>
                  <a:srgbClr val="000000"/>
                </a:solidFill>
                <a:effectLst/>
                <a:cs typeface="Times New Roman" panose="02020603050405020304" pitchFamily="18" charset="0"/>
              </a:rPr>
              <a:t>The length of the list will change when the number of items inserted does not match the number of items replaced.</a:t>
            </a:r>
          </a:p>
          <a:p>
            <a:pPr algn="just"/>
            <a:r>
              <a:rPr lang="en-US" sz="2000" b="0" i="0" dirty="0">
                <a:solidFill>
                  <a:srgbClr val="000000"/>
                </a:solidFill>
                <a:effectLst/>
                <a:cs typeface="Times New Roman" panose="02020603050405020304" pitchFamily="18" charset="0"/>
              </a:rPr>
              <a:t>If you insert </a:t>
            </a:r>
            <a:r>
              <a:rPr lang="en-US" sz="2000" b="0" i="1" dirty="0">
                <a:solidFill>
                  <a:srgbClr val="000000"/>
                </a:solidFill>
                <a:effectLst/>
                <a:cs typeface="Times New Roman" panose="02020603050405020304" pitchFamily="18" charset="0"/>
              </a:rPr>
              <a:t>less</a:t>
            </a:r>
            <a:r>
              <a:rPr lang="en-US" sz="2000" b="0" i="0" dirty="0">
                <a:solidFill>
                  <a:srgbClr val="000000"/>
                </a:solidFill>
                <a:effectLst/>
                <a:cs typeface="Times New Roman" panose="02020603050405020304" pitchFamily="18" charset="0"/>
              </a:rPr>
              <a:t> items than you replace, the new items will be inserted where you specified, and the remaining items will move accordingly.</a:t>
            </a:r>
          </a:p>
          <a:p>
            <a:pPr marL="0" indent="0" algn="just">
              <a:buNone/>
            </a:pPr>
            <a:r>
              <a:rPr lang="en-US" sz="2000" b="1" u="sng" dirty="0">
                <a:solidFill>
                  <a:srgbClr val="000000"/>
                </a:solidFill>
                <a:cs typeface="Times New Roman" panose="02020603050405020304" pitchFamily="18" charset="0"/>
              </a:rPr>
              <a:t>Example</a:t>
            </a:r>
          </a:p>
          <a:p>
            <a:pPr marL="0" indent="0" algn="just">
              <a:buNone/>
            </a:pPr>
            <a:r>
              <a:rPr lang="en-IN" sz="2000" dirty="0">
                <a:cs typeface="Times New Roman" panose="02020603050405020304" pitchFamily="18" charset="0"/>
              </a:rPr>
              <a:t>	</a:t>
            </a:r>
            <a:r>
              <a:rPr lang="en-IN" sz="2000" dirty="0" err="1">
                <a:cs typeface="Times New Roman" panose="02020603050405020304" pitchFamily="18" charset="0"/>
              </a:rPr>
              <a:t>myList</a:t>
            </a:r>
            <a:r>
              <a:rPr lang="en-IN" sz="2000" dirty="0">
                <a:cs typeface="Times New Roman" panose="02020603050405020304" pitchFamily="18" charset="0"/>
              </a:rPr>
              <a:t> = [“apple”, “banana”, “orange”, “grapes”, “mango”]</a:t>
            </a:r>
          </a:p>
          <a:p>
            <a:pPr marL="0" indent="0" algn="just">
              <a:buNone/>
            </a:pPr>
            <a:r>
              <a:rPr lang="en-IN" sz="2000" dirty="0">
                <a:cs typeface="Times New Roman" panose="02020603050405020304" pitchFamily="18" charset="0"/>
              </a:rPr>
              <a:t>	</a:t>
            </a:r>
            <a:r>
              <a:rPr lang="en-IN" sz="2000" dirty="0" err="1">
                <a:cs typeface="Times New Roman" panose="02020603050405020304" pitchFamily="18" charset="0"/>
              </a:rPr>
              <a:t>myList</a:t>
            </a:r>
            <a:r>
              <a:rPr lang="en-IN" sz="2000" dirty="0">
                <a:cs typeface="Times New Roman" panose="02020603050405020304" pitchFamily="18" charset="0"/>
              </a:rPr>
              <a:t>[1:3] = [“kiwi”]</a:t>
            </a:r>
          </a:p>
          <a:p>
            <a:pPr marL="0" indent="0" algn="just">
              <a:buNone/>
            </a:pPr>
            <a:r>
              <a:rPr lang="en-IN" sz="2000" dirty="0">
                <a:cs typeface="Times New Roman" panose="02020603050405020304" pitchFamily="18" charset="0"/>
              </a:rPr>
              <a:t>	print(</a:t>
            </a:r>
            <a:r>
              <a:rPr lang="en-IN" sz="2000" dirty="0" err="1">
                <a:cs typeface="Times New Roman" panose="02020603050405020304" pitchFamily="18" charset="0"/>
              </a:rPr>
              <a:t>myList</a:t>
            </a:r>
            <a:r>
              <a:rPr lang="en-IN" sz="2000" dirty="0">
                <a:cs typeface="Times New Roman" panose="02020603050405020304" pitchFamily="18" charset="0"/>
              </a:rPr>
              <a:t>)</a:t>
            </a:r>
          </a:p>
          <a:p>
            <a:pPr marL="0" indent="0" algn="just">
              <a:buNone/>
            </a:pPr>
            <a:r>
              <a:rPr lang="en-IN" sz="2000" dirty="0">
                <a:cs typeface="Times New Roman" panose="02020603050405020304" pitchFamily="18" charset="0"/>
              </a:rPr>
              <a:t>	#[‘apple’, ‘kiwi’, ‘grapes’, ‘mango’]</a:t>
            </a:r>
          </a:p>
          <a:p>
            <a:pPr marL="0" indent="0" algn="just">
              <a:buNone/>
            </a:pPr>
            <a:endParaRPr lang="en-IN" sz="2000" dirty="0">
              <a:cs typeface="Times New Roman" panose="02020603050405020304" pitchFamily="18" charset="0"/>
            </a:endParaRPr>
          </a:p>
        </p:txBody>
      </p:sp>
    </p:spTree>
    <p:extLst>
      <p:ext uri="{BB962C8B-B14F-4D97-AF65-F5344CB8AC3E}">
        <p14:creationId xmlns:p14="http://schemas.microsoft.com/office/powerpoint/2010/main" val="34986476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9CAE1A9-AEF9-9722-6FCD-05F3D359A69A}"/>
              </a:ext>
            </a:extLst>
          </p:cNvPr>
          <p:cNvSpPr>
            <a:spLocks noGrp="1"/>
          </p:cNvSpPr>
          <p:nvPr>
            <p:ph type="title"/>
          </p:nvPr>
        </p:nvSpPr>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Add List Items</a:t>
            </a:r>
          </a:p>
        </p:txBody>
      </p:sp>
      <p:pic>
        <p:nvPicPr>
          <p:cNvPr id="2" name="Picture 1">
            <a:extLst>
              <a:ext uri="{FF2B5EF4-FFF2-40B4-BE49-F238E27FC236}">
                <a16:creationId xmlns:a16="http://schemas.microsoft.com/office/drawing/2014/main" id="{B058AFC2-A8E9-FE6F-E387-59E57D5887C5}"/>
              </a:ext>
            </a:extLst>
          </p:cNvPr>
          <p:cNvPicPr/>
          <p:nvPr/>
        </p:nvPicPr>
        <p:blipFill>
          <a:blip r:embed="rId2" cstate="print"/>
          <a:stretch/>
        </p:blipFill>
        <p:spPr>
          <a:xfrm>
            <a:off x="11503320" y="20605"/>
            <a:ext cx="688680" cy="689040"/>
          </a:xfrm>
          <a:prstGeom prst="rect">
            <a:avLst/>
          </a:prstGeom>
          <a:ln w="0">
            <a:noFill/>
          </a:ln>
        </p:spPr>
      </p:pic>
      <p:sp>
        <p:nvSpPr>
          <p:cNvPr id="5" name="TextBox 4">
            <a:extLst>
              <a:ext uri="{FF2B5EF4-FFF2-40B4-BE49-F238E27FC236}">
                <a16:creationId xmlns:a16="http://schemas.microsoft.com/office/drawing/2014/main" id="{D4D83ED3-1816-3FC4-8B7A-66CC011050DD}"/>
              </a:ext>
            </a:extLst>
          </p:cNvPr>
          <p:cNvSpPr txBox="1"/>
          <p:nvPr/>
        </p:nvSpPr>
        <p:spPr>
          <a:xfrm>
            <a:off x="530941" y="1435510"/>
            <a:ext cx="10618839" cy="3785652"/>
          </a:xfrm>
          <a:prstGeom prst="rect">
            <a:avLst/>
          </a:prstGeom>
          <a:noFill/>
        </p:spPr>
        <p:txBody>
          <a:bodyPr wrap="square">
            <a:spAutoFit/>
          </a:bodyPr>
          <a:lstStyle/>
          <a:p>
            <a:pPr marL="0" indent="0">
              <a:buNone/>
            </a:pPr>
            <a:r>
              <a:rPr lang="en-IN" sz="2000" b="1" dirty="0">
                <a:solidFill>
                  <a:srgbClr val="FF0000"/>
                </a:solidFill>
                <a:cs typeface="Times New Roman" panose="02020603050405020304" pitchFamily="18" charset="0"/>
              </a:rPr>
              <a:t>Insert Items:</a:t>
            </a:r>
          </a:p>
          <a:p>
            <a:pPr marL="0" indent="0">
              <a:buNone/>
            </a:pPr>
            <a:endParaRPr lang="en-IN" sz="2000" b="1" dirty="0">
              <a:solidFill>
                <a:srgbClr val="FF0000"/>
              </a:solidFill>
              <a:cs typeface="Times New Roman" panose="02020603050405020304" pitchFamily="18" charset="0"/>
            </a:endParaRPr>
          </a:p>
          <a:p>
            <a:pPr marL="285750" indent="-285750">
              <a:buFont typeface="Arial" panose="020B0604020202020204" pitchFamily="34" charset="0"/>
              <a:buChar char="•"/>
            </a:pPr>
            <a:r>
              <a:rPr lang="en-IN" sz="2000" dirty="0">
                <a:cs typeface="Times New Roman" panose="02020603050405020304" pitchFamily="18" charset="0"/>
              </a:rPr>
              <a:t>To insert a new list item, without replacing any of the existing values, we can use the </a:t>
            </a:r>
            <a:r>
              <a:rPr lang="en-IN" sz="2000" b="1" dirty="0">
                <a:cs typeface="Times New Roman" panose="02020603050405020304" pitchFamily="18" charset="0"/>
              </a:rPr>
              <a:t>insert( ) </a:t>
            </a:r>
            <a:r>
              <a:rPr lang="en-IN" sz="2000" dirty="0">
                <a:cs typeface="Times New Roman" panose="02020603050405020304" pitchFamily="18" charset="0"/>
              </a:rPr>
              <a:t>method.</a:t>
            </a:r>
          </a:p>
          <a:p>
            <a:pPr marL="285750" indent="-285750">
              <a:buFont typeface="Arial" panose="020B0604020202020204" pitchFamily="34" charset="0"/>
              <a:buChar char="•"/>
            </a:pPr>
            <a:r>
              <a:rPr lang="en-IN" sz="2000" dirty="0">
                <a:cs typeface="Times New Roman" panose="02020603050405020304" pitchFamily="18" charset="0"/>
              </a:rPr>
              <a:t>The insert( ) method inserts an item at the specified index.</a:t>
            </a:r>
          </a:p>
          <a:p>
            <a:pPr marL="0" indent="0">
              <a:buNone/>
            </a:pPr>
            <a:r>
              <a:rPr lang="en-IN" sz="2000" b="1" u="sng" dirty="0">
                <a:cs typeface="Times New Roman" panose="02020603050405020304" pitchFamily="18" charset="0"/>
              </a:rPr>
              <a:t>Example</a:t>
            </a:r>
          </a:p>
          <a:p>
            <a:pPr marL="0" indent="0" algn="just">
              <a:buNone/>
            </a:pPr>
            <a:r>
              <a:rPr lang="en-IN" sz="2000" dirty="0">
                <a:cs typeface="Times New Roman" panose="02020603050405020304" pitchFamily="18" charset="0"/>
              </a:rPr>
              <a:t>	</a:t>
            </a:r>
            <a:r>
              <a:rPr lang="en-IN" sz="2000" dirty="0" err="1">
                <a:cs typeface="Times New Roman" panose="02020603050405020304" pitchFamily="18" charset="0"/>
              </a:rPr>
              <a:t>myList</a:t>
            </a:r>
            <a:r>
              <a:rPr lang="en-IN" sz="2000" dirty="0">
                <a:cs typeface="Times New Roman" panose="02020603050405020304" pitchFamily="18" charset="0"/>
              </a:rPr>
              <a:t> = [“apple”, “banana”, “orange”, “grapes”, “mango”]</a:t>
            </a:r>
          </a:p>
          <a:p>
            <a:pPr marL="0" indent="0" algn="just">
              <a:buNone/>
            </a:pPr>
            <a:r>
              <a:rPr lang="en-IN" sz="2000" dirty="0">
                <a:cs typeface="Times New Roman" panose="02020603050405020304" pitchFamily="18" charset="0"/>
              </a:rPr>
              <a:t>	</a:t>
            </a:r>
            <a:r>
              <a:rPr lang="en-IN" sz="2000" dirty="0" err="1">
                <a:cs typeface="Times New Roman" panose="02020603050405020304" pitchFamily="18" charset="0"/>
              </a:rPr>
              <a:t>myList.insert</a:t>
            </a:r>
            <a:r>
              <a:rPr lang="en-IN" sz="2000" dirty="0">
                <a:cs typeface="Times New Roman" panose="02020603050405020304" pitchFamily="18" charset="0"/>
              </a:rPr>
              <a:t>(2, “cherry”)</a:t>
            </a:r>
          </a:p>
          <a:p>
            <a:pPr marL="0" indent="0" algn="just">
              <a:buNone/>
            </a:pPr>
            <a:r>
              <a:rPr lang="en-IN" sz="2000" dirty="0">
                <a:cs typeface="Times New Roman" panose="02020603050405020304" pitchFamily="18" charset="0"/>
              </a:rPr>
              <a:t>	print(</a:t>
            </a:r>
            <a:r>
              <a:rPr lang="en-IN" sz="2000" dirty="0" err="1">
                <a:cs typeface="Times New Roman" panose="02020603050405020304" pitchFamily="18" charset="0"/>
              </a:rPr>
              <a:t>myList</a:t>
            </a:r>
            <a:r>
              <a:rPr lang="en-IN" sz="2000" dirty="0">
                <a:cs typeface="Times New Roman" panose="02020603050405020304" pitchFamily="18" charset="0"/>
              </a:rPr>
              <a:t>)</a:t>
            </a:r>
          </a:p>
          <a:p>
            <a:pPr marL="0" indent="0" algn="just">
              <a:buNone/>
            </a:pPr>
            <a:r>
              <a:rPr lang="en-IN" sz="2000" dirty="0">
                <a:cs typeface="Times New Roman" panose="02020603050405020304" pitchFamily="18" charset="0"/>
              </a:rPr>
              <a:t>	#[‘apple’, ‘banana’, ‘cherry’, ‘orange’, ‘grapes’, ‘mango’]</a:t>
            </a:r>
          </a:p>
          <a:p>
            <a:pPr marL="0" indent="0" algn="just">
              <a:buNone/>
            </a:pPr>
            <a:r>
              <a:rPr lang="en-IN" sz="2000" b="1" dirty="0">
                <a:cs typeface="Times New Roman" panose="02020603050405020304" pitchFamily="18" charset="0"/>
              </a:rPr>
              <a:t>Note: - </a:t>
            </a:r>
            <a:r>
              <a:rPr lang="en-IN" sz="2000" dirty="0">
                <a:cs typeface="Times New Roman" panose="02020603050405020304" pitchFamily="18" charset="0"/>
              </a:rPr>
              <a:t>The list will now contain 6 items.</a:t>
            </a:r>
            <a:endParaRPr lang="en-IN" sz="2000" b="1" dirty="0">
              <a:cs typeface="Times New Roman" panose="02020603050405020304" pitchFamily="18" charset="0"/>
            </a:endParaRPr>
          </a:p>
          <a:p>
            <a:pPr marL="0" indent="0">
              <a:buNone/>
            </a:pPr>
            <a:endParaRPr lang="en-IN" sz="2000" dirty="0">
              <a:cs typeface="Times New Roman" panose="02020603050405020304" pitchFamily="18" charset="0"/>
            </a:endParaRPr>
          </a:p>
        </p:txBody>
      </p:sp>
    </p:spTree>
    <p:extLst>
      <p:ext uri="{BB962C8B-B14F-4D97-AF65-F5344CB8AC3E}">
        <p14:creationId xmlns:p14="http://schemas.microsoft.com/office/powerpoint/2010/main" val="208958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F0589E1-C611-E342-BEB6-B472817E9DE4}"/>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75DC0A7E-319A-FA1B-DBF8-2F1E6294B7CE}"/>
              </a:ext>
            </a:extLst>
          </p:cNvPr>
          <p:cNvSpPr txBox="1"/>
          <p:nvPr/>
        </p:nvSpPr>
        <p:spPr>
          <a:xfrm>
            <a:off x="580103" y="344130"/>
            <a:ext cx="10314039" cy="5940088"/>
          </a:xfrm>
          <a:prstGeom prst="rect">
            <a:avLst/>
          </a:prstGeom>
          <a:noFill/>
        </p:spPr>
        <p:txBody>
          <a:bodyPr wrap="square">
            <a:spAutoFit/>
          </a:bodyPr>
          <a:lstStyle/>
          <a:p>
            <a:pPr marL="0" indent="0">
              <a:buNone/>
            </a:pPr>
            <a:r>
              <a:rPr lang="en-IN" sz="2000" b="1" dirty="0">
                <a:solidFill>
                  <a:srgbClr val="FF0000"/>
                </a:solidFill>
                <a:cs typeface="Times New Roman" panose="02020603050405020304" pitchFamily="18" charset="0"/>
              </a:rPr>
              <a:t>Append Items</a:t>
            </a:r>
          </a:p>
          <a:p>
            <a:pPr marL="0" indent="0">
              <a:buNone/>
            </a:pPr>
            <a:endParaRPr lang="en-IN" sz="2000" b="1" dirty="0">
              <a:solidFill>
                <a:srgbClr val="FF0000"/>
              </a:solidFill>
              <a:cs typeface="Times New Roman" panose="02020603050405020304" pitchFamily="18" charset="0"/>
            </a:endParaRPr>
          </a:p>
          <a:p>
            <a:pPr marL="342900" indent="-342900" algn="just">
              <a:buFont typeface="Arial" panose="020B0604020202020204" pitchFamily="34" charset="0"/>
              <a:buChar char="•"/>
            </a:pPr>
            <a:r>
              <a:rPr lang="en-US" sz="2000" b="0" i="0" dirty="0">
                <a:solidFill>
                  <a:srgbClr val="000000"/>
                </a:solidFill>
                <a:effectLst/>
                <a:cs typeface="Times New Roman" panose="02020603050405020304" pitchFamily="18" charset="0"/>
              </a:rPr>
              <a:t>To add an item to the end of the list, use the </a:t>
            </a:r>
            <a:r>
              <a:rPr lang="en-US" sz="2000" b="1" i="0" dirty="0">
                <a:effectLst/>
                <a:cs typeface="Times New Roman" panose="02020603050405020304" pitchFamily="18" charset="0"/>
              </a:rPr>
              <a:t>append() </a:t>
            </a:r>
            <a:r>
              <a:rPr lang="en-US" sz="2000" b="0" i="0" dirty="0">
                <a:solidFill>
                  <a:srgbClr val="000000"/>
                </a:solidFill>
                <a:effectLst/>
                <a:cs typeface="Times New Roman" panose="02020603050405020304" pitchFamily="18" charset="0"/>
              </a:rPr>
              <a:t>method</a:t>
            </a:r>
            <a:r>
              <a:rPr lang="en-US" sz="2000" i="0" dirty="0">
                <a:solidFill>
                  <a:srgbClr val="000000"/>
                </a:solidFill>
                <a:effectLst/>
                <a:cs typeface="Times New Roman" panose="02020603050405020304" pitchFamily="18" charset="0"/>
              </a:rPr>
              <a:t>.</a:t>
            </a:r>
          </a:p>
          <a:p>
            <a:pPr marL="0" indent="0" algn="just">
              <a:buNone/>
            </a:pPr>
            <a:r>
              <a:rPr lang="en-US" sz="2000" b="1" u="sng" dirty="0">
                <a:solidFill>
                  <a:srgbClr val="000000"/>
                </a:solidFill>
                <a:cs typeface="Times New Roman" panose="02020603050405020304" pitchFamily="18" charset="0"/>
              </a:rPr>
              <a:t>Example</a:t>
            </a:r>
          </a:p>
          <a:p>
            <a:pPr marL="0" indent="0" algn="just">
              <a:buNone/>
            </a:pPr>
            <a:r>
              <a:rPr lang="en-IN" sz="2000" dirty="0">
                <a:cs typeface="Times New Roman" panose="02020603050405020304" pitchFamily="18" charset="0"/>
              </a:rPr>
              <a:t>	</a:t>
            </a:r>
            <a:r>
              <a:rPr lang="en-IN" sz="2000" dirty="0" err="1">
                <a:cs typeface="Times New Roman" panose="02020603050405020304" pitchFamily="18" charset="0"/>
              </a:rPr>
              <a:t>myList</a:t>
            </a:r>
            <a:r>
              <a:rPr lang="en-IN" sz="2000" dirty="0">
                <a:cs typeface="Times New Roman" panose="02020603050405020304" pitchFamily="18" charset="0"/>
              </a:rPr>
              <a:t> = [“apple”, “banana”, “orange”, “grapes”, “mango”]</a:t>
            </a:r>
          </a:p>
          <a:p>
            <a:pPr marL="0" indent="0" algn="just">
              <a:buNone/>
            </a:pPr>
            <a:r>
              <a:rPr lang="en-IN" sz="2000" dirty="0">
                <a:cs typeface="Times New Roman" panose="02020603050405020304" pitchFamily="18" charset="0"/>
              </a:rPr>
              <a:t>	</a:t>
            </a:r>
            <a:r>
              <a:rPr lang="en-IN" sz="2000" dirty="0" err="1">
                <a:cs typeface="Times New Roman" panose="02020603050405020304" pitchFamily="18" charset="0"/>
              </a:rPr>
              <a:t>myList.append</a:t>
            </a:r>
            <a:r>
              <a:rPr lang="en-IN" sz="2000" dirty="0">
                <a:cs typeface="Times New Roman" panose="02020603050405020304" pitchFamily="18" charset="0"/>
              </a:rPr>
              <a:t>(“cherry”)</a:t>
            </a:r>
          </a:p>
          <a:p>
            <a:pPr marL="0" indent="0" algn="just">
              <a:buNone/>
            </a:pPr>
            <a:r>
              <a:rPr lang="en-IN" sz="2000" dirty="0">
                <a:cs typeface="Times New Roman" panose="02020603050405020304" pitchFamily="18" charset="0"/>
              </a:rPr>
              <a:t>	print(</a:t>
            </a:r>
            <a:r>
              <a:rPr lang="en-IN" sz="2000" dirty="0" err="1">
                <a:cs typeface="Times New Roman" panose="02020603050405020304" pitchFamily="18" charset="0"/>
              </a:rPr>
              <a:t>myList</a:t>
            </a:r>
            <a:r>
              <a:rPr lang="en-IN" sz="2000" dirty="0">
                <a:cs typeface="Times New Roman" panose="02020603050405020304" pitchFamily="18" charset="0"/>
              </a:rPr>
              <a:t>)</a:t>
            </a:r>
          </a:p>
          <a:p>
            <a:pPr marL="0" indent="0" algn="just">
              <a:buNone/>
            </a:pPr>
            <a:r>
              <a:rPr lang="en-IN" sz="2000" dirty="0">
                <a:cs typeface="Times New Roman" panose="02020603050405020304" pitchFamily="18" charset="0"/>
              </a:rPr>
              <a:t>	#[‘apple’, ‘banana’, ‘orange’, ‘grapes’, ‘mango’, ‘cherry’]</a:t>
            </a:r>
          </a:p>
          <a:p>
            <a:pPr marL="0" indent="0" algn="just">
              <a:buNone/>
            </a:pPr>
            <a:endParaRPr lang="en-IN" sz="2000" dirty="0">
              <a:cs typeface="Times New Roman" panose="02020603050405020304" pitchFamily="18" charset="0"/>
            </a:endParaRPr>
          </a:p>
          <a:p>
            <a:pPr marL="0" indent="0" algn="just">
              <a:buNone/>
            </a:pPr>
            <a:r>
              <a:rPr lang="en-IN" sz="2000" b="1" dirty="0">
                <a:solidFill>
                  <a:srgbClr val="FF0000"/>
                </a:solidFill>
                <a:cs typeface="Times New Roman" panose="02020603050405020304" pitchFamily="18" charset="0"/>
              </a:rPr>
              <a:t>Extend List Items</a:t>
            </a:r>
          </a:p>
          <a:p>
            <a:pPr marL="0" indent="0" algn="just">
              <a:buNone/>
            </a:pPr>
            <a:endParaRPr lang="en-IN" sz="2000" b="1" dirty="0">
              <a:solidFill>
                <a:srgbClr val="FF0000"/>
              </a:solidFill>
              <a:cs typeface="Times New Roman" panose="02020603050405020304" pitchFamily="18" charset="0"/>
            </a:endParaRPr>
          </a:p>
          <a:p>
            <a:pPr marL="342900" indent="-342900" algn="just">
              <a:buFont typeface="Arial" panose="020B0604020202020204" pitchFamily="34" charset="0"/>
              <a:buChar char="•"/>
            </a:pPr>
            <a:r>
              <a:rPr lang="en-IN" sz="2000" dirty="0">
                <a:cs typeface="Times New Roman" panose="02020603050405020304" pitchFamily="18" charset="0"/>
              </a:rPr>
              <a:t>To append elements from another list to the current list, use the </a:t>
            </a:r>
            <a:r>
              <a:rPr lang="en-US" sz="2000" b="1" i="0" dirty="0">
                <a:effectLst/>
                <a:cs typeface="Times New Roman" panose="02020603050405020304" pitchFamily="18" charset="0"/>
              </a:rPr>
              <a:t>extend() </a:t>
            </a:r>
            <a:r>
              <a:rPr lang="en-US" sz="2000" dirty="0">
                <a:cs typeface="Times New Roman" panose="02020603050405020304" pitchFamily="18" charset="0"/>
              </a:rPr>
              <a:t>method.</a:t>
            </a:r>
          </a:p>
          <a:p>
            <a:pPr marL="0" indent="0" algn="just">
              <a:buNone/>
            </a:pPr>
            <a:r>
              <a:rPr lang="en-US" sz="2000" b="1" u="sng" dirty="0">
                <a:cs typeface="Times New Roman" panose="02020603050405020304" pitchFamily="18" charset="0"/>
              </a:rPr>
              <a:t>Example</a:t>
            </a:r>
          </a:p>
          <a:p>
            <a:pPr marL="0" indent="0" algn="just">
              <a:buNone/>
            </a:pPr>
            <a:r>
              <a:rPr lang="en-US" sz="2000" dirty="0">
                <a:cs typeface="Times New Roman" panose="02020603050405020304" pitchFamily="18" charset="0"/>
              </a:rPr>
              <a:t>	</a:t>
            </a:r>
            <a:r>
              <a:rPr lang="en-IN" sz="2000" dirty="0">
                <a:cs typeface="Times New Roman" panose="02020603050405020304" pitchFamily="18" charset="0"/>
              </a:rPr>
              <a:t>list1 = [“apple”, “banana”, “orange”]</a:t>
            </a:r>
          </a:p>
          <a:p>
            <a:pPr marL="0" indent="0" algn="just">
              <a:buNone/>
            </a:pPr>
            <a:r>
              <a:rPr lang="en-IN" sz="2000" dirty="0">
                <a:cs typeface="Times New Roman" panose="02020603050405020304" pitchFamily="18" charset="0"/>
              </a:rPr>
              <a:t>	list2 = [“grapes”, “mango”, “cherry”]</a:t>
            </a:r>
          </a:p>
          <a:p>
            <a:pPr marL="0" indent="0" algn="just">
              <a:buNone/>
            </a:pPr>
            <a:r>
              <a:rPr lang="en-IN" sz="2000" dirty="0">
                <a:cs typeface="Times New Roman" panose="02020603050405020304" pitchFamily="18" charset="0"/>
              </a:rPr>
              <a:t>	list1.extend(list2)</a:t>
            </a:r>
          </a:p>
          <a:p>
            <a:pPr marL="0" indent="0" algn="just">
              <a:buNone/>
            </a:pPr>
            <a:r>
              <a:rPr lang="en-IN" sz="2000" dirty="0">
                <a:cs typeface="Times New Roman" panose="02020603050405020304" pitchFamily="18" charset="0"/>
              </a:rPr>
              <a:t>	print(list1)</a:t>
            </a:r>
          </a:p>
          <a:p>
            <a:pPr marL="0" indent="0" algn="just">
              <a:buNone/>
            </a:pPr>
            <a:r>
              <a:rPr lang="en-US" sz="2000" dirty="0">
                <a:cs typeface="Times New Roman" panose="02020603050405020304" pitchFamily="18" charset="0"/>
              </a:rPr>
              <a:t>	</a:t>
            </a:r>
            <a:r>
              <a:rPr lang="en-IN" sz="2000" dirty="0">
                <a:cs typeface="Times New Roman" panose="02020603050405020304" pitchFamily="18" charset="0"/>
              </a:rPr>
              <a:t>#[‘apple’, ‘banana’, ‘orange’, ‘grapes’, ‘mango’, ‘cherry’]</a:t>
            </a:r>
          </a:p>
          <a:p>
            <a:pPr marL="0" indent="0" algn="just">
              <a:buNone/>
            </a:pPr>
            <a:endParaRPr lang="en-IN" sz="2000" dirty="0">
              <a:cs typeface="Times New Roman" panose="02020603050405020304" pitchFamily="18" charset="0"/>
            </a:endParaRPr>
          </a:p>
        </p:txBody>
      </p:sp>
    </p:spTree>
    <p:extLst>
      <p:ext uri="{BB962C8B-B14F-4D97-AF65-F5344CB8AC3E}">
        <p14:creationId xmlns:p14="http://schemas.microsoft.com/office/powerpoint/2010/main" val="237747454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C62BC-4B14-3882-9880-C5C8F109B8DD}"/>
              </a:ext>
            </a:extLst>
          </p:cNvPr>
          <p:cNvSpPr>
            <a:spLocks noGrp="1"/>
          </p:cNvSpPr>
          <p:nvPr>
            <p:ph type="title"/>
          </p:nvPr>
        </p:nvSpPr>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Remove List Items</a:t>
            </a:r>
          </a:p>
        </p:txBody>
      </p:sp>
      <p:pic>
        <p:nvPicPr>
          <p:cNvPr id="4" name="Picture 3">
            <a:extLst>
              <a:ext uri="{FF2B5EF4-FFF2-40B4-BE49-F238E27FC236}">
                <a16:creationId xmlns:a16="http://schemas.microsoft.com/office/drawing/2014/main" id="{DA065F76-7F43-F07D-0EB7-D52F18E41A91}"/>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ABFCB69C-21B4-FAB2-C617-E02D5C4FE32E}"/>
              </a:ext>
            </a:extLst>
          </p:cNvPr>
          <p:cNvSpPr txBox="1"/>
          <p:nvPr/>
        </p:nvSpPr>
        <p:spPr>
          <a:xfrm>
            <a:off x="1425677" y="1553498"/>
            <a:ext cx="7718323" cy="2246769"/>
          </a:xfrm>
          <a:prstGeom prst="rect">
            <a:avLst/>
          </a:prstGeom>
          <a:noFill/>
        </p:spPr>
        <p:txBody>
          <a:bodyPr wrap="square">
            <a:spAutoFit/>
          </a:bodyPr>
          <a:lstStyle/>
          <a:p>
            <a:pPr marL="0" indent="0">
              <a:buNone/>
            </a:pPr>
            <a:r>
              <a:rPr lang="en-IN" sz="2000" b="1" dirty="0">
                <a:solidFill>
                  <a:srgbClr val="FF0000"/>
                </a:solidFill>
                <a:cs typeface="Times New Roman" panose="02020603050405020304" pitchFamily="18" charset="0"/>
              </a:rPr>
              <a:t>Remove Specified Item</a:t>
            </a:r>
          </a:p>
          <a:p>
            <a:pPr marL="0" indent="0">
              <a:buNone/>
            </a:pPr>
            <a:r>
              <a:rPr lang="en-IN" sz="2000" dirty="0">
                <a:cs typeface="Times New Roman" panose="02020603050405020304" pitchFamily="18" charset="0"/>
              </a:rPr>
              <a:t>The </a:t>
            </a:r>
            <a:r>
              <a:rPr lang="en-IN" sz="2000" b="1" dirty="0">
                <a:cs typeface="Times New Roman" panose="02020603050405020304" pitchFamily="18" charset="0"/>
              </a:rPr>
              <a:t>remove() </a:t>
            </a:r>
            <a:r>
              <a:rPr lang="en-IN" sz="2000" dirty="0">
                <a:cs typeface="Times New Roman" panose="02020603050405020304" pitchFamily="18" charset="0"/>
              </a:rPr>
              <a:t>method removes the specified item.</a:t>
            </a:r>
          </a:p>
          <a:p>
            <a:pPr marL="0" indent="0">
              <a:buNone/>
            </a:pPr>
            <a:r>
              <a:rPr lang="en-IN" sz="2000" b="1" u="sng" dirty="0">
                <a:cs typeface="Times New Roman" panose="02020603050405020304" pitchFamily="18" charset="0"/>
              </a:rPr>
              <a:t>Example</a:t>
            </a:r>
          </a:p>
          <a:p>
            <a:pPr marL="0" indent="0">
              <a:buNone/>
            </a:pPr>
            <a:r>
              <a:rPr lang="en-IN" sz="2000" dirty="0">
                <a:cs typeface="Times New Roman" panose="02020603050405020304" pitchFamily="18" charset="0"/>
              </a:rPr>
              <a:t>	list1 = [“apple”, “banana”, “cherry”]</a:t>
            </a:r>
          </a:p>
          <a:p>
            <a:pPr marL="0" indent="0">
              <a:buNone/>
            </a:pPr>
            <a:r>
              <a:rPr lang="en-IN" sz="2000" dirty="0">
                <a:cs typeface="Times New Roman" panose="02020603050405020304" pitchFamily="18" charset="0"/>
              </a:rPr>
              <a:t>	list1.remove(“banana”)</a:t>
            </a:r>
          </a:p>
          <a:p>
            <a:pPr marL="0" indent="0">
              <a:buNone/>
            </a:pPr>
            <a:r>
              <a:rPr lang="en-IN" sz="2000" dirty="0">
                <a:cs typeface="Times New Roman" panose="02020603050405020304" pitchFamily="18" charset="0"/>
              </a:rPr>
              <a:t>	print(list1)</a:t>
            </a:r>
          </a:p>
          <a:p>
            <a:pPr marL="0" indent="0">
              <a:buNone/>
            </a:pPr>
            <a:r>
              <a:rPr lang="en-IN" sz="2000" dirty="0">
                <a:cs typeface="Times New Roman" panose="02020603050405020304" pitchFamily="18" charset="0"/>
              </a:rPr>
              <a:t>	#[‘apple’, ‘cherry’]</a:t>
            </a:r>
          </a:p>
        </p:txBody>
      </p:sp>
    </p:spTree>
    <p:extLst>
      <p:ext uri="{BB962C8B-B14F-4D97-AF65-F5344CB8AC3E}">
        <p14:creationId xmlns:p14="http://schemas.microsoft.com/office/powerpoint/2010/main" val="29734909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59CFC67-4EB5-1E2E-94D8-9EC15196E159}"/>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3ACEDC1D-8036-14EC-0D31-81EA6FC192B5}"/>
              </a:ext>
            </a:extLst>
          </p:cNvPr>
          <p:cNvSpPr txBox="1"/>
          <p:nvPr/>
        </p:nvSpPr>
        <p:spPr>
          <a:xfrm>
            <a:off x="698090" y="599768"/>
            <a:ext cx="8445910" cy="2554545"/>
          </a:xfrm>
          <a:prstGeom prst="rect">
            <a:avLst/>
          </a:prstGeom>
          <a:noFill/>
        </p:spPr>
        <p:txBody>
          <a:bodyPr wrap="square">
            <a:spAutoFit/>
          </a:bodyPr>
          <a:lstStyle/>
          <a:p>
            <a:pPr marL="0" indent="0">
              <a:buNone/>
            </a:pPr>
            <a:r>
              <a:rPr lang="en-IN" sz="2000" b="1" dirty="0">
                <a:cs typeface="Times New Roman" panose="02020603050405020304" pitchFamily="18" charset="0"/>
              </a:rPr>
              <a:t>Note: - </a:t>
            </a:r>
            <a:r>
              <a:rPr lang="en-IN" sz="2000" dirty="0">
                <a:cs typeface="Times New Roman" panose="02020603050405020304" pitchFamily="18" charset="0"/>
              </a:rPr>
              <a:t>If there are more than one item with the specified value, the </a:t>
            </a:r>
            <a:r>
              <a:rPr lang="en-IN" sz="2000" b="1" dirty="0">
                <a:cs typeface="Times New Roman" panose="02020603050405020304" pitchFamily="18" charset="0"/>
              </a:rPr>
              <a:t>remove() </a:t>
            </a:r>
            <a:r>
              <a:rPr lang="en-IN" sz="2000" dirty="0">
                <a:cs typeface="Times New Roman" panose="02020603050405020304" pitchFamily="18" charset="0"/>
              </a:rPr>
              <a:t>method removes the first occurrence.</a:t>
            </a:r>
          </a:p>
          <a:p>
            <a:pPr marL="0" indent="0">
              <a:buNone/>
            </a:pPr>
            <a:r>
              <a:rPr lang="en-IN" sz="2000" b="1" u="sng" dirty="0">
                <a:cs typeface="Times New Roman" panose="02020603050405020304" pitchFamily="18" charset="0"/>
              </a:rPr>
              <a:t>Example</a:t>
            </a:r>
          </a:p>
          <a:p>
            <a:pPr marL="0" indent="0">
              <a:buNone/>
            </a:pPr>
            <a:r>
              <a:rPr lang="en-IN" sz="2000" dirty="0">
                <a:cs typeface="Times New Roman" panose="02020603050405020304" pitchFamily="18" charset="0"/>
              </a:rPr>
              <a:t>	list1 = [“apple”, “banana”, “cherry”, “banana”, “mango”]</a:t>
            </a:r>
          </a:p>
          <a:p>
            <a:pPr marL="0" indent="0">
              <a:buNone/>
            </a:pPr>
            <a:r>
              <a:rPr lang="en-IN" sz="2000" dirty="0">
                <a:cs typeface="Times New Roman" panose="02020603050405020304" pitchFamily="18" charset="0"/>
              </a:rPr>
              <a:t>	list1.remove(“banana”)</a:t>
            </a:r>
          </a:p>
          <a:p>
            <a:pPr marL="0" indent="0">
              <a:buNone/>
            </a:pPr>
            <a:r>
              <a:rPr lang="en-IN" sz="2000" dirty="0">
                <a:cs typeface="Times New Roman" panose="02020603050405020304" pitchFamily="18" charset="0"/>
              </a:rPr>
              <a:t>	print(list1)</a:t>
            </a:r>
          </a:p>
          <a:p>
            <a:pPr marL="0" indent="0">
              <a:buNone/>
            </a:pPr>
            <a:r>
              <a:rPr lang="en-IN" sz="2000" dirty="0">
                <a:cs typeface="Times New Roman" panose="02020603050405020304" pitchFamily="18" charset="0"/>
              </a:rPr>
              <a:t>	#[‘apple’, ‘cherry’, ‘banana’, ‘mango’]</a:t>
            </a:r>
          </a:p>
          <a:p>
            <a:pPr marL="0" indent="0">
              <a:buNone/>
            </a:pPr>
            <a:endParaRPr lang="en-IN" sz="2000" dirty="0"/>
          </a:p>
        </p:txBody>
      </p:sp>
    </p:spTree>
    <p:extLst>
      <p:ext uri="{BB962C8B-B14F-4D97-AF65-F5344CB8AC3E}">
        <p14:creationId xmlns:p14="http://schemas.microsoft.com/office/powerpoint/2010/main" val="296415928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03799A2-B4B6-C9A4-A754-097D7B078500}"/>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818E696D-F4AE-4BAA-3B7F-52D674144BC2}"/>
              </a:ext>
            </a:extLst>
          </p:cNvPr>
          <p:cNvSpPr txBox="1"/>
          <p:nvPr/>
        </p:nvSpPr>
        <p:spPr>
          <a:xfrm>
            <a:off x="570271" y="550607"/>
            <a:ext cx="10697497" cy="4708981"/>
          </a:xfrm>
          <a:prstGeom prst="rect">
            <a:avLst/>
          </a:prstGeom>
          <a:noFill/>
        </p:spPr>
        <p:txBody>
          <a:bodyPr wrap="square">
            <a:spAutoFit/>
          </a:bodyPr>
          <a:lstStyle/>
          <a:p>
            <a:pPr marL="0" indent="0">
              <a:buNone/>
            </a:pPr>
            <a:r>
              <a:rPr lang="en-IN" sz="2000" b="1" dirty="0">
                <a:solidFill>
                  <a:srgbClr val="FF0000"/>
                </a:solidFill>
                <a:cs typeface="Times New Roman" panose="02020603050405020304" pitchFamily="18" charset="0"/>
              </a:rPr>
              <a:t>Remove Specified Index</a:t>
            </a:r>
          </a:p>
          <a:p>
            <a:pPr marL="0" indent="0">
              <a:buNone/>
            </a:pPr>
            <a:r>
              <a:rPr lang="en-IN" sz="2000" dirty="0">
                <a:cs typeface="Times New Roman" panose="02020603050405020304" pitchFamily="18" charset="0"/>
              </a:rPr>
              <a:t>The </a:t>
            </a:r>
            <a:r>
              <a:rPr lang="en-IN" sz="2000" b="1" dirty="0">
                <a:cs typeface="Times New Roman" panose="02020603050405020304" pitchFamily="18" charset="0"/>
              </a:rPr>
              <a:t>pop()</a:t>
            </a:r>
            <a:r>
              <a:rPr lang="en-IN" sz="2000" dirty="0">
                <a:cs typeface="Times New Roman" panose="02020603050405020304" pitchFamily="18" charset="0"/>
              </a:rPr>
              <a:t> method removes the specified index.</a:t>
            </a:r>
          </a:p>
          <a:p>
            <a:pPr marL="0" indent="0">
              <a:buNone/>
            </a:pPr>
            <a:r>
              <a:rPr lang="en-IN" sz="2000" b="1" u="sng" dirty="0">
                <a:cs typeface="Times New Roman" panose="02020603050405020304" pitchFamily="18" charset="0"/>
              </a:rPr>
              <a:t>Example: -</a:t>
            </a:r>
          </a:p>
          <a:p>
            <a:pPr marL="0" indent="0">
              <a:buNone/>
            </a:pPr>
            <a:r>
              <a:rPr lang="en-IN" sz="2000" dirty="0">
                <a:cs typeface="Times New Roman" panose="02020603050405020304" pitchFamily="18" charset="0"/>
              </a:rPr>
              <a:t>	list1 = [“apple”, “banana”, “cherry”]</a:t>
            </a:r>
          </a:p>
          <a:p>
            <a:pPr marL="0" indent="0">
              <a:buNone/>
            </a:pPr>
            <a:r>
              <a:rPr lang="en-IN" sz="2000" dirty="0">
                <a:cs typeface="Times New Roman" panose="02020603050405020304" pitchFamily="18" charset="0"/>
              </a:rPr>
              <a:t>	list1.pop(1)</a:t>
            </a:r>
          </a:p>
          <a:p>
            <a:pPr marL="0" indent="0">
              <a:buNone/>
            </a:pPr>
            <a:r>
              <a:rPr lang="en-IN" sz="2000" dirty="0">
                <a:cs typeface="Times New Roman" panose="02020603050405020304" pitchFamily="18" charset="0"/>
              </a:rPr>
              <a:t>	print(list1)</a:t>
            </a:r>
          </a:p>
          <a:p>
            <a:pPr marL="0" indent="0">
              <a:buNone/>
            </a:pPr>
            <a:r>
              <a:rPr lang="en-IN" sz="2000" dirty="0">
                <a:cs typeface="Times New Roman" panose="02020603050405020304" pitchFamily="18" charset="0"/>
              </a:rPr>
              <a:t>	#[‘apple’, ‘cherry’]</a:t>
            </a:r>
          </a:p>
          <a:p>
            <a:pPr marL="0" indent="0">
              <a:buNone/>
            </a:pPr>
            <a:endParaRPr lang="en-IN" sz="2000" dirty="0">
              <a:cs typeface="Times New Roman" panose="02020603050405020304" pitchFamily="18" charset="0"/>
            </a:endParaRPr>
          </a:p>
          <a:p>
            <a:pPr marL="0" indent="0">
              <a:buNone/>
            </a:pPr>
            <a:r>
              <a:rPr lang="en-IN" sz="2000" b="1" dirty="0">
                <a:cs typeface="Times New Roman" panose="02020603050405020304" pitchFamily="18" charset="0"/>
              </a:rPr>
              <a:t>Note: - </a:t>
            </a:r>
            <a:r>
              <a:rPr lang="en-IN" sz="2000" dirty="0">
                <a:cs typeface="Times New Roman" panose="02020603050405020304" pitchFamily="18" charset="0"/>
              </a:rPr>
              <a:t>If you do not specify the index, the pop() method removes the last item.</a:t>
            </a:r>
            <a:endParaRPr lang="en-IN" sz="2000" b="1" dirty="0">
              <a:cs typeface="Times New Roman" panose="02020603050405020304" pitchFamily="18" charset="0"/>
            </a:endParaRPr>
          </a:p>
          <a:p>
            <a:pPr marL="0" indent="0">
              <a:buNone/>
            </a:pPr>
            <a:r>
              <a:rPr lang="en-IN" sz="2000" b="1" u="sng" dirty="0">
                <a:cs typeface="Times New Roman" panose="02020603050405020304" pitchFamily="18" charset="0"/>
              </a:rPr>
              <a:t>Example: -</a:t>
            </a:r>
          </a:p>
          <a:p>
            <a:pPr marL="0" indent="0">
              <a:buNone/>
            </a:pPr>
            <a:r>
              <a:rPr lang="en-IN" sz="2000" dirty="0">
                <a:cs typeface="Times New Roman" panose="02020603050405020304" pitchFamily="18" charset="0"/>
              </a:rPr>
              <a:t>	list1 = [“apple”, “banana”, “cherry”]</a:t>
            </a:r>
          </a:p>
          <a:p>
            <a:pPr marL="0" indent="0">
              <a:buNone/>
            </a:pPr>
            <a:r>
              <a:rPr lang="en-IN" sz="2000" dirty="0">
                <a:cs typeface="Times New Roman" panose="02020603050405020304" pitchFamily="18" charset="0"/>
              </a:rPr>
              <a:t>	list1.pop()</a:t>
            </a:r>
          </a:p>
          <a:p>
            <a:pPr marL="0" indent="0">
              <a:buNone/>
            </a:pPr>
            <a:r>
              <a:rPr lang="en-IN" sz="2000" dirty="0">
                <a:cs typeface="Times New Roman" panose="02020603050405020304" pitchFamily="18" charset="0"/>
              </a:rPr>
              <a:t>	print(list1)</a:t>
            </a:r>
          </a:p>
          <a:p>
            <a:pPr marL="0" indent="0">
              <a:buNone/>
            </a:pPr>
            <a:r>
              <a:rPr lang="en-IN" sz="2000" dirty="0">
                <a:cs typeface="Times New Roman" panose="02020603050405020304" pitchFamily="18" charset="0"/>
              </a:rPr>
              <a:t>	#[‘apple’, ‘banana’]</a:t>
            </a:r>
          </a:p>
          <a:p>
            <a:pPr marL="0" indent="0">
              <a:buNone/>
            </a:pPr>
            <a:endParaRPr lang="en-IN" sz="2000" dirty="0">
              <a:cs typeface="Times New Roman" panose="02020603050405020304" pitchFamily="18" charset="0"/>
            </a:endParaRPr>
          </a:p>
        </p:txBody>
      </p:sp>
    </p:spTree>
    <p:extLst>
      <p:ext uri="{BB962C8B-B14F-4D97-AF65-F5344CB8AC3E}">
        <p14:creationId xmlns:p14="http://schemas.microsoft.com/office/powerpoint/2010/main" val="218620319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6E4AE06-FA5D-4633-9947-26EBB14FA2C7}"/>
              </a:ext>
            </a:extLst>
          </p:cNvPr>
          <p:cNvPicPr/>
          <p:nvPr/>
        </p:nvPicPr>
        <p:blipFill>
          <a:blip r:embed="rId2" cstate="print"/>
          <a:stretch/>
        </p:blipFill>
        <p:spPr>
          <a:xfrm>
            <a:off x="11463406" y="0"/>
            <a:ext cx="688680" cy="689040"/>
          </a:xfrm>
          <a:prstGeom prst="rect">
            <a:avLst/>
          </a:prstGeom>
          <a:ln w="0">
            <a:noFill/>
          </a:ln>
        </p:spPr>
      </p:pic>
      <p:sp>
        <p:nvSpPr>
          <p:cNvPr id="5" name="TextBox 4">
            <a:extLst>
              <a:ext uri="{FF2B5EF4-FFF2-40B4-BE49-F238E27FC236}">
                <a16:creationId xmlns:a16="http://schemas.microsoft.com/office/drawing/2014/main" id="{03EA7EC5-DB22-7EA5-4665-4C65F0D16E1A}"/>
              </a:ext>
            </a:extLst>
          </p:cNvPr>
          <p:cNvSpPr txBox="1"/>
          <p:nvPr/>
        </p:nvSpPr>
        <p:spPr>
          <a:xfrm>
            <a:off x="717755" y="412955"/>
            <a:ext cx="10314039" cy="5324535"/>
          </a:xfrm>
          <a:prstGeom prst="rect">
            <a:avLst/>
          </a:prstGeom>
          <a:noFill/>
        </p:spPr>
        <p:txBody>
          <a:bodyPr wrap="square">
            <a:spAutoFit/>
          </a:bodyPr>
          <a:lstStyle/>
          <a:p>
            <a:pPr marL="0" indent="0">
              <a:buNone/>
            </a:pPr>
            <a:r>
              <a:rPr lang="en-IN" sz="2000" b="1" dirty="0">
                <a:cs typeface="Times New Roman" panose="02020603050405020304" pitchFamily="18" charset="0"/>
              </a:rPr>
              <a:t>Note: - </a:t>
            </a:r>
            <a:r>
              <a:rPr lang="en-IN" sz="2000" dirty="0">
                <a:cs typeface="Times New Roman" panose="02020603050405020304" pitchFamily="18" charset="0"/>
              </a:rPr>
              <a:t>The </a:t>
            </a:r>
            <a:r>
              <a:rPr lang="en-IN" sz="2000" b="1" dirty="0">
                <a:cs typeface="Times New Roman" panose="02020603050405020304" pitchFamily="18" charset="0"/>
              </a:rPr>
              <a:t>del </a:t>
            </a:r>
            <a:r>
              <a:rPr lang="en-IN" sz="2000" dirty="0">
                <a:cs typeface="Times New Roman" panose="02020603050405020304" pitchFamily="18" charset="0"/>
              </a:rPr>
              <a:t>keyword also removes the specified index.</a:t>
            </a:r>
          </a:p>
          <a:p>
            <a:pPr marL="0" indent="0">
              <a:buNone/>
            </a:pPr>
            <a:r>
              <a:rPr lang="en-IN" sz="2000" b="1" u="sng" dirty="0">
                <a:cs typeface="Times New Roman" panose="02020603050405020304" pitchFamily="18" charset="0"/>
              </a:rPr>
              <a:t>Example: -</a:t>
            </a:r>
          </a:p>
          <a:p>
            <a:pPr marL="0" indent="0">
              <a:buNone/>
            </a:pPr>
            <a:r>
              <a:rPr lang="en-IN" sz="2000" dirty="0">
                <a:cs typeface="Times New Roman" panose="02020603050405020304" pitchFamily="18" charset="0"/>
              </a:rPr>
              <a:t>	list1 = [“apple”, “banana”, “cherry”]</a:t>
            </a:r>
          </a:p>
          <a:p>
            <a:pPr marL="0" indent="0">
              <a:buNone/>
            </a:pPr>
            <a:r>
              <a:rPr lang="en-IN" sz="2000" dirty="0">
                <a:cs typeface="Times New Roman" panose="02020603050405020304" pitchFamily="18" charset="0"/>
              </a:rPr>
              <a:t>	del list1[2]</a:t>
            </a:r>
          </a:p>
          <a:p>
            <a:pPr marL="0" indent="0">
              <a:buNone/>
            </a:pPr>
            <a:r>
              <a:rPr lang="en-IN" sz="2000" dirty="0">
                <a:cs typeface="Times New Roman" panose="02020603050405020304" pitchFamily="18" charset="0"/>
              </a:rPr>
              <a:t>	print(list1)</a:t>
            </a:r>
          </a:p>
          <a:p>
            <a:pPr marL="0" indent="0">
              <a:buNone/>
            </a:pPr>
            <a:r>
              <a:rPr lang="en-IN" sz="2000" dirty="0">
                <a:cs typeface="Times New Roman" panose="02020603050405020304" pitchFamily="18" charset="0"/>
              </a:rPr>
              <a:t>	#[‘apple’, ‘banana’]</a:t>
            </a:r>
          </a:p>
          <a:p>
            <a:pPr marL="0" indent="0">
              <a:buNone/>
            </a:pPr>
            <a:endParaRPr lang="en-IN" sz="2000" b="1" dirty="0">
              <a:cs typeface="Times New Roman" panose="02020603050405020304" pitchFamily="18" charset="0"/>
            </a:endParaRPr>
          </a:p>
          <a:p>
            <a:pPr marL="0" indent="0">
              <a:buNone/>
            </a:pPr>
            <a:r>
              <a:rPr lang="en-IN" sz="2000" b="1" dirty="0">
                <a:cs typeface="Times New Roman" panose="02020603050405020304" pitchFamily="18" charset="0"/>
              </a:rPr>
              <a:t>Note: - </a:t>
            </a:r>
            <a:r>
              <a:rPr lang="en-IN" sz="2000" dirty="0">
                <a:cs typeface="Times New Roman" panose="02020603050405020304" pitchFamily="18" charset="0"/>
              </a:rPr>
              <a:t>The </a:t>
            </a:r>
            <a:r>
              <a:rPr lang="en-IN" sz="2000" b="1" dirty="0">
                <a:cs typeface="Times New Roman" panose="02020603050405020304" pitchFamily="18" charset="0"/>
              </a:rPr>
              <a:t>del </a:t>
            </a:r>
            <a:r>
              <a:rPr lang="en-IN" sz="2000" dirty="0">
                <a:cs typeface="Times New Roman" panose="02020603050405020304" pitchFamily="18" charset="0"/>
              </a:rPr>
              <a:t>keyword can also delete the list completely.</a:t>
            </a:r>
          </a:p>
          <a:p>
            <a:pPr marL="0" indent="0">
              <a:buNone/>
            </a:pPr>
            <a:r>
              <a:rPr lang="en-IN" sz="2000" b="1" u="sng" dirty="0">
                <a:cs typeface="Times New Roman" panose="02020603050405020304" pitchFamily="18" charset="0"/>
              </a:rPr>
              <a:t>Example: -</a:t>
            </a:r>
          </a:p>
          <a:p>
            <a:pPr marL="0" indent="0">
              <a:buNone/>
            </a:pPr>
            <a:r>
              <a:rPr lang="en-IN" sz="2000" dirty="0">
                <a:cs typeface="Times New Roman" panose="02020603050405020304" pitchFamily="18" charset="0"/>
              </a:rPr>
              <a:t>	list1 = [“apple”, “banana”, “cherry”]</a:t>
            </a:r>
          </a:p>
          <a:p>
            <a:pPr marL="0" indent="0">
              <a:buNone/>
            </a:pPr>
            <a:r>
              <a:rPr lang="en-IN" sz="2000" dirty="0">
                <a:cs typeface="Times New Roman" panose="02020603050405020304" pitchFamily="18" charset="0"/>
              </a:rPr>
              <a:t>	del list1</a:t>
            </a:r>
          </a:p>
          <a:p>
            <a:pPr marL="0" indent="0">
              <a:buNone/>
            </a:pPr>
            <a:r>
              <a:rPr lang="en-IN" sz="2000" dirty="0">
                <a:cs typeface="Times New Roman" panose="02020603050405020304" pitchFamily="18" charset="0"/>
              </a:rPr>
              <a:t>	print(list1)</a:t>
            </a:r>
          </a:p>
          <a:p>
            <a:pPr marL="0" indent="0">
              <a:buNone/>
            </a:pPr>
            <a:r>
              <a:rPr lang="en-IN" sz="2000" dirty="0">
                <a:cs typeface="Times New Roman" panose="02020603050405020304" pitchFamily="18" charset="0"/>
              </a:rPr>
              <a:t>	#list1 = [“apple”, “banana”, “cherry”]</a:t>
            </a:r>
          </a:p>
          <a:p>
            <a:pPr marL="0" indent="0">
              <a:buNone/>
            </a:pPr>
            <a:r>
              <a:rPr lang="en-IN" sz="2000" dirty="0">
                <a:cs typeface="Times New Roman" panose="02020603050405020304" pitchFamily="18" charset="0"/>
              </a:rPr>
              <a:t>	#del list1</a:t>
            </a:r>
          </a:p>
          <a:p>
            <a:pPr marL="0" indent="0">
              <a:buNone/>
            </a:pPr>
            <a:r>
              <a:rPr lang="en-IN" sz="2000" dirty="0">
                <a:cs typeface="Times New Roman" panose="02020603050405020304" pitchFamily="18" charset="0"/>
              </a:rPr>
              <a:t>	#print(list1)</a:t>
            </a:r>
          </a:p>
          <a:p>
            <a:pPr marL="0" indent="0">
              <a:buNone/>
            </a:pPr>
            <a:r>
              <a:rPr lang="en-IN" sz="2000" dirty="0">
                <a:cs typeface="Times New Roman" panose="02020603050405020304" pitchFamily="18" charset="0"/>
              </a:rPr>
              <a:t>	#</a:t>
            </a:r>
            <a:r>
              <a:rPr lang="en-IN" sz="2000" b="1" dirty="0">
                <a:cs typeface="Times New Roman" panose="02020603050405020304" pitchFamily="18" charset="0"/>
              </a:rPr>
              <a:t>NameError: </a:t>
            </a:r>
            <a:r>
              <a:rPr lang="en-IN" sz="2000" dirty="0">
                <a:cs typeface="Times New Roman" panose="02020603050405020304" pitchFamily="18" charset="0"/>
              </a:rPr>
              <a:t>name ‘list1’ is not defined</a:t>
            </a:r>
          </a:p>
          <a:p>
            <a:pPr marL="0" indent="0">
              <a:buNone/>
            </a:pPr>
            <a:endParaRPr lang="en-IN" sz="2000" b="1" dirty="0">
              <a:cs typeface="Times New Roman" panose="02020603050405020304" pitchFamily="18" charset="0"/>
            </a:endParaRPr>
          </a:p>
        </p:txBody>
      </p:sp>
    </p:spTree>
    <p:extLst>
      <p:ext uri="{BB962C8B-B14F-4D97-AF65-F5344CB8AC3E}">
        <p14:creationId xmlns:p14="http://schemas.microsoft.com/office/powerpoint/2010/main" val="389698522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EFDAD79-871C-192A-4846-C69EC5BA22EB}"/>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930881C9-484B-F145-C07F-1710B8E02DD3}"/>
              </a:ext>
            </a:extLst>
          </p:cNvPr>
          <p:cNvSpPr txBox="1"/>
          <p:nvPr/>
        </p:nvSpPr>
        <p:spPr>
          <a:xfrm>
            <a:off x="727587" y="776748"/>
            <a:ext cx="9261987" cy="2554545"/>
          </a:xfrm>
          <a:prstGeom prst="rect">
            <a:avLst/>
          </a:prstGeom>
          <a:noFill/>
        </p:spPr>
        <p:txBody>
          <a:bodyPr wrap="square">
            <a:spAutoFit/>
          </a:bodyPr>
          <a:lstStyle/>
          <a:p>
            <a:pPr marL="0" indent="0">
              <a:buNone/>
            </a:pPr>
            <a:r>
              <a:rPr lang="en-IN" sz="2000" b="1" dirty="0">
                <a:solidFill>
                  <a:srgbClr val="FF0000"/>
                </a:solidFill>
                <a:cs typeface="Times New Roman" panose="02020603050405020304" pitchFamily="18" charset="0"/>
              </a:rPr>
              <a:t>Clear the List</a:t>
            </a:r>
          </a:p>
          <a:p>
            <a:r>
              <a:rPr lang="en-IN" sz="2000" dirty="0">
                <a:cs typeface="Times New Roman" panose="02020603050405020304" pitchFamily="18" charset="0"/>
              </a:rPr>
              <a:t>The </a:t>
            </a:r>
            <a:r>
              <a:rPr lang="en-IN" sz="2000" b="1" dirty="0">
                <a:cs typeface="Times New Roman" panose="02020603050405020304" pitchFamily="18" charset="0"/>
              </a:rPr>
              <a:t>clear() </a:t>
            </a:r>
            <a:r>
              <a:rPr lang="en-IN" sz="2000" dirty="0">
                <a:cs typeface="Times New Roman" panose="02020603050405020304" pitchFamily="18" charset="0"/>
              </a:rPr>
              <a:t>method empties the list.</a:t>
            </a:r>
          </a:p>
          <a:p>
            <a:r>
              <a:rPr lang="en-IN" sz="2000" dirty="0">
                <a:cs typeface="Times New Roman" panose="02020603050405020304" pitchFamily="18" charset="0"/>
              </a:rPr>
              <a:t>The list still remains, but it has no content.</a:t>
            </a:r>
          </a:p>
          <a:p>
            <a:pPr marL="0" indent="0">
              <a:buNone/>
            </a:pPr>
            <a:r>
              <a:rPr lang="en-IN" sz="2000" b="1" u="sng" dirty="0">
                <a:cs typeface="Times New Roman" panose="02020603050405020304" pitchFamily="18" charset="0"/>
              </a:rPr>
              <a:t>Example: -</a:t>
            </a:r>
          </a:p>
          <a:p>
            <a:pPr marL="0" indent="0">
              <a:buNone/>
            </a:pPr>
            <a:r>
              <a:rPr lang="en-IN" sz="2000" dirty="0">
                <a:cs typeface="Times New Roman" panose="02020603050405020304" pitchFamily="18" charset="0"/>
              </a:rPr>
              <a:t>	list1 = [“apple”, “banana”, “cherry”]</a:t>
            </a:r>
          </a:p>
          <a:p>
            <a:pPr marL="0" indent="0">
              <a:buNone/>
            </a:pPr>
            <a:r>
              <a:rPr lang="en-IN" sz="2000" dirty="0">
                <a:cs typeface="Times New Roman" panose="02020603050405020304" pitchFamily="18" charset="0"/>
              </a:rPr>
              <a:t>	list1.clear()</a:t>
            </a:r>
          </a:p>
          <a:p>
            <a:pPr marL="0" indent="0">
              <a:buNone/>
            </a:pPr>
            <a:r>
              <a:rPr lang="en-IN" sz="2000" dirty="0">
                <a:cs typeface="Times New Roman" panose="02020603050405020304" pitchFamily="18" charset="0"/>
              </a:rPr>
              <a:t>	print(list1)</a:t>
            </a:r>
          </a:p>
          <a:p>
            <a:pPr marL="0" indent="0">
              <a:buNone/>
            </a:pPr>
            <a:r>
              <a:rPr lang="en-IN" sz="2000" dirty="0">
                <a:cs typeface="Times New Roman" panose="02020603050405020304" pitchFamily="18" charset="0"/>
              </a:rPr>
              <a:t>	#[]</a:t>
            </a:r>
          </a:p>
        </p:txBody>
      </p:sp>
    </p:spTree>
    <p:extLst>
      <p:ext uri="{BB962C8B-B14F-4D97-AF65-F5344CB8AC3E}">
        <p14:creationId xmlns:p14="http://schemas.microsoft.com/office/powerpoint/2010/main" val="391711603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A13D1-A719-F424-97A9-CBDA04F4C9F1}"/>
              </a:ext>
            </a:extLst>
          </p:cNvPr>
          <p:cNvSpPr>
            <a:spLocks noGrp="1"/>
          </p:cNvSpPr>
          <p:nvPr>
            <p:ph type="title"/>
          </p:nvPr>
        </p:nvSpPr>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Sort Lists</a:t>
            </a:r>
          </a:p>
        </p:txBody>
      </p:sp>
      <p:pic>
        <p:nvPicPr>
          <p:cNvPr id="4" name="Picture 3">
            <a:extLst>
              <a:ext uri="{FF2B5EF4-FFF2-40B4-BE49-F238E27FC236}">
                <a16:creationId xmlns:a16="http://schemas.microsoft.com/office/drawing/2014/main" id="{FF48AE32-B092-45B3-3885-8E7D8301AC5D}"/>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52CCA163-BFE6-A58D-9722-2A4D52B8208A}"/>
              </a:ext>
            </a:extLst>
          </p:cNvPr>
          <p:cNvSpPr txBox="1"/>
          <p:nvPr/>
        </p:nvSpPr>
        <p:spPr>
          <a:xfrm>
            <a:off x="688680" y="1690688"/>
            <a:ext cx="10736404" cy="3477875"/>
          </a:xfrm>
          <a:prstGeom prst="rect">
            <a:avLst/>
          </a:prstGeom>
          <a:noFill/>
        </p:spPr>
        <p:txBody>
          <a:bodyPr wrap="square">
            <a:spAutoFit/>
          </a:bodyPr>
          <a:lstStyle/>
          <a:p>
            <a:pPr marL="0" indent="0" algn="just">
              <a:buNone/>
            </a:pPr>
            <a:r>
              <a:rPr lang="en-IN" sz="2000" dirty="0">
                <a:cs typeface="Times New Roman" panose="02020603050405020304" pitchFamily="18" charset="0"/>
              </a:rPr>
              <a:t>List objects have a </a:t>
            </a:r>
            <a:r>
              <a:rPr lang="en-IN" sz="2000" b="1" dirty="0">
                <a:cs typeface="Times New Roman" panose="02020603050405020304" pitchFamily="18" charset="0"/>
              </a:rPr>
              <a:t>sort() </a:t>
            </a:r>
            <a:r>
              <a:rPr lang="en-IN" sz="2000" dirty="0">
                <a:cs typeface="Times New Roman" panose="02020603050405020304" pitchFamily="18" charset="0"/>
              </a:rPr>
              <a:t>method that will sort the list alphanumerically, ascending, by default.</a:t>
            </a:r>
          </a:p>
          <a:p>
            <a:pPr marL="0" indent="0" algn="just">
              <a:buNone/>
            </a:pPr>
            <a:r>
              <a:rPr lang="en-IN" sz="2000" b="1" u="sng" dirty="0">
                <a:cs typeface="Times New Roman" panose="02020603050405020304" pitchFamily="18" charset="0"/>
              </a:rPr>
              <a:t>Example</a:t>
            </a:r>
          </a:p>
          <a:p>
            <a:pPr marL="0" indent="0" algn="just">
              <a:buNone/>
            </a:pPr>
            <a:r>
              <a:rPr lang="en-IN" sz="2000" dirty="0">
                <a:cs typeface="Times New Roman" panose="02020603050405020304" pitchFamily="18" charset="0"/>
              </a:rPr>
              <a:t>	list1 = [“orange”, “mango”, “kiwi”, “pineapple”, “banana”]</a:t>
            </a:r>
          </a:p>
          <a:p>
            <a:pPr marL="0" indent="0" algn="just">
              <a:buNone/>
            </a:pPr>
            <a:r>
              <a:rPr lang="en-IN" sz="2000" dirty="0">
                <a:cs typeface="Times New Roman" panose="02020603050405020304" pitchFamily="18" charset="0"/>
              </a:rPr>
              <a:t>	list1.sort()</a:t>
            </a:r>
          </a:p>
          <a:p>
            <a:pPr marL="0" indent="0" algn="just">
              <a:buNone/>
            </a:pPr>
            <a:r>
              <a:rPr lang="en-IN" sz="2000" dirty="0">
                <a:cs typeface="Times New Roman" panose="02020603050405020304" pitchFamily="18" charset="0"/>
              </a:rPr>
              <a:t>	print(list1)</a:t>
            </a:r>
          </a:p>
          <a:p>
            <a:pPr marL="0" indent="0" algn="just">
              <a:buNone/>
            </a:pPr>
            <a:r>
              <a:rPr lang="en-IN" sz="2000" dirty="0">
                <a:cs typeface="Times New Roman" panose="02020603050405020304" pitchFamily="18" charset="0"/>
              </a:rPr>
              <a:t>	#[‘banana’, ‘kiwi’, ‘mango’, ‘orange’, ‘pineapple’]</a:t>
            </a:r>
          </a:p>
          <a:p>
            <a:pPr marL="0" indent="0" algn="just">
              <a:buNone/>
            </a:pPr>
            <a:r>
              <a:rPr lang="en-IN" sz="2000" b="1" u="sng" dirty="0">
                <a:cs typeface="Times New Roman" panose="02020603050405020304" pitchFamily="18" charset="0"/>
              </a:rPr>
              <a:t>Example</a:t>
            </a:r>
          </a:p>
          <a:p>
            <a:pPr marL="0" indent="0" algn="just">
              <a:buNone/>
            </a:pPr>
            <a:r>
              <a:rPr lang="en-IN" sz="2000" dirty="0">
                <a:cs typeface="Times New Roman" panose="02020603050405020304" pitchFamily="18" charset="0"/>
              </a:rPr>
              <a:t>	list2 = [100, 50, 65, 82, 23]</a:t>
            </a:r>
          </a:p>
          <a:p>
            <a:pPr marL="0" indent="0" algn="just">
              <a:buNone/>
            </a:pPr>
            <a:r>
              <a:rPr lang="en-IN" sz="2000" dirty="0">
                <a:cs typeface="Times New Roman" panose="02020603050405020304" pitchFamily="18" charset="0"/>
              </a:rPr>
              <a:t>	list2.sort()</a:t>
            </a:r>
          </a:p>
          <a:p>
            <a:pPr marL="0" indent="0" algn="just">
              <a:buNone/>
            </a:pPr>
            <a:r>
              <a:rPr lang="en-IN" sz="2000" dirty="0">
                <a:cs typeface="Times New Roman" panose="02020603050405020304" pitchFamily="18" charset="0"/>
              </a:rPr>
              <a:t>	print(list2)</a:t>
            </a:r>
          </a:p>
          <a:p>
            <a:pPr marL="0" indent="0" algn="just">
              <a:buNone/>
            </a:pPr>
            <a:r>
              <a:rPr lang="en-IN" sz="2000" dirty="0">
                <a:cs typeface="Times New Roman" panose="02020603050405020304" pitchFamily="18" charset="0"/>
              </a:rPr>
              <a:t>	#[23, 50, 65, 82, 100]</a:t>
            </a:r>
          </a:p>
        </p:txBody>
      </p:sp>
    </p:spTree>
    <p:extLst>
      <p:ext uri="{BB962C8B-B14F-4D97-AF65-F5344CB8AC3E}">
        <p14:creationId xmlns:p14="http://schemas.microsoft.com/office/powerpoint/2010/main" val="3338816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5488BBE-2350-7DC0-3E08-10616DBC40EF}"/>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27696A5B-10EE-64DF-B889-EA777BF442A3}"/>
              </a:ext>
            </a:extLst>
          </p:cNvPr>
          <p:cNvSpPr txBox="1"/>
          <p:nvPr/>
        </p:nvSpPr>
        <p:spPr>
          <a:xfrm>
            <a:off x="816077" y="865239"/>
            <a:ext cx="10373033" cy="4093428"/>
          </a:xfrm>
          <a:prstGeom prst="rect">
            <a:avLst/>
          </a:prstGeom>
          <a:noFill/>
        </p:spPr>
        <p:txBody>
          <a:bodyPr wrap="square">
            <a:spAutoFit/>
          </a:bodyPr>
          <a:lstStyle/>
          <a:p>
            <a:pPr marL="0" indent="0">
              <a:buNone/>
            </a:pPr>
            <a:r>
              <a:rPr lang="en-IN" sz="2000" b="1" dirty="0">
                <a:cs typeface="Times New Roman" panose="02020603050405020304" pitchFamily="18" charset="0"/>
              </a:rPr>
              <a:t>Sort Descending: -</a:t>
            </a:r>
          </a:p>
          <a:p>
            <a:pPr marL="0" indent="0">
              <a:buNone/>
            </a:pPr>
            <a:r>
              <a:rPr lang="en-IN" sz="2000" dirty="0">
                <a:cs typeface="Times New Roman" panose="02020603050405020304" pitchFamily="18" charset="0"/>
              </a:rPr>
              <a:t>To sort descending, use the keyword argument </a:t>
            </a:r>
            <a:r>
              <a:rPr lang="en-IN" sz="2000" b="1" dirty="0">
                <a:cs typeface="Times New Roman" panose="02020603050405020304" pitchFamily="18" charset="0"/>
              </a:rPr>
              <a:t>reverse = True.</a:t>
            </a:r>
          </a:p>
          <a:p>
            <a:pPr marL="0" indent="0" algn="just">
              <a:buNone/>
            </a:pPr>
            <a:r>
              <a:rPr lang="en-IN" sz="2000" b="1" u="sng" dirty="0">
                <a:cs typeface="Times New Roman" panose="02020603050405020304" pitchFamily="18" charset="0"/>
              </a:rPr>
              <a:t>Example</a:t>
            </a:r>
          </a:p>
          <a:p>
            <a:pPr marL="0" indent="0" algn="just">
              <a:buNone/>
            </a:pPr>
            <a:r>
              <a:rPr lang="en-IN" sz="2000" dirty="0">
                <a:cs typeface="Times New Roman" panose="02020603050405020304" pitchFamily="18" charset="0"/>
              </a:rPr>
              <a:t>	list1 = [“orange”, “mango”, “kiwi”, “pineapple”, “banana”]</a:t>
            </a:r>
          </a:p>
          <a:p>
            <a:pPr marL="0" indent="0" algn="just">
              <a:buNone/>
            </a:pPr>
            <a:r>
              <a:rPr lang="en-IN" sz="2000" dirty="0">
                <a:cs typeface="Times New Roman" panose="02020603050405020304" pitchFamily="18" charset="0"/>
              </a:rPr>
              <a:t>	list1.sort(reverse = True)</a:t>
            </a:r>
          </a:p>
          <a:p>
            <a:pPr marL="0" indent="0" algn="just">
              <a:buNone/>
            </a:pPr>
            <a:r>
              <a:rPr lang="en-IN" sz="2000" dirty="0">
                <a:cs typeface="Times New Roman" panose="02020603050405020304" pitchFamily="18" charset="0"/>
              </a:rPr>
              <a:t>	print(list1)</a:t>
            </a:r>
          </a:p>
          <a:p>
            <a:pPr marL="0" indent="0" algn="just">
              <a:buNone/>
            </a:pPr>
            <a:r>
              <a:rPr lang="en-IN" sz="2000" dirty="0">
                <a:cs typeface="Times New Roman" panose="02020603050405020304" pitchFamily="18" charset="0"/>
              </a:rPr>
              <a:t>	#[‘pineapple’, ‘orange’, ‘mango’, ‘kiwi’, ‘banana’]</a:t>
            </a:r>
          </a:p>
          <a:p>
            <a:pPr marL="0" indent="0" algn="just">
              <a:buNone/>
            </a:pPr>
            <a:r>
              <a:rPr lang="en-IN" sz="2000" b="1" u="sng" dirty="0">
                <a:cs typeface="Times New Roman" panose="02020603050405020304" pitchFamily="18" charset="0"/>
              </a:rPr>
              <a:t>Example</a:t>
            </a:r>
          </a:p>
          <a:p>
            <a:pPr marL="0" indent="0" algn="just">
              <a:buNone/>
            </a:pPr>
            <a:r>
              <a:rPr lang="en-IN" sz="2000" dirty="0">
                <a:cs typeface="Times New Roman" panose="02020603050405020304" pitchFamily="18" charset="0"/>
              </a:rPr>
              <a:t>	list2 = [100, 50, 65, 82, 23]</a:t>
            </a:r>
          </a:p>
          <a:p>
            <a:pPr marL="0" indent="0" algn="just">
              <a:buNone/>
            </a:pPr>
            <a:r>
              <a:rPr lang="en-IN" sz="2000" dirty="0">
                <a:cs typeface="Times New Roman" panose="02020603050405020304" pitchFamily="18" charset="0"/>
              </a:rPr>
              <a:t>	list2.sort(reverse = True)</a:t>
            </a:r>
          </a:p>
          <a:p>
            <a:pPr marL="0" indent="0" algn="just">
              <a:buNone/>
            </a:pPr>
            <a:r>
              <a:rPr lang="en-IN" sz="2000" dirty="0">
                <a:cs typeface="Times New Roman" panose="02020603050405020304" pitchFamily="18" charset="0"/>
              </a:rPr>
              <a:t>	print(list2)</a:t>
            </a:r>
          </a:p>
          <a:p>
            <a:pPr marL="0" indent="0" algn="just">
              <a:buNone/>
            </a:pPr>
            <a:r>
              <a:rPr lang="en-IN" sz="2000" dirty="0">
                <a:cs typeface="Times New Roman" panose="02020603050405020304" pitchFamily="18" charset="0"/>
              </a:rPr>
              <a:t>	#[100, 82, 65, 50, 23]</a:t>
            </a:r>
          </a:p>
          <a:p>
            <a:pPr marL="0" indent="0">
              <a:buNone/>
            </a:pPr>
            <a:endParaRPr lang="en-IN" sz="2000" dirty="0">
              <a:cs typeface="Times New Roman" panose="02020603050405020304" pitchFamily="18" charset="0"/>
            </a:endParaRPr>
          </a:p>
        </p:txBody>
      </p:sp>
    </p:spTree>
    <p:extLst>
      <p:ext uri="{BB962C8B-B14F-4D97-AF65-F5344CB8AC3E}">
        <p14:creationId xmlns:p14="http://schemas.microsoft.com/office/powerpoint/2010/main" val="182626743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7DA508E-8E3C-4D2B-FAF6-097FD1F10D7A}"/>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183667D8-BC8A-FD3B-0823-9135C58C3DDB}"/>
              </a:ext>
            </a:extLst>
          </p:cNvPr>
          <p:cNvSpPr txBox="1"/>
          <p:nvPr/>
        </p:nvSpPr>
        <p:spPr>
          <a:xfrm>
            <a:off x="983226" y="689040"/>
            <a:ext cx="9979742" cy="2246769"/>
          </a:xfrm>
          <a:prstGeom prst="rect">
            <a:avLst/>
          </a:prstGeom>
          <a:noFill/>
        </p:spPr>
        <p:txBody>
          <a:bodyPr wrap="square">
            <a:spAutoFit/>
          </a:bodyPr>
          <a:lstStyle/>
          <a:p>
            <a:pPr marL="0" indent="0">
              <a:buNone/>
            </a:pPr>
            <a:r>
              <a:rPr lang="en-US" sz="2000" b="1" dirty="0">
                <a:cs typeface="Times New Roman" panose="02020603050405020304" pitchFamily="18" charset="0"/>
              </a:rPr>
              <a:t>Reverse Order</a:t>
            </a:r>
          </a:p>
          <a:p>
            <a:pPr marL="0" indent="0">
              <a:buNone/>
            </a:pPr>
            <a:r>
              <a:rPr lang="en-US" sz="2000" dirty="0">
                <a:cs typeface="Times New Roman" panose="02020603050405020304" pitchFamily="18" charset="0"/>
              </a:rPr>
              <a:t>The </a:t>
            </a:r>
            <a:r>
              <a:rPr lang="en-US" sz="2000" b="1" dirty="0">
                <a:cs typeface="Times New Roman" panose="02020603050405020304" pitchFamily="18" charset="0"/>
              </a:rPr>
              <a:t>reverse () </a:t>
            </a:r>
            <a:r>
              <a:rPr lang="en-US" sz="2000" dirty="0">
                <a:cs typeface="Times New Roman" panose="02020603050405020304" pitchFamily="18" charset="0"/>
              </a:rPr>
              <a:t>method reverses the current sorting order of the elements.</a:t>
            </a:r>
          </a:p>
          <a:p>
            <a:pPr marL="0" indent="0" algn="just">
              <a:buNone/>
            </a:pPr>
            <a:r>
              <a:rPr lang="en-IN" sz="2000" b="1" u="sng" dirty="0">
                <a:cs typeface="Times New Roman" panose="02020603050405020304" pitchFamily="18" charset="0"/>
              </a:rPr>
              <a:t>Example</a:t>
            </a:r>
          </a:p>
          <a:p>
            <a:pPr marL="0" indent="0" algn="just">
              <a:buNone/>
            </a:pPr>
            <a:r>
              <a:rPr lang="en-IN" sz="2000" dirty="0">
                <a:cs typeface="Times New Roman" panose="02020603050405020304" pitchFamily="18" charset="0"/>
              </a:rPr>
              <a:t>	list1 = [“orange”, “mango”, “kiwi”, “pineapple”, “banana”]</a:t>
            </a:r>
          </a:p>
          <a:p>
            <a:pPr marL="0" indent="0" algn="just">
              <a:buNone/>
            </a:pPr>
            <a:r>
              <a:rPr lang="en-IN" sz="2000" dirty="0">
                <a:cs typeface="Times New Roman" panose="02020603050405020304" pitchFamily="18" charset="0"/>
              </a:rPr>
              <a:t>	list1.reverse()</a:t>
            </a:r>
          </a:p>
          <a:p>
            <a:pPr marL="0" indent="0" algn="just">
              <a:buNone/>
            </a:pPr>
            <a:r>
              <a:rPr lang="en-IN" sz="2000" dirty="0">
                <a:cs typeface="Times New Roman" panose="02020603050405020304" pitchFamily="18" charset="0"/>
              </a:rPr>
              <a:t>	print(list1)</a:t>
            </a:r>
          </a:p>
          <a:p>
            <a:pPr marL="0" indent="0" algn="just">
              <a:buNone/>
            </a:pPr>
            <a:r>
              <a:rPr lang="en-IN" sz="2000" dirty="0">
                <a:cs typeface="Times New Roman" panose="02020603050405020304" pitchFamily="18" charset="0"/>
              </a:rPr>
              <a:t>	#[‘banana’, ‘pineapple’, ‘kiwi’, ‘mango’, ‘orange’]</a:t>
            </a:r>
          </a:p>
        </p:txBody>
      </p:sp>
    </p:spTree>
    <p:extLst>
      <p:ext uri="{BB962C8B-B14F-4D97-AF65-F5344CB8AC3E}">
        <p14:creationId xmlns:p14="http://schemas.microsoft.com/office/powerpoint/2010/main" val="29970045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67658-77E9-302F-7C68-D397EC729161}"/>
              </a:ext>
            </a:extLst>
          </p:cNvPr>
          <p:cNvSpPr>
            <a:spLocks noGrp="1"/>
          </p:cNvSpPr>
          <p:nvPr>
            <p:ph type="title"/>
          </p:nvPr>
        </p:nvSpPr>
        <p:spPr/>
        <p:txBody>
          <a:bodyPr/>
          <a:lstStyle/>
          <a:p>
            <a:pPr algn="ctr"/>
            <a:r>
              <a:rPr lang="en-US"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Copy Lists</a:t>
            </a:r>
            <a:endPar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endParaRPr>
          </a:p>
        </p:txBody>
      </p:sp>
      <p:pic>
        <p:nvPicPr>
          <p:cNvPr id="4" name="Picture 3">
            <a:extLst>
              <a:ext uri="{FF2B5EF4-FFF2-40B4-BE49-F238E27FC236}">
                <a16:creationId xmlns:a16="http://schemas.microsoft.com/office/drawing/2014/main" id="{0AB1605A-6B90-49DF-A3BB-32F0BCFEC7BC}"/>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3439CDC1-1F5A-30E1-3B59-7CCBC003BF8F}"/>
              </a:ext>
            </a:extLst>
          </p:cNvPr>
          <p:cNvSpPr txBox="1"/>
          <p:nvPr/>
        </p:nvSpPr>
        <p:spPr>
          <a:xfrm>
            <a:off x="838201" y="1690687"/>
            <a:ext cx="11058832" cy="2554545"/>
          </a:xfrm>
          <a:prstGeom prst="rect">
            <a:avLst/>
          </a:prstGeom>
          <a:noFill/>
        </p:spPr>
        <p:txBody>
          <a:bodyPr wrap="square">
            <a:spAutoFit/>
          </a:bodyPr>
          <a:lstStyle/>
          <a:p>
            <a:r>
              <a:rPr lang="en-US" sz="2000" dirty="0">
                <a:cs typeface="Times New Roman" panose="02020603050405020304" pitchFamily="18" charset="0"/>
              </a:rPr>
              <a:t>You cannot copy a list simply by typing </a:t>
            </a:r>
            <a:r>
              <a:rPr lang="en-US" sz="2000" b="1" dirty="0">
                <a:cs typeface="Times New Roman" panose="02020603050405020304" pitchFamily="18" charset="0"/>
              </a:rPr>
              <a:t>list2 = list1</a:t>
            </a:r>
            <a:r>
              <a:rPr lang="en-US" sz="2000" dirty="0">
                <a:cs typeface="Times New Roman" panose="02020603050405020304" pitchFamily="18" charset="0"/>
              </a:rPr>
              <a:t>, because, list2 will only be a reference to list1, and changes made in list1 will automatically also be made in list2.</a:t>
            </a:r>
          </a:p>
          <a:p>
            <a:r>
              <a:rPr lang="en-IN" sz="2000" dirty="0">
                <a:cs typeface="Times New Roman" panose="02020603050405020304" pitchFamily="18" charset="0"/>
              </a:rPr>
              <a:t>You can use the built in List method </a:t>
            </a:r>
            <a:r>
              <a:rPr lang="en-IN" sz="2000" b="1" dirty="0">
                <a:cs typeface="Times New Roman" panose="02020603050405020304" pitchFamily="18" charset="0"/>
              </a:rPr>
              <a:t>copy() </a:t>
            </a:r>
            <a:r>
              <a:rPr lang="en-IN" sz="2000" dirty="0">
                <a:cs typeface="Times New Roman" panose="02020603050405020304" pitchFamily="18" charset="0"/>
              </a:rPr>
              <a:t>to copy a list.</a:t>
            </a:r>
          </a:p>
          <a:p>
            <a:pPr marL="0" indent="0">
              <a:buNone/>
            </a:pPr>
            <a:r>
              <a:rPr lang="en-IN" sz="2000" b="1" u="sng" dirty="0">
                <a:cs typeface="Times New Roman" panose="02020603050405020304" pitchFamily="18" charset="0"/>
              </a:rPr>
              <a:t>Example</a:t>
            </a:r>
          </a:p>
          <a:p>
            <a:pPr marL="0" indent="0">
              <a:buNone/>
            </a:pPr>
            <a:r>
              <a:rPr lang="en-IN" sz="2000" b="0" i="0" dirty="0">
                <a:solidFill>
                  <a:srgbClr val="000000"/>
                </a:solidFill>
                <a:effectLst/>
                <a:cs typeface="Times New Roman" panose="02020603050405020304" pitchFamily="18" charset="0"/>
              </a:rPr>
              <a:t>	thislist = </a:t>
            </a:r>
            <a:r>
              <a:rPr lang="en-IN" sz="2000" b="0" i="0" dirty="0">
                <a:effectLst/>
                <a:cs typeface="Times New Roman" panose="02020603050405020304" pitchFamily="18" charset="0"/>
              </a:rPr>
              <a:t>["apple", "banana", "cherry"]</a:t>
            </a:r>
            <a:br>
              <a:rPr lang="en-IN" sz="2000" dirty="0">
                <a:cs typeface="Times New Roman" panose="02020603050405020304" pitchFamily="18" charset="0"/>
              </a:rPr>
            </a:br>
            <a:r>
              <a:rPr lang="en-IN" sz="2000" dirty="0">
                <a:cs typeface="Times New Roman" panose="02020603050405020304" pitchFamily="18" charset="0"/>
              </a:rPr>
              <a:t>	</a:t>
            </a:r>
            <a:r>
              <a:rPr lang="en-IN" sz="2000" b="0" i="0" dirty="0">
                <a:solidFill>
                  <a:srgbClr val="000000"/>
                </a:solidFill>
                <a:effectLst/>
                <a:cs typeface="Times New Roman" panose="02020603050405020304" pitchFamily="18" charset="0"/>
              </a:rPr>
              <a:t>mylist = thislist.copy()</a:t>
            </a:r>
            <a:br>
              <a:rPr lang="en-IN" sz="2000" dirty="0">
                <a:cs typeface="Times New Roman" panose="02020603050405020304" pitchFamily="18" charset="0"/>
              </a:rPr>
            </a:br>
            <a:r>
              <a:rPr lang="en-IN" sz="2000" dirty="0">
                <a:cs typeface="Times New Roman" panose="02020603050405020304" pitchFamily="18" charset="0"/>
              </a:rPr>
              <a:t>	</a:t>
            </a:r>
            <a:r>
              <a:rPr lang="en-IN" sz="2000" b="0" i="0" dirty="0">
                <a:effectLst/>
                <a:cs typeface="Times New Roman" panose="02020603050405020304" pitchFamily="18" charset="0"/>
              </a:rPr>
              <a:t>print</a:t>
            </a:r>
            <a:r>
              <a:rPr lang="en-IN" sz="2000" b="0" i="0" dirty="0">
                <a:solidFill>
                  <a:srgbClr val="000000"/>
                </a:solidFill>
                <a:effectLst/>
                <a:cs typeface="Times New Roman" panose="02020603050405020304" pitchFamily="18" charset="0"/>
              </a:rPr>
              <a:t>(mylist)</a:t>
            </a:r>
          </a:p>
          <a:p>
            <a:pPr marL="0" indent="0">
              <a:buNone/>
            </a:pPr>
            <a:r>
              <a:rPr lang="en-IN" sz="2000" dirty="0">
                <a:solidFill>
                  <a:srgbClr val="000000"/>
                </a:solidFill>
                <a:cs typeface="Times New Roman" panose="02020603050405020304" pitchFamily="18" charset="0"/>
              </a:rPr>
              <a:t>	#[‘apple’, ‘banana’, ‘cherry’]</a:t>
            </a:r>
            <a:endParaRPr lang="en-IN" sz="2000" dirty="0">
              <a:cs typeface="Times New Roman" panose="02020603050405020304" pitchFamily="18" charset="0"/>
            </a:endParaRPr>
          </a:p>
        </p:txBody>
      </p:sp>
    </p:spTree>
    <p:extLst>
      <p:ext uri="{BB962C8B-B14F-4D97-AF65-F5344CB8AC3E}">
        <p14:creationId xmlns:p14="http://schemas.microsoft.com/office/powerpoint/2010/main" val="102707177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15DD3-3667-A09C-D8DB-1953C710FFA1}"/>
              </a:ext>
            </a:extLst>
          </p:cNvPr>
          <p:cNvSpPr>
            <a:spLocks noGrp="1"/>
          </p:cNvSpPr>
          <p:nvPr>
            <p:ph type="title"/>
          </p:nvPr>
        </p:nvSpPr>
        <p:spPr/>
        <p:txBody>
          <a:bodyPr/>
          <a:lstStyle/>
          <a:p>
            <a:pPr algn="ctr"/>
            <a:r>
              <a:rPr lang="en-US"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Join Lists</a:t>
            </a:r>
            <a:endPar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endParaRPr>
          </a:p>
        </p:txBody>
      </p:sp>
      <p:pic>
        <p:nvPicPr>
          <p:cNvPr id="4" name="Picture 3">
            <a:extLst>
              <a:ext uri="{FF2B5EF4-FFF2-40B4-BE49-F238E27FC236}">
                <a16:creationId xmlns:a16="http://schemas.microsoft.com/office/drawing/2014/main" id="{C664450F-103B-7A0D-C711-96E6FB3B90EA}"/>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C58DE82D-F24E-9A63-DC5A-C01FD825267B}"/>
              </a:ext>
            </a:extLst>
          </p:cNvPr>
          <p:cNvSpPr txBox="1"/>
          <p:nvPr/>
        </p:nvSpPr>
        <p:spPr>
          <a:xfrm>
            <a:off x="963561" y="2025445"/>
            <a:ext cx="10515600" cy="2246769"/>
          </a:xfrm>
          <a:prstGeom prst="rect">
            <a:avLst/>
          </a:prstGeom>
          <a:noFill/>
        </p:spPr>
        <p:txBody>
          <a:bodyPr wrap="square">
            <a:spAutoFit/>
          </a:bodyPr>
          <a:lstStyle/>
          <a:p>
            <a:pPr marL="0" indent="0">
              <a:buNone/>
            </a:pPr>
            <a:r>
              <a:rPr lang="en-US" sz="2000" dirty="0">
                <a:cs typeface="Times New Roman" panose="02020603050405020304" pitchFamily="18" charset="0"/>
              </a:rPr>
              <a:t>Two or more lists in Python are joined or concatenated using </a:t>
            </a:r>
            <a:r>
              <a:rPr lang="en-US" sz="2000" b="1" dirty="0">
                <a:cs typeface="Times New Roman" panose="02020603050405020304" pitchFamily="18" charset="0"/>
              </a:rPr>
              <a:t>+ </a:t>
            </a:r>
            <a:r>
              <a:rPr lang="en-US" sz="2000" dirty="0">
                <a:cs typeface="Times New Roman" panose="02020603050405020304" pitchFamily="18" charset="0"/>
              </a:rPr>
              <a:t>operator.</a:t>
            </a:r>
          </a:p>
          <a:p>
            <a:pPr marL="0" indent="0">
              <a:buNone/>
            </a:pPr>
            <a:r>
              <a:rPr lang="en-US" sz="2000" b="1" u="sng" dirty="0">
                <a:cs typeface="Times New Roman" panose="02020603050405020304" pitchFamily="18" charset="0"/>
              </a:rPr>
              <a:t>Example</a:t>
            </a:r>
          </a:p>
          <a:p>
            <a:pPr marL="0" indent="0">
              <a:buNone/>
            </a:pPr>
            <a:r>
              <a:rPr lang="en-IN" sz="2000" b="0" i="0" dirty="0">
                <a:solidFill>
                  <a:srgbClr val="000000"/>
                </a:solidFill>
                <a:effectLst/>
                <a:cs typeface="Times New Roman" panose="02020603050405020304" pitchFamily="18" charset="0"/>
              </a:rPr>
              <a:t>	</a:t>
            </a:r>
            <a:r>
              <a:rPr lang="en-IN" sz="2000" b="0" i="0" dirty="0">
                <a:solidFill>
                  <a:schemeClr val="tx1">
                    <a:lumMod val="95000"/>
                    <a:lumOff val="5000"/>
                  </a:schemeClr>
                </a:solidFill>
                <a:effectLst/>
                <a:cs typeface="Times New Roman" panose="02020603050405020304" pitchFamily="18" charset="0"/>
              </a:rPr>
              <a:t>list1 = ["a", "b", "c"]</a:t>
            </a:r>
            <a:br>
              <a:rPr lang="en-IN" sz="2000" dirty="0">
                <a:solidFill>
                  <a:schemeClr val="tx1">
                    <a:lumMod val="95000"/>
                    <a:lumOff val="5000"/>
                  </a:schemeClr>
                </a:solidFill>
                <a:cs typeface="Times New Roman" panose="02020603050405020304" pitchFamily="18" charset="0"/>
              </a:rPr>
            </a:br>
            <a:r>
              <a:rPr lang="en-IN" sz="2000" dirty="0">
                <a:solidFill>
                  <a:schemeClr val="tx1">
                    <a:lumMod val="95000"/>
                    <a:lumOff val="5000"/>
                  </a:schemeClr>
                </a:solidFill>
                <a:cs typeface="Times New Roman" panose="02020603050405020304" pitchFamily="18" charset="0"/>
              </a:rPr>
              <a:t>	</a:t>
            </a:r>
            <a:r>
              <a:rPr lang="en-IN" sz="2000" b="0" i="0" dirty="0">
                <a:solidFill>
                  <a:schemeClr val="tx1">
                    <a:lumMod val="95000"/>
                    <a:lumOff val="5000"/>
                  </a:schemeClr>
                </a:solidFill>
                <a:effectLst/>
                <a:cs typeface="Times New Roman" panose="02020603050405020304" pitchFamily="18" charset="0"/>
              </a:rPr>
              <a:t>list2 = [1, 2, 3]</a:t>
            </a:r>
            <a:br>
              <a:rPr lang="en-IN" sz="2000" dirty="0">
                <a:solidFill>
                  <a:schemeClr val="tx1">
                    <a:lumMod val="95000"/>
                    <a:lumOff val="5000"/>
                  </a:schemeClr>
                </a:solidFill>
                <a:cs typeface="Times New Roman" panose="02020603050405020304" pitchFamily="18" charset="0"/>
              </a:rPr>
            </a:br>
            <a:r>
              <a:rPr lang="en-IN" sz="2000" dirty="0">
                <a:solidFill>
                  <a:schemeClr val="tx1">
                    <a:lumMod val="95000"/>
                    <a:lumOff val="5000"/>
                  </a:schemeClr>
                </a:solidFill>
                <a:cs typeface="Times New Roman" panose="02020603050405020304" pitchFamily="18" charset="0"/>
              </a:rPr>
              <a:t>	</a:t>
            </a:r>
            <a:r>
              <a:rPr lang="en-IN" sz="2000" b="0" i="0" dirty="0">
                <a:solidFill>
                  <a:schemeClr val="tx1">
                    <a:lumMod val="95000"/>
                    <a:lumOff val="5000"/>
                  </a:schemeClr>
                </a:solidFill>
                <a:effectLst/>
                <a:cs typeface="Times New Roman" panose="02020603050405020304" pitchFamily="18" charset="0"/>
              </a:rPr>
              <a:t>list3 = list1 + list2</a:t>
            </a:r>
            <a:br>
              <a:rPr lang="en-IN" sz="2000" dirty="0">
                <a:solidFill>
                  <a:schemeClr val="tx1">
                    <a:lumMod val="95000"/>
                    <a:lumOff val="5000"/>
                  </a:schemeClr>
                </a:solidFill>
                <a:cs typeface="Times New Roman" panose="02020603050405020304" pitchFamily="18" charset="0"/>
              </a:rPr>
            </a:br>
            <a:r>
              <a:rPr lang="en-IN" sz="2000" dirty="0">
                <a:solidFill>
                  <a:schemeClr val="tx1">
                    <a:lumMod val="95000"/>
                    <a:lumOff val="5000"/>
                  </a:schemeClr>
                </a:solidFill>
                <a:cs typeface="Times New Roman" panose="02020603050405020304" pitchFamily="18" charset="0"/>
              </a:rPr>
              <a:t>	</a:t>
            </a:r>
            <a:r>
              <a:rPr lang="en-IN" sz="2000" b="0" i="0" dirty="0">
                <a:solidFill>
                  <a:schemeClr val="tx1">
                    <a:lumMod val="95000"/>
                    <a:lumOff val="5000"/>
                  </a:schemeClr>
                </a:solidFill>
                <a:effectLst/>
                <a:cs typeface="Times New Roman" panose="02020603050405020304" pitchFamily="18" charset="0"/>
              </a:rPr>
              <a:t>print(list3)</a:t>
            </a:r>
          </a:p>
          <a:p>
            <a:pPr marL="0" indent="0">
              <a:buNone/>
            </a:pPr>
            <a:r>
              <a:rPr lang="en-IN" sz="2000" dirty="0">
                <a:solidFill>
                  <a:schemeClr val="tx1">
                    <a:lumMod val="95000"/>
                    <a:lumOff val="5000"/>
                  </a:schemeClr>
                </a:solidFill>
                <a:cs typeface="Times New Roman" panose="02020603050405020304" pitchFamily="18" charset="0"/>
              </a:rPr>
              <a:t>	#</a:t>
            </a:r>
            <a:r>
              <a:rPr lang="en-IN" sz="2000" b="0" i="0" dirty="0">
                <a:solidFill>
                  <a:schemeClr val="tx1">
                    <a:lumMod val="95000"/>
                    <a:lumOff val="5000"/>
                  </a:schemeClr>
                </a:solidFill>
                <a:effectLst/>
                <a:cs typeface="Times New Roman" panose="02020603050405020304" pitchFamily="18" charset="0"/>
              </a:rPr>
              <a:t>['a', 'b', 'c', 1, 2, 3]</a:t>
            </a:r>
            <a:endParaRPr lang="en-IN" sz="2000" dirty="0">
              <a:solidFill>
                <a:schemeClr val="tx1">
                  <a:lumMod val="95000"/>
                  <a:lumOff val="5000"/>
                </a:schemeClr>
              </a:solidFill>
              <a:cs typeface="Times New Roman" panose="02020603050405020304" pitchFamily="18" charset="0"/>
            </a:endParaRPr>
          </a:p>
        </p:txBody>
      </p:sp>
    </p:spTree>
    <p:extLst>
      <p:ext uri="{BB962C8B-B14F-4D97-AF65-F5344CB8AC3E}">
        <p14:creationId xmlns:p14="http://schemas.microsoft.com/office/powerpoint/2010/main" val="263972435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C9CF8F7-20FC-18A4-4501-BE9CEA420EBF}"/>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BC936D41-0A47-FCD5-236F-99E113C74A86}"/>
              </a:ext>
            </a:extLst>
          </p:cNvPr>
          <p:cNvSpPr txBox="1"/>
          <p:nvPr/>
        </p:nvSpPr>
        <p:spPr>
          <a:xfrm>
            <a:off x="560439" y="491614"/>
            <a:ext cx="9733935" cy="6047809"/>
          </a:xfrm>
          <a:prstGeom prst="rect">
            <a:avLst/>
          </a:prstGeom>
          <a:noFill/>
        </p:spPr>
        <p:txBody>
          <a:bodyPr wrap="square">
            <a:spAutoFit/>
          </a:bodyPr>
          <a:lstStyle/>
          <a:p>
            <a:pPr marL="0" indent="0" algn="ctr">
              <a:lnSpc>
                <a:spcPct val="115000"/>
              </a:lnSpc>
              <a:spcBef>
                <a:spcPts val="11"/>
              </a:spcBef>
              <a:spcAft>
                <a:spcPts val="11"/>
              </a:spcAft>
              <a:buClr>
                <a:srgbClr val="000000"/>
              </a:buClr>
              <a:buNone/>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strike="noStrike" spc="-1" dirty="0">
                <a:solidFill>
                  <a:srgbClr val="FF0000"/>
                </a:solidFill>
                <a:ea typeface="Times New Roman"/>
                <a:cs typeface="Times New Roman" panose="02020603050405020304" pitchFamily="18" charset="0"/>
              </a:rPr>
              <a:t>To create 2- dimensional array:</a:t>
            </a:r>
            <a:endParaRPr lang="en-US" sz="2800" b="0" strike="noStrike" spc="-1" dirty="0">
              <a:solidFill>
                <a:srgbClr val="FF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000" b="0" strike="noStrike" spc="-1">
              <a:solidFill>
                <a:srgbClr val="000000"/>
              </a:solidFill>
              <a:ea typeface="Times New Roman"/>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a:solidFill>
                  <a:srgbClr val="000000"/>
                </a:solidFill>
                <a:ea typeface="Times New Roman"/>
                <a:cs typeface="Times New Roman" panose="02020603050405020304" pitchFamily="18" charset="0"/>
              </a:rPr>
              <a:t>Creating </a:t>
            </a:r>
            <a:r>
              <a:rPr lang="en-US" sz="2000" b="0" strike="noStrike" spc="-1" dirty="0">
                <a:solidFill>
                  <a:srgbClr val="000000"/>
                </a:solidFill>
                <a:ea typeface="Times New Roman"/>
                <a:cs typeface="Times New Roman" panose="02020603050405020304" pitchFamily="18" charset="0"/>
              </a:rPr>
              <a:t>a two-dimensional array using nested lists</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strike="noStrike" spc="-1" dirty="0">
                <a:solidFill>
                  <a:srgbClr val="000000"/>
                </a:solidFill>
                <a:ea typeface="Times New Roman"/>
                <a:cs typeface="Times New Roman" panose="02020603050405020304" pitchFamily="18" charset="0"/>
              </a:rPr>
              <a:t>Example </a:t>
            </a: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spc="-1" dirty="0">
                <a:solidFill>
                  <a:srgbClr val="000000"/>
                </a:solidFill>
                <a:ea typeface="Times New Roman"/>
                <a:cs typeface="Times New Roman" panose="02020603050405020304" pitchFamily="18" charset="0"/>
              </a:rPr>
              <a:t>		</a:t>
            </a:r>
            <a:r>
              <a:rPr lang="en-US" sz="2000" b="0" strike="noStrike" spc="-1" dirty="0" err="1">
                <a:solidFill>
                  <a:srgbClr val="000000"/>
                </a:solidFill>
                <a:ea typeface="Times New Roman"/>
                <a:cs typeface="Times New Roman" panose="02020603050405020304" pitchFamily="18" charset="0"/>
              </a:rPr>
              <a:t>two_dim_array</a:t>
            </a:r>
            <a:r>
              <a:rPr lang="en-US" sz="2000" b="0" strike="noStrike" spc="-1" dirty="0">
                <a:solidFill>
                  <a:srgbClr val="000000"/>
                </a:solidFill>
                <a:ea typeface="Times New Roman"/>
                <a:cs typeface="Times New Roman" panose="02020603050405020304" pitchFamily="18" charset="0"/>
              </a:rPr>
              <a:t> = [[1, 2, 3],[4, 5, 6],[7, 8, 9]]</a:t>
            </a:r>
            <a:endParaRPr lang="en-US" sz="2000" b="0" strike="noStrike" spc="-1" dirty="0">
              <a:solidFill>
                <a:srgbClr val="000000"/>
              </a:solidFill>
              <a:cs typeface="Times New Roman" panose="02020603050405020304" pitchFamily="18" charset="0"/>
            </a:endParaRPr>
          </a:p>
          <a:p>
            <a:pPr>
              <a:lnSpc>
                <a:spcPct val="114000"/>
              </a:lnSpc>
              <a:spcBef>
                <a:spcPts val="11"/>
              </a:spcBef>
              <a:spcAft>
                <a:spcPts val="11"/>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000" b="0" strike="noStrike" spc="-1" dirty="0">
              <a:solidFill>
                <a:srgbClr val="000000"/>
              </a:solidFill>
              <a:cs typeface="Times New Roman" panose="02020603050405020304" pitchFamily="18" charset="0"/>
            </a:endParaRPr>
          </a:p>
          <a:p>
            <a:pPr marL="0" indent="0">
              <a:lnSpc>
                <a:spcPct val="100000"/>
              </a:lnSpc>
              <a:spcBef>
                <a:spcPts val="11"/>
              </a:spcBef>
              <a:spcAft>
                <a:spcPts val="11"/>
              </a:spcAft>
              <a:buClr>
                <a:srgbClr val="000000"/>
              </a:buClr>
              <a:buNone/>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strike="noStrike" spc="-1" dirty="0">
                <a:solidFill>
                  <a:srgbClr val="000000"/>
                </a:solidFill>
                <a:ea typeface="Calibri"/>
                <a:cs typeface="Times New Roman" panose="02020603050405020304" pitchFamily="18" charset="0"/>
              </a:rPr>
              <a:t>Access the Elements of an Array</a:t>
            </a:r>
            <a:endParaRPr lang="en-US" sz="2000" b="0" strike="noStrike" spc="-1" dirty="0">
              <a:solidFill>
                <a:srgbClr val="000000"/>
              </a:solidFill>
              <a:cs typeface="Times New Roman" panose="02020603050405020304" pitchFamily="18" charset="0"/>
            </a:endParaRP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Calibri"/>
                <a:cs typeface="Times New Roman" panose="02020603050405020304" pitchFamily="18" charset="0"/>
              </a:rPr>
              <a:t>Accessing the elements of the first row</a:t>
            </a:r>
            <a:endParaRPr lang="en-US" sz="2000" b="0" strike="noStrike" spc="-1" dirty="0">
              <a:solidFill>
                <a:srgbClr val="000000"/>
              </a:solidFill>
              <a:cs typeface="Times New Roman" panose="02020603050405020304" pitchFamily="18" charset="0"/>
            </a:endParaRP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strike="noStrike" spc="-1" dirty="0">
                <a:solidFill>
                  <a:srgbClr val="000000"/>
                </a:solidFill>
                <a:ea typeface="Calibri"/>
                <a:cs typeface="Times New Roman" panose="02020603050405020304" pitchFamily="18" charset="0"/>
              </a:rPr>
              <a:t>Example</a:t>
            </a: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Calibri"/>
                <a:cs typeface="Times New Roman" panose="02020603050405020304" pitchFamily="18" charset="0"/>
              </a:rPr>
              <a:t>		</a:t>
            </a:r>
            <a:r>
              <a:rPr lang="en-US" sz="2000" b="0" strike="noStrike" spc="-1" dirty="0" err="1">
                <a:solidFill>
                  <a:srgbClr val="000000"/>
                </a:solidFill>
                <a:ea typeface="Calibri"/>
                <a:cs typeface="Times New Roman" panose="02020603050405020304" pitchFamily="18" charset="0"/>
              </a:rPr>
              <a:t>two_dim_array</a:t>
            </a:r>
            <a:r>
              <a:rPr lang="en-US" sz="2000" b="0" strike="noStrike" spc="-1" dirty="0">
                <a:solidFill>
                  <a:srgbClr val="000000"/>
                </a:solidFill>
                <a:ea typeface="Calibri"/>
                <a:cs typeface="Times New Roman" panose="02020603050405020304" pitchFamily="18" charset="0"/>
              </a:rPr>
              <a:t>=[[1,2,3],[4,5,6],[7,8,9]]</a:t>
            </a:r>
            <a:endParaRPr lang="en-US" sz="2000" b="0" strike="noStrike" spc="-1" dirty="0">
              <a:solidFill>
                <a:srgbClr val="000000"/>
              </a:solidFill>
              <a:cs typeface="Times New Roman" panose="02020603050405020304" pitchFamily="18" charset="0"/>
            </a:endParaRP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Calibri"/>
                <a:cs typeface="Times New Roman" panose="02020603050405020304" pitchFamily="18" charset="0"/>
              </a:rPr>
              <a:t>		print(</a:t>
            </a:r>
            <a:r>
              <a:rPr lang="en-US" sz="2000" b="0" strike="noStrike" spc="-1" dirty="0" err="1">
                <a:solidFill>
                  <a:srgbClr val="000000"/>
                </a:solidFill>
                <a:ea typeface="Calibri"/>
                <a:cs typeface="Times New Roman" panose="02020603050405020304" pitchFamily="18" charset="0"/>
              </a:rPr>
              <a:t>two_dim_array</a:t>
            </a:r>
            <a:r>
              <a:rPr lang="en-US" sz="2000" b="0" strike="noStrike" spc="-1" dirty="0">
                <a:solidFill>
                  <a:srgbClr val="000000"/>
                </a:solidFill>
                <a:ea typeface="Calibri"/>
                <a:cs typeface="Times New Roman" panose="02020603050405020304" pitchFamily="18" charset="0"/>
              </a:rPr>
              <a:t>[0])   			 #[1, 2, 3]</a:t>
            </a:r>
            <a:endParaRPr lang="en-US" sz="2000" b="0" strike="noStrike" spc="-1" dirty="0">
              <a:solidFill>
                <a:srgbClr val="000000"/>
              </a:solidFill>
              <a:cs typeface="Times New Roman" panose="02020603050405020304" pitchFamily="18" charset="0"/>
            </a:endParaRP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000" spc="-1" dirty="0">
              <a:solidFill>
                <a:srgbClr val="000000"/>
              </a:solidFill>
              <a:cs typeface="Times New Roman" panose="02020603050405020304" pitchFamily="18" charset="0"/>
            </a:endParaRP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Calibri"/>
                <a:cs typeface="Times New Roman" panose="02020603050405020304" pitchFamily="18" charset="0"/>
              </a:rPr>
              <a:t>Accessing the elements of the first column</a:t>
            </a: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strike="noStrike" spc="-1" dirty="0">
                <a:solidFill>
                  <a:srgbClr val="000000"/>
                </a:solidFill>
                <a:cs typeface="Times New Roman" panose="02020603050405020304" pitchFamily="18" charset="0"/>
              </a:rPr>
              <a:t>Example</a:t>
            </a: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Calibri"/>
                <a:cs typeface="Times New Roman" panose="02020603050405020304" pitchFamily="18" charset="0"/>
              </a:rPr>
              <a:t>		</a:t>
            </a:r>
            <a:r>
              <a:rPr lang="en-US" sz="2000" b="0" strike="noStrike" spc="-1" dirty="0" err="1">
                <a:solidFill>
                  <a:srgbClr val="000000"/>
                </a:solidFill>
                <a:ea typeface="Calibri"/>
                <a:cs typeface="Times New Roman" panose="02020603050405020304" pitchFamily="18" charset="0"/>
              </a:rPr>
              <a:t>two_dim_array</a:t>
            </a:r>
            <a:r>
              <a:rPr lang="en-US" sz="2000" b="0" strike="noStrike" spc="-1" dirty="0">
                <a:solidFill>
                  <a:srgbClr val="000000"/>
                </a:solidFill>
                <a:ea typeface="Calibri"/>
                <a:cs typeface="Times New Roman" panose="02020603050405020304" pitchFamily="18" charset="0"/>
              </a:rPr>
              <a:t>=[[1,2,3],[4,5,6],[7,8,9]]</a:t>
            </a:r>
            <a:endParaRPr lang="en-US" sz="2000" b="0" strike="noStrike" spc="-1" dirty="0">
              <a:solidFill>
                <a:srgbClr val="000000"/>
              </a:solidFill>
              <a:cs typeface="Times New Roman" panose="02020603050405020304" pitchFamily="18" charset="0"/>
            </a:endParaRP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Calibri"/>
                <a:cs typeface="Times New Roman" panose="02020603050405020304" pitchFamily="18" charset="0"/>
              </a:rPr>
              <a:t>		</a:t>
            </a:r>
            <a:r>
              <a:rPr lang="en-US" sz="2000" b="0" strike="noStrike" spc="-1" dirty="0" err="1">
                <a:solidFill>
                  <a:srgbClr val="000000"/>
                </a:solidFill>
                <a:ea typeface="Calibri"/>
                <a:cs typeface="Times New Roman" panose="02020603050405020304" pitchFamily="18" charset="0"/>
              </a:rPr>
              <a:t>first_column</a:t>
            </a:r>
            <a:r>
              <a:rPr lang="en-US" sz="2000" b="0" strike="noStrike" spc="-1" dirty="0">
                <a:solidFill>
                  <a:srgbClr val="000000"/>
                </a:solidFill>
                <a:ea typeface="Calibri"/>
                <a:cs typeface="Times New Roman" panose="02020603050405020304" pitchFamily="18" charset="0"/>
              </a:rPr>
              <a:t> = [row[0] for row in </a:t>
            </a:r>
            <a:r>
              <a:rPr lang="en-US" sz="2000" b="0" strike="noStrike" spc="-1" dirty="0" err="1">
                <a:solidFill>
                  <a:srgbClr val="000000"/>
                </a:solidFill>
                <a:ea typeface="Calibri"/>
                <a:cs typeface="Times New Roman" panose="02020603050405020304" pitchFamily="18" charset="0"/>
              </a:rPr>
              <a:t>two_dim_array</a:t>
            </a:r>
            <a:r>
              <a:rPr lang="en-US" sz="2000" b="0" strike="noStrike" spc="-1" dirty="0">
                <a:solidFill>
                  <a:srgbClr val="000000"/>
                </a:solidFill>
                <a:ea typeface="Calibri"/>
                <a:cs typeface="Times New Roman" panose="02020603050405020304" pitchFamily="18" charset="0"/>
              </a:rPr>
              <a:t>]</a:t>
            </a:r>
            <a:endParaRPr lang="en-US" sz="2000" b="0" strike="noStrike" spc="-1" dirty="0">
              <a:solidFill>
                <a:srgbClr val="000000"/>
              </a:solidFill>
              <a:cs typeface="Times New Roman" panose="02020603050405020304" pitchFamily="18" charset="0"/>
            </a:endParaRP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Calibri"/>
                <a:cs typeface="Times New Roman" panose="02020603050405020304" pitchFamily="18" charset="0"/>
              </a:rPr>
              <a:t>		print(</a:t>
            </a:r>
            <a:r>
              <a:rPr lang="en-US" sz="2000" b="0" strike="noStrike" spc="-1" dirty="0" err="1">
                <a:solidFill>
                  <a:srgbClr val="000000"/>
                </a:solidFill>
                <a:ea typeface="Calibri"/>
                <a:cs typeface="Times New Roman" panose="02020603050405020304" pitchFamily="18" charset="0"/>
              </a:rPr>
              <a:t>first_column</a:t>
            </a:r>
            <a:r>
              <a:rPr lang="en-US" sz="2000" b="0" strike="noStrike" spc="-1" dirty="0">
                <a:solidFill>
                  <a:srgbClr val="000000"/>
                </a:solidFill>
                <a:ea typeface="Calibri"/>
                <a:cs typeface="Times New Roman" panose="02020603050405020304" pitchFamily="18" charset="0"/>
              </a:rPr>
              <a:t>)    			#[1, 4, 7]</a:t>
            </a:r>
            <a:endParaRPr lang="en-US" sz="2000" b="0" strike="noStrike" spc="-1" dirty="0">
              <a:solidFill>
                <a:srgbClr val="000000"/>
              </a:solidFill>
              <a:cs typeface="Times New Roman" panose="02020603050405020304" pitchFamily="18" charset="0"/>
            </a:endParaRPr>
          </a:p>
          <a:p>
            <a:endParaRPr lang="en-IN" sz="2000" dirty="0"/>
          </a:p>
        </p:txBody>
      </p:sp>
    </p:spTree>
    <p:extLst>
      <p:ext uri="{BB962C8B-B14F-4D97-AF65-F5344CB8AC3E}">
        <p14:creationId xmlns:p14="http://schemas.microsoft.com/office/powerpoint/2010/main" val="286514925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E80ED-1F97-7EC5-31DB-808BABC0A628}"/>
              </a:ext>
            </a:extLst>
          </p:cNvPr>
          <p:cNvSpPr>
            <a:spLocks noGrp="1"/>
          </p:cNvSpPr>
          <p:nvPr>
            <p:ph type="title"/>
          </p:nvPr>
        </p:nvSpPr>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Matrix Indexing</a:t>
            </a:r>
          </a:p>
        </p:txBody>
      </p:sp>
      <p:pic>
        <p:nvPicPr>
          <p:cNvPr id="4" name="Picture 3">
            <a:extLst>
              <a:ext uri="{FF2B5EF4-FFF2-40B4-BE49-F238E27FC236}">
                <a16:creationId xmlns:a16="http://schemas.microsoft.com/office/drawing/2014/main" id="{5938EFA7-2C9E-1E5C-F4CF-685ED6BBF54F}"/>
              </a:ext>
            </a:extLst>
          </p:cNvPr>
          <p:cNvPicPr/>
          <p:nvPr/>
        </p:nvPicPr>
        <p:blipFill>
          <a:blip r:embed="rId2" cstate="print"/>
          <a:stretch/>
        </p:blipFill>
        <p:spPr>
          <a:xfrm>
            <a:off x="11503320" y="0"/>
            <a:ext cx="688680" cy="689040"/>
          </a:xfrm>
          <a:prstGeom prst="rect">
            <a:avLst/>
          </a:prstGeom>
          <a:ln w="0">
            <a:noFill/>
          </a:ln>
        </p:spPr>
      </p:pic>
      <p:sp>
        <p:nvSpPr>
          <p:cNvPr id="6" name="TextBox 5">
            <a:extLst>
              <a:ext uri="{FF2B5EF4-FFF2-40B4-BE49-F238E27FC236}">
                <a16:creationId xmlns:a16="http://schemas.microsoft.com/office/drawing/2014/main" id="{37576FC1-8925-B35D-23D2-A793B3BBA724}"/>
              </a:ext>
            </a:extLst>
          </p:cNvPr>
          <p:cNvSpPr txBox="1"/>
          <p:nvPr/>
        </p:nvSpPr>
        <p:spPr>
          <a:xfrm>
            <a:off x="648929" y="1690688"/>
            <a:ext cx="11007213" cy="4721292"/>
          </a:xfrm>
          <a:prstGeom prst="rect">
            <a:avLst/>
          </a:prstGeom>
          <a:noFill/>
        </p:spPr>
        <p:txBody>
          <a:bodyPr wrap="square">
            <a:spAutoFit/>
          </a:bodyPr>
          <a:lstStyle/>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n-US" sz="2000" b="0" strike="noStrike" spc="-1" dirty="0">
                <a:solidFill>
                  <a:srgbClr val="000000"/>
                </a:solidFill>
                <a:ea typeface="Times New Roman"/>
                <a:cs typeface="Times New Roman" panose="02020603050405020304" pitchFamily="18" charset="0"/>
              </a:rPr>
              <a:t>Matrix indexing in Python involves working with lists of lists. This approach allows you to create, access, and manipulate elements within a two-dimensional array (matrix) using standard Python list operations.</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n-US" sz="2000" b="1" strike="noStrike" spc="-1" dirty="0">
                <a:solidFill>
                  <a:srgbClr val="000000"/>
                </a:solidFill>
                <a:ea typeface="Times New Roman"/>
                <a:cs typeface="Times New Roman" panose="02020603050405020304" pitchFamily="18" charset="0"/>
              </a:rPr>
              <a:t>Basic Matrix Creation:</a:t>
            </a:r>
            <a:endParaRPr lang="en-US" sz="2000" b="1"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n-US" sz="2000" b="0" strike="noStrike" spc="-1" dirty="0">
                <a:solidFill>
                  <a:srgbClr val="000000"/>
                </a:solidFill>
                <a:ea typeface="Times New Roman"/>
                <a:cs typeface="Times New Roman" panose="02020603050405020304" pitchFamily="18" charset="0"/>
              </a:rPr>
              <a:t>A matrix can be represented as a list of lists, where each inner list represents a row.</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n-US" sz="2000" b="0" strike="noStrike" spc="-1" dirty="0">
                <a:solidFill>
                  <a:srgbClr val="000000"/>
                </a:solidFill>
                <a:ea typeface="Times New Roman"/>
                <a:cs typeface="Times New Roman" panose="02020603050405020304" pitchFamily="18" charset="0"/>
              </a:rPr>
              <a:t>matrix = </a:t>
            </a:r>
            <a:r>
              <a:rPr lang="en-US" sz="2000" b="0" strike="noStrike" spc="-1" dirty="0">
                <a:solidFill>
                  <a:srgbClr val="000000"/>
                </a:solidFill>
                <a:ea typeface="Calibri"/>
                <a:cs typeface="Times New Roman" panose="02020603050405020304" pitchFamily="18" charset="0"/>
              </a:rPr>
              <a:t>[[1,2,3],[4,5,6],[7,8,9]]</a:t>
            </a:r>
            <a:endParaRPr lang="en-US" sz="2000" b="0" strike="noStrike" spc="-1" dirty="0">
              <a:solidFill>
                <a:srgbClr val="000000"/>
              </a:solidFill>
              <a:cs typeface="Times New Roman" panose="02020603050405020304" pitchFamily="18" charset="0"/>
            </a:endParaRPr>
          </a:p>
          <a:p>
            <a:pPr marL="0" indent="0">
              <a:lnSpc>
                <a:spcPct val="114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endParaRPr lang="en-US" sz="2000" b="0" strike="noStrike" spc="-1" dirty="0">
              <a:solidFill>
                <a:srgbClr val="000000"/>
              </a:solidFill>
              <a:cs typeface="Times New Roman" panose="02020603050405020304" pitchFamily="18" charset="0"/>
            </a:endParaRP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n-US" sz="2000" b="1" strike="noStrike" spc="-1" dirty="0">
                <a:solidFill>
                  <a:srgbClr val="000000"/>
                </a:solidFill>
                <a:ea typeface="Calibri"/>
                <a:cs typeface="Times New Roman" panose="02020603050405020304" pitchFamily="18" charset="0"/>
              </a:rPr>
              <a:t>Accessing Elements:</a:t>
            </a:r>
            <a:endParaRPr lang="en-US" sz="2000" b="1" strike="noStrike" spc="-1" dirty="0">
              <a:solidFill>
                <a:srgbClr val="000000"/>
              </a:solidFill>
              <a:cs typeface="Times New Roman" panose="02020603050405020304" pitchFamily="18" charset="0"/>
            </a:endParaRP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n-US" sz="2000" b="0" strike="noStrike" spc="-1" dirty="0">
                <a:solidFill>
                  <a:srgbClr val="000000"/>
                </a:solidFill>
                <a:ea typeface="Calibri"/>
                <a:cs typeface="Times New Roman" panose="02020603050405020304" pitchFamily="18" charset="0"/>
              </a:rPr>
              <a:t>To access an element in the matrix, you specify the row and column indices. Note that Python uses zero-based indexing.</a:t>
            </a:r>
            <a:endParaRPr lang="en-US" sz="2000" b="0" strike="noStrike" spc="-1" dirty="0">
              <a:solidFill>
                <a:srgbClr val="000000"/>
              </a:solidFill>
              <a:cs typeface="Times New Roman" panose="02020603050405020304" pitchFamily="18" charset="0"/>
            </a:endParaRP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endParaRPr lang="en-US" sz="2000" b="0" strike="noStrike" spc="-1" dirty="0">
              <a:solidFill>
                <a:srgbClr val="000000"/>
              </a:solidFill>
              <a:cs typeface="Times New Roman" panose="02020603050405020304" pitchFamily="18" charset="0"/>
            </a:endParaRP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n-US" sz="2000" b="0" strike="noStrike" spc="-1" dirty="0">
                <a:solidFill>
                  <a:srgbClr val="000000"/>
                </a:solidFill>
                <a:ea typeface="Calibri"/>
                <a:cs typeface="Times New Roman" panose="02020603050405020304" pitchFamily="18" charset="0"/>
              </a:rPr>
              <a:t>Access element in the first row, second column</a:t>
            </a:r>
            <a:endParaRPr lang="en-US" sz="2000" b="0" strike="noStrike" spc="-1" dirty="0">
              <a:solidFill>
                <a:srgbClr val="000000"/>
              </a:solidFill>
              <a:cs typeface="Times New Roman" panose="02020603050405020304" pitchFamily="18" charset="0"/>
            </a:endParaRP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n-US" sz="2000" b="0" strike="noStrike" spc="-1" dirty="0">
                <a:solidFill>
                  <a:srgbClr val="000000"/>
                </a:solidFill>
                <a:ea typeface="Calibri"/>
                <a:cs typeface="Times New Roman" panose="02020603050405020304" pitchFamily="18" charset="0"/>
              </a:rPr>
              <a:t>element = matrix[0][1]  </a:t>
            </a:r>
            <a:endParaRPr lang="en-US" sz="2000" b="0" strike="noStrike" spc="-1" dirty="0">
              <a:solidFill>
                <a:srgbClr val="000000"/>
              </a:solidFill>
              <a:cs typeface="Times New Roman" panose="02020603050405020304" pitchFamily="18" charset="0"/>
            </a:endParaRP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972800" algn="l"/>
              </a:tabLst>
            </a:pPr>
            <a:r>
              <a:rPr lang="en-US" sz="2000" b="0" strike="noStrike" spc="-1" dirty="0">
                <a:solidFill>
                  <a:srgbClr val="000000"/>
                </a:solidFill>
                <a:ea typeface="Calibri"/>
                <a:cs typeface="Times New Roman" panose="02020603050405020304" pitchFamily="18" charset="0"/>
              </a:rPr>
              <a:t>print(element)# Output: 2</a:t>
            </a:r>
            <a:endParaRPr lang="en-US" sz="2000" b="0" strike="noStrike" spc="-1" dirty="0">
              <a:solidFill>
                <a:srgbClr val="000000"/>
              </a:solidFill>
              <a:cs typeface="Times New Roman" panose="02020603050405020304" pitchFamily="18" charset="0"/>
            </a:endParaRPr>
          </a:p>
        </p:txBody>
      </p:sp>
    </p:spTree>
    <p:extLst>
      <p:ext uri="{BB962C8B-B14F-4D97-AF65-F5344CB8AC3E}">
        <p14:creationId xmlns:p14="http://schemas.microsoft.com/office/powerpoint/2010/main" val="234949342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CDDF14A-04EB-E827-035C-11F33E41EC57}"/>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50DBAE62-7EBA-C06E-27F6-1617161BD6F3}"/>
              </a:ext>
            </a:extLst>
          </p:cNvPr>
          <p:cNvSpPr txBox="1"/>
          <p:nvPr/>
        </p:nvSpPr>
        <p:spPr>
          <a:xfrm>
            <a:off x="393290" y="403123"/>
            <a:ext cx="9576620" cy="5026761"/>
          </a:xfrm>
          <a:prstGeom prst="rect">
            <a:avLst/>
          </a:prstGeom>
          <a:noFill/>
        </p:spPr>
        <p:txBody>
          <a:bodyPr wrap="square">
            <a:spAutoFit/>
          </a:bodyPr>
          <a:lstStyle/>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Access the entire first row</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err="1">
                <a:solidFill>
                  <a:srgbClr val="000000"/>
                </a:solidFill>
                <a:ea typeface="Times New Roman"/>
                <a:cs typeface="Times New Roman" panose="02020603050405020304" pitchFamily="18" charset="0"/>
              </a:rPr>
              <a:t>first_row</a:t>
            </a:r>
            <a:r>
              <a:rPr lang="en-US" sz="2000" b="0" strike="noStrike" spc="-1" dirty="0">
                <a:solidFill>
                  <a:srgbClr val="000000"/>
                </a:solidFill>
                <a:ea typeface="Times New Roman"/>
                <a:cs typeface="Times New Roman" panose="02020603050405020304" pitchFamily="18" charset="0"/>
              </a:rPr>
              <a:t> = matrix[0]  # Output: [1, 2, 3]</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Access the entire first column</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err="1">
                <a:solidFill>
                  <a:srgbClr val="000000"/>
                </a:solidFill>
                <a:ea typeface="Times New Roman"/>
                <a:cs typeface="Times New Roman" panose="02020603050405020304" pitchFamily="18" charset="0"/>
              </a:rPr>
              <a:t>first_column</a:t>
            </a:r>
            <a:r>
              <a:rPr lang="en-US" sz="2000" b="0" strike="noStrike" spc="-1" dirty="0">
                <a:solidFill>
                  <a:srgbClr val="000000"/>
                </a:solidFill>
                <a:ea typeface="Times New Roman"/>
                <a:cs typeface="Times New Roman" panose="02020603050405020304" pitchFamily="18" charset="0"/>
              </a:rPr>
              <a:t> = [row[0] for row in matrix]  # Output: [1, 4, 7]</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Slicing Rows and Columns:</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You can use slicing to access submatrices or parts of rows and columns.</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Access the first two rows</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err="1">
                <a:solidFill>
                  <a:srgbClr val="000000"/>
                </a:solidFill>
                <a:ea typeface="Times New Roman"/>
                <a:cs typeface="Times New Roman" panose="02020603050405020304" pitchFamily="18" charset="0"/>
              </a:rPr>
              <a:t>first_two_rows</a:t>
            </a:r>
            <a:r>
              <a:rPr lang="en-US" sz="2000" b="0" strike="noStrike" spc="-1" dirty="0">
                <a:solidFill>
                  <a:srgbClr val="000000"/>
                </a:solidFill>
                <a:ea typeface="Times New Roman"/>
                <a:cs typeface="Times New Roman" panose="02020603050405020304" pitchFamily="18" charset="0"/>
              </a:rPr>
              <a:t> = matrix[:2]  # Output: [[1, 2, 3], [4, 5, 6]]</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Access the first two columns</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err="1">
                <a:solidFill>
                  <a:srgbClr val="000000"/>
                </a:solidFill>
                <a:ea typeface="Times New Roman"/>
                <a:cs typeface="Times New Roman" panose="02020603050405020304" pitchFamily="18" charset="0"/>
              </a:rPr>
              <a:t>first_two_columns</a:t>
            </a:r>
            <a:r>
              <a:rPr lang="en-US" sz="2000" b="0" strike="noStrike" spc="-1" dirty="0">
                <a:solidFill>
                  <a:srgbClr val="000000"/>
                </a:solidFill>
                <a:ea typeface="Times New Roman"/>
                <a:cs typeface="Times New Roman" panose="02020603050405020304" pitchFamily="18" charset="0"/>
              </a:rPr>
              <a:t> = [row[:2] for row in matrix]  # Output: [[1, 2], [4, 5], [7, 8]]</a:t>
            </a:r>
            <a:endParaRPr lang="en-IN" sz="2000" dirty="0">
              <a:cs typeface="Times New Roman" panose="02020603050405020304" pitchFamily="18" charset="0"/>
            </a:endParaRPr>
          </a:p>
        </p:txBody>
      </p:sp>
    </p:spTree>
    <p:extLst>
      <p:ext uri="{BB962C8B-B14F-4D97-AF65-F5344CB8AC3E}">
        <p14:creationId xmlns:p14="http://schemas.microsoft.com/office/powerpoint/2010/main" val="273488739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D71C6CC-B339-DD3A-C608-40A426F29B34}"/>
              </a:ext>
            </a:extLst>
          </p:cNvPr>
          <p:cNvPicPr/>
          <p:nvPr/>
        </p:nvPicPr>
        <p:blipFill>
          <a:blip r:embed="rId2" cstate="print"/>
          <a:stretch/>
        </p:blipFill>
        <p:spPr>
          <a:xfrm>
            <a:off x="11503320" y="0"/>
            <a:ext cx="688680" cy="689040"/>
          </a:xfrm>
          <a:prstGeom prst="rect">
            <a:avLst/>
          </a:prstGeom>
          <a:ln w="0">
            <a:noFill/>
          </a:ln>
        </p:spPr>
      </p:pic>
      <p:sp>
        <p:nvSpPr>
          <p:cNvPr id="7" name="TextBox 6">
            <a:extLst>
              <a:ext uri="{FF2B5EF4-FFF2-40B4-BE49-F238E27FC236}">
                <a16:creationId xmlns:a16="http://schemas.microsoft.com/office/drawing/2014/main" id="{AE1EA591-47EE-FF3B-C9A9-01B0E4F34682}"/>
              </a:ext>
            </a:extLst>
          </p:cNvPr>
          <p:cNvSpPr txBox="1"/>
          <p:nvPr/>
        </p:nvSpPr>
        <p:spPr>
          <a:xfrm>
            <a:off x="432619" y="324465"/>
            <a:ext cx="11543071" cy="5734647"/>
          </a:xfrm>
          <a:prstGeom prst="rect">
            <a:avLst/>
          </a:prstGeom>
          <a:noFill/>
        </p:spPr>
        <p:txBody>
          <a:bodyPr wrap="square">
            <a:spAutoFit/>
          </a:bodyPr>
          <a:lstStyle/>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Modifying Elements:</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You can modify elements by directly assigning a new value to a specific index.</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Change the element in the second row, third column to 10</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matrix[1][2] = 10  # matrix now becomes [[1, 2, 3], [4, 5, 10], [7, 8, 9]]</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Adding Rows and Columns:</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To add a row, simply append a new list to the matrix. To add a column, you need to append elements to each existing row.</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Add a new row</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err="1">
                <a:solidFill>
                  <a:srgbClr val="000000"/>
                </a:solidFill>
                <a:ea typeface="Times New Roman"/>
                <a:cs typeface="Times New Roman" panose="02020603050405020304" pitchFamily="18" charset="0"/>
              </a:rPr>
              <a:t>matrix.append</a:t>
            </a:r>
            <a:r>
              <a:rPr lang="en-US" sz="2000" b="0" strike="noStrike" spc="-1" dirty="0">
                <a:solidFill>
                  <a:srgbClr val="000000"/>
                </a:solidFill>
                <a:ea typeface="Times New Roman"/>
                <a:cs typeface="Times New Roman" panose="02020603050405020304" pitchFamily="18" charset="0"/>
              </a:rPr>
              <a:t>([10, 11, 12])  # matrix now becomes [[1, 2, 3], [4, 5, 10], [7, 8, 9], [10, 11, 12]]</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Add a new column</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for row in matrix:</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a:t>
            </a:r>
            <a:r>
              <a:rPr lang="en-US" sz="2000" b="0" strike="noStrike" spc="-1" dirty="0" err="1">
                <a:solidFill>
                  <a:srgbClr val="000000"/>
                </a:solidFill>
                <a:ea typeface="Times New Roman"/>
                <a:cs typeface="Times New Roman" panose="02020603050405020304" pitchFamily="18" charset="0"/>
              </a:rPr>
              <a:t>row.append</a:t>
            </a:r>
            <a:r>
              <a:rPr lang="en-US" sz="2000" b="0" strike="noStrike" spc="-1" dirty="0">
                <a:solidFill>
                  <a:srgbClr val="000000"/>
                </a:solidFill>
                <a:ea typeface="Times New Roman"/>
                <a:cs typeface="Times New Roman" panose="02020603050405020304" pitchFamily="18" charset="0"/>
              </a:rPr>
              <a:t>(5)  # matrix now becomes [[1, 2, 3, 5], [4, 5, 10, 5], [7, 8, 9, 5], [10, 11, 12, 5]]</a:t>
            </a:r>
            <a:endParaRPr lang="en-IN" sz="2000" dirty="0">
              <a:cs typeface="Times New Roman" panose="02020603050405020304" pitchFamily="18" charset="0"/>
            </a:endParaRPr>
          </a:p>
        </p:txBody>
      </p:sp>
    </p:spTree>
    <p:extLst>
      <p:ext uri="{BB962C8B-B14F-4D97-AF65-F5344CB8AC3E}">
        <p14:creationId xmlns:p14="http://schemas.microsoft.com/office/powerpoint/2010/main" val="244147547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2D6672-DE05-87FD-46E7-22A6507A3EF8}"/>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851AC040-001A-CC50-ADF4-62523FB6A961}"/>
              </a:ext>
            </a:extLst>
          </p:cNvPr>
          <p:cNvSpPr txBox="1"/>
          <p:nvPr/>
        </p:nvSpPr>
        <p:spPr>
          <a:xfrm>
            <a:off x="619431" y="530942"/>
            <a:ext cx="10559845" cy="3939540"/>
          </a:xfrm>
          <a:prstGeom prst="rect">
            <a:avLst/>
          </a:prstGeom>
          <a:noFill/>
        </p:spPr>
        <p:txBody>
          <a:bodyPr wrap="square">
            <a:spAutoFit/>
          </a:bodyPr>
          <a:lstStyle/>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Removing Rows and Columns:</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To remove a row, use the `del` statement. To remove a column, you need to delete elements from each row.</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Remove the last row</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del matrix[-1]  # matrix now becomes [[1, 2, 3, </a:t>
            </a:r>
            <a:r>
              <a:rPr lang="en-US" sz="2000" spc="-1" dirty="0">
                <a:solidFill>
                  <a:srgbClr val="000000"/>
                </a:solidFill>
                <a:ea typeface="Times New Roman"/>
                <a:cs typeface="Times New Roman" panose="02020603050405020304" pitchFamily="18" charset="0"/>
              </a:rPr>
              <a:t>5</a:t>
            </a:r>
            <a:r>
              <a:rPr lang="en-US" sz="2000" b="0" strike="noStrike" spc="-1" dirty="0">
                <a:solidFill>
                  <a:srgbClr val="000000"/>
                </a:solidFill>
                <a:ea typeface="Times New Roman"/>
                <a:cs typeface="Times New Roman" panose="02020603050405020304" pitchFamily="18" charset="0"/>
              </a:rPr>
              <a:t>], [4, 5, 10, 5], [7, 8, 9, </a:t>
            </a:r>
            <a:r>
              <a:rPr lang="en-US" sz="2000" spc="-1" dirty="0">
                <a:solidFill>
                  <a:srgbClr val="000000"/>
                </a:solidFill>
                <a:ea typeface="Times New Roman"/>
                <a:cs typeface="Times New Roman" panose="02020603050405020304" pitchFamily="18" charset="0"/>
              </a:rPr>
              <a:t>5</a:t>
            </a:r>
            <a:r>
              <a:rPr lang="en-US" sz="2000" b="0" strike="noStrike" spc="-1" dirty="0">
                <a:solidFill>
                  <a:srgbClr val="000000"/>
                </a:solidFill>
                <a:ea typeface="Times New Roman"/>
                <a:cs typeface="Times New Roman" panose="02020603050405020304" pitchFamily="18" charset="0"/>
              </a:rPr>
              <a:t>]]</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Remove the last column</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for row in matrix:</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del row[-1]  # matrix now becomes [[1, 2, 3], [4, 5, 10], [7, 8, 9]]</a:t>
            </a:r>
            <a:endParaRPr lang="en-US" sz="2000" b="0" strike="noStrike" spc="-1" dirty="0">
              <a:solidFill>
                <a:srgbClr val="000000"/>
              </a:solidFill>
              <a:cs typeface="Times New Roman" panose="02020603050405020304" pitchFamily="18" charset="0"/>
            </a:endParaRPr>
          </a:p>
          <a:p>
            <a:pPr marL="0" indent="0">
              <a:buNone/>
            </a:pPr>
            <a:endParaRPr lang="en-IN" sz="2000" dirty="0"/>
          </a:p>
        </p:txBody>
      </p:sp>
    </p:spTree>
    <p:extLst>
      <p:ext uri="{BB962C8B-B14F-4D97-AF65-F5344CB8AC3E}">
        <p14:creationId xmlns:p14="http://schemas.microsoft.com/office/powerpoint/2010/main" val="19399098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05E89D2-0E68-816D-7D12-6FAD9CF7D14A}"/>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333C43C7-D2D7-4316-A6D8-E44EEEFAAF78}"/>
              </a:ext>
            </a:extLst>
          </p:cNvPr>
          <p:cNvSpPr txBox="1"/>
          <p:nvPr/>
        </p:nvSpPr>
        <p:spPr>
          <a:xfrm>
            <a:off x="748146" y="689040"/>
            <a:ext cx="11099726" cy="5032147"/>
          </a:xfrm>
          <a:prstGeom prst="rect">
            <a:avLst/>
          </a:prstGeom>
          <a:noFill/>
        </p:spPr>
        <p:txBody>
          <a:bodyPr wrap="square">
            <a:spAutoFit/>
          </a:bodyPr>
          <a:lstStyle/>
          <a:p>
            <a:pPr marL="0" indent="0">
              <a:lnSpc>
                <a:spcPct val="115000"/>
              </a:lnSpc>
              <a:spcBef>
                <a:spcPts val="11"/>
              </a:spcBef>
              <a:spcAft>
                <a:spcPts val="814"/>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strike="noStrike" spc="-1" dirty="0">
                <a:solidFill>
                  <a:srgbClr val="000000"/>
                </a:solidFill>
                <a:ea typeface="Times New Roman"/>
                <a:cs typeface="Times New Roman" panose="02020603050405020304" pitchFamily="18" charset="0"/>
              </a:rPr>
              <a:t>Accessing the diagonal elements:</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814"/>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To access the diagonal elements of a matrix (elements where the row index equals the column index), you can use a simple loop to iterate over the rows and columns simultaneously. </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814"/>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sng" strike="noStrike" spc="-1" dirty="0">
                <a:solidFill>
                  <a:srgbClr val="000000"/>
                </a:solidFill>
                <a:uFillTx/>
                <a:ea typeface="Times New Roman"/>
                <a:cs typeface="Times New Roman" panose="02020603050405020304" pitchFamily="18" charset="0"/>
              </a:rPr>
              <a:t>Example:</a:t>
            </a:r>
            <a:endParaRPr lang="en-US" sz="2000" b="1" strike="noStrike" spc="-1" dirty="0">
              <a:solidFill>
                <a:srgbClr val="000000"/>
              </a:solidFill>
              <a:cs typeface="Times New Roman" panose="02020603050405020304" pitchFamily="18" charset="0"/>
            </a:endParaRPr>
          </a:p>
          <a:p>
            <a:pPr marL="0" indent="0">
              <a:lnSpc>
                <a:spcPct val="115000"/>
              </a:lnSpc>
              <a:spcBef>
                <a:spcPts val="11"/>
              </a:spcBef>
              <a:spcAft>
                <a:spcPts val="814"/>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matrix =</a:t>
            </a:r>
            <a:r>
              <a:rPr lang="en-US" sz="2000" b="0" strike="noStrike" spc="-1" dirty="0">
                <a:solidFill>
                  <a:srgbClr val="000000"/>
                </a:solidFill>
                <a:ea typeface="Calibri"/>
                <a:cs typeface="Times New Roman" panose="02020603050405020304" pitchFamily="18" charset="0"/>
              </a:rPr>
              <a:t>[[1,2,3],[4,5,6],[7,8,9]]</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814"/>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err="1">
                <a:solidFill>
                  <a:srgbClr val="000000"/>
                </a:solidFill>
                <a:ea typeface="Times New Roman"/>
                <a:cs typeface="Times New Roman" panose="02020603050405020304" pitchFamily="18" charset="0"/>
              </a:rPr>
              <a:t>diagonal_elements</a:t>
            </a:r>
            <a:r>
              <a:rPr lang="en-US" sz="2000" b="0" strike="noStrike" spc="-1" dirty="0">
                <a:solidFill>
                  <a:srgbClr val="000000"/>
                </a:solidFill>
                <a:ea typeface="Times New Roman"/>
                <a:cs typeface="Times New Roman" panose="02020603050405020304" pitchFamily="18" charset="0"/>
              </a:rPr>
              <a:t> = [matrix[i][i] for i in range(len(matrix))]</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814"/>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print(</a:t>
            </a:r>
            <a:r>
              <a:rPr lang="en-US" sz="2000" b="0" strike="noStrike" spc="-1" dirty="0" err="1">
                <a:solidFill>
                  <a:srgbClr val="000000"/>
                </a:solidFill>
                <a:ea typeface="Times New Roman"/>
                <a:cs typeface="Times New Roman" panose="02020603050405020304" pitchFamily="18" charset="0"/>
              </a:rPr>
              <a:t>diagonal_elements</a:t>
            </a:r>
            <a:r>
              <a:rPr lang="en-US" sz="2000" b="0" strike="noStrike" spc="-1" dirty="0">
                <a:solidFill>
                  <a:srgbClr val="000000"/>
                </a:solidFill>
                <a:ea typeface="Times New Roman"/>
                <a:cs typeface="Times New Roman" panose="02020603050405020304" pitchFamily="18" charset="0"/>
              </a:rPr>
              <a:t>)  # Output: [1, 5, 9]</a:t>
            </a:r>
            <a:endParaRPr lang="en-US" sz="2000" b="0" strike="noStrike" spc="-1" dirty="0">
              <a:solidFill>
                <a:srgbClr val="000000"/>
              </a:solidFill>
              <a:cs typeface="Times New Roman" panose="02020603050405020304" pitchFamily="18" charset="0"/>
            </a:endParaRP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Calibri"/>
                <a:cs typeface="Times New Roman" panose="02020603050405020304" pitchFamily="18" charset="0"/>
              </a:rPr>
              <a:t>In this code:</a:t>
            </a:r>
            <a:endParaRPr lang="en-US" sz="2000" b="0" strike="noStrike" spc="-1" dirty="0">
              <a:solidFill>
                <a:srgbClr val="000000"/>
              </a:solidFill>
              <a:cs typeface="Times New Roman" panose="02020603050405020304" pitchFamily="18" charset="0"/>
            </a:endParaRP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Calibri"/>
                <a:cs typeface="Times New Roman" panose="02020603050405020304" pitchFamily="18" charset="0"/>
              </a:rPr>
              <a:t>- `matrix[i][i]` accesses the diagonal elements, where `i` represents both the row and column index because we are accessing the diagonal elements.</a:t>
            </a:r>
            <a:endParaRPr lang="en-US" sz="2000" b="0" strike="noStrike" spc="-1" dirty="0">
              <a:solidFill>
                <a:srgbClr val="000000"/>
              </a:solidFill>
              <a:cs typeface="Times New Roman" panose="02020603050405020304" pitchFamily="18" charset="0"/>
            </a:endParaRP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Calibri"/>
                <a:cs typeface="Times New Roman" panose="02020603050405020304" pitchFamily="18" charset="0"/>
              </a:rPr>
              <a:t>- `range(len(matrix))` generates a sequence of indices from 0 to the length of the matrix (exclusive), which allows us to iterate over each row and column index simultaneously.</a:t>
            </a:r>
            <a:endParaRPr lang="en-US" sz="2000" b="0" strike="noStrike" spc="-1" dirty="0">
              <a:solidFill>
                <a:srgbClr val="000000"/>
              </a:solidFill>
              <a:cs typeface="Times New Roman" panose="02020603050405020304" pitchFamily="18" charset="0"/>
            </a:endParaRPr>
          </a:p>
          <a:p>
            <a:endParaRPr lang="en-IN" sz="2000" dirty="0"/>
          </a:p>
        </p:txBody>
      </p:sp>
    </p:spTree>
    <p:extLst>
      <p:ext uri="{BB962C8B-B14F-4D97-AF65-F5344CB8AC3E}">
        <p14:creationId xmlns:p14="http://schemas.microsoft.com/office/powerpoint/2010/main" val="111352160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8592C-DB7E-A61C-54AC-E521463963B0}"/>
              </a:ext>
            </a:extLst>
          </p:cNvPr>
          <p:cNvSpPr>
            <a:spLocks noGrp="1"/>
          </p:cNvSpPr>
          <p:nvPr>
            <p:ph type="title"/>
          </p:nvPr>
        </p:nvSpPr>
        <p:spPr/>
        <p:txBody>
          <a:bodyPr/>
          <a:lstStyle/>
          <a:p>
            <a:pPr algn="ctr"/>
            <a:r>
              <a:rPr lang="en-US"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Tuples</a:t>
            </a:r>
            <a:endPar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endParaRPr>
          </a:p>
        </p:txBody>
      </p:sp>
      <p:pic>
        <p:nvPicPr>
          <p:cNvPr id="4" name="Picture 3">
            <a:extLst>
              <a:ext uri="{FF2B5EF4-FFF2-40B4-BE49-F238E27FC236}">
                <a16:creationId xmlns:a16="http://schemas.microsoft.com/office/drawing/2014/main" id="{CD200847-246C-63DD-9DCB-54E3AD9A8A8B}"/>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AA703079-A984-55B9-7E15-C85A33039FD5}"/>
              </a:ext>
            </a:extLst>
          </p:cNvPr>
          <p:cNvSpPr txBox="1"/>
          <p:nvPr/>
        </p:nvSpPr>
        <p:spPr>
          <a:xfrm>
            <a:off x="838199" y="1877960"/>
            <a:ext cx="10862187" cy="3170099"/>
          </a:xfrm>
          <a:prstGeom prst="rect">
            <a:avLst/>
          </a:prstGeom>
          <a:noFill/>
        </p:spPr>
        <p:txBody>
          <a:bodyPr wrap="square">
            <a:spAutoFit/>
          </a:bodyPr>
          <a:lstStyle/>
          <a:p>
            <a:pPr marL="0" indent="0">
              <a:buNone/>
            </a:pPr>
            <a:r>
              <a:rPr lang="en-IN" sz="2000" b="1" dirty="0">
                <a:cs typeface="Times New Roman" panose="02020603050405020304" pitchFamily="18" charset="0"/>
              </a:rPr>
              <a:t>Definition:-</a:t>
            </a:r>
          </a:p>
          <a:p>
            <a:pPr marL="0" indent="0" algn="just">
              <a:buNone/>
            </a:pPr>
            <a:r>
              <a:rPr lang="en-IN" sz="2000" b="1" dirty="0">
                <a:cs typeface="Times New Roman" panose="02020603050405020304" pitchFamily="18" charset="0"/>
              </a:rPr>
              <a:t>	</a:t>
            </a:r>
            <a:r>
              <a:rPr lang="en-IN" sz="2000" dirty="0">
                <a:cs typeface="Times New Roman" panose="02020603050405020304" pitchFamily="18" charset="0"/>
              </a:rPr>
              <a:t>A tuple is a collection of objects, values, or items of different types and these collections are enclosed within the round brackets </a:t>
            </a:r>
            <a:r>
              <a:rPr lang="en-IN" sz="2000" b="1" dirty="0">
                <a:solidFill>
                  <a:srgbClr val="FF0000"/>
                </a:solidFill>
                <a:cs typeface="Times New Roman" panose="02020603050405020304" pitchFamily="18" charset="0"/>
              </a:rPr>
              <a:t>( )</a:t>
            </a:r>
            <a:r>
              <a:rPr lang="en-IN" sz="2000" b="1" dirty="0">
                <a:cs typeface="Times New Roman" panose="02020603050405020304" pitchFamily="18" charset="0"/>
              </a:rPr>
              <a:t> </a:t>
            </a:r>
            <a:r>
              <a:rPr lang="en-IN" sz="2000" dirty="0">
                <a:cs typeface="Times New Roman" panose="02020603050405020304" pitchFamily="18" charset="0"/>
              </a:rPr>
              <a:t>and separated by commas (</a:t>
            </a:r>
            <a:r>
              <a:rPr lang="en-IN" sz="2000" b="1" dirty="0">
                <a:solidFill>
                  <a:srgbClr val="FF0000"/>
                </a:solidFill>
                <a:cs typeface="Times New Roman" panose="02020603050405020304" pitchFamily="18" charset="0"/>
              </a:rPr>
              <a:t>,</a:t>
            </a:r>
            <a:r>
              <a:rPr lang="en-IN" sz="2000" dirty="0">
                <a:cs typeface="Times New Roman" panose="02020603050405020304" pitchFamily="18" charset="0"/>
              </a:rPr>
              <a:t>).</a:t>
            </a:r>
          </a:p>
          <a:p>
            <a:pPr marL="0" indent="0" algn="just">
              <a:buNone/>
            </a:pPr>
            <a:endParaRPr lang="en-IN" sz="2000" b="1" dirty="0">
              <a:cs typeface="Times New Roman" panose="02020603050405020304" pitchFamily="18" charset="0"/>
            </a:endParaRPr>
          </a:p>
          <a:p>
            <a:pPr marL="0" indent="0" algn="just">
              <a:buNone/>
            </a:pPr>
            <a:r>
              <a:rPr lang="en-IN" sz="2000" b="1" dirty="0">
                <a:cs typeface="Times New Roman" panose="02020603050405020304" pitchFamily="18" charset="0"/>
              </a:rPr>
              <a:t>Example: -</a:t>
            </a:r>
          </a:p>
          <a:p>
            <a:pPr marL="0" indent="0" algn="just">
              <a:buNone/>
            </a:pPr>
            <a:r>
              <a:rPr lang="en-IN" sz="2000" b="1" dirty="0">
                <a:cs typeface="Times New Roman" panose="02020603050405020304" pitchFamily="18" charset="0"/>
              </a:rPr>
              <a:t>		</a:t>
            </a:r>
            <a:r>
              <a:rPr lang="en-IN" sz="2000" dirty="0">
                <a:cs typeface="Times New Roman" panose="02020603050405020304" pitchFamily="18" charset="0"/>
              </a:rPr>
              <a:t>tup1 = (“apple”, 1, “banana”, “cherry”)</a:t>
            </a:r>
          </a:p>
          <a:p>
            <a:pPr marL="0" indent="0" algn="just">
              <a:buNone/>
            </a:pPr>
            <a:endParaRPr lang="en-IN" sz="2000" b="1" dirty="0">
              <a:cs typeface="Times New Roman" panose="02020603050405020304" pitchFamily="18" charset="0"/>
            </a:endParaRPr>
          </a:p>
          <a:p>
            <a:pPr marL="0" indent="0" algn="just">
              <a:buNone/>
            </a:pPr>
            <a:r>
              <a:rPr lang="en-IN" sz="2000" dirty="0">
                <a:cs typeface="Times New Roman" panose="02020603050405020304" pitchFamily="18" charset="0"/>
              </a:rPr>
              <a:t>Tuple items are indexed, the first item has index [0], the second item has index [1], etc. It also supports the reverse indexing, the last item has index [-1] and so on.</a:t>
            </a:r>
          </a:p>
          <a:p>
            <a:endParaRPr lang="en-IN" sz="2000" dirty="0"/>
          </a:p>
        </p:txBody>
      </p:sp>
    </p:spTree>
    <p:extLst>
      <p:ext uri="{BB962C8B-B14F-4D97-AF65-F5344CB8AC3E}">
        <p14:creationId xmlns:p14="http://schemas.microsoft.com/office/powerpoint/2010/main" val="276695032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5C152-C0A3-1FC2-E5A2-F335D3559D1C}"/>
              </a:ext>
            </a:extLst>
          </p:cNvPr>
          <p:cNvSpPr>
            <a:spLocks noGrp="1"/>
          </p:cNvSpPr>
          <p:nvPr>
            <p:ph type="title"/>
          </p:nvPr>
        </p:nvSpPr>
        <p:spPr/>
        <p:txBody>
          <a:bodyPr/>
          <a:lstStyle/>
          <a:p>
            <a:pPr algn="ctr"/>
            <a:r>
              <a:rPr lang="en-US"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Characteristics Of Tuples</a:t>
            </a:r>
            <a:endPar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endParaRPr>
          </a:p>
        </p:txBody>
      </p:sp>
      <p:pic>
        <p:nvPicPr>
          <p:cNvPr id="4" name="Picture 3">
            <a:extLst>
              <a:ext uri="{FF2B5EF4-FFF2-40B4-BE49-F238E27FC236}">
                <a16:creationId xmlns:a16="http://schemas.microsoft.com/office/drawing/2014/main" id="{AB69B28E-DFE9-5B45-57A2-17E13CC37972}"/>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63AC71D9-82D6-12AE-CEFD-ABCCBF47E6C1}"/>
              </a:ext>
            </a:extLst>
          </p:cNvPr>
          <p:cNvSpPr txBox="1"/>
          <p:nvPr/>
        </p:nvSpPr>
        <p:spPr>
          <a:xfrm>
            <a:off x="934065" y="1690688"/>
            <a:ext cx="10419735" cy="2246769"/>
          </a:xfrm>
          <a:prstGeom prst="rect">
            <a:avLst/>
          </a:prstGeom>
          <a:noFill/>
        </p:spPr>
        <p:txBody>
          <a:bodyPr wrap="square">
            <a:spAutoFit/>
          </a:bodyPr>
          <a:lstStyle/>
          <a:p>
            <a:pPr marL="285750" indent="-285750" algn="just">
              <a:buFont typeface="Arial" panose="020B0604020202020204" pitchFamily="34" charset="0"/>
              <a:buChar char="•"/>
            </a:pPr>
            <a:r>
              <a:rPr lang="en-IN" sz="2000" dirty="0">
                <a:cs typeface="Times New Roman" panose="02020603050405020304" pitchFamily="18" charset="0"/>
              </a:rPr>
              <a:t>The tuples are </a:t>
            </a:r>
            <a:r>
              <a:rPr lang="en-IN" sz="2000" b="1" dirty="0">
                <a:cs typeface="Times New Roman" panose="02020603050405020304" pitchFamily="18" charset="0"/>
              </a:rPr>
              <a:t>ordered. </a:t>
            </a:r>
            <a:r>
              <a:rPr lang="en-IN" sz="2000" dirty="0">
                <a:cs typeface="Times New Roman" panose="02020603050405020304" pitchFamily="18" charset="0"/>
              </a:rPr>
              <a:t>This means that the items have a defined order, and that order will not change. </a:t>
            </a:r>
          </a:p>
          <a:p>
            <a:pPr marL="285750" indent="-285750" algn="just">
              <a:buFont typeface="Arial" panose="020B0604020202020204" pitchFamily="34" charset="0"/>
              <a:buChar char="•"/>
            </a:pPr>
            <a:r>
              <a:rPr lang="en-IN" sz="2000" dirty="0">
                <a:cs typeface="Times New Roman" panose="02020603050405020304" pitchFamily="18" charset="0"/>
              </a:rPr>
              <a:t>Tuples can store different types of elements.</a:t>
            </a:r>
          </a:p>
          <a:p>
            <a:pPr marL="285750" indent="-285750" algn="just">
              <a:buFont typeface="Arial" panose="020B0604020202020204" pitchFamily="34" charset="0"/>
              <a:buChar char="•"/>
            </a:pPr>
            <a:r>
              <a:rPr lang="en-IN" sz="2000" dirty="0">
                <a:cs typeface="Times New Roman" panose="02020603050405020304" pitchFamily="18" charset="0"/>
              </a:rPr>
              <a:t>Elements of the tuples can be accessed by index.</a:t>
            </a:r>
          </a:p>
          <a:p>
            <a:pPr marL="285750" indent="-285750" algn="just">
              <a:buFont typeface="Arial" panose="020B0604020202020204" pitchFamily="34" charset="0"/>
              <a:buChar char="•"/>
            </a:pPr>
            <a:r>
              <a:rPr lang="en-IN" sz="2000" dirty="0">
                <a:cs typeface="Times New Roman" panose="02020603050405020304" pitchFamily="18" charset="0"/>
              </a:rPr>
              <a:t>The tuples are </a:t>
            </a:r>
            <a:r>
              <a:rPr lang="en-IN" sz="2000" b="1" dirty="0">
                <a:cs typeface="Times New Roman" panose="02020603050405020304" pitchFamily="18" charset="0"/>
              </a:rPr>
              <a:t>immutable</a:t>
            </a:r>
            <a:r>
              <a:rPr lang="en-IN" sz="2000" dirty="0">
                <a:cs typeface="Times New Roman" panose="02020603050405020304" pitchFamily="18" charset="0"/>
              </a:rPr>
              <a:t> or </a:t>
            </a:r>
            <a:r>
              <a:rPr lang="en-IN" sz="2000" b="1" dirty="0">
                <a:cs typeface="Times New Roman" panose="02020603050405020304" pitchFamily="18" charset="0"/>
              </a:rPr>
              <a:t>unchangeable.</a:t>
            </a:r>
            <a:r>
              <a:rPr lang="en-IN" sz="2000" dirty="0">
                <a:cs typeface="Times New Roman" panose="02020603050405020304" pitchFamily="18" charset="0"/>
              </a:rPr>
              <a:t> This means that we cannot change, add, and remove items after the tuple has been created.</a:t>
            </a:r>
          </a:p>
          <a:p>
            <a:pPr marL="285750" indent="-285750" algn="just">
              <a:buFont typeface="Arial" panose="020B0604020202020204" pitchFamily="34" charset="0"/>
              <a:buChar char="•"/>
            </a:pPr>
            <a:r>
              <a:rPr lang="en-IN" sz="2000" dirty="0">
                <a:cs typeface="Times New Roman" panose="02020603050405020304" pitchFamily="18" charset="0"/>
              </a:rPr>
              <a:t>Tuples allow duplicate elements.</a:t>
            </a:r>
          </a:p>
        </p:txBody>
      </p:sp>
    </p:spTree>
    <p:extLst>
      <p:ext uri="{BB962C8B-B14F-4D97-AF65-F5344CB8AC3E}">
        <p14:creationId xmlns:p14="http://schemas.microsoft.com/office/powerpoint/2010/main" val="48304872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7D37D0-AD60-264D-EAE0-43C0832939EE}"/>
              </a:ext>
            </a:extLst>
          </p:cNvPr>
          <p:cNvSpPr txBox="1"/>
          <p:nvPr/>
        </p:nvSpPr>
        <p:spPr>
          <a:xfrm>
            <a:off x="658761" y="668594"/>
            <a:ext cx="11031793" cy="2862322"/>
          </a:xfrm>
          <a:prstGeom prst="rect">
            <a:avLst/>
          </a:prstGeom>
          <a:noFill/>
        </p:spPr>
        <p:txBody>
          <a:bodyPr wrap="square">
            <a:spAutoFit/>
          </a:bodyPr>
          <a:lstStyle/>
          <a:p>
            <a:pPr marL="0" indent="0">
              <a:buNone/>
            </a:pPr>
            <a:r>
              <a:rPr lang="en-US" b="1" dirty="0">
                <a:cs typeface="Times New Roman" panose="02020603050405020304" pitchFamily="18" charset="0"/>
              </a:rPr>
              <a:t>TUPLE LENGTH: -</a:t>
            </a:r>
            <a:r>
              <a:rPr lang="en-US" dirty="0">
                <a:cs typeface="Times New Roman" panose="02020603050405020304" pitchFamily="18" charset="0"/>
              </a:rPr>
              <a:t> To determine how many items a tuple has, use the </a:t>
            </a:r>
            <a:r>
              <a:rPr lang="en-US" b="1" dirty="0">
                <a:cs typeface="Times New Roman" panose="02020603050405020304" pitchFamily="18" charset="0"/>
              </a:rPr>
              <a:t>len() </a:t>
            </a:r>
            <a:r>
              <a:rPr lang="en-US" dirty="0">
                <a:cs typeface="Times New Roman" panose="02020603050405020304" pitchFamily="18" charset="0"/>
              </a:rPr>
              <a:t>function.</a:t>
            </a:r>
          </a:p>
          <a:p>
            <a:pPr marL="0" indent="0">
              <a:buNone/>
            </a:pPr>
            <a:endParaRPr lang="en-US" b="1" dirty="0">
              <a:cs typeface="Times New Roman" panose="02020603050405020304" pitchFamily="18" charset="0"/>
            </a:endParaRPr>
          </a:p>
          <a:p>
            <a:pPr marL="0" indent="0">
              <a:buNone/>
            </a:pPr>
            <a:r>
              <a:rPr lang="en-US" b="1" u="sng" dirty="0">
                <a:cs typeface="Times New Roman" panose="02020603050405020304" pitchFamily="18" charset="0"/>
              </a:rPr>
              <a:t>Example</a:t>
            </a:r>
          </a:p>
          <a:p>
            <a:pPr marL="0" indent="0">
              <a:buNone/>
            </a:pPr>
            <a:r>
              <a:rPr lang="en-US" dirty="0">
                <a:cs typeface="Times New Roman" panose="02020603050405020304" pitchFamily="18" charset="0"/>
              </a:rPr>
              <a:t>	tup1 = (10, 20, 30, 40, 50)</a:t>
            </a:r>
          </a:p>
          <a:p>
            <a:pPr marL="0" indent="0">
              <a:buNone/>
            </a:pPr>
            <a:r>
              <a:rPr lang="en-US" dirty="0">
                <a:cs typeface="Times New Roman" panose="02020603050405020304" pitchFamily="18" charset="0"/>
              </a:rPr>
              <a:t>	print(len(tup1))			#5</a:t>
            </a:r>
          </a:p>
          <a:p>
            <a:pPr marL="0" indent="0">
              <a:buNone/>
            </a:pPr>
            <a:endParaRPr lang="en-US" dirty="0">
              <a:cs typeface="Times New Roman" panose="02020603050405020304" pitchFamily="18" charset="0"/>
            </a:endParaRPr>
          </a:p>
          <a:p>
            <a:pPr marL="0" indent="0">
              <a:buNone/>
            </a:pPr>
            <a:r>
              <a:rPr lang="en-US" b="1" dirty="0">
                <a:cs typeface="Times New Roman" panose="02020603050405020304" pitchFamily="18" charset="0"/>
              </a:rPr>
              <a:t>type() – </a:t>
            </a:r>
            <a:r>
              <a:rPr lang="en-US" dirty="0">
                <a:cs typeface="Times New Roman" panose="02020603050405020304" pitchFamily="18" charset="0"/>
              </a:rPr>
              <a:t>Tuples are defined as objects with the data type ‘tuple’.</a:t>
            </a:r>
          </a:p>
          <a:p>
            <a:pPr marL="0" indent="0">
              <a:buNone/>
            </a:pPr>
            <a:r>
              <a:rPr lang="en-US" b="1" u="sng" dirty="0">
                <a:cs typeface="Times New Roman" panose="02020603050405020304" pitchFamily="18" charset="0"/>
              </a:rPr>
              <a:t>Example</a:t>
            </a:r>
          </a:p>
          <a:p>
            <a:pPr marL="0" indent="0">
              <a:buNone/>
            </a:pPr>
            <a:r>
              <a:rPr lang="en-US" dirty="0">
                <a:cs typeface="Times New Roman" panose="02020603050405020304" pitchFamily="18" charset="0"/>
              </a:rPr>
              <a:t>	 tup1 = (10, 20, 30, 40, 50)</a:t>
            </a:r>
          </a:p>
          <a:p>
            <a:pPr marL="0" indent="0">
              <a:buNone/>
            </a:pPr>
            <a:r>
              <a:rPr lang="en-US" dirty="0">
                <a:cs typeface="Times New Roman" panose="02020603050405020304" pitchFamily="18" charset="0"/>
              </a:rPr>
              <a:t>	print(type(tup1))			#&lt;class ‘tuple’&gt;</a:t>
            </a:r>
            <a:endParaRPr lang="en-IN" dirty="0">
              <a:cs typeface="Times New Roman" panose="02020603050405020304" pitchFamily="18" charset="0"/>
            </a:endParaRPr>
          </a:p>
        </p:txBody>
      </p:sp>
      <p:sp>
        <p:nvSpPr>
          <p:cNvPr id="6" name="TextBox 5">
            <a:extLst>
              <a:ext uri="{FF2B5EF4-FFF2-40B4-BE49-F238E27FC236}">
                <a16:creationId xmlns:a16="http://schemas.microsoft.com/office/drawing/2014/main" id="{B564D66C-D1E7-DECA-BE15-A4A7167276F3}"/>
              </a:ext>
            </a:extLst>
          </p:cNvPr>
          <p:cNvSpPr txBox="1"/>
          <p:nvPr/>
        </p:nvSpPr>
        <p:spPr>
          <a:xfrm>
            <a:off x="658761" y="3696929"/>
            <a:ext cx="11031793" cy="2862322"/>
          </a:xfrm>
          <a:prstGeom prst="rect">
            <a:avLst/>
          </a:prstGeom>
          <a:noFill/>
        </p:spPr>
        <p:txBody>
          <a:bodyPr wrap="square">
            <a:spAutoFit/>
          </a:bodyPr>
          <a:lstStyle/>
          <a:p>
            <a:pPr marL="0" indent="0">
              <a:buNone/>
            </a:pPr>
            <a:r>
              <a:rPr lang="en-US" sz="1800" b="1" dirty="0">
                <a:cs typeface="Times New Roman" panose="02020603050405020304" pitchFamily="18" charset="0"/>
              </a:rPr>
              <a:t>CREATE TUPLE WITH ONE ITEM: -</a:t>
            </a:r>
          </a:p>
          <a:p>
            <a:pPr marL="0" indent="0">
              <a:buNone/>
            </a:pPr>
            <a:r>
              <a:rPr lang="en-US" sz="1800" b="0" i="0" dirty="0">
                <a:solidFill>
                  <a:srgbClr val="000000"/>
                </a:solidFill>
                <a:effectLst/>
                <a:cs typeface="Times New Roman" panose="02020603050405020304" pitchFamily="18" charset="0"/>
              </a:rPr>
              <a:t>To create a tuple with only one item, you have to add a comma after the item, otherwise Python will not recognize it as a tuple.</a:t>
            </a:r>
          </a:p>
          <a:p>
            <a:pPr marL="0" indent="0">
              <a:buNone/>
            </a:pPr>
            <a:r>
              <a:rPr lang="en-US" sz="1800" b="1" u="sng" dirty="0">
                <a:solidFill>
                  <a:srgbClr val="000000"/>
                </a:solidFill>
                <a:cs typeface="Times New Roman" panose="02020603050405020304" pitchFamily="18" charset="0"/>
              </a:rPr>
              <a:t>Example</a:t>
            </a:r>
          </a:p>
          <a:p>
            <a:pPr marL="0" indent="0">
              <a:buNone/>
            </a:pPr>
            <a:r>
              <a:rPr lang="en-US" sz="1800" dirty="0">
                <a:solidFill>
                  <a:srgbClr val="000000"/>
                </a:solidFill>
                <a:cs typeface="Times New Roman" panose="02020603050405020304" pitchFamily="18" charset="0"/>
              </a:rPr>
              <a:t>	tup1 = (“apple”,)</a:t>
            </a:r>
          </a:p>
          <a:p>
            <a:pPr marL="0" indent="0">
              <a:buNone/>
            </a:pPr>
            <a:r>
              <a:rPr lang="en-US" sz="1800" dirty="0">
                <a:solidFill>
                  <a:srgbClr val="000000"/>
                </a:solidFill>
                <a:cs typeface="Times New Roman" panose="02020603050405020304" pitchFamily="18" charset="0"/>
              </a:rPr>
              <a:t>	print(type(tup1))		#&lt;class ‘tuple’&gt;</a:t>
            </a:r>
          </a:p>
          <a:p>
            <a:pPr marL="0" indent="0">
              <a:buNone/>
            </a:pPr>
            <a:endParaRPr lang="en-US" sz="1800" dirty="0">
              <a:solidFill>
                <a:srgbClr val="000000"/>
              </a:solidFill>
              <a:cs typeface="Times New Roman" panose="02020603050405020304" pitchFamily="18" charset="0"/>
            </a:endParaRPr>
          </a:p>
          <a:p>
            <a:pPr marL="0" indent="0">
              <a:buNone/>
            </a:pPr>
            <a:r>
              <a:rPr lang="en-IN" sz="1800" b="1" u="sng" dirty="0">
                <a:solidFill>
                  <a:srgbClr val="000000"/>
                </a:solidFill>
                <a:cs typeface="Times New Roman" panose="02020603050405020304" pitchFamily="18" charset="0"/>
              </a:rPr>
              <a:t>Example</a:t>
            </a:r>
          </a:p>
          <a:p>
            <a:pPr marL="0" indent="0">
              <a:buNone/>
            </a:pPr>
            <a:r>
              <a:rPr lang="en-IN" sz="1800" dirty="0">
                <a:solidFill>
                  <a:srgbClr val="000000"/>
                </a:solidFill>
                <a:cs typeface="Times New Roman" panose="02020603050405020304" pitchFamily="18" charset="0"/>
              </a:rPr>
              <a:t>	tup2 = (100)</a:t>
            </a:r>
          </a:p>
          <a:p>
            <a:pPr marL="0" indent="0">
              <a:buNone/>
            </a:pPr>
            <a:r>
              <a:rPr lang="en-IN" sz="1800" dirty="0">
                <a:solidFill>
                  <a:srgbClr val="000000"/>
                </a:solidFill>
                <a:cs typeface="Times New Roman" panose="02020603050405020304" pitchFamily="18" charset="0"/>
              </a:rPr>
              <a:t>	print(type(tup2))		#&lt;class ‘int’&gt;</a:t>
            </a:r>
            <a:endParaRPr lang="en-US" sz="1800" dirty="0">
              <a:solidFill>
                <a:srgbClr val="000000"/>
              </a:solidFill>
              <a:cs typeface="Times New Roman" panose="02020603050405020304" pitchFamily="18" charset="0"/>
            </a:endParaRPr>
          </a:p>
        </p:txBody>
      </p:sp>
    </p:spTree>
    <p:extLst>
      <p:ext uri="{BB962C8B-B14F-4D97-AF65-F5344CB8AC3E}">
        <p14:creationId xmlns:p14="http://schemas.microsoft.com/office/powerpoint/2010/main" val="108234164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7B1C8-82FC-7B50-363F-5ABF34D11AF7}"/>
              </a:ext>
            </a:extLst>
          </p:cNvPr>
          <p:cNvSpPr>
            <a:spLocks noGrp="1"/>
          </p:cNvSpPr>
          <p:nvPr>
            <p:ph type="title"/>
          </p:nvPr>
        </p:nvSpPr>
        <p:spPr/>
        <p:txBody>
          <a:bodyPr/>
          <a:lstStyle/>
          <a:p>
            <a:pPr algn="ctr"/>
            <a:r>
              <a:rPr lang="en-US"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Access Tuple Items</a:t>
            </a:r>
            <a:endPar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endParaRPr>
          </a:p>
        </p:txBody>
      </p:sp>
      <p:pic>
        <p:nvPicPr>
          <p:cNvPr id="4" name="Picture 3">
            <a:extLst>
              <a:ext uri="{FF2B5EF4-FFF2-40B4-BE49-F238E27FC236}">
                <a16:creationId xmlns:a16="http://schemas.microsoft.com/office/drawing/2014/main" id="{2A31EA57-B8B8-0DEA-3D85-D1DCA1171E9B}"/>
              </a:ext>
            </a:extLst>
          </p:cNvPr>
          <p:cNvPicPr/>
          <p:nvPr/>
        </p:nvPicPr>
        <p:blipFill>
          <a:blip r:embed="rId2" cstate="print"/>
          <a:stretch/>
        </p:blipFill>
        <p:spPr>
          <a:xfrm>
            <a:off x="11448891" y="20605"/>
            <a:ext cx="688680" cy="689040"/>
          </a:xfrm>
          <a:prstGeom prst="rect">
            <a:avLst/>
          </a:prstGeom>
          <a:ln w="0">
            <a:noFill/>
          </a:ln>
        </p:spPr>
      </p:pic>
      <p:sp>
        <p:nvSpPr>
          <p:cNvPr id="6" name="TextBox 5">
            <a:extLst>
              <a:ext uri="{FF2B5EF4-FFF2-40B4-BE49-F238E27FC236}">
                <a16:creationId xmlns:a16="http://schemas.microsoft.com/office/drawing/2014/main" id="{0811F947-6906-37D0-9BB7-C9822A440C70}"/>
              </a:ext>
            </a:extLst>
          </p:cNvPr>
          <p:cNvSpPr txBox="1"/>
          <p:nvPr/>
        </p:nvSpPr>
        <p:spPr>
          <a:xfrm>
            <a:off x="973393" y="1779639"/>
            <a:ext cx="10019071" cy="1477328"/>
          </a:xfrm>
          <a:prstGeom prst="rect">
            <a:avLst/>
          </a:prstGeom>
          <a:noFill/>
        </p:spPr>
        <p:txBody>
          <a:bodyPr wrap="square">
            <a:spAutoFit/>
          </a:bodyPr>
          <a:lstStyle/>
          <a:p>
            <a:pPr marL="285750" indent="-285750">
              <a:buFont typeface="Arial" panose="020B0604020202020204" pitchFamily="34" charset="0"/>
              <a:buChar char="•"/>
            </a:pPr>
            <a:r>
              <a:rPr lang="en-US" sz="1800" dirty="0">
                <a:solidFill>
                  <a:srgbClr val="000000"/>
                </a:solidFill>
                <a:cs typeface="Times New Roman" panose="02020603050405020304" pitchFamily="18" charset="0"/>
              </a:rPr>
              <a:t>T</a:t>
            </a:r>
            <a:r>
              <a:rPr lang="en-US" sz="1800" b="0" i="0" dirty="0">
                <a:solidFill>
                  <a:srgbClr val="000000"/>
                </a:solidFill>
                <a:effectLst/>
                <a:cs typeface="Times New Roman" panose="02020603050405020304" pitchFamily="18" charset="0"/>
              </a:rPr>
              <a:t>uple items are indexed and you can access them by referring to the index number.</a:t>
            </a:r>
          </a:p>
          <a:p>
            <a:pPr marL="0" indent="0">
              <a:buNone/>
            </a:pPr>
            <a:r>
              <a:rPr lang="en-US" sz="1800" b="1" u="sng" dirty="0">
                <a:solidFill>
                  <a:srgbClr val="000000"/>
                </a:solidFill>
                <a:cs typeface="Times New Roman" panose="02020603050405020304" pitchFamily="18" charset="0"/>
              </a:rPr>
              <a:t>Example</a:t>
            </a:r>
          </a:p>
          <a:p>
            <a:pPr marL="0" indent="0">
              <a:buNone/>
            </a:pPr>
            <a:r>
              <a:rPr lang="en-US" sz="1800" b="0" i="0" dirty="0">
                <a:effectLst/>
                <a:cs typeface="Times New Roman" panose="02020603050405020304" pitchFamily="18" charset="0"/>
              </a:rPr>
              <a:t>	</a:t>
            </a:r>
            <a:r>
              <a:rPr lang="en-US" sz="1800" b="0" i="0" dirty="0" err="1">
                <a:effectLst/>
                <a:cs typeface="Times New Roman" panose="02020603050405020304" pitchFamily="18" charset="0"/>
              </a:rPr>
              <a:t>thistuple</a:t>
            </a:r>
            <a:r>
              <a:rPr lang="en-US" sz="1800" b="0" i="0" dirty="0">
                <a:effectLst/>
                <a:cs typeface="Times New Roman" panose="02020603050405020304" pitchFamily="18" charset="0"/>
              </a:rPr>
              <a:t> = ("apple", "banana", "cherry")</a:t>
            </a:r>
            <a:br>
              <a:rPr lang="en-US" sz="1800" dirty="0">
                <a:cs typeface="Times New Roman" panose="02020603050405020304" pitchFamily="18" charset="0"/>
              </a:rPr>
            </a:br>
            <a:r>
              <a:rPr lang="en-US" sz="1800" dirty="0">
                <a:cs typeface="Times New Roman" panose="02020603050405020304" pitchFamily="18" charset="0"/>
              </a:rPr>
              <a:t>	</a:t>
            </a:r>
            <a:r>
              <a:rPr lang="en-US" sz="1800" b="0" i="0" dirty="0">
                <a:effectLst/>
                <a:cs typeface="Times New Roman" panose="02020603050405020304" pitchFamily="18" charset="0"/>
              </a:rPr>
              <a:t>print(</a:t>
            </a:r>
            <a:r>
              <a:rPr lang="en-US" sz="1800" b="0" i="0" dirty="0" err="1">
                <a:effectLst/>
                <a:cs typeface="Times New Roman" panose="02020603050405020304" pitchFamily="18" charset="0"/>
              </a:rPr>
              <a:t>thistuple</a:t>
            </a:r>
            <a:r>
              <a:rPr lang="en-US" sz="1800" b="0" i="0" dirty="0">
                <a:effectLst/>
                <a:cs typeface="Times New Roman" panose="02020603050405020304" pitchFamily="18" charset="0"/>
              </a:rPr>
              <a:t>[1])					#banana</a:t>
            </a:r>
          </a:p>
          <a:p>
            <a:pPr marL="0" indent="0">
              <a:buNone/>
            </a:pPr>
            <a:r>
              <a:rPr lang="en-US" sz="1800" dirty="0">
                <a:cs typeface="Times New Roman" panose="02020603050405020304" pitchFamily="18" charset="0"/>
              </a:rPr>
              <a:t>	print(</a:t>
            </a:r>
            <a:r>
              <a:rPr lang="en-US" sz="1800" dirty="0" err="1">
                <a:cs typeface="Times New Roman" panose="02020603050405020304" pitchFamily="18" charset="0"/>
              </a:rPr>
              <a:t>thistuple</a:t>
            </a:r>
            <a:r>
              <a:rPr lang="en-US" sz="1800" dirty="0">
                <a:cs typeface="Times New Roman" panose="02020603050405020304" pitchFamily="18" charset="0"/>
              </a:rPr>
              <a:t>[-3])					#apple</a:t>
            </a:r>
            <a:endParaRPr lang="en-IN" sz="1800" dirty="0">
              <a:cs typeface="Times New Roman" panose="02020603050405020304" pitchFamily="18" charset="0"/>
            </a:endParaRPr>
          </a:p>
        </p:txBody>
      </p:sp>
      <p:sp>
        <p:nvSpPr>
          <p:cNvPr id="8" name="TextBox 7">
            <a:extLst>
              <a:ext uri="{FF2B5EF4-FFF2-40B4-BE49-F238E27FC236}">
                <a16:creationId xmlns:a16="http://schemas.microsoft.com/office/drawing/2014/main" id="{4BCC4772-4448-290A-879C-070788646D9D}"/>
              </a:ext>
            </a:extLst>
          </p:cNvPr>
          <p:cNvSpPr txBox="1"/>
          <p:nvPr/>
        </p:nvSpPr>
        <p:spPr>
          <a:xfrm>
            <a:off x="1070263" y="3429000"/>
            <a:ext cx="9414163" cy="2862322"/>
          </a:xfrm>
          <a:prstGeom prst="rect">
            <a:avLst/>
          </a:prstGeom>
          <a:noFill/>
        </p:spPr>
        <p:txBody>
          <a:bodyPr wrap="square">
            <a:spAutoFit/>
          </a:bodyPr>
          <a:lstStyle/>
          <a:p>
            <a:pPr marL="0" indent="0">
              <a:buNone/>
            </a:pPr>
            <a:r>
              <a:rPr lang="en-US" sz="1800" b="1" dirty="0">
                <a:cs typeface="Times New Roman" panose="02020603050405020304" pitchFamily="18" charset="0"/>
              </a:rPr>
              <a:t>Range of Indexes: -</a:t>
            </a:r>
          </a:p>
          <a:p>
            <a:pPr marL="285750" indent="-285750" algn="l">
              <a:buFont typeface="Arial" panose="020B0604020202020204" pitchFamily="34" charset="0"/>
              <a:buChar char="•"/>
            </a:pPr>
            <a:r>
              <a:rPr lang="en-US" sz="1800" b="0" i="0" dirty="0">
                <a:solidFill>
                  <a:srgbClr val="000000"/>
                </a:solidFill>
                <a:effectLst/>
                <a:cs typeface="Times New Roman" panose="02020603050405020304" pitchFamily="18" charset="0"/>
              </a:rPr>
              <a:t>You can specify a range of indexes by specifying where to start and where to end the range.</a:t>
            </a:r>
          </a:p>
          <a:p>
            <a:pPr marL="285750" indent="-285750" algn="l">
              <a:buFont typeface="Arial" panose="020B0604020202020204" pitchFamily="34" charset="0"/>
              <a:buChar char="•"/>
            </a:pPr>
            <a:r>
              <a:rPr lang="en-US" sz="1800" b="0" i="0" dirty="0">
                <a:solidFill>
                  <a:srgbClr val="000000"/>
                </a:solidFill>
                <a:effectLst/>
                <a:cs typeface="Times New Roman" panose="02020603050405020304" pitchFamily="18" charset="0"/>
              </a:rPr>
              <a:t>When specifying a range, the return value will be a new tuple with the specified items.</a:t>
            </a:r>
          </a:p>
          <a:p>
            <a:pPr marL="0" indent="0">
              <a:buNone/>
            </a:pPr>
            <a:endParaRPr lang="en-IN" sz="1800" u="sng" dirty="0">
              <a:cs typeface="Times New Roman" panose="02020603050405020304" pitchFamily="18" charset="0"/>
            </a:endParaRPr>
          </a:p>
          <a:p>
            <a:pPr marL="0" indent="0">
              <a:buNone/>
            </a:pPr>
            <a:r>
              <a:rPr lang="en-IN" sz="1800" b="1" u="sng" dirty="0">
                <a:cs typeface="Times New Roman" panose="02020603050405020304" pitchFamily="18" charset="0"/>
              </a:rPr>
              <a:t>Example</a:t>
            </a:r>
          </a:p>
          <a:p>
            <a:pPr marL="0" indent="0">
              <a:buNone/>
            </a:pPr>
            <a:r>
              <a:rPr lang="en-IN" sz="1800" dirty="0">
                <a:cs typeface="Times New Roman" panose="02020603050405020304" pitchFamily="18" charset="0"/>
              </a:rPr>
              <a:t>	</a:t>
            </a:r>
            <a:r>
              <a:rPr lang="en-IN" sz="1800" dirty="0" err="1">
                <a:cs typeface="Times New Roman" panose="02020603050405020304" pitchFamily="18" charset="0"/>
              </a:rPr>
              <a:t>myTuple</a:t>
            </a:r>
            <a:r>
              <a:rPr lang="en-IN" sz="1800" dirty="0">
                <a:cs typeface="Times New Roman" panose="02020603050405020304" pitchFamily="18" charset="0"/>
              </a:rPr>
              <a:t> = (“apple”, “banana”, “orange”, “grapes”, “mango”)</a:t>
            </a:r>
          </a:p>
          <a:p>
            <a:pPr marL="0" indent="0">
              <a:buNone/>
            </a:pPr>
            <a:r>
              <a:rPr lang="en-IN" sz="1800" dirty="0">
                <a:cs typeface="Times New Roman" panose="02020603050405020304" pitchFamily="18" charset="0"/>
              </a:rPr>
              <a:t>	print(</a:t>
            </a:r>
            <a:r>
              <a:rPr lang="en-IN" sz="1800" dirty="0" err="1">
                <a:cs typeface="Times New Roman" panose="02020603050405020304" pitchFamily="18" charset="0"/>
              </a:rPr>
              <a:t>myTuple</a:t>
            </a:r>
            <a:r>
              <a:rPr lang="en-IN" sz="1800" dirty="0">
                <a:cs typeface="Times New Roman" panose="02020603050405020304" pitchFamily="18" charset="0"/>
              </a:rPr>
              <a:t>[1:4])			#(‘banana’, ‘orange’, ‘grapes’)</a:t>
            </a:r>
          </a:p>
          <a:p>
            <a:pPr marL="0" indent="0">
              <a:buNone/>
            </a:pPr>
            <a:r>
              <a:rPr lang="en-IN" sz="1800" dirty="0">
                <a:cs typeface="Times New Roman" panose="02020603050405020304" pitchFamily="18" charset="0"/>
              </a:rPr>
              <a:t>	print(</a:t>
            </a:r>
            <a:r>
              <a:rPr lang="en-IN" sz="1800" dirty="0" err="1">
                <a:cs typeface="Times New Roman" panose="02020603050405020304" pitchFamily="18" charset="0"/>
              </a:rPr>
              <a:t>myTuple</a:t>
            </a:r>
            <a:r>
              <a:rPr lang="en-IN" sz="1800" dirty="0">
                <a:cs typeface="Times New Roman" panose="02020603050405020304" pitchFamily="18" charset="0"/>
              </a:rPr>
              <a:t>[:3])			#(‘apple’, ‘banana’, ‘orange’)</a:t>
            </a:r>
          </a:p>
          <a:p>
            <a:pPr marL="0" indent="0">
              <a:buNone/>
            </a:pPr>
            <a:r>
              <a:rPr lang="en-IN" sz="1800" dirty="0">
                <a:cs typeface="Times New Roman" panose="02020603050405020304" pitchFamily="18" charset="0"/>
              </a:rPr>
              <a:t>	print(</a:t>
            </a:r>
            <a:r>
              <a:rPr lang="en-IN" sz="1800" dirty="0" err="1">
                <a:cs typeface="Times New Roman" panose="02020603050405020304" pitchFamily="18" charset="0"/>
              </a:rPr>
              <a:t>myTuple</a:t>
            </a:r>
            <a:r>
              <a:rPr lang="en-IN" sz="1800" dirty="0">
                <a:cs typeface="Times New Roman" panose="02020603050405020304" pitchFamily="18" charset="0"/>
              </a:rPr>
              <a:t>[2:])			#(‘orange’, ‘grapes’, ‘mango’)</a:t>
            </a:r>
          </a:p>
          <a:p>
            <a:pPr marL="0" indent="0">
              <a:buNone/>
            </a:pPr>
            <a:r>
              <a:rPr lang="en-IN" sz="1800" dirty="0">
                <a:cs typeface="Times New Roman" panose="02020603050405020304" pitchFamily="18" charset="0"/>
              </a:rPr>
              <a:t>	print(</a:t>
            </a:r>
            <a:r>
              <a:rPr lang="en-IN" sz="1800" dirty="0" err="1">
                <a:cs typeface="Times New Roman" panose="02020603050405020304" pitchFamily="18" charset="0"/>
              </a:rPr>
              <a:t>myTuple</a:t>
            </a:r>
            <a:r>
              <a:rPr lang="en-IN" sz="1800" dirty="0">
                <a:cs typeface="Times New Roman" panose="02020603050405020304" pitchFamily="18" charset="0"/>
              </a:rPr>
              <a:t>[-4:-2])			#(‘banana’, ‘orange’)</a:t>
            </a:r>
          </a:p>
        </p:txBody>
      </p:sp>
    </p:spTree>
    <p:extLst>
      <p:ext uri="{BB962C8B-B14F-4D97-AF65-F5344CB8AC3E}">
        <p14:creationId xmlns:p14="http://schemas.microsoft.com/office/powerpoint/2010/main" val="313856732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D4F1A-1089-DCDB-9A5D-C54E5FBEA2C5}"/>
              </a:ext>
            </a:extLst>
          </p:cNvPr>
          <p:cNvSpPr>
            <a:spLocks noGrp="1"/>
          </p:cNvSpPr>
          <p:nvPr>
            <p:ph type="title"/>
          </p:nvPr>
        </p:nvSpPr>
        <p:spPr/>
        <p:txBody>
          <a:bodyPr/>
          <a:lstStyle/>
          <a:p>
            <a:pPr algn="ctr"/>
            <a:r>
              <a:rPr lang="en-US"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Update Tuple</a:t>
            </a:r>
            <a:endPar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endParaRPr>
          </a:p>
        </p:txBody>
      </p:sp>
      <p:pic>
        <p:nvPicPr>
          <p:cNvPr id="4" name="Picture 3">
            <a:extLst>
              <a:ext uri="{FF2B5EF4-FFF2-40B4-BE49-F238E27FC236}">
                <a16:creationId xmlns:a16="http://schemas.microsoft.com/office/drawing/2014/main" id="{BFCE59C9-1F0F-1888-FFDD-B4A7C08E52A8}"/>
              </a:ext>
            </a:extLst>
          </p:cNvPr>
          <p:cNvPicPr/>
          <p:nvPr/>
        </p:nvPicPr>
        <p:blipFill>
          <a:blip r:embed="rId2" cstate="print"/>
          <a:stretch/>
        </p:blipFill>
        <p:spPr>
          <a:xfrm>
            <a:off x="11503320" y="0"/>
            <a:ext cx="688680" cy="689040"/>
          </a:xfrm>
          <a:prstGeom prst="rect">
            <a:avLst/>
          </a:prstGeom>
          <a:ln w="0">
            <a:noFill/>
          </a:ln>
        </p:spPr>
      </p:pic>
      <p:sp>
        <p:nvSpPr>
          <p:cNvPr id="6" name="TextBox 5">
            <a:extLst>
              <a:ext uri="{FF2B5EF4-FFF2-40B4-BE49-F238E27FC236}">
                <a16:creationId xmlns:a16="http://schemas.microsoft.com/office/drawing/2014/main" id="{126FDDFE-B864-31C4-85C8-DB68CDCF1AC3}"/>
              </a:ext>
            </a:extLst>
          </p:cNvPr>
          <p:cNvSpPr txBox="1"/>
          <p:nvPr/>
        </p:nvSpPr>
        <p:spPr>
          <a:xfrm>
            <a:off x="838200" y="1452135"/>
            <a:ext cx="10665120" cy="3139321"/>
          </a:xfrm>
          <a:prstGeom prst="rect">
            <a:avLst/>
          </a:prstGeom>
          <a:noFill/>
        </p:spPr>
        <p:txBody>
          <a:bodyPr wrap="square">
            <a:spAutoFit/>
          </a:bodyPr>
          <a:lstStyle/>
          <a:p>
            <a:pPr marL="285750" indent="-285750" algn="l">
              <a:buFont typeface="Arial" panose="020B0604020202020204" pitchFamily="34" charset="0"/>
              <a:buChar char="•"/>
            </a:pPr>
            <a:r>
              <a:rPr lang="en-US" sz="1800" b="0" i="0" dirty="0">
                <a:solidFill>
                  <a:srgbClr val="000000"/>
                </a:solidFill>
                <a:effectLst/>
                <a:cs typeface="Times New Roman" panose="02020603050405020304" pitchFamily="18" charset="0"/>
              </a:rPr>
              <a:t>Once a tuple is created, you cannot change its values. Tuples are </a:t>
            </a:r>
            <a:r>
              <a:rPr lang="en-US" sz="1800" b="1" i="0" dirty="0">
                <a:solidFill>
                  <a:srgbClr val="000000"/>
                </a:solidFill>
                <a:effectLst/>
                <a:cs typeface="Times New Roman" panose="02020603050405020304" pitchFamily="18" charset="0"/>
              </a:rPr>
              <a:t>unchangeable</a:t>
            </a:r>
            <a:r>
              <a:rPr lang="en-US" sz="1800" b="0" i="0" dirty="0">
                <a:solidFill>
                  <a:srgbClr val="000000"/>
                </a:solidFill>
                <a:effectLst/>
                <a:cs typeface="Times New Roman" panose="02020603050405020304" pitchFamily="18" charset="0"/>
              </a:rPr>
              <a:t>, or </a:t>
            </a:r>
            <a:r>
              <a:rPr lang="en-US" sz="1800" b="1" i="0" dirty="0">
                <a:solidFill>
                  <a:srgbClr val="000000"/>
                </a:solidFill>
                <a:effectLst/>
                <a:cs typeface="Times New Roman" panose="02020603050405020304" pitchFamily="18" charset="0"/>
              </a:rPr>
              <a:t>immutable</a:t>
            </a:r>
            <a:r>
              <a:rPr lang="en-US" sz="1800" b="0" i="0" dirty="0">
                <a:solidFill>
                  <a:srgbClr val="000000"/>
                </a:solidFill>
                <a:effectLst/>
                <a:cs typeface="Times New Roman" panose="02020603050405020304" pitchFamily="18" charset="0"/>
              </a:rPr>
              <a:t>.</a:t>
            </a:r>
          </a:p>
          <a:p>
            <a:pPr marL="285750" indent="-285750" algn="l">
              <a:buFont typeface="Arial" panose="020B0604020202020204" pitchFamily="34" charset="0"/>
              <a:buChar char="•"/>
            </a:pPr>
            <a:r>
              <a:rPr lang="en-US" sz="1800" b="0" i="0" dirty="0">
                <a:solidFill>
                  <a:srgbClr val="000000"/>
                </a:solidFill>
                <a:effectLst/>
                <a:cs typeface="Times New Roman" panose="02020603050405020304" pitchFamily="18" charset="0"/>
              </a:rPr>
              <a:t>But there is a workaround. You can convert the tuple into a list, change the list, and convert the list back into a tuple.</a:t>
            </a:r>
          </a:p>
          <a:p>
            <a:pPr algn="l"/>
            <a:endParaRPr lang="en-US" sz="1800" b="0" i="0" dirty="0">
              <a:solidFill>
                <a:srgbClr val="000000"/>
              </a:solidFill>
              <a:effectLst/>
              <a:cs typeface="Times New Roman" panose="02020603050405020304" pitchFamily="18" charset="0"/>
            </a:endParaRPr>
          </a:p>
          <a:p>
            <a:pPr marL="0" indent="0" algn="l">
              <a:buNone/>
            </a:pPr>
            <a:r>
              <a:rPr lang="en-US" sz="1800" b="1" u="sng" dirty="0">
                <a:solidFill>
                  <a:srgbClr val="000000"/>
                </a:solidFill>
                <a:cs typeface="Times New Roman" panose="02020603050405020304" pitchFamily="18" charset="0"/>
              </a:rPr>
              <a:t>Example</a:t>
            </a:r>
          </a:p>
          <a:p>
            <a:pPr marL="0" indent="0" algn="l">
              <a:buNone/>
            </a:pPr>
            <a:r>
              <a:rPr lang="es-ES" sz="1800" b="0" i="0" dirty="0">
                <a:effectLst/>
                <a:cs typeface="Times New Roman" panose="02020603050405020304" pitchFamily="18" charset="0"/>
              </a:rPr>
              <a:t>	x = ("</a:t>
            </a:r>
            <a:r>
              <a:rPr lang="es-ES" sz="1800" b="0" i="0" dirty="0" err="1">
                <a:effectLst/>
                <a:cs typeface="Times New Roman" panose="02020603050405020304" pitchFamily="18" charset="0"/>
              </a:rPr>
              <a:t>apple</a:t>
            </a:r>
            <a:r>
              <a:rPr lang="es-ES" sz="1800" b="0" i="0" dirty="0">
                <a:effectLst/>
                <a:cs typeface="Times New Roman" panose="02020603050405020304" pitchFamily="18" charset="0"/>
              </a:rPr>
              <a:t>", "banana", "</a:t>
            </a:r>
            <a:r>
              <a:rPr lang="es-ES" sz="1800" b="0" i="0" dirty="0" err="1">
                <a:effectLst/>
                <a:cs typeface="Times New Roman" panose="02020603050405020304" pitchFamily="18" charset="0"/>
              </a:rPr>
              <a:t>cherry</a:t>
            </a:r>
            <a:r>
              <a:rPr lang="es-ES" sz="1800" b="0" i="0" dirty="0">
                <a:effectLst/>
                <a:cs typeface="Times New Roman" panose="02020603050405020304" pitchFamily="18" charset="0"/>
              </a:rPr>
              <a:t>")</a:t>
            </a:r>
            <a:br>
              <a:rPr lang="es-ES" sz="1800" dirty="0">
                <a:cs typeface="Times New Roman" panose="02020603050405020304" pitchFamily="18" charset="0"/>
              </a:rPr>
            </a:br>
            <a:r>
              <a:rPr lang="es-ES" sz="1800" dirty="0">
                <a:cs typeface="Times New Roman" panose="02020603050405020304" pitchFamily="18" charset="0"/>
              </a:rPr>
              <a:t>	</a:t>
            </a:r>
            <a:r>
              <a:rPr lang="es-ES" sz="1800" b="0" i="0" dirty="0">
                <a:effectLst/>
                <a:cs typeface="Times New Roman" panose="02020603050405020304" pitchFamily="18" charset="0"/>
              </a:rPr>
              <a:t>y = </a:t>
            </a:r>
            <a:r>
              <a:rPr lang="es-ES" sz="1800" b="0" i="0" dirty="0" err="1">
                <a:effectLst/>
                <a:cs typeface="Times New Roman" panose="02020603050405020304" pitchFamily="18" charset="0"/>
              </a:rPr>
              <a:t>list</a:t>
            </a:r>
            <a:r>
              <a:rPr lang="es-ES" sz="1800" b="0" i="0" dirty="0">
                <a:effectLst/>
                <a:cs typeface="Times New Roman" panose="02020603050405020304" pitchFamily="18" charset="0"/>
              </a:rPr>
              <a:t>(x)</a:t>
            </a:r>
            <a:br>
              <a:rPr lang="es-ES" sz="1800" dirty="0">
                <a:cs typeface="Times New Roman" panose="02020603050405020304" pitchFamily="18" charset="0"/>
              </a:rPr>
            </a:br>
            <a:r>
              <a:rPr lang="es-ES" sz="1800" dirty="0">
                <a:cs typeface="Times New Roman" panose="02020603050405020304" pitchFamily="18" charset="0"/>
              </a:rPr>
              <a:t>	</a:t>
            </a:r>
            <a:r>
              <a:rPr lang="es-ES" sz="1800" b="0" i="0" dirty="0">
                <a:effectLst/>
                <a:cs typeface="Times New Roman" panose="02020603050405020304" pitchFamily="18" charset="0"/>
              </a:rPr>
              <a:t>y[1] = "kiwi"</a:t>
            </a:r>
            <a:br>
              <a:rPr lang="es-ES" sz="1800" dirty="0">
                <a:cs typeface="Times New Roman" panose="02020603050405020304" pitchFamily="18" charset="0"/>
              </a:rPr>
            </a:br>
            <a:r>
              <a:rPr lang="es-ES" sz="1800" dirty="0">
                <a:cs typeface="Times New Roman" panose="02020603050405020304" pitchFamily="18" charset="0"/>
              </a:rPr>
              <a:t>	</a:t>
            </a:r>
            <a:r>
              <a:rPr lang="es-ES" sz="1800" b="0" i="0" dirty="0">
                <a:effectLst/>
                <a:cs typeface="Times New Roman" panose="02020603050405020304" pitchFamily="18" charset="0"/>
              </a:rPr>
              <a:t>x = </a:t>
            </a:r>
            <a:r>
              <a:rPr lang="es-ES" sz="1800" b="0" i="0" dirty="0" err="1">
                <a:effectLst/>
                <a:cs typeface="Times New Roman" panose="02020603050405020304" pitchFamily="18" charset="0"/>
              </a:rPr>
              <a:t>tuple</a:t>
            </a:r>
            <a:r>
              <a:rPr lang="es-ES" sz="1800" b="0" i="0" dirty="0">
                <a:effectLst/>
                <a:cs typeface="Times New Roman" panose="02020603050405020304" pitchFamily="18" charset="0"/>
              </a:rPr>
              <a:t>(y)</a:t>
            </a:r>
            <a:br>
              <a:rPr lang="es-ES" sz="1800" dirty="0">
                <a:cs typeface="Times New Roman" panose="02020603050405020304" pitchFamily="18" charset="0"/>
              </a:rPr>
            </a:br>
            <a:r>
              <a:rPr lang="es-ES" sz="1800" dirty="0">
                <a:cs typeface="Times New Roman" panose="02020603050405020304" pitchFamily="18" charset="0"/>
              </a:rPr>
              <a:t>	</a:t>
            </a:r>
            <a:r>
              <a:rPr lang="es-ES" sz="1800" b="0" i="0" dirty="0" err="1">
                <a:effectLst/>
                <a:cs typeface="Times New Roman" panose="02020603050405020304" pitchFamily="18" charset="0"/>
              </a:rPr>
              <a:t>print</a:t>
            </a:r>
            <a:r>
              <a:rPr lang="es-ES" sz="1800" b="0" i="0" dirty="0">
                <a:effectLst/>
                <a:cs typeface="Times New Roman" panose="02020603050405020304" pitchFamily="18" charset="0"/>
              </a:rPr>
              <a:t>(x)			#(‘apple’, ‘kiwi’, ‘Cherry’)</a:t>
            </a:r>
            <a:endParaRPr lang="en-US" sz="1800" i="0" dirty="0">
              <a:effectLst/>
              <a:cs typeface="Times New Roman" panose="02020603050405020304" pitchFamily="18" charset="0"/>
            </a:endParaRPr>
          </a:p>
          <a:p>
            <a:endParaRPr lang="en-IN" sz="1800" dirty="0"/>
          </a:p>
        </p:txBody>
      </p:sp>
    </p:spTree>
    <p:extLst>
      <p:ext uri="{BB962C8B-B14F-4D97-AF65-F5344CB8AC3E}">
        <p14:creationId xmlns:p14="http://schemas.microsoft.com/office/powerpoint/2010/main" val="305704847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7B131DD-4D8E-95F9-3F40-BF26996DCDC7}"/>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8BB1170C-A7B3-6D7F-33B4-7CBB82F28565}"/>
              </a:ext>
            </a:extLst>
          </p:cNvPr>
          <p:cNvSpPr txBox="1"/>
          <p:nvPr/>
        </p:nvSpPr>
        <p:spPr>
          <a:xfrm>
            <a:off x="442451" y="462116"/>
            <a:ext cx="11159613" cy="3416320"/>
          </a:xfrm>
          <a:prstGeom prst="rect">
            <a:avLst/>
          </a:prstGeom>
          <a:noFill/>
        </p:spPr>
        <p:txBody>
          <a:bodyPr wrap="square">
            <a:spAutoFit/>
          </a:bodyPr>
          <a:lstStyle/>
          <a:p>
            <a:pPr marL="0" indent="0">
              <a:buNone/>
            </a:pPr>
            <a:r>
              <a:rPr lang="en-US" sz="1800" b="1" dirty="0">
                <a:solidFill>
                  <a:srgbClr val="FF0000"/>
                </a:solidFill>
                <a:cs typeface="Times New Roman" panose="02020603050405020304" pitchFamily="18" charset="0"/>
              </a:rPr>
              <a:t>Add Items: -</a:t>
            </a:r>
          </a:p>
          <a:p>
            <a:pPr marL="0" indent="0" algn="just">
              <a:buNone/>
            </a:pPr>
            <a:r>
              <a:rPr lang="en-US" sz="1800" dirty="0">
                <a:cs typeface="Times New Roman" panose="02020603050405020304" pitchFamily="18" charset="0"/>
              </a:rPr>
              <a:t>Since tuples are immutable, they do not have a built-in </a:t>
            </a:r>
            <a:r>
              <a:rPr lang="en-US" sz="1800" b="1" dirty="0">
                <a:cs typeface="Times New Roman" panose="02020603050405020304" pitchFamily="18" charset="0"/>
              </a:rPr>
              <a:t>append() </a:t>
            </a:r>
            <a:r>
              <a:rPr lang="en-US" sz="1800" dirty="0">
                <a:cs typeface="Times New Roman" panose="02020603050405020304" pitchFamily="18" charset="0"/>
              </a:rPr>
              <a:t>method, but there are other ways to add items to a tuple.</a:t>
            </a:r>
          </a:p>
          <a:p>
            <a:pPr marL="0" indent="0" algn="just">
              <a:buNone/>
            </a:pPr>
            <a:r>
              <a:rPr lang="en-US" sz="1800" b="1" dirty="0">
                <a:cs typeface="Times New Roman" panose="02020603050405020304" pitchFamily="18" charset="0"/>
              </a:rPr>
              <a:t>1. Convert into a list:</a:t>
            </a:r>
          </a:p>
          <a:p>
            <a:pPr marL="0" indent="0" algn="just">
              <a:buNone/>
            </a:pPr>
            <a:r>
              <a:rPr lang="en-US" sz="1800" b="0" i="0" dirty="0">
                <a:solidFill>
                  <a:srgbClr val="000000"/>
                </a:solidFill>
                <a:effectLst/>
                <a:cs typeface="Times New Roman" panose="02020603050405020304" pitchFamily="18" charset="0"/>
              </a:rPr>
              <a:t>Just like the workaround for</a:t>
            </a:r>
            <a:r>
              <a:rPr lang="en-US" sz="1800" b="0" i="1" dirty="0">
                <a:solidFill>
                  <a:srgbClr val="000000"/>
                </a:solidFill>
                <a:effectLst/>
                <a:cs typeface="Times New Roman" panose="02020603050405020304" pitchFamily="18" charset="0"/>
              </a:rPr>
              <a:t> changing </a:t>
            </a:r>
            <a:r>
              <a:rPr lang="en-US" sz="1800" b="0" i="0" dirty="0">
                <a:solidFill>
                  <a:srgbClr val="000000"/>
                </a:solidFill>
                <a:effectLst/>
                <a:cs typeface="Times New Roman" panose="02020603050405020304" pitchFamily="18" charset="0"/>
              </a:rPr>
              <a:t>a tuple, you can convert it into a list, add your item(s), and convert it back into a tuple.</a:t>
            </a:r>
          </a:p>
          <a:p>
            <a:pPr marL="0" indent="0" algn="just">
              <a:buNone/>
            </a:pPr>
            <a:r>
              <a:rPr lang="en-US" sz="1800" b="1" u="sng" dirty="0">
                <a:solidFill>
                  <a:srgbClr val="000000"/>
                </a:solidFill>
                <a:cs typeface="Times New Roman" panose="02020603050405020304" pitchFamily="18" charset="0"/>
              </a:rPr>
              <a:t>Example</a:t>
            </a:r>
          </a:p>
          <a:p>
            <a:pPr marL="0" indent="0">
              <a:buNone/>
            </a:pPr>
            <a:r>
              <a:rPr lang="en-US" sz="1800" b="0" i="0" dirty="0">
                <a:effectLst/>
                <a:cs typeface="Times New Roman" panose="02020603050405020304" pitchFamily="18" charset="0"/>
              </a:rPr>
              <a:t>	</a:t>
            </a:r>
            <a:r>
              <a:rPr lang="en-US" sz="1800" b="0" i="0" dirty="0" err="1">
                <a:effectLst/>
                <a:cs typeface="Times New Roman" panose="02020603050405020304" pitchFamily="18" charset="0"/>
              </a:rPr>
              <a:t>thistuple</a:t>
            </a:r>
            <a:r>
              <a:rPr lang="en-US" sz="1800" b="0" i="0" dirty="0">
                <a:effectLst/>
                <a:cs typeface="Times New Roman" panose="02020603050405020304" pitchFamily="18" charset="0"/>
              </a:rPr>
              <a:t> = ("apple", "banana", "cherry")</a:t>
            </a:r>
            <a:br>
              <a:rPr lang="en-US" sz="1800" dirty="0">
                <a:cs typeface="Times New Roman" panose="02020603050405020304" pitchFamily="18" charset="0"/>
              </a:rPr>
            </a:br>
            <a:r>
              <a:rPr lang="en-US" sz="1800" dirty="0">
                <a:cs typeface="Times New Roman" panose="02020603050405020304" pitchFamily="18" charset="0"/>
              </a:rPr>
              <a:t>	</a:t>
            </a:r>
            <a:r>
              <a:rPr lang="en-US" sz="1800" b="0" i="0" dirty="0">
                <a:effectLst/>
                <a:cs typeface="Times New Roman" panose="02020603050405020304" pitchFamily="18" charset="0"/>
              </a:rPr>
              <a:t>y = list(</a:t>
            </a:r>
            <a:r>
              <a:rPr lang="en-US" sz="1800" b="0" i="0" dirty="0" err="1">
                <a:effectLst/>
                <a:cs typeface="Times New Roman" panose="02020603050405020304" pitchFamily="18" charset="0"/>
              </a:rPr>
              <a:t>thistuple</a:t>
            </a:r>
            <a:r>
              <a:rPr lang="en-US" sz="1800" b="0" i="0" dirty="0">
                <a:effectLst/>
                <a:cs typeface="Times New Roman" panose="02020603050405020304" pitchFamily="18" charset="0"/>
              </a:rPr>
              <a:t>)</a:t>
            </a:r>
            <a:br>
              <a:rPr lang="en-US" sz="1800" dirty="0">
                <a:cs typeface="Times New Roman" panose="02020603050405020304" pitchFamily="18" charset="0"/>
              </a:rPr>
            </a:br>
            <a:r>
              <a:rPr lang="en-US" sz="1800" dirty="0">
                <a:cs typeface="Times New Roman" panose="02020603050405020304" pitchFamily="18" charset="0"/>
              </a:rPr>
              <a:t>	</a:t>
            </a:r>
            <a:r>
              <a:rPr lang="en-US" sz="1800" b="0" i="0" dirty="0" err="1">
                <a:effectLst/>
                <a:cs typeface="Times New Roman" panose="02020603050405020304" pitchFamily="18" charset="0"/>
              </a:rPr>
              <a:t>y.append</a:t>
            </a:r>
            <a:r>
              <a:rPr lang="en-US" sz="1800" b="0" i="0" dirty="0">
                <a:effectLst/>
                <a:cs typeface="Times New Roman" panose="02020603050405020304" pitchFamily="18" charset="0"/>
              </a:rPr>
              <a:t>("orange")</a:t>
            </a:r>
            <a:br>
              <a:rPr lang="en-US" sz="1800" dirty="0">
                <a:cs typeface="Times New Roman" panose="02020603050405020304" pitchFamily="18" charset="0"/>
              </a:rPr>
            </a:br>
            <a:r>
              <a:rPr lang="en-US" sz="1800" dirty="0">
                <a:cs typeface="Times New Roman" panose="02020603050405020304" pitchFamily="18" charset="0"/>
              </a:rPr>
              <a:t>	</a:t>
            </a:r>
            <a:r>
              <a:rPr lang="en-US" sz="1800" b="0" i="0" dirty="0" err="1">
                <a:effectLst/>
                <a:cs typeface="Times New Roman" panose="02020603050405020304" pitchFamily="18" charset="0"/>
              </a:rPr>
              <a:t>thistuple</a:t>
            </a:r>
            <a:r>
              <a:rPr lang="en-US" sz="1800" b="0" i="0" dirty="0">
                <a:effectLst/>
                <a:cs typeface="Times New Roman" panose="02020603050405020304" pitchFamily="18" charset="0"/>
              </a:rPr>
              <a:t> = tuple(y)</a:t>
            </a:r>
          </a:p>
          <a:p>
            <a:pPr marL="0" indent="0">
              <a:buNone/>
            </a:pPr>
            <a:r>
              <a:rPr lang="en-US" sz="1800" dirty="0">
                <a:cs typeface="Times New Roman" panose="02020603050405020304" pitchFamily="18" charset="0"/>
              </a:rPr>
              <a:t>	print(</a:t>
            </a:r>
            <a:r>
              <a:rPr lang="en-US" sz="1800" dirty="0" err="1">
                <a:cs typeface="Times New Roman" panose="02020603050405020304" pitchFamily="18" charset="0"/>
              </a:rPr>
              <a:t>thistuple</a:t>
            </a:r>
            <a:r>
              <a:rPr lang="en-US" sz="1800" dirty="0">
                <a:cs typeface="Times New Roman" panose="02020603050405020304" pitchFamily="18" charset="0"/>
              </a:rPr>
              <a:t>)		#(‘apple’, ‘banana’, ‘cherry’, ‘orange’)</a:t>
            </a:r>
            <a:endParaRPr lang="en-IN" sz="1800" dirty="0">
              <a:cs typeface="Times New Roman" panose="02020603050405020304" pitchFamily="18" charset="0"/>
            </a:endParaRPr>
          </a:p>
        </p:txBody>
      </p:sp>
      <p:sp>
        <p:nvSpPr>
          <p:cNvPr id="7" name="TextBox 6">
            <a:extLst>
              <a:ext uri="{FF2B5EF4-FFF2-40B4-BE49-F238E27FC236}">
                <a16:creationId xmlns:a16="http://schemas.microsoft.com/office/drawing/2014/main" id="{185DD4D8-FA32-EBB2-7588-2120707414DA}"/>
              </a:ext>
            </a:extLst>
          </p:cNvPr>
          <p:cNvSpPr txBox="1"/>
          <p:nvPr/>
        </p:nvSpPr>
        <p:spPr>
          <a:xfrm>
            <a:off x="442451" y="3972232"/>
            <a:ext cx="11159613" cy="2585323"/>
          </a:xfrm>
          <a:prstGeom prst="rect">
            <a:avLst/>
          </a:prstGeom>
          <a:noFill/>
        </p:spPr>
        <p:txBody>
          <a:bodyPr wrap="square">
            <a:spAutoFit/>
          </a:bodyPr>
          <a:lstStyle/>
          <a:p>
            <a:pPr marL="0" indent="0">
              <a:buNone/>
            </a:pPr>
            <a:r>
              <a:rPr lang="en-US" sz="1800" b="1" dirty="0">
                <a:cs typeface="Times New Roman" panose="02020603050405020304" pitchFamily="18" charset="0"/>
              </a:rPr>
              <a:t>2. Add Tuple to a Tuple:-</a:t>
            </a:r>
          </a:p>
          <a:p>
            <a:pPr marL="0" indent="0" algn="just">
              <a:buNone/>
            </a:pPr>
            <a:r>
              <a:rPr lang="en-US" sz="1800" b="0" i="0" dirty="0">
                <a:solidFill>
                  <a:srgbClr val="000000"/>
                </a:solidFill>
                <a:effectLst/>
                <a:cs typeface="Times New Roman" panose="02020603050405020304" pitchFamily="18" charset="0"/>
              </a:rPr>
              <a:t>You are allowed to add tuples to tuples, so if you want to add one item, or many, create a new tuple with the item(s), and add it to the existing tuple.</a:t>
            </a:r>
          </a:p>
          <a:p>
            <a:pPr marL="0" indent="0" algn="just">
              <a:buNone/>
            </a:pPr>
            <a:endParaRPr lang="en-US" sz="1800" dirty="0">
              <a:solidFill>
                <a:srgbClr val="000000"/>
              </a:solidFill>
              <a:cs typeface="Times New Roman" panose="02020603050405020304" pitchFamily="18" charset="0"/>
            </a:endParaRPr>
          </a:p>
          <a:p>
            <a:pPr marL="0" indent="0" algn="just">
              <a:buNone/>
            </a:pPr>
            <a:r>
              <a:rPr lang="en-US" sz="1800" b="1" u="sng" dirty="0">
                <a:solidFill>
                  <a:srgbClr val="000000"/>
                </a:solidFill>
                <a:cs typeface="Times New Roman" panose="02020603050405020304" pitchFamily="18" charset="0"/>
              </a:rPr>
              <a:t>Example</a:t>
            </a:r>
          </a:p>
          <a:p>
            <a:pPr marL="0" indent="0">
              <a:buNone/>
            </a:pPr>
            <a:r>
              <a:rPr lang="en-US" sz="1800" b="0" i="0" dirty="0">
                <a:effectLst/>
                <a:cs typeface="Times New Roman" panose="02020603050405020304" pitchFamily="18" charset="0"/>
              </a:rPr>
              <a:t>	</a:t>
            </a:r>
            <a:r>
              <a:rPr lang="en-US" sz="1800" b="0" i="0" dirty="0" err="1">
                <a:effectLst/>
                <a:cs typeface="Times New Roman" panose="02020603050405020304" pitchFamily="18" charset="0"/>
              </a:rPr>
              <a:t>thistuple</a:t>
            </a:r>
            <a:r>
              <a:rPr lang="en-US" sz="1800" b="0" i="0" dirty="0">
                <a:effectLst/>
                <a:cs typeface="Times New Roman" panose="02020603050405020304" pitchFamily="18" charset="0"/>
              </a:rPr>
              <a:t> = ("apple", "banana", "cherry")</a:t>
            </a:r>
            <a:br>
              <a:rPr lang="en-US" sz="1800" dirty="0">
                <a:cs typeface="Times New Roman" panose="02020603050405020304" pitchFamily="18" charset="0"/>
              </a:rPr>
            </a:br>
            <a:r>
              <a:rPr lang="en-US" sz="1800" dirty="0">
                <a:cs typeface="Times New Roman" panose="02020603050405020304" pitchFamily="18" charset="0"/>
              </a:rPr>
              <a:t>	</a:t>
            </a:r>
            <a:r>
              <a:rPr lang="en-US" sz="1800" b="0" i="0" dirty="0">
                <a:effectLst/>
                <a:cs typeface="Times New Roman" panose="02020603050405020304" pitchFamily="18" charset="0"/>
              </a:rPr>
              <a:t>y = ("orange",)</a:t>
            </a:r>
            <a:br>
              <a:rPr lang="en-US" sz="1800" dirty="0">
                <a:cs typeface="Times New Roman" panose="02020603050405020304" pitchFamily="18" charset="0"/>
              </a:rPr>
            </a:br>
            <a:r>
              <a:rPr lang="en-US" sz="1800" dirty="0">
                <a:cs typeface="Times New Roman" panose="02020603050405020304" pitchFamily="18" charset="0"/>
              </a:rPr>
              <a:t>	</a:t>
            </a:r>
            <a:r>
              <a:rPr lang="en-US" sz="1800" b="0" i="0" dirty="0" err="1">
                <a:effectLst/>
                <a:cs typeface="Times New Roman" panose="02020603050405020304" pitchFamily="18" charset="0"/>
              </a:rPr>
              <a:t>thistuple</a:t>
            </a:r>
            <a:r>
              <a:rPr lang="en-US" sz="1800" b="0" i="0" dirty="0">
                <a:effectLst/>
                <a:cs typeface="Times New Roman" panose="02020603050405020304" pitchFamily="18" charset="0"/>
              </a:rPr>
              <a:t> = </a:t>
            </a:r>
            <a:r>
              <a:rPr lang="en-US" sz="1800" b="0" i="0" dirty="0" err="1">
                <a:effectLst/>
                <a:cs typeface="Times New Roman" panose="02020603050405020304" pitchFamily="18" charset="0"/>
              </a:rPr>
              <a:t>thistuple</a:t>
            </a:r>
            <a:r>
              <a:rPr lang="en-US" sz="1800" b="0" i="0" dirty="0">
                <a:effectLst/>
                <a:cs typeface="Times New Roman" panose="02020603050405020304" pitchFamily="18" charset="0"/>
              </a:rPr>
              <a:t> + y</a:t>
            </a:r>
            <a:br>
              <a:rPr lang="en-US" sz="1800" dirty="0">
                <a:cs typeface="Times New Roman" panose="02020603050405020304" pitchFamily="18" charset="0"/>
              </a:rPr>
            </a:br>
            <a:r>
              <a:rPr lang="en-US" sz="1800" dirty="0">
                <a:cs typeface="Times New Roman" panose="02020603050405020304" pitchFamily="18" charset="0"/>
              </a:rPr>
              <a:t>	</a:t>
            </a:r>
            <a:r>
              <a:rPr lang="en-US" sz="1800" b="0" i="0" dirty="0">
                <a:effectLst/>
                <a:cs typeface="Times New Roman" panose="02020603050405020304" pitchFamily="18" charset="0"/>
              </a:rPr>
              <a:t>print(</a:t>
            </a:r>
            <a:r>
              <a:rPr lang="en-US" sz="1800" b="0" i="0" dirty="0" err="1">
                <a:effectLst/>
                <a:cs typeface="Times New Roman" panose="02020603050405020304" pitchFamily="18" charset="0"/>
              </a:rPr>
              <a:t>thistuple</a:t>
            </a:r>
            <a:r>
              <a:rPr lang="en-US" sz="1800" b="0" i="0" dirty="0">
                <a:effectLst/>
                <a:cs typeface="Times New Roman" panose="02020603050405020304" pitchFamily="18" charset="0"/>
              </a:rPr>
              <a:t>)		#(‘apple’, ‘banana’, ‘cherry’, ‘orange’)</a:t>
            </a:r>
            <a:endParaRPr lang="en-IN" sz="1800" dirty="0">
              <a:cs typeface="Times New Roman" panose="02020603050405020304" pitchFamily="18" charset="0"/>
            </a:endParaRPr>
          </a:p>
        </p:txBody>
      </p:sp>
    </p:spTree>
    <p:extLst>
      <p:ext uri="{BB962C8B-B14F-4D97-AF65-F5344CB8AC3E}">
        <p14:creationId xmlns:p14="http://schemas.microsoft.com/office/powerpoint/2010/main" val="272314691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2E20849-F49F-B3C6-D07E-A145447AD3C7}"/>
              </a:ext>
            </a:extLst>
          </p:cNvPr>
          <p:cNvPicPr/>
          <p:nvPr/>
        </p:nvPicPr>
        <p:blipFill>
          <a:blip r:embed="rId2" cstate="print"/>
          <a:stretch/>
        </p:blipFill>
        <p:spPr>
          <a:xfrm>
            <a:off x="11503320" y="0"/>
            <a:ext cx="688680" cy="689040"/>
          </a:xfrm>
          <a:prstGeom prst="rect">
            <a:avLst/>
          </a:prstGeom>
          <a:ln w="0">
            <a:noFill/>
          </a:ln>
        </p:spPr>
      </p:pic>
      <p:sp>
        <p:nvSpPr>
          <p:cNvPr id="2" name="Content Placeholder 2">
            <a:extLst>
              <a:ext uri="{FF2B5EF4-FFF2-40B4-BE49-F238E27FC236}">
                <a16:creationId xmlns:a16="http://schemas.microsoft.com/office/drawing/2014/main" id="{7FC7B3BD-68B6-53A4-BD3A-7A55A1DE87DD}"/>
              </a:ext>
            </a:extLst>
          </p:cNvPr>
          <p:cNvSpPr txBox="1">
            <a:spLocks/>
          </p:cNvSpPr>
          <p:nvPr/>
        </p:nvSpPr>
        <p:spPr>
          <a:xfrm>
            <a:off x="648929" y="4041058"/>
            <a:ext cx="10704871" cy="23892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2000" dirty="0">
                <a:cs typeface="Times New Roman" panose="02020603050405020304" pitchFamily="18" charset="0"/>
              </a:rPr>
              <a:t>The </a:t>
            </a:r>
            <a:r>
              <a:rPr lang="en-US" sz="2000" b="1" dirty="0">
                <a:cs typeface="Times New Roman" panose="02020603050405020304" pitchFamily="18" charset="0"/>
              </a:rPr>
              <a:t>del </a:t>
            </a:r>
            <a:r>
              <a:rPr lang="en-US" sz="2000" dirty="0">
                <a:cs typeface="Times New Roman" panose="02020603050405020304" pitchFamily="18" charset="0"/>
              </a:rPr>
              <a:t>keyword can delete the tuple completely.</a:t>
            </a:r>
          </a:p>
          <a:p>
            <a:pPr marL="0" indent="0" algn="just">
              <a:buFont typeface="Arial" panose="020B0604020202020204" pitchFamily="34" charset="0"/>
              <a:buNone/>
            </a:pPr>
            <a:r>
              <a:rPr lang="en-US" sz="2000" b="1" u="sng" dirty="0">
                <a:cs typeface="Times New Roman" panose="02020603050405020304" pitchFamily="18" charset="0"/>
              </a:rPr>
              <a:t>Example</a:t>
            </a:r>
          </a:p>
          <a:p>
            <a:pPr marL="0" indent="0">
              <a:buFont typeface="Arial" panose="020B0604020202020204" pitchFamily="34" charset="0"/>
              <a:buNone/>
            </a:pPr>
            <a:r>
              <a:rPr lang="en-US" sz="2000" dirty="0">
                <a:cs typeface="Times New Roman" panose="02020603050405020304" pitchFamily="18" charset="0"/>
              </a:rPr>
              <a:t>	</a:t>
            </a:r>
            <a:r>
              <a:rPr lang="en-US" sz="2000" dirty="0" err="1">
                <a:cs typeface="Times New Roman" panose="02020603050405020304" pitchFamily="18" charset="0"/>
              </a:rPr>
              <a:t>thistuple</a:t>
            </a:r>
            <a:r>
              <a:rPr lang="en-US" sz="2000" dirty="0">
                <a:cs typeface="Times New Roman" panose="02020603050405020304" pitchFamily="18" charset="0"/>
              </a:rPr>
              <a:t> = ("apple", "banana", "cherry")</a:t>
            </a:r>
            <a:br>
              <a:rPr lang="en-US" sz="2000" dirty="0">
                <a:cs typeface="Times New Roman" panose="02020603050405020304" pitchFamily="18" charset="0"/>
              </a:rPr>
            </a:br>
            <a:r>
              <a:rPr lang="en-US" sz="2000" dirty="0">
                <a:cs typeface="Times New Roman" panose="02020603050405020304" pitchFamily="18" charset="0"/>
              </a:rPr>
              <a:t>	del </a:t>
            </a:r>
            <a:r>
              <a:rPr lang="en-US" sz="2000" dirty="0" err="1">
                <a:cs typeface="Times New Roman" panose="02020603050405020304" pitchFamily="18" charset="0"/>
              </a:rPr>
              <a:t>thistuple</a:t>
            </a:r>
            <a:br>
              <a:rPr lang="en-US" sz="2000" dirty="0">
                <a:cs typeface="Times New Roman" panose="02020603050405020304" pitchFamily="18" charset="0"/>
              </a:rPr>
            </a:br>
            <a:r>
              <a:rPr lang="en-US" sz="2000" dirty="0">
                <a:cs typeface="Times New Roman" panose="02020603050405020304" pitchFamily="18" charset="0"/>
              </a:rPr>
              <a:t>	print(</a:t>
            </a:r>
            <a:r>
              <a:rPr lang="en-US" sz="2000" dirty="0" err="1">
                <a:cs typeface="Times New Roman" panose="02020603050405020304" pitchFamily="18" charset="0"/>
              </a:rPr>
              <a:t>thistuple</a:t>
            </a:r>
            <a:r>
              <a:rPr lang="en-US" sz="2000" dirty="0">
                <a:cs typeface="Times New Roman" panose="02020603050405020304" pitchFamily="18" charset="0"/>
              </a:rPr>
              <a:t>) </a:t>
            </a:r>
          </a:p>
          <a:p>
            <a:pPr marL="0" indent="0">
              <a:buFont typeface="Arial" panose="020B0604020202020204" pitchFamily="34" charset="0"/>
              <a:buNone/>
            </a:pPr>
            <a:r>
              <a:rPr lang="en-US" sz="2000" dirty="0">
                <a:cs typeface="Times New Roman" panose="02020603050405020304" pitchFamily="18" charset="0"/>
              </a:rPr>
              <a:t>	#This will raise an error because the tuple no longer exists.</a:t>
            </a:r>
            <a:endParaRPr lang="en-IN" sz="2000" dirty="0">
              <a:cs typeface="Times New Roman" panose="02020603050405020304" pitchFamily="18" charset="0"/>
            </a:endParaRPr>
          </a:p>
        </p:txBody>
      </p:sp>
      <p:sp>
        <p:nvSpPr>
          <p:cNvPr id="6" name="TextBox 5">
            <a:extLst>
              <a:ext uri="{FF2B5EF4-FFF2-40B4-BE49-F238E27FC236}">
                <a16:creationId xmlns:a16="http://schemas.microsoft.com/office/drawing/2014/main" id="{4FBE63FE-C2B1-0BAC-4167-6899B1F9D3D6}"/>
              </a:ext>
            </a:extLst>
          </p:cNvPr>
          <p:cNvSpPr txBox="1"/>
          <p:nvPr/>
        </p:nvSpPr>
        <p:spPr>
          <a:xfrm>
            <a:off x="838200" y="689041"/>
            <a:ext cx="10665120" cy="3170099"/>
          </a:xfrm>
          <a:prstGeom prst="rect">
            <a:avLst/>
          </a:prstGeom>
          <a:noFill/>
        </p:spPr>
        <p:txBody>
          <a:bodyPr wrap="square">
            <a:spAutoFit/>
          </a:bodyPr>
          <a:lstStyle/>
          <a:p>
            <a:pPr marL="0" indent="0">
              <a:buNone/>
            </a:pPr>
            <a:r>
              <a:rPr lang="en-US" sz="2000" b="1" dirty="0">
                <a:solidFill>
                  <a:srgbClr val="FF0000"/>
                </a:solidFill>
                <a:cs typeface="Times New Roman" panose="02020603050405020304" pitchFamily="18" charset="0"/>
              </a:rPr>
              <a:t>REMOVE ITEMS</a:t>
            </a:r>
          </a:p>
          <a:p>
            <a:pPr marL="0" indent="0" algn="just">
              <a:buNone/>
            </a:pPr>
            <a:r>
              <a:rPr lang="en-US" sz="2000" b="0" i="0" dirty="0">
                <a:solidFill>
                  <a:srgbClr val="000000"/>
                </a:solidFill>
                <a:effectLst/>
                <a:cs typeface="Times New Roman" panose="02020603050405020304" pitchFamily="18" charset="0"/>
              </a:rPr>
              <a:t>Tuples are </a:t>
            </a:r>
            <a:r>
              <a:rPr lang="en-US" sz="2000" b="1" i="0" dirty="0">
                <a:solidFill>
                  <a:srgbClr val="000000"/>
                </a:solidFill>
                <a:effectLst/>
                <a:cs typeface="Times New Roman" panose="02020603050405020304" pitchFamily="18" charset="0"/>
              </a:rPr>
              <a:t>unchangeable</a:t>
            </a:r>
            <a:r>
              <a:rPr lang="en-US" sz="2000" b="0" i="0" dirty="0">
                <a:solidFill>
                  <a:srgbClr val="000000"/>
                </a:solidFill>
                <a:effectLst/>
                <a:cs typeface="Times New Roman" panose="02020603050405020304" pitchFamily="18" charset="0"/>
              </a:rPr>
              <a:t>, so you cannot remove items from it, but you can use the same workaround as we used for changing and adding tuple items.</a:t>
            </a:r>
          </a:p>
          <a:p>
            <a:pPr marL="0" indent="0" algn="just">
              <a:buNone/>
            </a:pPr>
            <a:endParaRPr lang="en-US" sz="2000" dirty="0">
              <a:solidFill>
                <a:srgbClr val="000000"/>
              </a:solidFill>
              <a:cs typeface="Times New Roman" panose="02020603050405020304" pitchFamily="18" charset="0"/>
            </a:endParaRPr>
          </a:p>
          <a:p>
            <a:pPr marL="0" indent="0" algn="just">
              <a:buNone/>
            </a:pPr>
            <a:r>
              <a:rPr lang="en-US" sz="2000" b="1" u="sng" dirty="0">
                <a:solidFill>
                  <a:srgbClr val="000000"/>
                </a:solidFill>
                <a:cs typeface="Times New Roman" panose="02020603050405020304" pitchFamily="18" charset="0"/>
              </a:rPr>
              <a:t>Example</a:t>
            </a:r>
          </a:p>
          <a:p>
            <a:pPr marL="0" indent="0">
              <a:buNone/>
            </a:pPr>
            <a:r>
              <a:rPr lang="en-US" sz="2000" b="0" i="0" dirty="0">
                <a:effectLst/>
                <a:cs typeface="Times New Roman" panose="02020603050405020304" pitchFamily="18" charset="0"/>
              </a:rPr>
              <a:t>	</a:t>
            </a:r>
            <a:r>
              <a:rPr lang="en-US" sz="2000" b="0" i="0" dirty="0" err="1">
                <a:effectLst/>
                <a:cs typeface="Times New Roman" panose="02020603050405020304" pitchFamily="18" charset="0"/>
              </a:rPr>
              <a:t>thistuple</a:t>
            </a:r>
            <a:r>
              <a:rPr lang="en-US" sz="2000" b="0" i="0" dirty="0">
                <a:effectLst/>
                <a:cs typeface="Times New Roman" panose="02020603050405020304" pitchFamily="18" charset="0"/>
              </a:rPr>
              <a:t> = ("apple", "banana", "cherry")</a:t>
            </a:r>
            <a:br>
              <a:rPr lang="en-US" sz="2000" dirty="0">
                <a:cs typeface="Times New Roman" panose="02020603050405020304" pitchFamily="18" charset="0"/>
              </a:rPr>
            </a:br>
            <a:r>
              <a:rPr lang="en-US" sz="2000" dirty="0">
                <a:cs typeface="Times New Roman" panose="02020603050405020304" pitchFamily="18" charset="0"/>
              </a:rPr>
              <a:t>	</a:t>
            </a:r>
            <a:r>
              <a:rPr lang="en-US" sz="2000" b="0" i="0" dirty="0">
                <a:effectLst/>
                <a:cs typeface="Times New Roman" panose="02020603050405020304" pitchFamily="18" charset="0"/>
              </a:rPr>
              <a:t>y = list(</a:t>
            </a:r>
            <a:r>
              <a:rPr lang="en-US" sz="2000" b="0" i="0" dirty="0" err="1">
                <a:effectLst/>
                <a:cs typeface="Times New Roman" panose="02020603050405020304" pitchFamily="18" charset="0"/>
              </a:rPr>
              <a:t>thistuple</a:t>
            </a:r>
            <a:r>
              <a:rPr lang="en-US" sz="2000" b="0" i="0" dirty="0">
                <a:effectLst/>
                <a:cs typeface="Times New Roman" panose="02020603050405020304" pitchFamily="18" charset="0"/>
              </a:rPr>
              <a:t>)</a:t>
            </a:r>
            <a:br>
              <a:rPr lang="en-US" sz="2000" dirty="0">
                <a:cs typeface="Times New Roman" panose="02020603050405020304" pitchFamily="18" charset="0"/>
              </a:rPr>
            </a:br>
            <a:r>
              <a:rPr lang="en-US" sz="2000" dirty="0">
                <a:cs typeface="Times New Roman" panose="02020603050405020304" pitchFamily="18" charset="0"/>
              </a:rPr>
              <a:t>	</a:t>
            </a:r>
            <a:r>
              <a:rPr lang="en-US" sz="2000" b="0" i="0" dirty="0" err="1">
                <a:effectLst/>
                <a:cs typeface="Times New Roman" panose="02020603050405020304" pitchFamily="18" charset="0"/>
              </a:rPr>
              <a:t>y.remove</a:t>
            </a:r>
            <a:r>
              <a:rPr lang="en-US" sz="2000" b="0" i="0" dirty="0">
                <a:effectLst/>
                <a:cs typeface="Times New Roman" panose="02020603050405020304" pitchFamily="18" charset="0"/>
              </a:rPr>
              <a:t>("apple")</a:t>
            </a:r>
            <a:br>
              <a:rPr lang="en-US" sz="2000" dirty="0">
                <a:cs typeface="Times New Roman" panose="02020603050405020304" pitchFamily="18" charset="0"/>
              </a:rPr>
            </a:br>
            <a:r>
              <a:rPr lang="en-US" sz="2000" dirty="0">
                <a:cs typeface="Times New Roman" panose="02020603050405020304" pitchFamily="18" charset="0"/>
              </a:rPr>
              <a:t>	</a:t>
            </a:r>
            <a:r>
              <a:rPr lang="en-US" sz="2000" b="0" i="0" dirty="0" err="1">
                <a:effectLst/>
                <a:cs typeface="Times New Roman" panose="02020603050405020304" pitchFamily="18" charset="0"/>
              </a:rPr>
              <a:t>thistuple</a:t>
            </a:r>
            <a:r>
              <a:rPr lang="en-US" sz="2000" b="0" i="0" dirty="0">
                <a:effectLst/>
                <a:cs typeface="Times New Roman" panose="02020603050405020304" pitchFamily="18" charset="0"/>
              </a:rPr>
              <a:t> = tuple(y)</a:t>
            </a:r>
          </a:p>
          <a:p>
            <a:pPr marL="0" indent="0">
              <a:buNone/>
            </a:pPr>
            <a:r>
              <a:rPr lang="en-US" sz="2000" dirty="0">
                <a:cs typeface="Times New Roman" panose="02020603050405020304" pitchFamily="18" charset="0"/>
              </a:rPr>
              <a:t>	print(</a:t>
            </a:r>
            <a:r>
              <a:rPr lang="en-US" sz="2000" dirty="0" err="1">
                <a:cs typeface="Times New Roman" panose="02020603050405020304" pitchFamily="18" charset="0"/>
              </a:rPr>
              <a:t>thistuple</a:t>
            </a:r>
            <a:r>
              <a:rPr lang="en-US" sz="2000" dirty="0">
                <a:cs typeface="Times New Roman" panose="02020603050405020304" pitchFamily="18" charset="0"/>
              </a:rPr>
              <a:t>)		#(‘banana’, ‘cherry’)</a:t>
            </a:r>
          </a:p>
        </p:txBody>
      </p:sp>
    </p:spTree>
    <p:extLst>
      <p:ext uri="{BB962C8B-B14F-4D97-AF65-F5344CB8AC3E}">
        <p14:creationId xmlns:p14="http://schemas.microsoft.com/office/powerpoint/2010/main" val="306607629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E3803-CB02-464B-A8A5-B4787EF46009}"/>
              </a:ext>
            </a:extLst>
          </p:cNvPr>
          <p:cNvSpPr>
            <a:spLocks noGrp="1"/>
          </p:cNvSpPr>
          <p:nvPr>
            <p:ph type="title"/>
          </p:nvPr>
        </p:nvSpPr>
        <p:spPr/>
        <p:txBody>
          <a:bodyPr/>
          <a:lstStyle/>
          <a:p>
            <a:pPr algn="ctr"/>
            <a:r>
              <a:rPr lang="en-US"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Unpack Tuples</a:t>
            </a:r>
            <a:endPar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endParaRPr>
          </a:p>
        </p:txBody>
      </p:sp>
      <p:pic>
        <p:nvPicPr>
          <p:cNvPr id="4" name="Picture 3">
            <a:extLst>
              <a:ext uri="{FF2B5EF4-FFF2-40B4-BE49-F238E27FC236}">
                <a16:creationId xmlns:a16="http://schemas.microsoft.com/office/drawing/2014/main" id="{FFDF9F74-DB9A-9344-6B47-1F056AE13A78}"/>
              </a:ext>
            </a:extLst>
          </p:cNvPr>
          <p:cNvPicPr/>
          <p:nvPr/>
        </p:nvPicPr>
        <p:blipFill>
          <a:blip r:embed="rId2" cstate="print"/>
          <a:stretch/>
        </p:blipFill>
        <p:spPr>
          <a:xfrm>
            <a:off x="11477920" y="0"/>
            <a:ext cx="688680" cy="689040"/>
          </a:xfrm>
          <a:prstGeom prst="rect">
            <a:avLst/>
          </a:prstGeom>
          <a:ln w="0">
            <a:noFill/>
          </a:ln>
        </p:spPr>
      </p:pic>
      <p:sp>
        <p:nvSpPr>
          <p:cNvPr id="6" name="TextBox 5">
            <a:extLst>
              <a:ext uri="{FF2B5EF4-FFF2-40B4-BE49-F238E27FC236}">
                <a16:creationId xmlns:a16="http://schemas.microsoft.com/office/drawing/2014/main" id="{BAF6AC1A-60AE-316A-22B6-A6F416830AB6}"/>
              </a:ext>
            </a:extLst>
          </p:cNvPr>
          <p:cNvSpPr txBox="1"/>
          <p:nvPr/>
        </p:nvSpPr>
        <p:spPr>
          <a:xfrm>
            <a:off x="678426" y="1793820"/>
            <a:ext cx="10799494" cy="2308324"/>
          </a:xfrm>
          <a:prstGeom prst="rect">
            <a:avLst/>
          </a:prstGeom>
          <a:noFill/>
        </p:spPr>
        <p:txBody>
          <a:bodyPr wrap="square">
            <a:spAutoFit/>
          </a:bodyPr>
          <a:lstStyle/>
          <a:p>
            <a:pPr algn="just"/>
            <a:r>
              <a:rPr lang="en-US" sz="1800" b="0" i="0" dirty="0">
                <a:solidFill>
                  <a:srgbClr val="000000"/>
                </a:solidFill>
                <a:effectLst/>
                <a:cs typeface="Times New Roman" panose="02020603050405020304" pitchFamily="18" charset="0"/>
              </a:rPr>
              <a:t>When we create a tuple, we normally assign values to it. This is called "packing" a tuple.</a:t>
            </a:r>
          </a:p>
          <a:p>
            <a:pPr algn="just"/>
            <a:r>
              <a:rPr lang="en-US" sz="1800" dirty="0">
                <a:solidFill>
                  <a:srgbClr val="000000"/>
                </a:solidFill>
                <a:cs typeface="Times New Roman" panose="02020603050405020304" pitchFamily="18" charset="0"/>
              </a:rPr>
              <a:t>I</a:t>
            </a:r>
            <a:r>
              <a:rPr lang="en-US" sz="1800" b="0" i="0" dirty="0">
                <a:solidFill>
                  <a:srgbClr val="000000"/>
                </a:solidFill>
                <a:effectLst/>
                <a:cs typeface="Times New Roman" panose="02020603050405020304" pitchFamily="18" charset="0"/>
              </a:rPr>
              <a:t>n Python, we are also allowed to extract the values back into variables. This is called </a:t>
            </a:r>
            <a:r>
              <a:rPr lang="en-US" sz="1800" dirty="0">
                <a:solidFill>
                  <a:srgbClr val="000000"/>
                </a:solidFill>
                <a:cs typeface="Times New Roman" panose="02020603050405020304" pitchFamily="18" charset="0"/>
              </a:rPr>
              <a:t>“</a:t>
            </a:r>
            <a:r>
              <a:rPr lang="en-US" sz="1800" b="0" i="0" dirty="0">
                <a:solidFill>
                  <a:srgbClr val="000000"/>
                </a:solidFill>
                <a:effectLst/>
                <a:cs typeface="Times New Roman" panose="02020603050405020304" pitchFamily="18" charset="0"/>
              </a:rPr>
              <a:t>unpacking”.</a:t>
            </a:r>
          </a:p>
          <a:p>
            <a:pPr marL="0" indent="0" algn="just">
              <a:buNone/>
            </a:pPr>
            <a:r>
              <a:rPr lang="en-US" sz="1800" b="1" u="sng" dirty="0">
                <a:solidFill>
                  <a:srgbClr val="000000"/>
                </a:solidFill>
                <a:cs typeface="Times New Roman" panose="02020603050405020304" pitchFamily="18" charset="0"/>
              </a:rPr>
              <a:t>Example</a:t>
            </a:r>
          </a:p>
          <a:p>
            <a:pPr marL="0" indent="0" algn="just">
              <a:buNone/>
            </a:pPr>
            <a:r>
              <a:rPr lang="en-US" sz="1800" dirty="0">
                <a:solidFill>
                  <a:srgbClr val="000000"/>
                </a:solidFill>
                <a:cs typeface="Times New Roman" panose="02020603050405020304" pitchFamily="18" charset="0"/>
              </a:rPr>
              <a:t>	fruits = (“apple”, “banana”, “cherry”)</a:t>
            </a:r>
          </a:p>
          <a:p>
            <a:pPr marL="0" indent="0" algn="just">
              <a:buNone/>
            </a:pPr>
            <a:r>
              <a:rPr lang="en-US" sz="1800" dirty="0">
                <a:solidFill>
                  <a:srgbClr val="000000"/>
                </a:solidFill>
                <a:cs typeface="Times New Roman" panose="02020603050405020304" pitchFamily="18" charset="0"/>
              </a:rPr>
              <a:t>	(green, yellow, red) =fruits</a:t>
            </a:r>
          </a:p>
          <a:p>
            <a:pPr marL="0" indent="0" algn="just">
              <a:buNone/>
            </a:pPr>
            <a:r>
              <a:rPr lang="en-US" sz="1800" dirty="0">
                <a:solidFill>
                  <a:srgbClr val="000000"/>
                </a:solidFill>
                <a:cs typeface="Times New Roman" panose="02020603050405020304" pitchFamily="18" charset="0"/>
              </a:rPr>
              <a:t>	print(green)			#apple</a:t>
            </a:r>
          </a:p>
          <a:p>
            <a:pPr marL="0" indent="0" algn="just">
              <a:buNone/>
            </a:pPr>
            <a:r>
              <a:rPr lang="en-US" sz="1800" dirty="0">
                <a:solidFill>
                  <a:srgbClr val="000000"/>
                </a:solidFill>
                <a:cs typeface="Times New Roman" panose="02020603050405020304" pitchFamily="18" charset="0"/>
              </a:rPr>
              <a:t>	print(yellow)			#banana</a:t>
            </a:r>
          </a:p>
          <a:p>
            <a:pPr marL="0" indent="0" algn="just">
              <a:buNone/>
            </a:pPr>
            <a:r>
              <a:rPr lang="en-US" sz="1800" dirty="0">
                <a:solidFill>
                  <a:srgbClr val="000000"/>
                </a:solidFill>
                <a:cs typeface="Times New Roman" panose="02020603050405020304" pitchFamily="18" charset="0"/>
              </a:rPr>
              <a:t>	print(red)			#cherry</a:t>
            </a:r>
            <a:endParaRPr lang="en-IN" sz="1800" dirty="0">
              <a:cs typeface="Times New Roman" panose="02020603050405020304" pitchFamily="18" charset="0"/>
            </a:endParaRPr>
          </a:p>
        </p:txBody>
      </p:sp>
    </p:spTree>
    <p:extLst>
      <p:ext uri="{BB962C8B-B14F-4D97-AF65-F5344CB8AC3E}">
        <p14:creationId xmlns:p14="http://schemas.microsoft.com/office/powerpoint/2010/main" val="421314755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0403F9E-6E97-E9E0-AB2F-B6B7BEE93748}"/>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902E641C-97D1-BC76-48CD-FBA313AF1477}"/>
              </a:ext>
            </a:extLst>
          </p:cNvPr>
          <p:cNvSpPr txBox="1"/>
          <p:nvPr/>
        </p:nvSpPr>
        <p:spPr>
          <a:xfrm>
            <a:off x="589935" y="689040"/>
            <a:ext cx="10992465" cy="3416320"/>
          </a:xfrm>
          <a:prstGeom prst="rect">
            <a:avLst/>
          </a:prstGeom>
          <a:noFill/>
        </p:spPr>
        <p:txBody>
          <a:bodyPr wrap="square">
            <a:spAutoFit/>
          </a:bodyPr>
          <a:lstStyle/>
          <a:p>
            <a:pPr marL="0" indent="0" algn="just">
              <a:buNone/>
            </a:pPr>
            <a:r>
              <a:rPr lang="en-US" sz="1800" b="0" i="0" dirty="0">
                <a:solidFill>
                  <a:srgbClr val="000000"/>
                </a:solidFill>
                <a:effectLst/>
                <a:cs typeface="Times New Roman" panose="02020603050405020304" pitchFamily="18" charset="0"/>
              </a:rPr>
              <a:t>The number of variables must match the number of values in the tuple, if not, you must use an asterisk to collect the remaining values as a list.</a:t>
            </a:r>
          </a:p>
          <a:p>
            <a:pPr marL="0" indent="0" algn="just">
              <a:buNone/>
            </a:pPr>
            <a:endParaRPr lang="en-US" sz="1800" dirty="0">
              <a:cs typeface="Times New Roman" panose="02020603050405020304" pitchFamily="18" charset="0"/>
            </a:endParaRPr>
          </a:p>
          <a:p>
            <a:pPr marL="0" indent="0">
              <a:buNone/>
            </a:pPr>
            <a:r>
              <a:rPr lang="en-US" sz="1800" b="1" dirty="0">
                <a:solidFill>
                  <a:srgbClr val="FF0000"/>
                </a:solidFill>
                <a:cs typeface="Times New Roman" panose="02020603050405020304" pitchFamily="18" charset="0"/>
              </a:rPr>
              <a:t>Using Asterisk *</a:t>
            </a:r>
          </a:p>
          <a:p>
            <a:pPr marL="0" indent="0">
              <a:buNone/>
            </a:pPr>
            <a:r>
              <a:rPr lang="en-IN" sz="1800" dirty="0">
                <a:cs typeface="Times New Roman" panose="02020603050405020304" pitchFamily="18" charset="0"/>
              </a:rPr>
              <a:t>If the number of variables is less than the number of values, you can add an * to the variable name and the values will be assigned to the variable as a list.</a:t>
            </a:r>
          </a:p>
          <a:p>
            <a:pPr marL="0" indent="0">
              <a:buNone/>
            </a:pPr>
            <a:r>
              <a:rPr lang="en-IN" sz="1800" b="1" u="sng" dirty="0">
                <a:cs typeface="Times New Roman" panose="02020603050405020304" pitchFamily="18" charset="0"/>
              </a:rPr>
              <a:t>Example</a:t>
            </a:r>
          </a:p>
          <a:p>
            <a:pPr marL="0" indent="0">
              <a:buNone/>
            </a:pPr>
            <a:r>
              <a:rPr lang="en-IN" sz="1800" b="0" i="0" dirty="0">
                <a:solidFill>
                  <a:schemeClr val="tx1">
                    <a:lumMod val="95000"/>
                    <a:lumOff val="5000"/>
                  </a:schemeClr>
                </a:solidFill>
                <a:effectLst/>
                <a:cs typeface="Times New Roman" panose="02020603050405020304" pitchFamily="18" charset="0"/>
              </a:rPr>
              <a:t>	fruits = ("apple", "banana", "cherry", "strawberry", "raspberry")</a:t>
            </a:r>
            <a:br>
              <a:rPr lang="en-IN" sz="1800" dirty="0">
                <a:solidFill>
                  <a:schemeClr val="tx1">
                    <a:lumMod val="95000"/>
                    <a:lumOff val="5000"/>
                  </a:schemeClr>
                </a:solidFill>
                <a:cs typeface="Times New Roman" panose="02020603050405020304" pitchFamily="18" charset="0"/>
              </a:rPr>
            </a:br>
            <a:r>
              <a:rPr lang="en-IN" sz="1800" dirty="0">
                <a:solidFill>
                  <a:schemeClr val="tx1">
                    <a:lumMod val="95000"/>
                    <a:lumOff val="5000"/>
                  </a:schemeClr>
                </a:solidFill>
                <a:cs typeface="Times New Roman" panose="02020603050405020304" pitchFamily="18" charset="0"/>
              </a:rPr>
              <a:t>	</a:t>
            </a:r>
            <a:r>
              <a:rPr lang="en-IN" sz="1800" b="0" i="0" dirty="0">
                <a:solidFill>
                  <a:schemeClr val="tx1">
                    <a:lumMod val="95000"/>
                    <a:lumOff val="5000"/>
                  </a:schemeClr>
                </a:solidFill>
                <a:effectLst/>
                <a:cs typeface="Times New Roman" panose="02020603050405020304" pitchFamily="18" charset="0"/>
              </a:rPr>
              <a:t>(green, yellow, *red) = fruits</a:t>
            </a:r>
            <a:br>
              <a:rPr lang="en-IN" sz="1800" dirty="0">
                <a:solidFill>
                  <a:schemeClr val="tx1">
                    <a:lumMod val="95000"/>
                    <a:lumOff val="5000"/>
                  </a:schemeClr>
                </a:solidFill>
                <a:cs typeface="Times New Roman" panose="02020603050405020304" pitchFamily="18" charset="0"/>
              </a:rPr>
            </a:br>
            <a:r>
              <a:rPr lang="en-IN" sz="1800" dirty="0">
                <a:solidFill>
                  <a:schemeClr val="tx1">
                    <a:lumMod val="95000"/>
                    <a:lumOff val="5000"/>
                  </a:schemeClr>
                </a:solidFill>
                <a:cs typeface="Times New Roman" panose="02020603050405020304" pitchFamily="18" charset="0"/>
              </a:rPr>
              <a:t>	</a:t>
            </a:r>
            <a:r>
              <a:rPr lang="en-IN" sz="1800" b="0" i="0" dirty="0">
                <a:solidFill>
                  <a:schemeClr val="tx1">
                    <a:lumMod val="95000"/>
                    <a:lumOff val="5000"/>
                  </a:schemeClr>
                </a:solidFill>
                <a:effectLst/>
                <a:cs typeface="Times New Roman" panose="02020603050405020304" pitchFamily="18" charset="0"/>
              </a:rPr>
              <a:t>print(green)			#apple</a:t>
            </a:r>
            <a:br>
              <a:rPr lang="en-IN" sz="1800" dirty="0">
                <a:solidFill>
                  <a:schemeClr val="tx1">
                    <a:lumMod val="95000"/>
                    <a:lumOff val="5000"/>
                  </a:schemeClr>
                </a:solidFill>
                <a:cs typeface="Times New Roman" panose="02020603050405020304" pitchFamily="18" charset="0"/>
              </a:rPr>
            </a:br>
            <a:r>
              <a:rPr lang="en-IN" sz="1800" dirty="0">
                <a:solidFill>
                  <a:schemeClr val="tx1">
                    <a:lumMod val="95000"/>
                    <a:lumOff val="5000"/>
                  </a:schemeClr>
                </a:solidFill>
                <a:cs typeface="Times New Roman" panose="02020603050405020304" pitchFamily="18" charset="0"/>
              </a:rPr>
              <a:t>	</a:t>
            </a:r>
            <a:r>
              <a:rPr lang="en-IN" sz="1800" b="0" i="0" dirty="0">
                <a:solidFill>
                  <a:schemeClr val="tx1">
                    <a:lumMod val="95000"/>
                    <a:lumOff val="5000"/>
                  </a:schemeClr>
                </a:solidFill>
                <a:effectLst/>
                <a:cs typeface="Times New Roman" panose="02020603050405020304" pitchFamily="18" charset="0"/>
              </a:rPr>
              <a:t>print(yellow)			#banana</a:t>
            </a:r>
            <a:br>
              <a:rPr lang="en-IN" sz="1800" dirty="0">
                <a:solidFill>
                  <a:schemeClr val="tx1">
                    <a:lumMod val="95000"/>
                    <a:lumOff val="5000"/>
                  </a:schemeClr>
                </a:solidFill>
                <a:cs typeface="Times New Roman" panose="02020603050405020304" pitchFamily="18" charset="0"/>
              </a:rPr>
            </a:br>
            <a:r>
              <a:rPr lang="en-IN" sz="1800" dirty="0">
                <a:solidFill>
                  <a:schemeClr val="tx1">
                    <a:lumMod val="95000"/>
                    <a:lumOff val="5000"/>
                  </a:schemeClr>
                </a:solidFill>
                <a:cs typeface="Times New Roman" panose="02020603050405020304" pitchFamily="18" charset="0"/>
              </a:rPr>
              <a:t>	</a:t>
            </a:r>
            <a:r>
              <a:rPr lang="en-IN" sz="1800" b="0" i="0" dirty="0">
                <a:solidFill>
                  <a:schemeClr val="tx1">
                    <a:lumMod val="95000"/>
                    <a:lumOff val="5000"/>
                  </a:schemeClr>
                </a:solidFill>
                <a:effectLst/>
                <a:cs typeface="Times New Roman" panose="02020603050405020304" pitchFamily="18" charset="0"/>
              </a:rPr>
              <a:t>print(red)			#[‘cherry’, ‘strawberry’, ‘raspberry’]</a:t>
            </a:r>
            <a:endParaRPr lang="en-US" sz="1800" dirty="0">
              <a:solidFill>
                <a:schemeClr val="tx1">
                  <a:lumMod val="95000"/>
                  <a:lumOff val="5000"/>
                </a:schemeClr>
              </a:solidFill>
              <a:cs typeface="Times New Roman" panose="02020603050405020304" pitchFamily="18" charset="0"/>
            </a:endParaRPr>
          </a:p>
        </p:txBody>
      </p:sp>
    </p:spTree>
    <p:extLst>
      <p:ext uri="{BB962C8B-B14F-4D97-AF65-F5344CB8AC3E}">
        <p14:creationId xmlns:p14="http://schemas.microsoft.com/office/powerpoint/2010/main" val="20686002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1E9A6-B57F-50EE-97A2-A166E744B974}"/>
              </a:ext>
            </a:extLst>
          </p:cNvPr>
          <p:cNvSpPr>
            <a:spLocks noGrp="1"/>
          </p:cNvSpPr>
          <p:nvPr>
            <p:ph type="title"/>
          </p:nvPr>
        </p:nvSpPr>
        <p:spPr/>
        <p:txBody>
          <a:bodyPr/>
          <a:lstStyle/>
          <a:p>
            <a:pPr algn="ctr"/>
            <a:r>
              <a:rPr lang="en-US"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Join Tuples</a:t>
            </a:r>
            <a:endPar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endParaRPr>
          </a:p>
        </p:txBody>
      </p:sp>
      <p:pic>
        <p:nvPicPr>
          <p:cNvPr id="4" name="Picture 3">
            <a:extLst>
              <a:ext uri="{FF2B5EF4-FFF2-40B4-BE49-F238E27FC236}">
                <a16:creationId xmlns:a16="http://schemas.microsoft.com/office/drawing/2014/main" id="{173C813D-E8D2-B3E9-F063-6F28F06159F4}"/>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C9C9EAA0-A4C8-935D-F146-277F780970C1}"/>
              </a:ext>
            </a:extLst>
          </p:cNvPr>
          <p:cNvSpPr txBox="1"/>
          <p:nvPr/>
        </p:nvSpPr>
        <p:spPr>
          <a:xfrm>
            <a:off x="1022555" y="1563330"/>
            <a:ext cx="8121445" cy="2031325"/>
          </a:xfrm>
          <a:prstGeom prst="rect">
            <a:avLst/>
          </a:prstGeom>
          <a:noFill/>
        </p:spPr>
        <p:txBody>
          <a:bodyPr wrap="square">
            <a:spAutoFit/>
          </a:bodyPr>
          <a:lstStyle/>
          <a:p>
            <a:pPr marL="0" indent="0" algn="just">
              <a:buNone/>
            </a:pPr>
            <a:r>
              <a:rPr lang="en-US" sz="1800" dirty="0">
                <a:cs typeface="Times New Roman" panose="02020603050405020304" pitchFamily="18" charset="0"/>
              </a:rPr>
              <a:t>To join two or more tuples, you can use the </a:t>
            </a:r>
            <a:r>
              <a:rPr lang="en-US" sz="1800" b="1" dirty="0">
                <a:cs typeface="Times New Roman" panose="02020603050405020304" pitchFamily="18" charset="0"/>
              </a:rPr>
              <a:t>+ </a:t>
            </a:r>
            <a:r>
              <a:rPr lang="en-US" sz="1800" dirty="0">
                <a:cs typeface="Times New Roman" panose="02020603050405020304" pitchFamily="18" charset="0"/>
              </a:rPr>
              <a:t>operator.</a:t>
            </a:r>
          </a:p>
          <a:p>
            <a:pPr marL="0" indent="0" algn="just">
              <a:buNone/>
            </a:pPr>
            <a:r>
              <a:rPr lang="en-US" sz="1800" b="1" u="sng" dirty="0">
                <a:cs typeface="Times New Roman" panose="02020603050405020304" pitchFamily="18" charset="0"/>
              </a:rPr>
              <a:t>Example</a:t>
            </a:r>
          </a:p>
          <a:p>
            <a:pPr marL="0" indent="0">
              <a:buNone/>
            </a:pPr>
            <a:r>
              <a:rPr lang="en-IN" sz="1800" b="0" i="0" dirty="0">
                <a:solidFill>
                  <a:schemeClr val="tx1">
                    <a:lumMod val="95000"/>
                    <a:lumOff val="5000"/>
                  </a:schemeClr>
                </a:solidFill>
                <a:effectLst/>
                <a:cs typeface="Times New Roman" panose="02020603050405020304" pitchFamily="18" charset="0"/>
              </a:rPr>
              <a:t>	tuple1 = ("a", "b" , "c")</a:t>
            </a:r>
            <a:br>
              <a:rPr lang="en-IN" sz="1800" dirty="0">
                <a:solidFill>
                  <a:schemeClr val="tx1">
                    <a:lumMod val="95000"/>
                    <a:lumOff val="5000"/>
                  </a:schemeClr>
                </a:solidFill>
                <a:cs typeface="Times New Roman" panose="02020603050405020304" pitchFamily="18" charset="0"/>
              </a:rPr>
            </a:br>
            <a:r>
              <a:rPr lang="en-IN" sz="1800" dirty="0">
                <a:solidFill>
                  <a:schemeClr val="tx1">
                    <a:lumMod val="95000"/>
                    <a:lumOff val="5000"/>
                  </a:schemeClr>
                </a:solidFill>
                <a:cs typeface="Times New Roman" panose="02020603050405020304" pitchFamily="18" charset="0"/>
              </a:rPr>
              <a:t>	</a:t>
            </a:r>
            <a:r>
              <a:rPr lang="en-IN" sz="1800" b="0" i="0" dirty="0">
                <a:solidFill>
                  <a:schemeClr val="tx1">
                    <a:lumMod val="95000"/>
                    <a:lumOff val="5000"/>
                  </a:schemeClr>
                </a:solidFill>
                <a:effectLst/>
                <a:cs typeface="Times New Roman" panose="02020603050405020304" pitchFamily="18" charset="0"/>
              </a:rPr>
              <a:t>tuple2 = (1, 2, 3)</a:t>
            </a:r>
            <a:br>
              <a:rPr lang="en-IN" sz="1800" dirty="0">
                <a:solidFill>
                  <a:schemeClr val="tx1">
                    <a:lumMod val="95000"/>
                    <a:lumOff val="5000"/>
                  </a:schemeClr>
                </a:solidFill>
                <a:cs typeface="Times New Roman" panose="02020603050405020304" pitchFamily="18" charset="0"/>
              </a:rPr>
            </a:br>
            <a:r>
              <a:rPr lang="en-IN" sz="1800" dirty="0">
                <a:solidFill>
                  <a:schemeClr val="tx1">
                    <a:lumMod val="95000"/>
                    <a:lumOff val="5000"/>
                  </a:schemeClr>
                </a:solidFill>
                <a:cs typeface="Times New Roman" panose="02020603050405020304" pitchFamily="18" charset="0"/>
              </a:rPr>
              <a:t>	</a:t>
            </a:r>
            <a:r>
              <a:rPr lang="en-IN" sz="1800" b="0" i="0" dirty="0">
                <a:solidFill>
                  <a:schemeClr val="tx1">
                    <a:lumMod val="95000"/>
                    <a:lumOff val="5000"/>
                  </a:schemeClr>
                </a:solidFill>
                <a:effectLst/>
                <a:cs typeface="Times New Roman" panose="02020603050405020304" pitchFamily="18" charset="0"/>
              </a:rPr>
              <a:t>tuple3 = tuple1 + tuple2</a:t>
            </a:r>
            <a:br>
              <a:rPr lang="en-IN" sz="1800" dirty="0">
                <a:solidFill>
                  <a:schemeClr val="tx1">
                    <a:lumMod val="95000"/>
                    <a:lumOff val="5000"/>
                  </a:schemeClr>
                </a:solidFill>
                <a:cs typeface="Times New Roman" panose="02020603050405020304" pitchFamily="18" charset="0"/>
              </a:rPr>
            </a:br>
            <a:r>
              <a:rPr lang="en-IN" sz="1800" dirty="0">
                <a:solidFill>
                  <a:schemeClr val="tx1">
                    <a:lumMod val="95000"/>
                    <a:lumOff val="5000"/>
                  </a:schemeClr>
                </a:solidFill>
                <a:cs typeface="Times New Roman" panose="02020603050405020304" pitchFamily="18" charset="0"/>
              </a:rPr>
              <a:t>	</a:t>
            </a:r>
            <a:r>
              <a:rPr lang="en-IN" sz="1800" b="0" i="0" dirty="0">
                <a:solidFill>
                  <a:schemeClr val="tx1">
                    <a:lumMod val="95000"/>
                    <a:lumOff val="5000"/>
                  </a:schemeClr>
                </a:solidFill>
                <a:effectLst/>
                <a:cs typeface="Times New Roman" panose="02020603050405020304" pitchFamily="18" charset="0"/>
              </a:rPr>
              <a:t>print(tuple3)</a:t>
            </a:r>
          </a:p>
          <a:p>
            <a:pPr marL="0" indent="0">
              <a:buNone/>
            </a:pPr>
            <a:r>
              <a:rPr lang="en-IN" sz="1800" dirty="0">
                <a:solidFill>
                  <a:schemeClr val="tx1">
                    <a:lumMod val="95000"/>
                    <a:lumOff val="5000"/>
                  </a:schemeClr>
                </a:solidFill>
                <a:cs typeface="Times New Roman" panose="02020603050405020304" pitchFamily="18" charset="0"/>
              </a:rPr>
              <a:t>	#(‘a’, ‘b’, ‘c’, 1, 2, 3)</a:t>
            </a:r>
          </a:p>
        </p:txBody>
      </p:sp>
      <p:sp>
        <p:nvSpPr>
          <p:cNvPr id="8" name="TextBox 7">
            <a:extLst>
              <a:ext uri="{FF2B5EF4-FFF2-40B4-BE49-F238E27FC236}">
                <a16:creationId xmlns:a16="http://schemas.microsoft.com/office/drawing/2014/main" id="{28FC844C-51CF-6617-04EF-9A900D297E22}"/>
              </a:ext>
            </a:extLst>
          </p:cNvPr>
          <p:cNvSpPr txBox="1"/>
          <p:nvPr/>
        </p:nvSpPr>
        <p:spPr>
          <a:xfrm>
            <a:off x="953729" y="3942734"/>
            <a:ext cx="10097729" cy="2031325"/>
          </a:xfrm>
          <a:prstGeom prst="rect">
            <a:avLst/>
          </a:prstGeom>
          <a:noFill/>
        </p:spPr>
        <p:txBody>
          <a:bodyPr wrap="square">
            <a:spAutoFit/>
          </a:bodyPr>
          <a:lstStyle/>
          <a:p>
            <a:pPr marL="0" indent="0">
              <a:buNone/>
            </a:pPr>
            <a:r>
              <a:rPr lang="en-US" sz="1800" b="1" dirty="0">
                <a:cs typeface="Times New Roman" panose="02020603050405020304" pitchFamily="18" charset="0"/>
              </a:rPr>
              <a:t>Multiply Tuples: -</a:t>
            </a:r>
          </a:p>
          <a:p>
            <a:pPr marL="0" indent="0">
              <a:buNone/>
            </a:pPr>
            <a:r>
              <a:rPr lang="en-IN" sz="1800" dirty="0">
                <a:cs typeface="Times New Roman" panose="02020603050405020304" pitchFamily="18" charset="0"/>
              </a:rPr>
              <a:t>If you want to multiply the content of a tuple a given number of times, you can use the * operator.</a:t>
            </a:r>
          </a:p>
          <a:p>
            <a:pPr marL="0" indent="0">
              <a:buNone/>
            </a:pPr>
            <a:r>
              <a:rPr lang="en-IN" sz="1800" b="1" u="sng" dirty="0">
                <a:cs typeface="Times New Roman" panose="02020603050405020304" pitchFamily="18" charset="0"/>
              </a:rPr>
              <a:t>Example</a:t>
            </a:r>
          </a:p>
          <a:p>
            <a:pPr marL="0" indent="0">
              <a:buNone/>
            </a:pPr>
            <a:r>
              <a:rPr lang="fr-FR" sz="1800" b="0" i="0" dirty="0">
                <a:solidFill>
                  <a:schemeClr val="tx1">
                    <a:lumMod val="95000"/>
                    <a:lumOff val="5000"/>
                  </a:schemeClr>
                </a:solidFill>
                <a:effectLst/>
                <a:cs typeface="Times New Roman" panose="02020603050405020304" pitchFamily="18" charset="0"/>
              </a:rPr>
              <a:t>	fruits = ("</a:t>
            </a:r>
            <a:r>
              <a:rPr lang="fr-FR" sz="1800" b="0" i="0" dirty="0" err="1">
                <a:solidFill>
                  <a:schemeClr val="tx1">
                    <a:lumMod val="95000"/>
                    <a:lumOff val="5000"/>
                  </a:schemeClr>
                </a:solidFill>
                <a:effectLst/>
                <a:cs typeface="Times New Roman" panose="02020603050405020304" pitchFamily="18" charset="0"/>
              </a:rPr>
              <a:t>apple</a:t>
            </a:r>
            <a:r>
              <a:rPr lang="fr-FR" sz="1800" b="0" i="0" dirty="0">
                <a:solidFill>
                  <a:schemeClr val="tx1">
                    <a:lumMod val="95000"/>
                    <a:lumOff val="5000"/>
                  </a:schemeClr>
                </a:solidFill>
                <a:effectLst/>
                <a:cs typeface="Times New Roman" panose="02020603050405020304" pitchFamily="18" charset="0"/>
              </a:rPr>
              <a:t>", "banana", "cherry")</a:t>
            </a:r>
            <a:br>
              <a:rPr lang="fr-FR" sz="1800" dirty="0">
                <a:solidFill>
                  <a:schemeClr val="tx1">
                    <a:lumMod val="95000"/>
                    <a:lumOff val="5000"/>
                  </a:schemeClr>
                </a:solidFill>
                <a:cs typeface="Times New Roman" panose="02020603050405020304" pitchFamily="18" charset="0"/>
              </a:rPr>
            </a:br>
            <a:r>
              <a:rPr lang="fr-FR" sz="1800" dirty="0">
                <a:solidFill>
                  <a:schemeClr val="tx1">
                    <a:lumMod val="95000"/>
                    <a:lumOff val="5000"/>
                  </a:schemeClr>
                </a:solidFill>
                <a:cs typeface="Times New Roman" panose="02020603050405020304" pitchFamily="18" charset="0"/>
              </a:rPr>
              <a:t>	</a:t>
            </a:r>
            <a:r>
              <a:rPr lang="fr-FR" sz="1800" b="0" i="0" dirty="0" err="1">
                <a:solidFill>
                  <a:schemeClr val="tx1">
                    <a:lumMod val="95000"/>
                    <a:lumOff val="5000"/>
                  </a:schemeClr>
                </a:solidFill>
                <a:effectLst/>
                <a:cs typeface="Times New Roman" panose="02020603050405020304" pitchFamily="18" charset="0"/>
              </a:rPr>
              <a:t>mytuple</a:t>
            </a:r>
            <a:r>
              <a:rPr lang="fr-FR" sz="1800" b="0" i="0" dirty="0">
                <a:solidFill>
                  <a:schemeClr val="tx1">
                    <a:lumMod val="95000"/>
                    <a:lumOff val="5000"/>
                  </a:schemeClr>
                </a:solidFill>
                <a:effectLst/>
                <a:cs typeface="Times New Roman" panose="02020603050405020304" pitchFamily="18" charset="0"/>
              </a:rPr>
              <a:t> = fruits * 2</a:t>
            </a:r>
            <a:br>
              <a:rPr lang="fr-FR" sz="1800" dirty="0">
                <a:solidFill>
                  <a:schemeClr val="tx1">
                    <a:lumMod val="95000"/>
                    <a:lumOff val="5000"/>
                  </a:schemeClr>
                </a:solidFill>
                <a:cs typeface="Times New Roman" panose="02020603050405020304" pitchFamily="18" charset="0"/>
              </a:rPr>
            </a:br>
            <a:r>
              <a:rPr lang="fr-FR" sz="1800" dirty="0">
                <a:solidFill>
                  <a:schemeClr val="tx1">
                    <a:lumMod val="95000"/>
                    <a:lumOff val="5000"/>
                  </a:schemeClr>
                </a:solidFill>
                <a:cs typeface="Times New Roman" panose="02020603050405020304" pitchFamily="18" charset="0"/>
              </a:rPr>
              <a:t>	</a:t>
            </a:r>
            <a:r>
              <a:rPr lang="fr-FR" sz="1800" b="0" i="0" dirty="0" err="1">
                <a:solidFill>
                  <a:schemeClr val="tx1">
                    <a:lumMod val="95000"/>
                    <a:lumOff val="5000"/>
                  </a:schemeClr>
                </a:solidFill>
                <a:effectLst/>
                <a:cs typeface="Times New Roman" panose="02020603050405020304" pitchFamily="18" charset="0"/>
              </a:rPr>
              <a:t>print</a:t>
            </a:r>
            <a:r>
              <a:rPr lang="fr-FR" sz="1800" b="0" i="0" dirty="0">
                <a:solidFill>
                  <a:schemeClr val="tx1">
                    <a:lumMod val="95000"/>
                    <a:lumOff val="5000"/>
                  </a:schemeClr>
                </a:solidFill>
                <a:effectLst/>
                <a:cs typeface="Times New Roman" panose="02020603050405020304" pitchFamily="18" charset="0"/>
              </a:rPr>
              <a:t>(</a:t>
            </a:r>
            <a:r>
              <a:rPr lang="fr-FR" sz="1800" b="0" i="0" dirty="0" err="1">
                <a:solidFill>
                  <a:schemeClr val="tx1">
                    <a:lumMod val="95000"/>
                    <a:lumOff val="5000"/>
                  </a:schemeClr>
                </a:solidFill>
                <a:effectLst/>
                <a:cs typeface="Times New Roman" panose="02020603050405020304" pitchFamily="18" charset="0"/>
              </a:rPr>
              <a:t>mytuple</a:t>
            </a:r>
            <a:r>
              <a:rPr lang="fr-FR" sz="1800" b="0" i="0" dirty="0">
                <a:solidFill>
                  <a:schemeClr val="tx1">
                    <a:lumMod val="95000"/>
                    <a:lumOff val="5000"/>
                  </a:schemeClr>
                </a:solidFill>
                <a:effectLst/>
                <a:cs typeface="Times New Roman" panose="02020603050405020304" pitchFamily="18" charset="0"/>
              </a:rPr>
              <a:t>)</a:t>
            </a:r>
          </a:p>
          <a:p>
            <a:pPr marL="0" indent="0">
              <a:buNone/>
            </a:pPr>
            <a:r>
              <a:rPr lang="fr-FR" sz="1800" dirty="0">
                <a:solidFill>
                  <a:schemeClr val="tx1">
                    <a:lumMod val="95000"/>
                    <a:lumOff val="5000"/>
                  </a:schemeClr>
                </a:solidFill>
                <a:cs typeface="Times New Roman" panose="02020603050405020304" pitchFamily="18" charset="0"/>
              </a:rPr>
              <a:t>	#(‘apple’, ‘banana’, ‘cherry’, ‘</a:t>
            </a:r>
            <a:r>
              <a:rPr lang="fr-FR" sz="1800" dirty="0" err="1">
                <a:solidFill>
                  <a:schemeClr val="tx1">
                    <a:lumMod val="95000"/>
                    <a:lumOff val="5000"/>
                  </a:schemeClr>
                </a:solidFill>
                <a:cs typeface="Times New Roman" panose="02020603050405020304" pitchFamily="18" charset="0"/>
              </a:rPr>
              <a:t>apple</a:t>
            </a:r>
            <a:r>
              <a:rPr lang="fr-FR" sz="1800" dirty="0">
                <a:solidFill>
                  <a:schemeClr val="tx1">
                    <a:lumMod val="95000"/>
                    <a:lumOff val="5000"/>
                  </a:schemeClr>
                </a:solidFill>
                <a:cs typeface="Times New Roman" panose="02020603050405020304" pitchFamily="18" charset="0"/>
              </a:rPr>
              <a:t>’, ‘banana’, ‘cherry’)</a:t>
            </a:r>
            <a:endParaRPr lang="en-IN" sz="1800" dirty="0">
              <a:solidFill>
                <a:schemeClr val="tx1">
                  <a:lumMod val="95000"/>
                  <a:lumOff val="5000"/>
                </a:schemeClr>
              </a:solidFill>
              <a:cs typeface="Times New Roman" panose="02020603050405020304" pitchFamily="18" charset="0"/>
            </a:endParaRPr>
          </a:p>
        </p:txBody>
      </p:sp>
    </p:spTree>
    <p:extLst>
      <p:ext uri="{BB962C8B-B14F-4D97-AF65-F5344CB8AC3E}">
        <p14:creationId xmlns:p14="http://schemas.microsoft.com/office/powerpoint/2010/main" val="308504426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029E0-CFF4-803E-4C82-70F3F717A0A7}"/>
              </a:ext>
            </a:extLst>
          </p:cNvPr>
          <p:cNvSpPr>
            <a:spLocks noGrp="1"/>
          </p:cNvSpPr>
          <p:nvPr>
            <p:ph type="title"/>
          </p:nvPr>
        </p:nvSpPr>
        <p:spPr/>
        <p:txBody>
          <a:bodyPr/>
          <a:lstStyle/>
          <a:p>
            <a:pPr algn="ctr"/>
            <a:r>
              <a:rPr lang="en-US"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Python Sets</a:t>
            </a:r>
            <a:endPar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endParaRPr>
          </a:p>
        </p:txBody>
      </p:sp>
      <p:pic>
        <p:nvPicPr>
          <p:cNvPr id="4" name="Picture 3">
            <a:extLst>
              <a:ext uri="{FF2B5EF4-FFF2-40B4-BE49-F238E27FC236}">
                <a16:creationId xmlns:a16="http://schemas.microsoft.com/office/drawing/2014/main" id="{527D56D5-1AE7-2091-3F2F-08EB0C1503BF}"/>
              </a:ext>
            </a:extLst>
          </p:cNvPr>
          <p:cNvPicPr/>
          <p:nvPr/>
        </p:nvPicPr>
        <p:blipFill>
          <a:blip r:embed="rId2" cstate="print"/>
          <a:stretch/>
        </p:blipFill>
        <p:spPr>
          <a:xfrm>
            <a:off x="11503320" y="20605"/>
            <a:ext cx="688680" cy="689040"/>
          </a:xfrm>
          <a:prstGeom prst="rect">
            <a:avLst/>
          </a:prstGeom>
          <a:ln w="0">
            <a:noFill/>
          </a:ln>
        </p:spPr>
      </p:pic>
      <p:sp>
        <p:nvSpPr>
          <p:cNvPr id="5" name="TextBox 4">
            <a:extLst>
              <a:ext uri="{FF2B5EF4-FFF2-40B4-BE49-F238E27FC236}">
                <a16:creationId xmlns:a16="http://schemas.microsoft.com/office/drawing/2014/main" id="{E8FDAF1F-0205-6C56-34E7-71F781C187C6}"/>
              </a:ext>
            </a:extLst>
          </p:cNvPr>
          <p:cNvSpPr txBox="1"/>
          <p:nvPr/>
        </p:nvSpPr>
        <p:spPr>
          <a:xfrm>
            <a:off x="688679" y="1690688"/>
            <a:ext cx="10942881" cy="1938992"/>
          </a:xfrm>
          <a:prstGeom prst="rect">
            <a:avLst/>
          </a:prstGeom>
          <a:noFill/>
        </p:spPr>
        <p:txBody>
          <a:bodyPr wrap="square">
            <a:spAutoFit/>
          </a:bodyPr>
          <a:lstStyle/>
          <a:p>
            <a:pPr marL="0" indent="0">
              <a:buNone/>
            </a:pPr>
            <a:r>
              <a:rPr lang="en-IN" sz="2000" b="1" dirty="0">
                <a:cs typeface="Times New Roman" panose="02020603050405020304" pitchFamily="18" charset="0"/>
              </a:rPr>
              <a:t>Definition:-</a:t>
            </a:r>
          </a:p>
          <a:p>
            <a:pPr marL="0" indent="0" algn="just">
              <a:buNone/>
            </a:pPr>
            <a:r>
              <a:rPr lang="en-IN" sz="2000" b="1" dirty="0">
                <a:cs typeface="Times New Roman" panose="02020603050405020304" pitchFamily="18" charset="0"/>
              </a:rPr>
              <a:t>	</a:t>
            </a:r>
            <a:r>
              <a:rPr lang="en-IN" sz="2000" dirty="0">
                <a:cs typeface="Times New Roman" panose="02020603050405020304" pitchFamily="18" charset="0"/>
              </a:rPr>
              <a:t>A set is a collection of objects, values, or items of different types and these collections are enclosed within the curly brackets </a:t>
            </a:r>
            <a:r>
              <a:rPr lang="en-IN" sz="2000" b="1" dirty="0">
                <a:solidFill>
                  <a:srgbClr val="FF0000"/>
                </a:solidFill>
                <a:cs typeface="Times New Roman" panose="02020603050405020304" pitchFamily="18" charset="0"/>
              </a:rPr>
              <a:t>{ }</a:t>
            </a:r>
            <a:r>
              <a:rPr lang="en-IN" sz="2000" b="1" dirty="0">
                <a:cs typeface="Times New Roman" panose="02020603050405020304" pitchFamily="18" charset="0"/>
              </a:rPr>
              <a:t> </a:t>
            </a:r>
            <a:r>
              <a:rPr lang="en-IN" sz="2000" dirty="0">
                <a:cs typeface="Times New Roman" panose="02020603050405020304" pitchFamily="18" charset="0"/>
              </a:rPr>
              <a:t>and separated by commas (</a:t>
            </a:r>
            <a:r>
              <a:rPr lang="en-IN" sz="2000" b="1" dirty="0">
                <a:solidFill>
                  <a:srgbClr val="FF0000"/>
                </a:solidFill>
                <a:cs typeface="Times New Roman" panose="02020603050405020304" pitchFamily="18" charset="0"/>
              </a:rPr>
              <a:t>,</a:t>
            </a:r>
            <a:r>
              <a:rPr lang="en-IN" sz="2000" dirty="0">
                <a:cs typeface="Times New Roman" panose="02020603050405020304" pitchFamily="18" charset="0"/>
              </a:rPr>
              <a:t>).</a:t>
            </a:r>
          </a:p>
          <a:p>
            <a:pPr marL="0" indent="0" algn="just">
              <a:buNone/>
            </a:pPr>
            <a:endParaRPr lang="en-IN" sz="2000" b="1" dirty="0">
              <a:cs typeface="Times New Roman" panose="02020603050405020304" pitchFamily="18" charset="0"/>
            </a:endParaRPr>
          </a:p>
          <a:p>
            <a:pPr marL="0" indent="0" algn="just">
              <a:buNone/>
            </a:pPr>
            <a:r>
              <a:rPr lang="en-IN" sz="2000" b="1" dirty="0">
                <a:cs typeface="Times New Roman" panose="02020603050405020304" pitchFamily="18" charset="0"/>
              </a:rPr>
              <a:t>Example: -</a:t>
            </a:r>
          </a:p>
          <a:p>
            <a:pPr marL="0" indent="0" algn="just">
              <a:buNone/>
            </a:pPr>
            <a:r>
              <a:rPr lang="en-IN" sz="2000" b="1" dirty="0">
                <a:cs typeface="Times New Roman" panose="02020603050405020304" pitchFamily="18" charset="0"/>
              </a:rPr>
              <a:t>		</a:t>
            </a:r>
            <a:r>
              <a:rPr lang="en-IN" sz="2000" dirty="0">
                <a:cs typeface="Times New Roman" panose="02020603050405020304" pitchFamily="18" charset="0"/>
              </a:rPr>
              <a:t>set1 = {“apple”, 1, “banana”, “cherry”}</a:t>
            </a:r>
          </a:p>
        </p:txBody>
      </p:sp>
    </p:spTree>
    <p:extLst>
      <p:ext uri="{BB962C8B-B14F-4D97-AF65-F5344CB8AC3E}">
        <p14:creationId xmlns:p14="http://schemas.microsoft.com/office/powerpoint/2010/main" val="369870460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A199B-454D-59EA-3FF8-0B788100CCAB}"/>
              </a:ext>
            </a:extLst>
          </p:cNvPr>
          <p:cNvSpPr>
            <a:spLocks noGrp="1"/>
          </p:cNvSpPr>
          <p:nvPr>
            <p:ph type="title"/>
          </p:nvPr>
        </p:nvSpPr>
        <p:spPr/>
        <p:txBody>
          <a:bodyPr/>
          <a:lstStyle/>
          <a:p>
            <a:pPr algn="ctr"/>
            <a:r>
              <a:rPr lang="en-US"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Characteristics Of Sets</a:t>
            </a:r>
            <a:endPar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endParaRPr>
          </a:p>
        </p:txBody>
      </p:sp>
      <p:pic>
        <p:nvPicPr>
          <p:cNvPr id="4" name="Picture 3">
            <a:extLst>
              <a:ext uri="{FF2B5EF4-FFF2-40B4-BE49-F238E27FC236}">
                <a16:creationId xmlns:a16="http://schemas.microsoft.com/office/drawing/2014/main" id="{46EEEDCF-7392-324B-78B3-F4C704289000}"/>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18155871-56A3-0143-0092-251A807DFDA1}"/>
              </a:ext>
            </a:extLst>
          </p:cNvPr>
          <p:cNvSpPr txBox="1"/>
          <p:nvPr/>
        </p:nvSpPr>
        <p:spPr>
          <a:xfrm>
            <a:off x="688679" y="1690688"/>
            <a:ext cx="11100197" cy="2246769"/>
          </a:xfrm>
          <a:prstGeom prst="rect">
            <a:avLst/>
          </a:prstGeom>
          <a:noFill/>
        </p:spPr>
        <p:txBody>
          <a:bodyPr wrap="square">
            <a:spAutoFit/>
          </a:bodyPr>
          <a:lstStyle/>
          <a:p>
            <a:pPr marL="285750" indent="-285750" algn="just">
              <a:buFont typeface="Arial" panose="020B0604020202020204" pitchFamily="34" charset="0"/>
              <a:buChar char="•"/>
            </a:pPr>
            <a:r>
              <a:rPr lang="en-US" sz="2000" b="1" i="0" dirty="0">
                <a:solidFill>
                  <a:srgbClr val="000000"/>
                </a:solidFill>
                <a:effectLst/>
                <a:cs typeface="Times New Roman" panose="02020603050405020304" pitchFamily="18" charset="0"/>
              </a:rPr>
              <a:t>Unordered</a:t>
            </a:r>
            <a:r>
              <a:rPr lang="en-US" sz="2000" b="0" i="0" dirty="0">
                <a:solidFill>
                  <a:srgbClr val="000000"/>
                </a:solidFill>
                <a:effectLst/>
                <a:cs typeface="Times New Roman" panose="02020603050405020304" pitchFamily="18" charset="0"/>
              </a:rPr>
              <a:t> means that the items in a set do not have a defined order. </a:t>
            </a:r>
          </a:p>
          <a:p>
            <a:pPr marL="285750" indent="-285750" algn="just">
              <a:buFont typeface="Arial" panose="020B0604020202020204" pitchFamily="34" charset="0"/>
              <a:buChar char="•"/>
            </a:pPr>
            <a:r>
              <a:rPr lang="en-US" sz="2000" dirty="0">
                <a:solidFill>
                  <a:srgbClr val="000000"/>
                </a:solidFill>
                <a:cs typeface="Times New Roman" panose="02020603050405020304" pitchFamily="18" charset="0"/>
              </a:rPr>
              <a:t>Set can store different types of elements.</a:t>
            </a:r>
          </a:p>
          <a:p>
            <a:pPr marL="285750" indent="-285750" algn="just">
              <a:buFont typeface="Arial" panose="020B0604020202020204" pitchFamily="34" charset="0"/>
              <a:buChar char="•"/>
            </a:pPr>
            <a:r>
              <a:rPr lang="en-US" sz="2000" b="0" i="0" dirty="0">
                <a:solidFill>
                  <a:srgbClr val="000000"/>
                </a:solidFill>
                <a:effectLst/>
                <a:cs typeface="Times New Roman" panose="02020603050405020304" pitchFamily="18" charset="0"/>
              </a:rPr>
              <a:t>Set items can appear in a different order every time you use them, and cannot be referred to by index or key.</a:t>
            </a:r>
          </a:p>
          <a:p>
            <a:pPr marL="285750" indent="-285750" algn="just">
              <a:buFont typeface="Arial" panose="020B0604020202020204" pitchFamily="34" charset="0"/>
              <a:buChar char="•"/>
            </a:pPr>
            <a:r>
              <a:rPr lang="en-US" sz="2000" b="0" i="0" dirty="0">
                <a:solidFill>
                  <a:srgbClr val="000000"/>
                </a:solidFill>
                <a:effectLst/>
                <a:cs typeface="Times New Roman" panose="02020603050405020304" pitchFamily="18" charset="0"/>
              </a:rPr>
              <a:t>Set items </a:t>
            </a:r>
            <a:r>
              <a:rPr lang="en-US" sz="2000" b="0" i="0">
                <a:solidFill>
                  <a:srgbClr val="000000"/>
                </a:solidFill>
                <a:effectLst/>
                <a:cs typeface="Times New Roman" panose="02020603050405020304" pitchFamily="18" charset="0"/>
              </a:rPr>
              <a:t>are </a:t>
            </a:r>
            <a:r>
              <a:rPr lang="en-US" sz="2000" b="1" i="0">
                <a:solidFill>
                  <a:srgbClr val="000000"/>
                </a:solidFill>
                <a:effectLst/>
                <a:cs typeface="Times New Roman" panose="02020603050405020304" pitchFamily="18" charset="0"/>
              </a:rPr>
              <a:t>changeable</a:t>
            </a:r>
            <a:r>
              <a:rPr lang="en-US" sz="2000" b="0" i="0" dirty="0">
                <a:solidFill>
                  <a:srgbClr val="000000"/>
                </a:solidFill>
                <a:effectLst/>
                <a:cs typeface="Times New Roman" panose="02020603050405020304" pitchFamily="18" charset="0"/>
              </a:rPr>
              <a:t>, meaning that we cannot change the items after the set has been created.</a:t>
            </a:r>
            <a:r>
              <a:rPr lang="en-US" sz="2000" dirty="0">
                <a:solidFill>
                  <a:srgbClr val="000000"/>
                </a:solidFill>
                <a:cs typeface="Times New Roman" panose="02020603050405020304" pitchFamily="18" charset="0"/>
              </a:rPr>
              <a:t> </a:t>
            </a:r>
            <a:r>
              <a:rPr lang="en-US" sz="2000" b="0" i="0" dirty="0">
                <a:solidFill>
                  <a:srgbClr val="000000"/>
                </a:solidFill>
                <a:effectLst/>
                <a:cs typeface="Times New Roman" panose="02020603050405020304" pitchFamily="18" charset="0"/>
              </a:rPr>
              <a:t>Once a set is created, you cannot change its items, but you can remove items and add new items.</a:t>
            </a:r>
          </a:p>
          <a:p>
            <a:pPr marL="285750" indent="-285750" algn="just">
              <a:buFont typeface="Arial" panose="020B0604020202020204" pitchFamily="34" charset="0"/>
              <a:buChar char="•"/>
            </a:pPr>
            <a:r>
              <a:rPr lang="en-US" sz="2000" dirty="0">
                <a:solidFill>
                  <a:srgbClr val="000000"/>
                </a:solidFill>
                <a:cs typeface="Times New Roman" panose="02020603050405020304" pitchFamily="18" charset="0"/>
              </a:rPr>
              <a:t>Set do not allow duplicate values.</a:t>
            </a:r>
            <a:endParaRPr lang="en-IN" sz="2000" dirty="0">
              <a:cs typeface="Times New Roman" panose="02020603050405020304" pitchFamily="18" charset="0"/>
            </a:endParaRPr>
          </a:p>
        </p:txBody>
      </p:sp>
    </p:spTree>
    <p:extLst>
      <p:ext uri="{BB962C8B-B14F-4D97-AF65-F5344CB8AC3E}">
        <p14:creationId xmlns:p14="http://schemas.microsoft.com/office/powerpoint/2010/main" val="354593735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DC742F0-2F0E-F289-D466-86A4D71435EB}"/>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05D0E157-FA6C-A714-A9E3-64C4524DBCD8}"/>
              </a:ext>
            </a:extLst>
          </p:cNvPr>
          <p:cNvSpPr txBox="1"/>
          <p:nvPr/>
        </p:nvSpPr>
        <p:spPr>
          <a:xfrm>
            <a:off x="521109" y="432620"/>
            <a:ext cx="10186219" cy="3170099"/>
          </a:xfrm>
          <a:prstGeom prst="rect">
            <a:avLst/>
          </a:prstGeom>
          <a:noFill/>
        </p:spPr>
        <p:txBody>
          <a:bodyPr wrap="square">
            <a:spAutoFit/>
          </a:bodyPr>
          <a:lstStyle/>
          <a:p>
            <a:pPr marL="0" indent="0" algn="just">
              <a:buNone/>
            </a:pPr>
            <a:r>
              <a:rPr lang="en-US" sz="2000" b="1" dirty="0">
                <a:cs typeface="Times New Roman" panose="02020603050405020304" pitchFamily="18" charset="0"/>
              </a:rPr>
              <a:t>LENGTH OF A SET: - </a:t>
            </a:r>
            <a:r>
              <a:rPr lang="en-US" sz="2000" dirty="0">
                <a:cs typeface="Times New Roman" panose="02020603050405020304" pitchFamily="18" charset="0"/>
              </a:rPr>
              <a:t>To determine how many items a set has, use the </a:t>
            </a:r>
            <a:r>
              <a:rPr lang="en-US" sz="2000" b="1" dirty="0">
                <a:cs typeface="Times New Roman" panose="02020603050405020304" pitchFamily="18" charset="0"/>
              </a:rPr>
              <a:t>len() </a:t>
            </a:r>
            <a:r>
              <a:rPr lang="en-US" sz="2000" dirty="0">
                <a:cs typeface="Times New Roman" panose="02020603050405020304" pitchFamily="18" charset="0"/>
              </a:rPr>
              <a:t>function.</a:t>
            </a:r>
          </a:p>
          <a:p>
            <a:pPr marL="0" indent="0" algn="just">
              <a:buNone/>
            </a:pPr>
            <a:endParaRPr lang="en-US" sz="2000" b="1" dirty="0">
              <a:cs typeface="Times New Roman" panose="02020603050405020304" pitchFamily="18" charset="0"/>
            </a:endParaRPr>
          </a:p>
          <a:p>
            <a:pPr marL="0" indent="0" algn="just">
              <a:buNone/>
            </a:pPr>
            <a:r>
              <a:rPr lang="en-US" sz="2000" b="1" u="sng" dirty="0">
                <a:cs typeface="Times New Roman" panose="02020603050405020304" pitchFamily="18" charset="0"/>
              </a:rPr>
              <a:t>Example</a:t>
            </a:r>
          </a:p>
          <a:p>
            <a:pPr marL="0" indent="0" algn="just">
              <a:buNone/>
            </a:pPr>
            <a:r>
              <a:rPr lang="en-US" sz="2000" dirty="0">
                <a:cs typeface="Times New Roman" panose="02020603050405020304" pitchFamily="18" charset="0"/>
              </a:rPr>
              <a:t>	set1 = {“apple”, “banana”, “cherry”}</a:t>
            </a:r>
          </a:p>
          <a:p>
            <a:pPr marL="0" indent="0" algn="just">
              <a:buNone/>
            </a:pPr>
            <a:r>
              <a:rPr lang="en-US" sz="2000" dirty="0">
                <a:cs typeface="Times New Roman" panose="02020603050405020304" pitchFamily="18" charset="0"/>
              </a:rPr>
              <a:t>	print(len(set1))				#3</a:t>
            </a:r>
          </a:p>
          <a:p>
            <a:pPr marL="0" indent="0" algn="just">
              <a:buNone/>
            </a:pPr>
            <a:endParaRPr lang="en-US" sz="2000" dirty="0">
              <a:cs typeface="Times New Roman" panose="02020603050405020304" pitchFamily="18" charset="0"/>
            </a:endParaRPr>
          </a:p>
          <a:p>
            <a:pPr marL="0" indent="0" algn="just">
              <a:buNone/>
            </a:pPr>
            <a:r>
              <a:rPr lang="en-US" sz="2000" b="1" dirty="0">
                <a:cs typeface="Times New Roman" panose="02020603050405020304" pitchFamily="18" charset="0"/>
              </a:rPr>
              <a:t>type() – </a:t>
            </a:r>
            <a:r>
              <a:rPr lang="en-US" sz="2000" dirty="0">
                <a:cs typeface="Times New Roman" panose="02020603050405020304" pitchFamily="18" charset="0"/>
              </a:rPr>
              <a:t>Sets are defined as objects with the data type ‘set’.</a:t>
            </a:r>
          </a:p>
          <a:p>
            <a:pPr marL="0" indent="0" algn="just">
              <a:buNone/>
            </a:pPr>
            <a:r>
              <a:rPr lang="en-US" sz="2000" b="1" u="sng" dirty="0">
                <a:cs typeface="Times New Roman" panose="02020603050405020304" pitchFamily="18" charset="0"/>
              </a:rPr>
              <a:t>Example</a:t>
            </a:r>
          </a:p>
          <a:p>
            <a:pPr marL="0" indent="0" algn="just">
              <a:buNone/>
            </a:pPr>
            <a:r>
              <a:rPr lang="en-US" sz="2000" dirty="0">
                <a:cs typeface="Times New Roman" panose="02020603050405020304" pitchFamily="18" charset="0"/>
              </a:rPr>
              <a:t>	set1 = {“apple”, “banana”, “cherry”}</a:t>
            </a:r>
          </a:p>
          <a:p>
            <a:pPr marL="0" indent="0" algn="just">
              <a:buNone/>
            </a:pPr>
            <a:r>
              <a:rPr lang="en-US" sz="2000" dirty="0">
                <a:cs typeface="Times New Roman" panose="02020603050405020304" pitchFamily="18" charset="0"/>
              </a:rPr>
              <a:t>	print(type(set1))				#&lt;class ‘set’&gt;</a:t>
            </a:r>
          </a:p>
        </p:txBody>
      </p:sp>
    </p:spTree>
    <p:extLst>
      <p:ext uri="{BB962C8B-B14F-4D97-AF65-F5344CB8AC3E}">
        <p14:creationId xmlns:p14="http://schemas.microsoft.com/office/powerpoint/2010/main" val="201248390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A8255-3634-EE39-6683-78F1D4DC5B3A}"/>
              </a:ext>
            </a:extLst>
          </p:cNvPr>
          <p:cNvSpPr>
            <a:spLocks noGrp="1"/>
          </p:cNvSpPr>
          <p:nvPr>
            <p:ph type="title"/>
          </p:nvPr>
        </p:nvSpPr>
        <p:spPr/>
        <p:txBody>
          <a:bodyPr/>
          <a:lstStyle/>
          <a:p>
            <a:pPr algn="ctr"/>
            <a:r>
              <a:rPr lang="en-US"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Access Set Items</a:t>
            </a:r>
            <a:endPar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endParaRPr>
          </a:p>
        </p:txBody>
      </p:sp>
      <p:pic>
        <p:nvPicPr>
          <p:cNvPr id="4" name="Picture 3">
            <a:extLst>
              <a:ext uri="{FF2B5EF4-FFF2-40B4-BE49-F238E27FC236}">
                <a16:creationId xmlns:a16="http://schemas.microsoft.com/office/drawing/2014/main" id="{E910A6FF-F68B-0108-DADA-396FB1B02444}"/>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6A1FC19A-0818-A8DE-26A8-1338302BD58E}"/>
              </a:ext>
            </a:extLst>
          </p:cNvPr>
          <p:cNvSpPr txBox="1"/>
          <p:nvPr/>
        </p:nvSpPr>
        <p:spPr>
          <a:xfrm>
            <a:off x="737419" y="1799304"/>
            <a:ext cx="10765901" cy="3477875"/>
          </a:xfrm>
          <a:prstGeom prst="rect">
            <a:avLst/>
          </a:prstGeom>
          <a:noFill/>
        </p:spPr>
        <p:txBody>
          <a:bodyPr wrap="square">
            <a:spAutoFit/>
          </a:bodyPr>
          <a:lstStyle/>
          <a:p>
            <a:pPr marL="342900" indent="-342900">
              <a:buFont typeface="Arial" panose="020B0604020202020204" pitchFamily="34" charset="0"/>
              <a:buChar char="•"/>
            </a:pPr>
            <a:r>
              <a:rPr lang="en-US" sz="2000" dirty="0">
                <a:cs typeface="Times New Roman" panose="02020603050405020304" pitchFamily="18" charset="0"/>
              </a:rPr>
              <a:t>You cannot access items in a set by referring to an index or a key.</a:t>
            </a:r>
          </a:p>
          <a:p>
            <a:pPr marL="342900" indent="-342900">
              <a:buFont typeface="Arial" panose="020B0604020202020204" pitchFamily="34" charset="0"/>
              <a:buChar char="•"/>
            </a:pPr>
            <a:r>
              <a:rPr lang="en-US" sz="2000" dirty="0">
                <a:cs typeface="Times New Roman" panose="02020603050405020304" pitchFamily="18" charset="0"/>
              </a:rPr>
              <a:t>But you can loop through the set items using a </a:t>
            </a:r>
            <a:r>
              <a:rPr lang="en-US" sz="2000" b="1" dirty="0">
                <a:cs typeface="Times New Roman" panose="02020603050405020304" pitchFamily="18" charset="0"/>
              </a:rPr>
              <a:t>for </a:t>
            </a:r>
            <a:r>
              <a:rPr lang="en-US" sz="2000" dirty="0">
                <a:cs typeface="Times New Roman" panose="02020603050405020304" pitchFamily="18" charset="0"/>
              </a:rPr>
              <a:t>loop, or ask if a specified value is present in a set, by using the </a:t>
            </a:r>
            <a:r>
              <a:rPr lang="en-US" sz="2000" b="1" dirty="0">
                <a:cs typeface="Times New Roman" panose="02020603050405020304" pitchFamily="18" charset="0"/>
              </a:rPr>
              <a:t>in </a:t>
            </a:r>
            <a:r>
              <a:rPr lang="en-US" sz="2000" dirty="0">
                <a:cs typeface="Times New Roman" panose="02020603050405020304" pitchFamily="18" charset="0"/>
              </a:rPr>
              <a:t>keyword.</a:t>
            </a:r>
          </a:p>
          <a:p>
            <a:pPr marL="342900" indent="-342900">
              <a:buFont typeface="Arial" panose="020B0604020202020204" pitchFamily="34" charset="0"/>
              <a:buChar char="•"/>
            </a:pPr>
            <a:endParaRPr lang="en-US" sz="2000" dirty="0">
              <a:cs typeface="Times New Roman" panose="02020603050405020304" pitchFamily="18" charset="0"/>
            </a:endParaRPr>
          </a:p>
          <a:p>
            <a:pPr marL="0" indent="0" algn="just">
              <a:buNone/>
            </a:pPr>
            <a:r>
              <a:rPr lang="en-US" sz="2000" b="1" u="sng" dirty="0">
                <a:cs typeface="Times New Roman" panose="02020603050405020304" pitchFamily="18" charset="0"/>
              </a:rPr>
              <a:t>Example</a:t>
            </a:r>
          </a:p>
          <a:p>
            <a:pPr marL="0" indent="0" algn="just">
              <a:buNone/>
            </a:pPr>
            <a:r>
              <a:rPr lang="en-US" sz="2000" dirty="0">
                <a:cs typeface="Times New Roman" panose="02020603050405020304" pitchFamily="18" charset="0"/>
              </a:rPr>
              <a:t>	</a:t>
            </a:r>
            <a:r>
              <a:rPr lang="en-US" sz="2000" dirty="0" err="1">
                <a:cs typeface="Times New Roman" panose="02020603050405020304" pitchFamily="18" charset="0"/>
              </a:rPr>
              <a:t>thisset</a:t>
            </a:r>
            <a:r>
              <a:rPr lang="en-US" sz="2000" dirty="0">
                <a:cs typeface="Times New Roman" panose="02020603050405020304" pitchFamily="18" charset="0"/>
              </a:rPr>
              <a:t> = {"apple", "banana", "cherry"}</a:t>
            </a:r>
          </a:p>
          <a:p>
            <a:pPr marL="0" indent="0" algn="just">
              <a:buNone/>
            </a:pPr>
            <a:r>
              <a:rPr lang="en-US" sz="2000" dirty="0">
                <a:cs typeface="Times New Roman" panose="02020603050405020304" pitchFamily="18" charset="0"/>
              </a:rPr>
              <a:t>	for x in </a:t>
            </a:r>
            <a:r>
              <a:rPr lang="en-US" sz="2000" dirty="0" err="1">
                <a:cs typeface="Times New Roman" panose="02020603050405020304" pitchFamily="18" charset="0"/>
              </a:rPr>
              <a:t>thisset</a:t>
            </a:r>
            <a:r>
              <a:rPr lang="en-US" sz="2000" dirty="0">
                <a:cs typeface="Times New Roman" panose="02020603050405020304" pitchFamily="18" charset="0"/>
              </a:rPr>
              <a:t>:</a:t>
            </a:r>
          </a:p>
          <a:p>
            <a:pPr marL="0" indent="0" algn="just">
              <a:buNone/>
            </a:pPr>
            <a:r>
              <a:rPr lang="en-US" sz="2000" dirty="0">
                <a:cs typeface="Times New Roman" panose="02020603050405020304" pitchFamily="18" charset="0"/>
              </a:rPr>
              <a:t>  		print(x)</a:t>
            </a:r>
          </a:p>
          <a:p>
            <a:pPr marL="0" indent="0" algn="just">
              <a:buNone/>
            </a:pPr>
            <a:r>
              <a:rPr lang="en-US" sz="2000" dirty="0">
                <a:cs typeface="Times New Roman" panose="02020603050405020304" pitchFamily="18" charset="0"/>
              </a:rPr>
              <a:t>	#apple</a:t>
            </a:r>
          </a:p>
          <a:p>
            <a:pPr marL="0" indent="0" algn="just">
              <a:buNone/>
            </a:pPr>
            <a:r>
              <a:rPr lang="en-US" sz="2000" dirty="0">
                <a:cs typeface="Times New Roman" panose="02020603050405020304" pitchFamily="18" charset="0"/>
              </a:rPr>
              <a:t>	#banana</a:t>
            </a:r>
          </a:p>
          <a:p>
            <a:pPr marL="0" indent="0" algn="just">
              <a:buNone/>
            </a:pPr>
            <a:r>
              <a:rPr lang="en-IN" sz="2000" dirty="0">
                <a:cs typeface="Times New Roman" panose="02020603050405020304" pitchFamily="18" charset="0"/>
              </a:rPr>
              <a:t>	#cherry</a:t>
            </a:r>
          </a:p>
        </p:txBody>
      </p:sp>
    </p:spTree>
    <p:extLst>
      <p:ext uri="{BB962C8B-B14F-4D97-AF65-F5344CB8AC3E}">
        <p14:creationId xmlns:p14="http://schemas.microsoft.com/office/powerpoint/2010/main" val="414488965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6307AB-3488-0141-1594-B047ADCD2FBA}"/>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E435F94D-DB52-605F-80D6-461FCEEB9542}"/>
              </a:ext>
            </a:extLst>
          </p:cNvPr>
          <p:cNvSpPr txBox="1"/>
          <p:nvPr/>
        </p:nvSpPr>
        <p:spPr>
          <a:xfrm>
            <a:off x="471948" y="481782"/>
            <a:ext cx="8672052" cy="3170099"/>
          </a:xfrm>
          <a:prstGeom prst="rect">
            <a:avLst/>
          </a:prstGeom>
          <a:noFill/>
        </p:spPr>
        <p:txBody>
          <a:bodyPr wrap="square">
            <a:spAutoFit/>
          </a:bodyPr>
          <a:lstStyle/>
          <a:p>
            <a:pPr marL="0" indent="0">
              <a:buNone/>
            </a:pPr>
            <a:r>
              <a:rPr lang="en-US" sz="2000" b="1" u="sng" dirty="0">
                <a:cs typeface="Times New Roman" panose="02020603050405020304" pitchFamily="18" charset="0"/>
              </a:rPr>
              <a:t>Example</a:t>
            </a:r>
          </a:p>
          <a:p>
            <a:pPr marL="0" indent="0">
              <a:buNone/>
            </a:pPr>
            <a:r>
              <a:rPr lang="en-IN" sz="2000" b="0" i="0" dirty="0">
                <a:effectLst/>
                <a:cs typeface="Times New Roman" panose="02020603050405020304" pitchFamily="18" charset="0"/>
              </a:rPr>
              <a:t>	</a:t>
            </a:r>
            <a:r>
              <a:rPr lang="en-IN" sz="2000" b="0" i="0" dirty="0" err="1">
                <a:effectLst/>
                <a:cs typeface="Times New Roman" panose="02020603050405020304" pitchFamily="18" charset="0"/>
              </a:rPr>
              <a:t>thisset</a:t>
            </a:r>
            <a:r>
              <a:rPr lang="en-IN" sz="2000" b="0" i="0" dirty="0">
                <a:effectLst/>
                <a:cs typeface="Times New Roman" panose="02020603050405020304" pitchFamily="18" charset="0"/>
              </a:rPr>
              <a:t> = {"apple", "banana", "cherry"}</a:t>
            </a:r>
            <a:br>
              <a:rPr lang="en-IN" sz="2000" dirty="0">
                <a:cs typeface="Times New Roman" panose="02020603050405020304" pitchFamily="18" charset="0"/>
              </a:rPr>
            </a:br>
            <a:r>
              <a:rPr lang="en-IN" sz="2000" dirty="0">
                <a:cs typeface="Times New Roman" panose="02020603050405020304" pitchFamily="18" charset="0"/>
              </a:rPr>
              <a:t>	</a:t>
            </a:r>
            <a:r>
              <a:rPr lang="en-IN" sz="2000" b="0" i="0" dirty="0">
                <a:effectLst/>
                <a:cs typeface="Times New Roman" panose="02020603050405020304" pitchFamily="18" charset="0"/>
              </a:rPr>
              <a:t>print("banana" in </a:t>
            </a:r>
            <a:r>
              <a:rPr lang="en-IN" sz="2000" b="0" i="0" dirty="0" err="1">
                <a:effectLst/>
                <a:cs typeface="Times New Roman" panose="02020603050405020304" pitchFamily="18" charset="0"/>
              </a:rPr>
              <a:t>thisset</a:t>
            </a:r>
            <a:r>
              <a:rPr lang="en-IN" sz="2000" b="0" i="0" dirty="0">
                <a:effectLst/>
                <a:cs typeface="Times New Roman" panose="02020603050405020304" pitchFamily="18" charset="0"/>
              </a:rPr>
              <a:t>)</a:t>
            </a:r>
          </a:p>
          <a:p>
            <a:pPr marL="0" indent="0">
              <a:buNone/>
            </a:pPr>
            <a:r>
              <a:rPr lang="en-IN" sz="2000" dirty="0">
                <a:cs typeface="Times New Roman" panose="02020603050405020304" pitchFamily="18" charset="0"/>
              </a:rPr>
              <a:t>	#True</a:t>
            </a:r>
          </a:p>
          <a:p>
            <a:pPr marL="0" indent="0">
              <a:buNone/>
            </a:pPr>
            <a:endParaRPr lang="en-IN" sz="2000" dirty="0">
              <a:cs typeface="Times New Roman" panose="02020603050405020304" pitchFamily="18" charset="0"/>
            </a:endParaRPr>
          </a:p>
          <a:p>
            <a:pPr marL="0" indent="0">
              <a:buNone/>
            </a:pPr>
            <a:r>
              <a:rPr lang="en-IN" sz="2000" dirty="0">
                <a:cs typeface="Times New Roman" panose="02020603050405020304" pitchFamily="18" charset="0"/>
              </a:rPr>
              <a:t>Check if “apple” is NOT present in the set</a:t>
            </a:r>
          </a:p>
          <a:p>
            <a:pPr marL="0" indent="0">
              <a:buNone/>
            </a:pPr>
            <a:r>
              <a:rPr lang="en-IN" sz="2000" b="1" u="sng" dirty="0">
                <a:cs typeface="Times New Roman" panose="02020603050405020304" pitchFamily="18" charset="0"/>
              </a:rPr>
              <a:t>Example</a:t>
            </a:r>
          </a:p>
          <a:p>
            <a:pPr marL="0" indent="0">
              <a:buNone/>
            </a:pPr>
            <a:r>
              <a:rPr lang="en-IN" sz="2000" b="0" i="0" dirty="0">
                <a:effectLst/>
                <a:cs typeface="Times New Roman" panose="02020603050405020304" pitchFamily="18" charset="0"/>
              </a:rPr>
              <a:t>	</a:t>
            </a:r>
            <a:r>
              <a:rPr lang="en-IN" sz="2000" b="0" i="0" dirty="0" err="1">
                <a:effectLst/>
                <a:cs typeface="Times New Roman" panose="02020603050405020304" pitchFamily="18" charset="0"/>
              </a:rPr>
              <a:t>thisset</a:t>
            </a:r>
            <a:r>
              <a:rPr lang="en-IN" sz="2000" b="0" i="0" dirty="0">
                <a:effectLst/>
                <a:cs typeface="Times New Roman" panose="02020603050405020304" pitchFamily="18" charset="0"/>
              </a:rPr>
              <a:t> = {"apple", "banana", "cherry"}</a:t>
            </a:r>
            <a:br>
              <a:rPr lang="en-IN" sz="2000" dirty="0">
                <a:cs typeface="Times New Roman" panose="02020603050405020304" pitchFamily="18" charset="0"/>
              </a:rPr>
            </a:br>
            <a:r>
              <a:rPr lang="en-IN" sz="2000" dirty="0">
                <a:cs typeface="Times New Roman" panose="02020603050405020304" pitchFamily="18" charset="0"/>
              </a:rPr>
              <a:t>	</a:t>
            </a:r>
            <a:r>
              <a:rPr lang="en-IN" sz="2000" b="0" i="0" dirty="0">
                <a:effectLst/>
                <a:cs typeface="Times New Roman" panose="02020603050405020304" pitchFamily="18" charset="0"/>
              </a:rPr>
              <a:t>print(“apple" not in </a:t>
            </a:r>
            <a:r>
              <a:rPr lang="en-IN" sz="2000" b="0" i="0" dirty="0" err="1">
                <a:effectLst/>
                <a:cs typeface="Times New Roman" panose="02020603050405020304" pitchFamily="18" charset="0"/>
              </a:rPr>
              <a:t>thisset</a:t>
            </a:r>
            <a:r>
              <a:rPr lang="en-IN" sz="2000" b="0" i="0" dirty="0">
                <a:effectLst/>
                <a:cs typeface="Times New Roman" panose="02020603050405020304" pitchFamily="18" charset="0"/>
              </a:rPr>
              <a:t>)</a:t>
            </a:r>
          </a:p>
          <a:p>
            <a:pPr marL="0" indent="0">
              <a:buNone/>
            </a:pPr>
            <a:r>
              <a:rPr lang="en-IN" sz="2000" dirty="0">
                <a:cs typeface="Times New Roman" panose="02020603050405020304" pitchFamily="18" charset="0"/>
              </a:rPr>
              <a:t>	#False</a:t>
            </a:r>
          </a:p>
        </p:txBody>
      </p:sp>
    </p:spTree>
    <p:extLst>
      <p:ext uri="{BB962C8B-B14F-4D97-AF65-F5344CB8AC3E}">
        <p14:creationId xmlns:p14="http://schemas.microsoft.com/office/powerpoint/2010/main" val="394956068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07106-0F58-DD89-B0AE-27241634C620}"/>
              </a:ext>
            </a:extLst>
          </p:cNvPr>
          <p:cNvSpPr>
            <a:spLocks noGrp="1"/>
          </p:cNvSpPr>
          <p:nvPr>
            <p:ph type="title"/>
          </p:nvPr>
        </p:nvSpPr>
        <p:spPr/>
        <p:txBody>
          <a:bodyPr/>
          <a:lstStyle/>
          <a:p>
            <a:pPr algn="ctr"/>
            <a:r>
              <a:rPr lang="en-US"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Change Items</a:t>
            </a:r>
            <a:endPar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endParaRPr>
          </a:p>
        </p:txBody>
      </p:sp>
      <p:pic>
        <p:nvPicPr>
          <p:cNvPr id="4" name="Picture 3">
            <a:extLst>
              <a:ext uri="{FF2B5EF4-FFF2-40B4-BE49-F238E27FC236}">
                <a16:creationId xmlns:a16="http://schemas.microsoft.com/office/drawing/2014/main" id="{3FC3B723-49A6-16C4-9CAF-9DB8294E5F93}"/>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48115002-4B01-B787-AA51-3E28F59EA040}"/>
              </a:ext>
            </a:extLst>
          </p:cNvPr>
          <p:cNvSpPr txBox="1"/>
          <p:nvPr/>
        </p:nvSpPr>
        <p:spPr>
          <a:xfrm>
            <a:off x="838200" y="1445342"/>
            <a:ext cx="10046110" cy="2862322"/>
          </a:xfrm>
          <a:prstGeom prst="rect">
            <a:avLst/>
          </a:prstGeom>
          <a:noFill/>
        </p:spPr>
        <p:txBody>
          <a:bodyPr wrap="square">
            <a:spAutoFit/>
          </a:bodyPr>
          <a:lstStyle/>
          <a:p>
            <a:pPr marL="0" indent="0" algn="just">
              <a:buNone/>
            </a:pPr>
            <a:r>
              <a:rPr lang="en-US" sz="1800" dirty="0">
                <a:cs typeface="Times New Roman" panose="02020603050405020304" pitchFamily="18" charset="0"/>
              </a:rPr>
              <a:t>Once a set is created, you cannot change its items, but you can add new items.</a:t>
            </a:r>
          </a:p>
          <a:p>
            <a:pPr marL="0" indent="0" algn="just">
              <a:buNone/>
            </a:pPr>
            <a:endParaRPr lang="en-US" sz="1800" b="1" dirty="0">
              <a:cs typeface="Times New Roman" panose="02020603050405020304" pitchFamily="18" charset="0"/>
            </a:endParaRPr>
          </a:p>
          <a:p>
            <a:pPr marL="0" indent="0" algn="just">
              <a:buNone/>
            </a:pPr>
            <a:r>
              <a:rPr lang="en-US" sz="1800" b="1" dirty="0">
                <a:solidFill>
                  <a:srgbClr val="FF0000"/>
                </a:solidFill>
                <a:cs typeface="Times New Roman" panose="02020603050405020304" pitchFamily="18" charset="0"/>
              </a:rPr>
              <a:t>ADD SET ITEMS</a:t>
            </a:r>
          </a:p>
          <a:p>
            <a:pPr marL="0" indent="0" algn="just">
              <a:buNone/>
            </a:pPr>
            <a:r>
              <a:rPr lang="en-US" sz="1800" dirty="0">
                <a:cs typeface="Times New Roman" panose="02020603050405020304" pitchFamily="18" charset="0"/>
              </a:rPr>
              <a:t>To add one item to a set, use the </a:t>
            </a:r>
            <a:r>
              <a:rPr lang="en-US" sz="1800" b="1" dirty="0">
                <a:cs typeface="Times New Roman" panose="02020603050405020304" pitchFamily="18" charset="0"/>
              </a:rPr>
              <a:t>add() </a:t>
            </a:r>
            <a:r>
              <a:rPr lang="en-US" sz="1800" dirty="0">
                <a:cs typeface="Times New Roman" panose="02020603050405020304" pitchFamily="18" charset="0"/>
              </a:rPr>
              <a:t>method.</a:t>
            </a:r>
          </a:p>
          <a:p>
            <a:pPr marL="0" indent="0" algn="just">
              <a:buNone/>
            </a:pPr>
            <a:r>
              <a:rPr lang="en-US" sz="1800" b="1" u="sng" dirty="0">
                <a:cs typeface="Times New Roman" panose="02020603050405020304" pitchFamily="18" charset="0"/>
              </a:rPr>
              <a:t>Example</a:t>
            </a:r>
          </a:p>
          <a:p>
            <a:pPr marL="0" indent="0">
              <a:buNone/>
            </a:pPr>
            <a:r>
              <a:rPr lang="en-IN" sz="1800" b="0" i="0" dirty="0">
                <a:solidFill>
                  <a:schemeClr val="tx1">
                    <a:lumMod val="95000"/>
                    <a:lumOff val="5000"/>
                  </a:schemeClr>
                </a:solidFill>
                <a:effectLst/>
                <a:cs typeface="Times New Roman" panose="02020603050405020304" pitchFamily="18" charset="0"/>
              </a:rPr>
              <a:t>	</a:t>
            </a:r>
            <a:r>
              <a:rPr lang="en-IN" sz="1800" b="0" i="0" dirty="0" err="1">
                <a:solidFill>
                  <a:schemeClr val="tx1">
                    <a:lumMod val="95000"/>
                    <a:lumOff val="5000"/>
                  </a:schemeClr>
                </a:solidFill>
                <a:effectLst/>
                <a:cs typeface="Times New Roman" panose="02020603050405020304" pitchFamily="18" charset="0"/>
              </a:rPr>
              <a:t>thisset</a:t>
            </a:r>
            <a:r>
              <a:rPr lang="en-IN" sz="1800" b="0" i="0" dirty="0">
                <a:solidFill>
                  <a:schemeClr val="tx1">
                    <a:lumMod val="95000"/>
                    <a:lumOff val="5000"/>
                  </a:schemeClr>
                </a:solidFill>
                <a:effectLst/>
                <a:cs typeface="Times New Roman" panose="02020603050405020304" pitchFamily="18" charset="0"/>
              </a:rPr>
              <a:t> = {"apple", "banana", "cherry"}</a:t>
            </a:r>
          </a:p>
          <a:p>
            <a:pPr marL="0" indent="0">
              <a:buNone/>
            </a:pPr>
            <a:r>
              <a:rPr lang="en-IN" sz="1800" dirty="0">
                <a:solidFill>
                  <a:schemeClr val="tx1">
                    <a:lumMod val="95000"/>
                    <a:lumOff val="5000"/>
                  </a:schemeClr>
                </a:solidFill>
                <a:cs typeface="Times New Roman" panose="02020603050405020304" pitchFamily="18" charset="0"/>
              </a:rPr>
              <a:t>	</a:t>
            </a:r>
            <a:r>
              <a:rPr lang="en-IN" sz="1800" dirty="0" err="1">
                <a:solidFill>
                  <a:schemeClr val="tx1">
                    <a:lumMod val="95000"/>
                    <a:lumOff val="5000"/>
                  </a:schemeClr>
                </a:solidFill>
                <a:cs typeface="Times New Roman" panose="02020603050405020304" pitchFamily="18" charset="0"/>
              </a:rPr>
              <a:t>thisset.add</a:t>
            </a:r>
            <a:r>
              <a:rPr lang="en-IN" sz="1800" dirty="0">
                <a:solidFill>
                  <a:schemeClr val="tx1">
                    <a:lumMod val="95000"/>
                    <a:lumOff val="5000"/>
                  </a:schemeClr>
                </a:solidFill>
                <a:cs typeface="Times New Roman" panose="02020603050405020304" pitchFamily="18" charset="0"/>
              </a:rPr>
              <a:t>(“orange”)</a:t>
            </a:r>
          </a:p>
          <a:p>
            <a:pPr marL="0" indent="0">
              <a:buNone/>
            </a:pPr>
            <a:r>
              <a:rPr lang="en-IN" sz="1800" dirty="0">
                <a:solidFill>
                  <a:schemeClr val="tx1">
                    <a:lumMod val="95000"/>
                    <a:lumOff val="5000"/>
                  </a:schemeClr>
                </a:solidFill>
                <a:cs typeface="Times New Roman" panose="02020603050405020304" pitchFamily="18" charset="0"/>
              </a:rPr>
              <a:t>	print(</a:t>
            </a:r>
            <a:r>
              <a:rPr lang="en-IN" sz="1800" dirty="0" err="1">
                <a:solidFill>
                  <a:schemeClr val="tx1">
                    <a:lumMod val="95000"/>
                    <a:lumOff val="5000"/>
                  </a:schemeClr>
                </a:solidFill>
                <a:cs typeface="Times New Roman" panose="02020603050405020304" pitchFamily="18" charset="0"/>
              </a:rPr>
              <a:t>thisset</a:t>
            </a:r>
            <a:r>
              <a:rPr lang="en-IN" sz="1800" dirty="0">
                <a:solidFill>
                  <a:schemeClr val="tx1">
                    <a:lumMod val="95000"/>
                    <a:lumOff val="5000"/>
                  </a:schemeClr>
                </a:solidFill>
                <a:cs typeface="Times New Roman" panose="02020603050405020304" pitchFamily="18" charset="0"/>
              </a:rPr>
              <a:t>)</a:t>
            </a:r>
          </a:p>
          <a:p>
            <a:pPr marL="0" indent="0">
              <a:buNone/>
            </a:pPr>
            <a:r>
              <a:rPr lang="en-IN" sz="1800" dirty="0">
                <a:solidFill>
                  <a:schemeClr val="tx1">
                    <a:lumMod val="95000"/>
                    <a:lumOff val="5000"/>
                  </a:schemeClr>
                </a:solidFill>
                <a:cs typeface="Times New Roman" panose="02020603050405020304" pitchFamily="18" charset="0"/>
              </a:rPr>
              <a:t>	#{‘apple’, ‘orange’, ‘cherry’, ‘banana’}</a:t>
            </a:r>
            <a:br>
              <a:rPr lang="en-IN" sz="1800" dirty="0">
                <a:solidFill>
                  <a:schemeClr val="tx1">
                    <a:lumMod val="95000"/>
                    <a:lumOff val="5000"/>
                  </a:schemeClr>
                </a:solidFill>
                <a:cs typeface="Times New Roman" panose="02020603050405020304" pitchFamily="18" charset="0"/>
              </a:rPr>
            </a:br>
            <a:endParaRPr lang="en-IN" sz="1800" b="1" u="sng" dirty="0">
              <a:solidFill>
                <a:schemeClr val="tx1">
                  <a:lumMod val="95000"/>
                  <a:lumOff val="5000"/>
                </a:schemeClr>
              </a:solidFill>
              <a:cs typeface="Times New Roman" panose="02020603050405020304" pitchFamily="18" charset="0"/>
            </a:endParaRPr>
          </a:p>
        </p:txBody>
      </p:sp>
      <p:sp>
        <p:nvSpPr>
          <p:cNvPr id="8" name="TextBox 7">
            <a:extLst>
              <a:ext uri="{FF2B5EF4-FFF2-40B4-BE49-F238E27FC236}">
                <a16:creationId xmlns:a16="http://schemas.microsoft.com/office/drawing/2014/main" id="{F2405D3A-FD0F-3ED4-C250-28B2AAF40BB7}"/>
              </a:ext>
            </a:extLst>
          </p:cNvPr>
          <p:cNvSpPr txBox="1"/>
          <p:nvPr/>
        </p:nvSpPr>
        <p:spPr>
          <a:xfrm>
            <a:off x="698090" y="4149213"/>
            <a:ext cx="10046110" cy="2308324"/>
          </a:xfrm>
          <a:prstGeom prst="rect">
            <a:avLst/>
          </a:prstGeom>
          <a:noFill/>
        </p:spPr>
        <p:txBody>
          <a:bodyPr wrap="square">
            <a:spAutoFit/>
          </a:bodyPr>
          <a:lstStyle/>
          <a:p>
            <a:pPr marL="0" indent="0">
              <a:buNone/>
            </a:pPr>
            <a:r>
              <a:rPr lang="en-US" sz="1800" b="1" dirty="0">
                <a:solidFill>
                  <a:srgbClr val="FF0000"/>
                </a:solidFill>
                <a:cs typeface="Times New Roman" panose="02020603050405020304" pitchFamily="18" charset="0"/>
              </a:rPr>
              <a:t>Add Sets: -</a:t>
            </a:r>
          </a:p>
          <a:p>
            <a:pPr marL="0" indent="0">
              <a:buNone/>
            </a:pPr>
            <a:r>
              <a:rPr lang="en-US" sz="1800" dirty="0">
                <a:cs typeface="Times New Roman" panose="02020603050405020304" pitchFamily="18" charset="0"/>
              </a:rPr>
              <a:t>To add items from another set into the current set, use the </a:t>
            </a:r>
            <a:r>
              <a:rPr lang="en-US" sz="1800" b="1" dirty="0">
                <a:cs typeface="Times New Roman" panose="02020603050405020304" pitchFamily="18" charset="0"/>
              </a:rPr>
              <a:t>update() </a:t>
            </a:r>
            <a:r>
              <a:rPr lang="en-US" sz="1800" dirty="0">
                <a:cs typeface="Times New Roman" panose="02020603050405020304" pitchFamily="18" charset="0"/>
              </a:rPr>
              <a:t>method.</a:t>
            </a:r>
          </a:p>
          <a:p>
            <a:pPr marL="0" indent="0">
              <a:buNone/>
            </a:pPr>
            <a:r>
              <a:rPr lang="en-US" sz="1800" b="1" u="sng" dirty="0">
                <a:cs typeface="Times New Roman" panose="02020603050405020304" pitchFamily="18" charset="0"/>
              </a:rPr>
              <a:t>Example</a:t>
            </a:r>
          </a:p>
          <a:p>
            <a:pPr marL="0" indent="0">
              <a:buNone/>
            </a:pPr>
            <a:r>
              <a:rPr lang="en-US" sz="1800" dirty="0">
                <a:cs typeface="Times New Roman" panose="02020603050405020304" pitchFamily="18" charset="0"/>
              </a:rPr>
              <a:t>	set1 = {“apple”, “banana”, “cherry”}</a:t>
            </a:r>
          </a:p>
          <a:p>
            <a:pPr marL="0" indent="0">
              <a:buNone/>
            </a:pPr>
            <a:r>
              <a:rPr lang="en-US" sz="1800" dirty="0">
                <a:cs typeface="Times New Roman" panose="02020603050405020304" pitchFamily="18" charset="0"/>
              </a:rPr>
              <a:t>	set2 = {“pineapple”, “mango”, “papaya”}</a:t>
            </a:r>
          </a:p>
          <a:p>
            <a:pPr marL="0" indent="0">
              <a:buNone/>
            </a:pPr>
            <a:r>
              <a:rPr lang="en-US" sz="1800" dirty="0">
                <a:cs typeface="Times New Roman" panose="02020603050405020304" pitchFamily="18" charset="0"/>
              </a:rPr>
              <a:t>	set1.update(set2)</a:t>
            </a:r>
          </a:p>
          <a:p>
            <a:pPr marL="0" indent="0">
              <a:buNone/>
            </a:pPr>
            <a:r>
              <a:rPr lang="en-US" sz="1800" dirty="0">
                <a:cs typeface="Times New Roman" panose="02020603050405020304" pitchFamily="18" charset="0"/>
              </a:rPr>
              <a:t>	print(set1)</a:t>
            </a:r>
          </a:p>
          <a:p>
            <a:pPr marL="0" indent="0">
              <a:buNone/>
            </a:pPr>
            <a:r>
              <a:rPr lang="en-US" sz="1800" dirty="0">
                <a:cs typeface="Times New Roman" panose="02020603050405020304" pitchFamily="18" charset="0"/>
              </a:rPr>
              <a:t>	#{‘pineapple’, ‘cherry’, ‘papaya’, ‘mango’, ‘apple’, ‘banana’}</a:t>
            </a:r>
            <a:endParaRPr lang="en-IN" sz="1800" dirty="0">
              <a:cs typeface="Times New Roman" panose="02020603050405020304" pitchFamily="18" charset="0"/>
            </a:endParaRPr>
          </a:p>
        </p:txBody>
      </p:sp>
    </p:spTree>
    <p:extLst>
      <p:ext uri="{BB962C8B-B14F-4D97-AF65-F5344CB8AC3E}">
        <p14:creationId xmlns:p14="http://schemas.microsoft.com/office/powerpoint/2010/main" val="175931679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8C98DF7-5C5C-E4D7-61F7-4B3419D9B539}"/>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7094F445-FBE2-1968-5BA1-AC8C6C8ED60B}"/>
              </a:ext>
            </a:extLst>
          </p:cNvPr>
          <p:cNvSpPr txBox="1"/>
          <p:nvPr/>
        </p:nvSpPr>
        <p:spPr>
          <a:xfrm>
            <a:off x="443505" y="1120676"/>
            <a:ext cx="11070701" cy="2554545"/>
          </a:xfrm>
          <a:prstGeom prst="rect">
            <a:avLst/>
          </a:prstGeom>
          <a:noFill/>
        </p:spPr>
        <p:txBody>
          <a:bodyPr wrap="square">
            <a:spAutoFit/>
          </a:bodyPr>
          <a:lstStyle/>
          <a:p>
            <a:pPr marL="0" indent="0">
              <a:buNone/>
            </a:pPr>
            <a:r>
              <a:rPr lang="en-US" sz="2000" dirty="0">
                <a:cs typeface="Times New Roman" panose="02020603050405020304" pitchFamily="18" charset="0"/>
              </a:rPr>
              <a:t>The object in the </a:t>
            </a:r>
            <a:r>
              <a:rPr lang="en-US" sz="2000" b="1" dirty="0">
                <a:cs typeface="Times New Roman" panose="02020603050405020304" pitchFamily="18" charset="0"/>
              </a:rPr>
              <a:t>update() </a:t>
            </a:r>
            <a:r>
              <a:rPr lang="en-US" sz="2000" dirty="0">
                <a:cs typeface="Times New Roman" panose="02020603050405020304" pitchFamily="18" charset="0"/>
              </a:rPr>
              <a:t>method does not have to be a set, it can be any iterable object (tuples, lists, dictionaries, etc.).</a:t>
            </a:r>
          </a:p>
          <a:p>
            <a:pPr marL="0" indent="0">
              <a:buNone/>
            </a:pPr>
            <a:r>
              <a:rPr lang="en-US" sz="2000" b="1" u="sng" dirty="0">
                <a:cs typeface="Times New Roman" panose="02020603050405020304" pitchFamily="18" charset="0"/>
              </a:rPr>
              <a:t>Example</a:t>
            </a:r>
          </a:p>
          <a:p>
            <a:pPr marL="0" indent="0">
              <a:buNone/>
            </a:pPr>
            <a:r>
              <a:rPr lang="en-IN" sz="2000" dirty="0">
                <a:cs typeface="Times New Roman" panose="02020603050405020304" pitchFamily="18" charset="0"/>
              </a:rPr>
              <a:t>	</a:t>
            </a:r>
            <a:r>
              <a:rPr lang="en-IN" sz="2000" dirty="0" err="1">
                <a:cs typeface="Times New Roman" panose="02020603050405020304" pitchFamily="18" charset="0"/>
              </a:rPr>
              <a:t>thisset</a:t>
            </a:r>
            <a:r>
              <a:rPr lang="en-IN" sz="2000" dirty="0">
                <a:cs typeface="Times New Roman" panose="02020603050405020304" pitchFamily="18" charset="0"/>
              </a:rPr>
              <a:t> = {"apple", "banana", "cherry"}</a:t>
            </a:r>
          </a:p>
          <a:p>
            <a:pPr marL="0" indent="0">
              <a:buNone/>
            </a:pPr>
            <a:r>
              <a:rPr lang="en-IN" sz="2000" dirty="0">
                <a:cs typeface="Times New Roman" panose="02020603050405020304" pitchFamily="18" charset="0"/>
              </a:rPr>
              <a:t>	mylist = ["kiwi", "orange"]</a:t>
            </a:r>
          </a:p>
          <a:p>
            <a:pPr marL="0" indent="0">
              <a:buNone/>
            </a:pPr>
            <a:r>
              <a:rPr lang="en-IN" sz="2000" dirty="0">
                <a:cs typeface="Times New Roman" panose="02020603050405020304" pitchFamily="18" charset="0"/>
              </a:rPr>
              <a:t>	</a:t>
            </a:r>
            <a:r>
              <a:rPr lang="en-IN" sz="2000" dirty="0" err="1">
                <a:cs typeface="Times New Roman" panose="02020603050405020304" pitchFamily="18" charset="0"/>
              </a:rPr>
              <a:t>thisset.update</a:t>
            </a:r>
            <a:r>
              <a:rPr lang="en-IN" sz="2000" dirty="0">
                <a:cs typeface="Times New Roman" panose="02020603050405020304" pitchFamily="18" charset="0"/>
              </a:rPr>
              <a:t>(mylist)</a:t>
            </a:r>
          </a:p>
          <a:p>
            <a:pPr marL="0" indent="0">
              <a:buNone/>
            </a:pPr>
            <a:r>
              <a:rPr lang="en-IN" sz="2000" dirty="0">
                <a:cs typeface="Times New Roman" panose="02020603050405020304" pitchFamily="18" charset="0"/>
              </a:rPr>
              <a:t>	print(</a:t>
            </a:r>
            <a:r>
              <a:rPr lang="en-IN" sz="2000" dirty="0" err="1">
                <a:cs typeface="Times New Roman" panose="02020603050405020304" pitchFamily="18" charset="0"/>
              </a:rPr>
              <a:t>thisset</a:t>
            </a:r>
            <a:r>
              <a:rPr lang="en-IN" sz="2000" dirty="0">
                <a:cs typeface="Times New Roman" panose="02020603050405020304" pitchFamily="18" charset="0"/>
              </a:rPr>
              <a:t>)</a:t>
            </a:r>
          </a:p>
          <a:p>
            <a:pPr marL="0" indent="0">
              <a:buNone/>
            </a:pPr>
            <a:r>
              <a:rPr lang="en-IN" sz="2000" dirty="0">
                <a:cs typeface="Times New Roman" panose="02020603050405020304" pitchFamily="18" charset="0"/>
              </a:rPr>
              <a:t>	#{‘banana’, ‘cherry’, ‘apple’, ‘orange’, ‘kiwi’}</a:t>
            </a:r>
          </a:p>
        </p:txBody>
      </p:sp>
    </p:spTree>
    <p:extLst>
      <p:ext uri="{BB962C8B-B14F-4D97-AF65-F5344CB8AC3E}">
        <p14:creationId xmlns:p14="http://schemas.microsoft.com/office/powerpoint/2010/main" val="158195688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B908F-3411-6B37-F764-ABF40D70BF44}"/>
              </a:ext>
            </a:extLst>
          </p:cNvPr>
          <p:cNvSpPr>
            <a:spLocks noGrp="1"/>
          </p:cNvSpPr>
          <p:nvPr>
            <p:ph type="title"/>
          </p:nvPr>
        </p:nvSpPr>
        <p:spPr/>
        <p:txBody>
          <a:bodyPr/>
          <a:lstStyle/>
          <a:p>
            <a:pPr algn="ctr"/>
            <a:r>
              <a:rPr lang="en-US"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Remove Set Items</a:t>
            </a:r>
            <a:endPar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endParaRPr>
          </a:p>
        </p:txBody>
      </p:sp>
      <p:pic>
        <p:nvPicPr>
          <p:cNvPr id="4" name="Picture 3">
            <a:extLst>
              <a:ext uri="{FF2B5EF4-FFF2-40B4-BE49-F238E27FC236}">
                <a16:creationId xmlns:a16="http://schemas.microsoft.com/office/drawing/2014/main" id="{7FE269D0-6730-15A8-550D-DAA354E0DA54}"/>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85FFA5E8-97F8-4184-7719-536770AF826A}"/>
              </a:ext>
            </a:extLst>
          </p:cNvPr>
          <p:cNvSpPr txBox="1"/>
          <p:nvPr/>
        </p:nvSpPr>
        <p:spPr>
          <a:xfrm>
            <a:off x="838200" y="1690688"/>
            <a:ext cx="9977284" cy="2554545"/>
          </a:xfrm>
          <a:prstGeom prst="rect">
            <a:avLst/>
          </a:prstGeom>
          <a:noFill/>
        </p:spPr>
        <p:txBody>
          <a:bodyPr wrap="square">
            <a:spAutoFit/>
          </a:bodyPr>
          <a:lstStyle/>
          <a:p>
            <a:pPr marL="0" indent="0">
              <a:buNone/>
            </a:pPr>
            <a:r>
              <a:rPr lang="en-US" sz="2000" dirty="0">
                <a:cs typeface="Times New Roman" panose="02020603050405020304" pitchFamily="18" charset="0"/>
              </a:rPr>
              <a:t>To remove an item in a set, use the </a:t>
            </a:r>
            <a:r>
              <a:rPr lang="en-US" sz="2000" b="1" dirty="0">
                <a:cs typeface="Times New Roman" panose="02020603050405020304" pitchFamily="18" charset="0"/>
              </a:rPr>
              <a:t>remove()</a:t>
            </a:r>
            <a:r>
              <a:rPr lang="en-US" sz="2000" dirty="0">
                <a:cs typeface="Times New Roman" panose="02020603050405020304" pitchFamily="18" charset="0"/>
              </a:rPr>
              <a:t>, or the </a:t>
            </a:r>
            <a:r>
              <a:rPr lang="en-US" sz="2000" b="1" dirty="0">
                <a:cs typeface="Times New Roman" panose="02020603050405020304" pitchFamily="18" charset="0"/>
              </a:rPr>
              <a:t>discard() </a:t>
            </a:r>
            <a:r>
              <a:rPr lang="en-US" sz="2000" dirty="0">
                <a:cs typeface="Times New Roman" panose="02020603050405020304" pitchFamily="18" charset="0"/>
              </a:rPr>
              <a:t>method.</a:t>
            </a:r>
          </a:p>
          <a:p>
            <a:pPr marL="0" indent="0">
              <a:buNone/>
            </a:pPr>
            <a:r>
              <a:rPr lang="en-US" sz="2000" b="1" u="sng" dirty="0">
                <a:cs typeface="Times New Roman" panose="02020603050405020304" pitchFamily="18" charset="0"/>
              </a:rPr>
              <a:t>Example</a:t>
            </a:r>
          </a:p>
          <a:p>
            <a:pPr marL="0" indent="0">
              <a:buNone/>
            </a:pPr>
            <a:r>
              <a:rPr lang="en-US" sz="2000" dirty="0">
                <a:cs typeface="Times New Roman" panose="02020603050405020304" pitchFamily="18" charset="0"/>
              </a:rPr>
              <a:t>	set1 = {“apple”, “banana”, “cherry”}</a:t>
            </a:r>
          </a:p>
          <a:p>
            <a:pPr marL="0" indent="0">
              <a:buNone/>
            </a:pPr>
            <a:r>
              <a:rPr lang="en-US" sz="2000" dirty="0">
                <a:cs typeface="Times New Roman" panose="02020603050405020304" pitchFamily="18" charset="0"/>
              </a:rPr>
              <a:t>	set1.remove(“banana”)</a:t>
            </a:r>
          </a:p>
          <a:p>
            <a:pPr marL="0" indent="0">
              <a:buNone/>
            </a:pPr>
            <a:r>
              <a:rPr lang="en-US" sz="2000" dirty="0">
                <a:cs typeface="Times New Roman" panose="02020603050405020304" pitchFamily="18" charset="0"/>
              </a:rPr>
              <a:t>	print(set1)</a:t>
            </a:r>
          </a:p>
          <a:p>
            <a:pPr marL="0" indent="0">
              <a:buNone/>
            </a:pPr>
            <a:r>
              <a:rPr lang="en-US" sz="2000" dirty="0">
                <a:cs typeface="Times New Roman" panose="02020603050405020304" pitchFamily="18" charset="0"/>
              </a:rPr>
              <a:t>	#{‘apple’, ‘cherry’}</a:t>
            </a:r>
          </a:p>
          <a:p>
            <a:pPr marL="0" indent="0">
              <a:buNone/>
            </a:pPr>
            <a:endParaRPr lang="en-US" sz="2000" dirty="0">
              <a:cs typeface="Times New Roman" panose="02020603050405020304" pitchFamily="18" charset="0"/>
            </a:endParaRPr>
          </a:p>
          <a:p>
            <a:pPr marL="0" indent="0">
              <a:buNone/>
            </a:pPr>
            <a:r>
              <a:rPr lang="en-US" sz="2000" dirty="0">
                <a:cs typeface="Times New Roman" panose="02020603050405020304" pitchFamily="18" charset="0"/>
              </a:rPr>
              <a:t>If the item to remove does not exists, </a:t>
            </a:r>
            <a:r>
              <a:rPr lang="en-US" sz="2000" b="1" dirty="0">
                <a:cs typeface="Times New Roman" panose="02020603050405020304" pitchFamily="18" charset="0"/>
              </a:rPr>
              <a:t>remove()</a:t>
            </a:r>
            <a:r>
              <a:rPr lang="en-US" sz="2000" dirty="0">
                <a:cs typeface="Times New Roman" panose="02020603050405020304" pitchFamily="18" charset="0"/>
              </a:rPr>
              <a:t> will raise an error.</a:t>
            </a:r>
            <a:endParaRPr lang="en-IN" sz="2000" dirty="0">
              <a:cs typeface="Times New Roman" panose="02020603050405020304" pitchFamily="18" charset="0"/>
            </a:endParaRPr>
          </a:p>
        </p:txBody>
      </p:sp>
    </p:spTree>
    <p:extLst>
      <p:ext uri="{BB962C8B-B14F-4D97-AF65-F5344CB8AC3E}">
        <p14:creationId xmlns:p14="http://schemas.microsoft.com/office/powerpoint/2010/main" val="149545051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1FC29C-0A87-292B-A6F3-C03BD91354E4}"/>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10A1965D-3999-4D13-599E-96E2D968FE05}"/>
              </a:ext>
            </a:extLst>
          </p:cNvPr>
          <p:cNvSpPr txBox="1"/>
          <p:nvPr/>
        </p:nvSpPr>
        <p:spPr>
          <a:xfrm>
            <a:off x="737419" y="825910"/>
            <a:ext cx="10382865" cy="2585323"/>
          </a:xfrm>
          <a:prstGeom prst="rect">
            <a:avLst/>
          </a:prstGeom>
          <a:noFill/>
        </p:spPr>
        <p:txBody>
          <a:bodyPr wrap="square">
            <a:spAutoFit/>
          </a:bodyPr>
          <a:lstStyle/>
          <a:p>
            <a:pPr marL="0" indent="0">
              <a:buNone/>
            </a:pPr>
            <a:r>
              <a:rPr lang="en-US" sz="1800" dirty="0">
                <a:cs typeface="Times New Roman" panose="02020603050405020304" pitchFamily="18" charset="0"/>
              </a:rPr>
              <a:t>If the item to remove does not exist, </a:t>
            </a:r>
            <a:r>
              <a:rPr lang="en-US" sz="1800" b="1" dirty="0">
                <a:cs typeface="Times New Roman" panose="02020603050405020304" pitchFamily="18" charset="0"/>
              </a:rPr>
              <a:t>discard() </a:t>
            </a:r>
            <a:r>
              <a:rPr lang="en-US" sz="1800" dirty="0">
                <a:cs typeface="Times New Roman" panose="02020603050405020304" pitchFamily="18" charset="0"/>
              </a:rPr>
              <a:t>will </a:t>
            </a:r>
            <a:r>
              <a:rPr lang="en-US" sz="1800" b="1" dirty="0">
                <a:cs typeface="Times New Roman" panose="02020603050405020304" pitchFamily="18" charset="0"/>
              </a:rPr>
              <a:t>not </a:t>
            </a:r>
            <a:r>
              <a:rPr lang="en-US" sz="1800" dirty="0">
                <a:cs typeface="Times New Roman" panose="02020603050405020304" pitchFamily="18" charset="0"/>
              </a:rPr>
              <a:t>raise an error.</a:t>
            </a:r>
          </a:p>
          <a:p>
            <a:pPr marL="0" indent="0">
              <a:buNone/>
            </a:pPr>
            <a:r>
              <a:rPr lang="en-US" sz="1800" b="1" u="sng" dirty="0">
                <a:cs typeface="Times New Roman" panose="02020603050405020304" pitchFamily="18" charset="0"/>
              </a:rPr>
              <a:t>Example</a:t>
            </a:r>
          </a:p>
          <a:p>
            <a:pPr marL="0" indent="0">
              <a:buNone/>
            </a:pPr>
            <a:r>
              <a:rPr lang="en-US" sz="1800" dirty="0">
                <a:cs typeface="Times New Roman" panose="02020603050405020304" pitchFamily="18" charset="0"/>
              </a:rPr>
              <a:t>	set1 = {“apple”, “banana”, “cherry”}</a:t>
            </a:r>
          </a:p>
          <a:p>
            <a:pPr marL="0" indent="0">
              <a:buNone/>
            </a:pPr>
            <a:r>
              <a:rPr lang="en-US" sz="1800" dirty="0">
                <a:cs typeface="Times New Roman" panose="02020603050405020304" pitchFamily="18" charset="0"/>
              </a:rPr>
              <a:t>	set1.discard(“banana”)</a:t>
            </a:r>
          </a:p>
          <a:p>
            <a:pPr marL="0" indent="0">
              <a:buNone/>
            </a:pPr>
            <a:r>
              <a:rPr lang="en-US" sz="1800" dirty="0">
                <a:cs typeface="Times New Roman" panose="02020603050405020304" pitchFamily="18" charset="0"/>
              </a:rPr>
              <a:t>	print(set1)</a:t>
            </a:r>
          </a:p>
          <a:p>
            <a:pPr marL="0" indent="0">
              <a:buNone/>
            </a:pPr>
            <a:r>
              <a:rPr lang="en-US" sz="1800" dirty="0">
                <a:cs typeface="Times New Roman" panose="02020603050405020304" pitchFamily="18" charset="0"/>
              </a:rPr>
              <a:t>	#{‘apple’, ‘cherry’}</a:t>
            </a:r>
          </a:p>
          <a:p>
            <a:pPr marL="0" indent="0">
              <a:buNone/>
            </a:pPr>
            <a:r>
              <a:rPr lang="en-US" sz="1800" dirty="0">
                <a:cs typeface="Times New Roman" panose="02020603050405020304" pitchFamily="18" charset="0"/>
              </a:rPr>
              <a:t>	set1.discard(“mango”)</a:t>
            </a:r>
          </a:p>
          <a:p>
            <a:pPr marL="0" indent="0">
              <a:buNone/>
            </a:pPr>
            <a:r>
              <a:rPr lang="en-US" sz="1800" dirty="0">
                <a:cs typeface="Times New Roman" panose="02020603050405020304" pitchFamily="18" charset="0"/>
              </a:rPr>
              <a:t>	print(set1)</a:t>
            </a:r>
          </a:p>
          <a:p>
            <a:pPr marL="0" indent="0">
              <a:buNone/>
            </a:pPr>
            <a:r>
              <a:rPr lang="en-US" sz="1800" dirty="0">
                <a:cs typeface="Times New Roman" panose="02020603050405020304" pitchFamily="18" charset="0"/>
              </a:rPr>
              <a:t>	#{‘apple’, ‘cherry’}</a:t>
            </a:r>
          </a:p>
        </p:txBody>
      </p:sp>
      <p:sp>
        <p:nvSpPr>
          <p:cNvPr id="7" name="TextBox 6">
            <a:extLst>
              <a:ext uri="{FF2B5EF4-FFF2-40B4-BE49-F238E27FC236}">
                <a16:creationId xmlns:a16="http://schemas.microsoft.com/office/drawing/2014/main" id="{32B7B19A-92D3-D0F8-07CE-77B6479EC2CE}"/>
              </a:ext>
            </a:extLst>
          </p:cNvPr>
          <p:cNvSpPr txBox="1"/>
          <p:nvPr/>
        </p:nvSpPr>
        <p:spPr>
          <a:xfrm>
            <a:off x="737419" y="3539613"/>
            <a:ext cx="10982633" cy="2585323"/>
          </a:xfrm>
          <a:prstGeom prst="rect">
            <a:avLst/>
          </a:prstGeom>
          <a:noFill/>
        </p:spPr>
        <p:txBody>
          <a:bodyPr wrap="square">
            <a:spAutoFit/>
          </a:bodyPr>
          <a:lstStyle/>
          <a:p>
            <a:pPr marL="0" indent="0">
              <a:buNone/>
            </a:pPr>
            <a:r>
              <a:rPr lang="en-IN" sz="1800" b="1" dirty="0">
                <a:cs typeface="Times New Roman" panose="02020603050405020304" pitchFamily="18" charset="0"/>
              </a:rPr>
              <a:t>pop(): -</a:t>
            </a:r>
            <a:r>
              <a:rPr lang="en-IN" sz="1800" dirty="0">
                <a:cs typeface="Times New Roman" panose="02020603050405020304" pitchFamily="18" charset="0"/>
              </a:rPr>
              <a:t>You can also use the </a:t>
            </a:r>
            <a:r>
              <a:rPr lang="en-IN" sz="1800" b="1" dirty="0">
                <a:cs typeface="Times New Roman" panose="02020603050405020304" pitchFamily="18" charset="0"/>
              </a:rPr>
              <a:t>pop() </a:t>
            </a:r>
            <a:r>
              <a:rPr lang="en-IN" sz="1800" dirty="0">
                <a:cs typeface="Times New Roman" panose="02020603050405020304" pitchFamily="18" charset="0"/>
              </a:rPr>
              <a:t>method to remove an item, but this method will remove a random item, so you cannot be sure what item that gets removed.</a:t>
            </a:r>
          </a:p>
          <a:p>
            <a:pPr marL="0" indent="0" algn="just">
              <a:buNone/>
            </a:pPr>
            <a:r>
              <a:rPr lang="en-IN" sz="1800" b="1" u="sng" dirty="0">
                <a:cs typeface="Times New Roman" panose="02020603050405020304" pitchFamily="18" charset="0"/>
              </a:rPr>
              <a:t>Example</a:t>
            </a:r>
          </a:p>
          <a:p>
            <a:pPr marL="0" indent="0" algn="just">
              <a:buNone/>
            </a:pPr>
            <a:r>
              <a:rPr lang="en-IN" sz="1800" dirty="0">
                <a:cs typeface="Times New Roman" panose="02020603050405020304" pitchFamily="18" charset="0"/>
              </a:rPr>
              <a:t>	set1 = {“apple”, “banana”, “cherry”}</a:t>
            </a:r>
          </a:p>
          <a:p>
            <a:pPr marL="0" indent="0" algn="just">
              <a:buNone/>
            </a:pPr>
            <a:r>
              <a:rPr lang="en-IN" sz="1800" dirty="0">
                <a:cs typeface="Times New Roman" panose="02020603050405020304" pitchFamily="18" charset="0"/>
              </a:rPr>
              <a:t>	x = set1.pop()</a:t>
            </a:r>
          </a:p>
          <a:p>
            <a:pPr marL="0" indent="0" algn="just">
              <a:buNone/>
            </a:pPr>
            <a:r>
              <a:rPr lang="en-IN" sz="1800" dirty="0">
                <a:cs typeface="Times New Roman" panose="02020603050405020304" pitchFamily="18" charset="0"/>
              </a:rPr>
              <a:t>	print(x)</a:t>
            </a:r>
          </a:p>
          <a:p>
            <a:pPr marL="0" indent="0" algn="just">
              <a:buNone/>
            </a:pPr>
            <a:r>
              <a:rPr lang="en-IN" sz="1800" dirty="0">
                <a:cs typeface="Times New Roman" panose="02020603050405020304" pitchFamily="18" charset="0"/>
              </a:rPr>
              <a:t>	print(set1)</a:t>
            </a:r>
          </a:p>
          <a:p>
            <a:pPr marL="0" indent="0" algn="just">
              <a:buNone/>
            </a:pPr>
            <a:r>
              <a:rPr lang="en-IN" sz="1800" dirty="0">
                <a:cs typeface="Times New Roman" panose="02020603050405020304" pitchFamily="18" charset="0"/>
              </a:rPr>
              <a:t>	#banana</a:t>
            </a:r>
          </a:p>
          <a:p>
            <a:pPr marL="0" indent="0" algn="just">
              <a:buNone/>
            </a:pPr>
            <a:r>
              <a:rPr lang="en-IN" sz="1800" dirty="0">
                <a:cs typeface="Times New Roman" panose="02020603050405020304" pitchFamily="18" charset="0"/>
              </a:rPr>
              <a:t>	#{‘apple’, ‘cherry’}</a:t>
            </a:r>
          </a:p>
        </p:txBody>
      </p:sp>
    </p:spTree>
    <p:extLst>
      <p:ext uri="{BB962C8B-B14F-4D97-AF65-F5344CB8AC3E}">
        <p14:creationId xmlns:p14="http://schemas.microsoft.com/office/powerpoint/2010/main" val="405735395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92B436-DB12-82B5-E9AD-A27337F2AF2B}"/>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04090393-7F83-BB7A-1F4F-AAB85502E124}"/>
              </a:ext>
            </a:extLst>
          </p:cNvPr>
          <p:cNvSpPr txBox="1"/>
          <p:nvPr/>
        </p:nvSpPr>
        <p:spPr>
          <a:xfrm>
            <a:off x="727587" y="511277"/>
            <a:ext cx="10962968" cy="3785652"/>
          </a:xfrm>
          <a:prstGeom prst="rect">
            <a:avLst/>
          </a:prstGeom>
          <a:noFill/>
        </p:spPr>
        <p:txBody>
          <a:bodyPr wrap="square">
            <a:spAutoFit/>
          </a:bodyPr>
          <a:lstStyle/>
          <a:p>
            <a:pPr marL="0" indent="0" algn="just">
              <a:buNone/>
            </a:pPr>
            <a:r>
              <a:rPr lang="en-IN" sz="2000" b="1" dirty="0">
                <a:cs typeface="Times New Roman" panose="02020603050405020304" pitchFamily="18" charset="0"/>
              </a:rPr>
              <a:t>clear(): -</a:t>
            </a:r>
            <a:r>
              <a:rPr lang="en-IN" sz="2000" dirty="0">
                <a:cs typeface="Times New Roman" panose="02020603050405020304" pitchFamily="18" charset="0"/>
              </a:rPr>
              <a:t>The </a:t>
            </a:r>
            <a:r>
              <a:rPr lang="en-IN" sz="2000" b="1" dirty="0">
                <a:cs typeface="Times New Roman" panose="02020603050405020304" pitchFamily="18" charset="0"/>
              </a:rPr>
              <a:t>clear() </a:t>
            </a:r>
            <a:r>
              <a:rPr lang="en-IN" sz="2000" dirty="0">
                <a:cs typeface="Times New Roman" panose="02020603050405020304" pitchFamily="18" charset="0"/>
              </a:rPr>
              <a:t>method empties the set.</a:t>
            </a:r>
          </a:p>
          <a:p>
            <a:pPr marL="0" indent="0" algn="just">
              <a:buNone/>
            </a:pPr>
            <a:r>
              <a:rPr lang="en-IN" sz="2000" b="1" u="sng" dirty="0">
                <a:cs typeface="Times New Roman" panose="02020603050405020304" pitchFamily="18" charset="0"/>
              </a:rPr>
              <a:t>Example</a:t>
            </a:r>
          </a:p>
          <a:p>
            <a:pPr marL="0" indent="0" algn="just">
              <a:buNone/>
            </a:pPr>
            <a:r>
              <a:rPr lang="en-IN" sz="2000" dirty="0">
                <a:cs typeface="Times New Roman" panose="02020603050405020304" pitchFamily="18" charset="0"/>
              </a:rPr>
              <a:t>	set1 = {“apple”, “banana”, “cherry”}</a:t>
            </a:r>
          </a:p>
          <a:p>
            <a:pPr marL="0" indent="0" algn="just">
              <a:buNone/>
            </a:pPr>
            <a:r>
              <a:rPr lang="en-IN" sz="2000" dirty="0">
                <a:cs typeface="Times New Roman" panose="02020603050405020304" pitchFamily="18" charset="0"/>
              </a:rPr>
              <a:t>	set1.clear()</a:t>
            </a:r>
          </a:p>
          <a:p>
            <a:pPr marL="0" indent="0" algn="just">
              <a:buNone/>
            </a:pPr>
            <a:r>
              <a:rPr lang="en-IN" sz="2000" dirty="0">
                <a:cs typeface="Times New Roman" panose="02020603050405020304" pitchFamily="18" charset="0"/>
              </a:rPr>
              <a:t>	print(set1)		#set( )</a:t>
            </a:r>
          </a:p>
          <a:p>
            <a:pPr marL="0" indent="0" algn="just">
              <a:buNone/>
            </a:pPr>
            <a:endParaRPr lang="en-IN" sz="2000" dirty="0">
              <a:cs typeface="Times New Roman" panose="02020603050405020304" pitchFamily="18" charset="0"/>
            </a:endParaRPr>
          </a:p>
          <a:p>
            <a:pPr marL="0" indent="0" algn="just">
              <a:buNone/>
            </a:pPr>
            <a:r>
              <a:rPr lang="en-IN" sz="2000" b="1" dirty="0">
                <a:cs typeface="Times New Roman" panose="02020603050405020304" pitchFamily="18" charset="0"/>
              </a:rPr>
              <a:t>del: - </a:t>
            </a:r>
            <a:r>
              <a:rPr lang="en-IN" sz="2000" dirty="0">
                <a:cs typeface="Times New Roman" panose="02020603050405020304" pitchFamily="18" charset="0"/>
              </a:rPr>
              <a:t>The </a:t>
            </a:r>
            <a:r>
              <a:rPr lang="en-IN" sz="2000" b="1" dirty="0">
                <a:cs typeface="Times New Roman" panose="02020603050405020304" pitchFamily="18" charset="0"/>
              </a:rPr>
              <a:t>del </a:t>
            </a:r>
            <a:r>
              <a:rPr lang="en-IN" sz="2000" dirty="0">
                <a:cs typeface="Times New Roman" panose="02020603050405020304" pitchFamily="18" charset="0"/>
              </a:rPr>
              <a:t>keyword will delete the set completely.</a:t>
            </a:r>
          </a:p>
          <a:p>
            <a:pPr marL="0" indent="0" algn="just">
              <a:buNone/>
            </a:pPr>
            <a:r>
              <a:rPr lang="en-IN" sz="2000" b="1" u="sng" dirty="0">
                <a:cs typeface="Times New Roman" panose="02020603050405020304" pitchFamily="18" charset="0"/>
              </a:rPr>
              <a:t>Example</a:t>
            </a:r>
          </a:p>
          <a:p>
            <a:pPr marL="0" indent="0" algn="just">
              <a:buNone/>
            </a:pPr>
            <a:r>
              <a:rPr lang="en-IN" sz="2000" dirty="0">
                <a:cs typeface="Times New Roman" panose="02020603050405020304" pitchFamily="18" charset="0"/>
              </a:rPr>
              <a:t>	set1 = {“apple”, “banana”, “cherry”}</a:t>
            </a:r>
          </a:p>
          <a:p>
            <a:pPr marL="0" indent="0" algn="just">
              <a:buNone/>
            </a:pPr>
            <a:r>
              <a:rPr lang="en-IN" sz="2000" dirty="0">
                <a:cs typeface="Times New Roman" panose="02020603050405020304" pitchFamily="18" charset="0"/>
              </a:rPr>
              <a:t>	del set1</a:t>
            </a:r>
          </a:p>
          <a:p>
            <a:pPr marL="0" indent="0" algn="just">
              <a:buNone/>
            </a:pPr>
            <a:r>
              <a:rPr lang="en-IN" sz="2000" dirty="0">
                <a:cs typeface="Times New Roman" panose="02020603050405020304" pitchFamily="18" charset="0"/>
              </a:rPr>
              <a:t>	print(set1)	</a:t>
            </a:r>
          </a:p>
          <a:p>
            <a:pPr marL="0" indent="0" algn="just">
              <a:buNone/>
            </a:pPr>
            <a:r>
              <a:rPr lang="en-IN" sz="2000" b="1" dirty="0">
                <a:cs typeface="Times New Roman" panose="02020603050405020304" pitchFamily="18" charset="0"/>
              </a:rPr>
              <a:t>	</a:t>
            </a:r>
            <a:r>
              <a:rPr lang="en-IN" sz="2000" dirty="0">
                <a:cs typeface="Times New Roman" panose="02020603050405020304" pitchFamily="18" charset="0"/>
              </a:rPr>
              <a:t>#This will raise an error because the set no longer exists.</a:t>
            </a:r>
            <a:endParaRPr lang="en-IN" sz="2000" b="1" dirty="0">
              <a:cs typeface="Times New Roman" panose="02020603050405020304" pitchFamily="18" charset="0"/>
            </a:endParaRPr>
          </a:p>
        </p:txBody>
      </p:sp>
    </p:spTree>
    <p:extLst>
      <p:ext uri="{BB962C8B-B14F-4D97-AF65-F5344CB8AC3E}">
        <p14:creationId xmlns:p14="http://schemas.microsoft.com/office/powerpoint/2010/main" val="88599892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52244-2774-D4E7-78D7-0901A700BAD9}"/>
              </a:ext>
            </a:extLst>
          </p:cNvPr>
          <p:cNvSpPr>
            <a:spLocks noGrp="1"/>
          </p:cNvSpPr>
          <p:nvPr>
            <p:ph type="title"/>
          </p:nvPr>
        </p:nvSpPr>
        <p:spPr>
          <a:xfrm>
            <a:off x="838200" y="501445"/>
            <a:ext cx="10515600" cy="1189243"/>
          </a:xfrm>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Join Sets</a:t>
            </a:r>
          </a:p>
        </p:txBody>
      </p:sp>
      <p:pic>
        <p:nvPicPr>
          <p:cNvPr id="4" name="Picture 3">
            <a:extLst>
              <a:ext uri="{FF2B5EF4-FFF2-40B4-BE49-F238E27FC236}">
                <a16:creationId xmlns:a16="http://schemas.microsoft.com/office/drawing/2014/main" id="{E0633549-06D0-0B0E-6DF9-6D81B42B431A}"/>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B783A032-27BE-5296-09F1-0731B251A5A0}"/>
              </a:ext>
            </a:extLst>
          </p:cNvPr>
          <p:cNvSpPr txBox="1"/>
          <p:nvPr/>
        </p:nvSpPr>
        <p:spPr>
          <a:xfrm>
            <a:off x="442451" y="1524000"/>
            <a:ext cx="10815483" cy="1631216"/>
          </a:xfrm>
          <a:prstGeom prst="rect">
            <a:avLst/>
          </a:prstGeom>
          <a:noFill/>
        </p:spPr>
        <p:txBody>
          <a:bodyPr wrap="square">
            <a:spAutoFit/>
          </a:bodyPr>
          <a:lstStyle/>
          <a:p>
            <a:pPr marL="0" indent="0">
              <a:buNone/>
            </a:pPr>
            <a:r>
              <a:rPr lang="en-IN" sz="2000" dirty="0">
                <a:cs typeface="Times New Roman" panose="02020603050405020304" pitchFamily="18" charset="0"/>
              </a:rPr>
              <a:t>There are several ways to join two or more sets in Python.</a:t>
            </a:r>
          </a:p>
          <a:p>
            <a:pPr marL="285750" indent="-285750" algn="just">
              <a:buFont typeface="Arial" panose="020B0604020202020204" pitchFamily="34" charset="0"/>
              <a:buChar char="•"/>
            </a:pPr>
            <a:r>
              <a:rPr lang="en-IN" sz="2000" dirty="0">
                <a:cs typeface="Times New Roman" panose="02020603050405020304" pitchFamily="18" charset="0"/>
              </a:rPr>
              <a:t>The </a:t>
            </a:r>
            <a:r>
              <a:rPr lang="en-IN" sz="2000" b="1" dirty="0">
                <a:cs typeface="Times New Roman" panose="02020603050405020304" pitchFamily="18" charset="0"/>
              </a:rPr>
              <a:t>union() </a:t>
            </a:r>
            <a:r>
              <a:rPr lang="en-IN" sz="2000" dirty="0">
                <a:cs typeface="Times New Roman" panose="02020603050405020304" pitchFamily="18" charset="0"/>
              </a:rPr>
              <a:t>and </a:t>
            </a:r>
            <a:r>
              <a:rPr lang="en-IN" sz="2000" b="1" dirty="0">
                <a:cs typeface="Times New Roman" panose="02020603050405020304" pitchFamily="18" charset="0"/>
              </a:rPr>
              <a:t>update() </a:t>
            </a:r>
            <a:r>
              <a:rPr lang="en-IN" sz="2000" dirty="0">
                <a:cs typeface="Times New Roman" panose="02020603050405020304" pitchFamily="18" charset="0"/>
              </a:rPr>
              <a:t>methods joins all items from both sets.</a:t>
            </a:r>
          </a:p>
          <a:p>
            <a:pPr marL="285750" indent="-285750" algn="just">
              <a:buFont typeface="Arial" panose="020B0604020202020204" pitchFamily="34" charset="0"/>
              <a:buChar char="•"/>
            </a:pPr>
            <a:r>
              <a:rPr lang="en-IN" sz="2000" dirty="0">
                <a:cs typeface="Times New Roman" panose="02020603050405020304" pitchFamily="18" charset="0"/>
              </a:rPr>
              <a:t>The </a:t>
            </a:r>
            <a:r>
              <a:rPr lang="en-IN" sz="2000" b="1" dirty="0">
                <a:cs typeface="Times New Roman" panose="02020603050405020304" pitchFamily="18" charset="0"/>
              </a:rPr>
              <a:t>intersection() </a:t>
            </a:r>
            <a:r>
              <a:rPr lang="en-IN" sz="2000" dirty="0">
                <a:cs typeface="Times New Roman" panose="02020603050405020304" pitchFamily="18" charset="0"/>
              </a:rPr>
              <a:t>method keeps ONLY the duplicates.</a:t>
            </a:r>
          </a:p>
          <a:p>
            <a:pPr marL="285750" indent="-285750" algn="just">
              <a:buFont typeface="Arial" panose="020B0604020202020204" pitchFamily="34" charset="0"/>
              <a:buChar char="•"/>
            </a:pPr>
            <a:r>
              <a:rPr lang="en-IN" sz="2000" dirty="0">
                <a:cs typeface="Times New Roman" panose="02020603050405020304" pitchFamily="18" charset="0"/>
              </a:rPr>
              <a:t>The </a:t>
            </a:r>
            <a:r>
              <a:rPr lang="en-IN" sz="2000" b="1" dirty="0">
                <a:cs typeface="Times New Roman" panose="02020603050405020304" pitchFamily="18" charset="0"/>
              </a:rPr>
              <a:t>difference() </a:t>
            </a:r>
            <a:r>
              <a:rPr lang="en-IN" sz="2000" dirty="0">
                <a:cs typeface="Times New Roman" panose="02020603050405020304" pitchFamily="18" charset="0"/>
              </a:rPr>
              <a:t>method keeps the items from the first set that are not in the other set(s).</a:t>
            </a:r>
          </a:p>
          <a:p>
            <a:pPr marL="285750" indent="-285750" algn="just">
              <a:buFont typeface="Arial" panose="020B0604020202020204" pitchFamily="34" charset="0"/>
              <a:buChar char="•"/>
            </a:pPr>
            <a:r>
              <a:rPr lang="en-IN" sz="2000" dirty="0">
                <a:cs typeface="Times New Roman" panose="02020603050405020304" pitchFamily="18" charset="0"/>
              </a:rPr>
              <a:t>The </a:t>
            </a:r>
            <a:r>
              <a:rPr lang="en-IN" sz="2000" b="1" dirty="0" err="1">
                <a:cs typeface="Times New Roman" panose="02020603050405020304" pitchFamily="18" charset="0"/>
              </a:rPr>
              <a:t>symmetric_difference</a:t>
            </a:r>
            <a:r>
              <a:rPr lang="en-IN" sz="2000" b="1" dirty="0">
                <a:cs typeface="Times New Roman" panose="02020603050405020304" pitchFamily="18" charset="0"/>
              </a:rPr>
              <a:t>() </a:t>
            </a:r>
            <a:r>
              <a:rPr lang="en-IN" sz="2000" dirty="0">
                <a:cs typeface="Times New Roman" panose="02020603050405020304" pitchFamily="18" charset="0"/>
              </a:rPr>
              <a:t>method keeps all items EXCEPT the duplicates.</a:t>
            </a:r>
          </a:p>
        </p:txBody>
      </p:sp>
      <p:sp>
        <p:nvSpPr>
          <p:cNvPr id="8" name="TextBox 7">
            <a:extLst>
              <a:ext uri="{FF2B5EF4-FFF2-40B4-BE49-F238E27FC236}">
                <a16:creationId xmlns:a16="http://schemas.microsoft.com/office/drawing/2014/main" id="{34549CC1-C4D8-AD6B-7AAF-27577363B2F1}"/>
              </a:ext>
            </a:extLst>
          </p:cNvPr>
          <p:cNvSpPr txBox="1"/>
          <p:nvPr/>
        </p:nvSpPr>
        <p:spPr>
          <a:xfrm>
            <a:off x="442451" y="3283974"/>
            <a:ext cx="10314039" cy="3477875"/>
          </a:xfrm>
          <a:prstGeom prst="rect">
            <a:avLst/>
          </a:prstGeom>
          <a:noFill/>
        </p:spPr>
        <p:txBody>
          <a:bodyPr wrap="square">
            <a:spAutoFit/>
          </a:bodyPr>
          <a:lstStyle/>
          <a:p>
            <a:pPr marL="0" indent="0">
              <a:buNone/>
            </a:pPr>
            <a:r>
              <a:rPr lang="en-IN" sz="2000" b="1" dirty="0">
                <a:solidFill>
                  <a:srgbClr val="FF0000"/>
                </a:solidFill>
                <a:cs typeface="Times New Roman" panose="02020603050405020304" pitchFamily="18" charset="0"/>
              </a:rPr>
              <a:t>UNION</a:t>
            </a:r>
          </a:p>
          <a:p>
            <a:pPr marL="0" indent="0">
              <a:buNone/>
            </a:pPr>
            <a:endParaRPr lang="en-IN" sz="2000" dirty="0">
              <a:cs typeface="Times New Roman" panose="02020603050405020304" pitchFamily="18" charset="0"/>
            </a:endParaRPr>
          </a:p>
          <a:p>
            <a:pPr marL="0" indent="0">
              <a:buNone/>
            </a:pPr>
            <a:r>
              <a:rPr lang="en-IN" sz="2000" dirty="0">
                <a:cs typeface="Times New Roman" panose="02020603050405020304" pitchFamily="18" charset="0"/>
              </a:rPr>
              <a:t>The union() method returns a new set with all items from both sets.</a:t>
            </a:r>
          </a:p>
          <a:p>
            <a:pPr marL="0" indent="0">
              <a:buNone/>
            </a:pPr>
            <a:r>
              <a:rPr lang="en-IN" sz="2000" b="1" u="sng" dirty="0">
                <a:cs typeface="Times New Roman" panose="02020603050405020304" pitchFamily="18" charset="0"/>
              </a:rPr>
              <a:t>Example</a:t>
            </a:r>
          </a:p>
          <a:p>
            <a:pPr marL="0" indent="0">
              <a:buNone/>
            </a:pPr>
            <a:r>
              <a:rPr lang="en-IN" sz="2000" dirty="0">
                <a:cs typeface="Times New Roman" panose="02020603050405020304" pitchFamily="18" charset="0"/>
              </a:rPr>
              <a:t>	set1 = {"a", "b", "c"}</a:t>
            </a:r>
          </a:p>
          <a:p>
            <a:pPr marL="0" indent="0">
              <a:buNone/>
            </a:pPr>
            <a:r>
              <a:rPr lang="en-IN" sz="2000" dirty="0">
                <a:cs typeface="Times New Roman" panose="02020603050405020304" pitchFamily="18" charset="0"/>
              </a:rPr>
              <a:t>	set2 = {1, 2, 3}</a:t>
            </a:r>
          </a:p>
          <a:p>
            <a:pPr marL="0" indent="0">
              <a:buNone/>
            </a:pPr>
            <a:r>
              <a:rPr lang="en-IN" sz="2000" dirty="0">
                <a:cs typeface="Times New Roman" panose="02020603050405020304" pitchFamily="18" charset="0"/>
              </a:rPr>
              <a:t>	set3 = {"John", "Elena"}</a:t>
            </a:r>
          </a:p>
          <a:p>
            <a:pPr marL="0" indent="0">
              <a:buNone/>
            </a:pPr>
            <a:r>
              <a:rPr lang="en-IN" sz="2000" dirty="0">
                <a:cs typeface="Times New Roman" panose="02020603050405020304" pitchFamily="18" charset="0"/>
              </a:rPr>
              <a:t>	set4 = {"apple", "banana", "cherry"}</a:t>
            </a:r>
          </a:p>
          <a:p>
            <a:pPr marL="0" indent="0">
              <a:buNone/>
            </a:pPr>
            <a:r>
              <a:rPr lang="en-IN" sz="2000" dirty="0">
                <a:cs typeface="Times New Roman" panose="02020603050405020304" pitchFamily="18" charset="0"/>
              </a:rPr>
              <a:t>	</a:t>
            </a:r>
            <a:r>
              <a:rPr lang="en-IN" sz="2000" dirty="0" err="1">
                <a:cs typeface="Times New Roman" panose="02020603050405020304" pitchFamily="18" charset="0"/>
              </a:rPr>
              <a:t>myset</a:t>
            </a:r>
            <a:r>
              <a:rPr lang="en-IN" sz="2000" dirty="0">
                <a:cs typeface="Times New Roman" panose="02020603050405020304" pitchFamily="18" charset="0"/>
              </a:rPr>
              <a:t> = set1.union(set2, set3, set4)</a:t>
            </a:r>
          </a:p>
          <a:p>
            <a:pPr marL="0" indent="0">
              <a:buNone/>
            </a:pPr>
            <a:r>
              <a:rPr lang="en-IN" sz="2000" dirty="0">
                <a:cs typeface="Times New Roman" panose="02020603050405020304" pitchFamily="18" charset="0"/>
              </a:rPr>
              <a:t>	print(</a:t>
            </a:r>
            <a:r>
              <a:rPr lang="en-IN" sz="2000" dirty="0" err="1">
                <a:cs typeface="Times New Roman" panose="02020603050405020304" pitchFamily="18" charset="0"/>
              </a:rPr>
              <a:t>myset</a:t>
            </a:r>
            <a:r>
              <a:rPr lang="en-IN" sz="2000" dirty="0">
                <a:cs typeface="Times New Roman" panose="02020603050405020304" pitchFamily="18" charset="0"/>
              </a:rPr>
              <a:t>)</a:t>
            </a:r>
          </a:p>
          <a:p>
            <a:pPr marL="0" indent="0">
              <a:buNone/>
            </a:pPr>
            <a:r>
              <a:rPr lang="en-IN" sz="2000" dirty="0">
                <a:cs typeface="Times New Roman" panose="02020603050405020304" pitchFamily="18" charset="0"/>
              </a:rPr>
              <a:t>	</a:t>
            </a:r>
            <a:r>
              <a:rPr lang="en-IN" sz="2000" dirty="0">
                <a:solidFill>
                  <a:schemeClr val="tx1">
                    <a:lumMod val="95000"/>
                    <a:lumOff val="5000"/>
                  </a:schemeClr>
                </a:solidFill>
                <a:cs typeface="Times New Roman" panose="02020603050405020304" pitchFamily="18" charset="0"/>
              </a:rPr>
              <a:t>#{1, 2, 3, ‘Elena’, ‘banana’, ‘a’, ‘apple’, ‘c’, ‘b’, ‘cherry’, ‘John’}</a:t>
            </a:r>
            <a:endParaRPr lang="en-IN" sz="2000" b="1" dirty="0">
              <a:cs typeface="Times New Roman" panose="02020603050405020304" pitchFamily="18" charset="0"/>
            </a:endParaRPr>
          </a:p>
        </p:txBody>
      </p:sp>
    </p:spTree>
    <p:extLst>
      <p:ext uri="{BB962C8B-B14F-4D97-AF65-F5344CB8AC3E}">
        <p14:creationId xmlns:p14="http://schemas.microsoft.com/office/powerpoint/2010/main" val="140516903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81F963-2E51-DFCB-E4A6-3D98AA0BE83D}"/>
              </a:ext>
            </a:extLst>
          </p:cNvPr>
          <p:cNvPicPr/>
          <p:nvPr/>
        </p:nvPicPr>
        <p:blipFill>
          <a:blip r:embed="rId2" cstate="print"/>
          <a:stretch/>
        </p:blipFill>
        <p:spPr>
          <a:xfrm>
            <a:off x="11503320" y="-8003"/>
            <a:ext cx="688680" cy="689040"/>
          </a:xfrm>
          <a:prstGeom prst="rect">
            <a:avLst/>
          </a:prstGeom>
          <a:ln w="0">
            <a:noFill/>
          </a:ln>
        </p:spPr>
      </p:pic>
      <p:sp>
        <p:nvSpPr>
          <p:cNvPr id="5" name="TextBox 4">
            <a:extLst>
              <a:ext uri="{FF2B5EF4-FFF2-40B4-BE49-F238E27FC236}">
                <a16:creationId xmlns:a16="http://schemas.microsoft.com/office/drawing/2014/main" id="{69821FE5-9279-DF4C-3E42-301577997BAB}"/>
              </a:ext>
            </a:extLst>
          </p:cNvPr>
          <p:cNvSpPr txBox="1"/>
          <p:nvPr/>
        </p:nvSpPr>
        <p:spPr>
          <a:xfrm>
            <a:off x="609600" y="589936"/>
            <a:ext cx="10500852" cy="2862322"/>
          </a:xfrm>
          <a:prstGeom prst="rect">
            <a:avLst/>
          </a:prstGeom>
          <a:noFill/>
        </p:spPr>
        <p:txBody>
          <a:bodyPr wrap="square">
            <a:spAutoFit/>
          </a:bodyPr>
          <a:lstStyle/>
          <a:p>
            <a:pPr marL="0" indent="0">
              <a:buNone/>
            </a:pPr>
            <a:r>
              <a:rPr lang="en-IN" sz="2000" dirty="0">
                <a:cs typeface="Times New Roman" panose="02020603050405020304" pitchFamily="18" charset="0"/>
              </a:rPr>
              <a:t>You can also use the </a:t>
            </a:r>
            <a:r>
              <a:rPr lang="en-IN" sz="2000" b="1" dirty="0">
                <a:cs typeface="Times New Roman" panose="02020603050405020304" pitchFamily="18" charset="0"/>
              </a:rPr>
              <a:t>| </a:t>
            </a:r>
            <a:r>
              <a:rPr lang="en-IN" sz="2000" dirty="0">
                <a:cs typeface="Times New Roman" panose="02020603050405020304" pitchFamily="18" charset="0"/>
              </a:rPr>
              <a:t>operator instead of the union() method, and you will get the same result.</a:t>
            </a:r>
          </a:p>
          <a:p>
            <a:pPr marL="0" indent="0">
              <a:buNone/>
            </a:pPr>
            <a:r>
              <a:rPr lang="en-IN" sz="2000" b="1" u="sng" dirty="0">
                <a:cs typeface="Times New Roman" panose="02020603050405020304" pitchFamily="18" charset="0"/>
              </a:rPr>
              <a:t>Example</a:t>
            </a:r>
          </a:p>
          <a:p>
            <a:pPr marL="0" indent="0">
              <a:buNone/>
            </a:pPr>
            <a:r>
              <a:rPr lang="en-IN" sz="2000" dirty="0">
                <a:cs typeface="Times New Roman" panose="02020603050405020304" pitchFamily="18" charset="0"/>
              </a:rPr>
              <a:t>	set1 = {"a", "b", "c"}</a:t>
            </a:r>
          </a:p>
          <a:p>
            <a:pPr marL="0" indent="0">
              <a:buNone/>
            </a:pPr>
            <a:r>
              <a:rPr lang="en-IN" sz="2000" dirty="0">
                <a:cs typeface="Times New Roman" panose="02020603050405020304" pitchFamily="18" charset="0"/>
              </a:rPr>
              <a:t>	set2 = {1, 2, 3}</a:t>
            </a:r>
          </a:p>
          <a:p>
            <a:pPr marL="0" indent="0">
              <a:buNone/>
            </a:pPr>
            <a:r>
              <a:rPr lang="en-IN" sz="2000" dirty="0">
                <a:cs typeface="Times New Roman" panose="02020603050405020304" pitchFamily="18" charset="0"/>
              </a:rPr>
              <a:t>	set3 = {"John", "Elena"}</a:t>
            </a:r>
          </a:p>
          <a:p>
            <a:pPr marL="0" indent="0">
              <a:buNone/>
            </a:pPr>
            <a:r>
              <a:rPr lang="en-IN" sz="2000" dirty="0">
                <a:cs typeface="Times New Roman" panose="02020603050405020304" pitchFamily="18" charset="0"/>
              </a:rPr>
              <a:t>	set4 = {"apple", "banana", "cherry"}</a:t>
            </a:r>
          </a:p>
          <a:p>
            <a:pPr marL="0" indent="0">
              <a:buNone/>
            </a:pPr>
            <a:r>
              <a:rPr lang="en-IN" sz="2000" dirty="0">
                <a:cs typeface="Times New Roman" panose="02020603050405020304" pitchFamily="18" charset="0"/>
              </a:rPr>
              <a:t>	</a:t>
            </a:r>
            <a:r>
              <a:rPr lang="en-IN" sz="2000" dirty="0" err="1">
                <a:cs typeface="Times New Roman" panose="02020603050405020304" pitchFamily="18" charset="0"/>
              </a:rPr>
              <a:t>myset</a:t>
            </a:r>
            <a:r>
              <a:rPr lang="en-IN" sz="2000" dirty="0">
                <a:cs typeface="Times New Roman" panose="02020603050405020304" pitchFamily="18" charset="0"/>
              </a:rPr>
              <a:t> = set1 | set2 | set3 | set4</a:t>
            </a:r>
          </a:p>
          <a:p>
            <a:pPr marL="0" indent="0">
              <a:buNone/>
            </a:pPr>
            <a:r>
              <a:rPr lang="en-IN" sz="2000" dirty="0">
                <a:cs typeface="Times New Roman" panose="02020603050405020304" pitchFamily="18" charset="0"/>
              </a:rPr>
              <a:t>	print(</a:t>
            </a:r>
            <a:r>
              <a:rPr lang="en-IN" sz="2000" dirty="0" err="1">
                <a:cs typeface="Times New Roman" panose="02020603050405020304" pitchFamily="18" charset="0"/>
              </a:rPr>
              <a:t>myset</a:t>
            </a:r>
            <a:r>
              <a:rPr lang="en-IN" sz="2000" dirty="0">
                <a:cs typeface="Times New Roman" panose="02020603050405020304" pitchFamily="18" charset="0"/>
              </a:rPr>
              <a:t>)</a:t>
            </a:r>
          </a:p>
          <a:p>
            <a:pPr marL="0" indent="0">
              <a:buNone/>
            </a:pPr>
            <a:r>
              <a:rPr lang="en-IN" sz="2000" dirty="0">
                <a:cs typeface="Times New Roman" panose="02020603050405020304" pitchFamily="18" charset="0"/>
              </a:rPr>
              <a:t>	</a:t>
            </a:r>
            <a:r>
              <a:rPr lang="en-IN" sz="2000" dirty="0">
                <a:solidFill>
                  <a:schemeClr val="tx1">
                    <a:lumMod val="95000"/>
                    <a:lumOff val="5000"/>
                  </a:schemeClr>
                </a:solidFill>
                <a:cs typeface="Times New Roman" panose="02020603050405020304" pitchFamily="18" charset="0"/>
              </a:rPr>
              <a:t>#{1, 2, 3, ‘Elena’, ‘banana’, ‘a’, ‘apple’, ‘c’, ‘b’, ‘cherry’, ‘John’}</a:t>
            </a:r>
            <a:endParaRPr lang="en-IN" sz="2000" b="1" dirty="0">
              <a:cs typeface="Times New Roman" panose="02020603050405020304" pitchFamily="18" charset="0"/>
            </a:endParaRPr>
          </a:p>
        </p:txBody>
      </p:sp>
    </p:spTree>
    <p:extLst>
      <p:ext uri="{BB962C8B-B14F-4D97-AF65-F5344CB8AC3E}">
        <p14:creationId xmlns:p14="http://schemas.microsoft.com/office/powerpoint/2010/main" val="199195692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9EC8D94-A79F-0CF5-1879-D90097CD91D2}"/>
              </a:ext>
            </a:extLst>
          </p:cNvPr>
          <p:cNvPicPr/>
          <p:nvPr/>
        </p:nvPicPr>
        <p:blipFill>
          <a:blip r:embed="rId2" cstate="print"/>
          <a:stretch/>
        </p:blipFill>
        <p:spPr>
          <a:xfrm>
            <a:off x="11503320" y="29028"/>
            <a:ext cx="688680" cy="689040"/>
          </a:xfrm>
          <a:prstGeom prst="rect">
            <a:avLst/>
          </a:prstGeom>
          <a:ln w="0">
            <a:noFill/>
          </a:ln>
        </p:spPr>
      </p:pic>
      <p:sp>
        <p:nvSpPr>
          <p:cNvPr id="5" name="TextBox 4">
            <a:extLst>
              <a:ext uri="{FF2B5EF4-FFF2-40B4-BE49-F238E27FC236}">
                <a16:creationId xmlns:a16="http://schemas.microsoft.com/office/drawing/2014/main" id="{B9C4B8A6-064F-02B4-F3C3-9ABF822F5F4D}"/>
              </a:ext>
            </a:extLst>
          </p:cNvPr>
          <p:cNvSpPr txBox="1"/>
          <p:nvPr/>
        </p:nvSpPr>
        <p:spPr>
          <a:xfrm>
            <a:off x="648929" y="511277"/>
            <a:ext cx="10402529" cy="3477875"/>
          </a:xfrm>
          <a:prstGeom prst="rect">
            <a:avLst/>
          </a:prstGeom>
          <a:noFill/>
        </p:spPr>
        <p:txBody>
          <a:bodyPr wrap="square">
            <a:spAutoFit/>
          </a:bodyPr>
          <a:lstStyle/>
          <a:p>
            <a:pPr marL="0" indent="0">
              <a:buNone/>
            </a:pPr>
            <a:r>
              <a:rPr lang="en-IN" sz="2000" b="1" dirty="0">
                <a:solidFill>
                  <a:srgbClr val="FF0000"/>
                </a:solidFill>
                <a:cs typeface="Times New Roman" panose="02020603050405020304" pitchFamily="18" charset="0"/>
              </a:rPr>
              <a:t>UPDATE</a:t>
            </a:r>
          </a:p>
          <a:p>
            <a:pPr marL="0" indent="0">
              <a:buNone/>
            </a:pPr>
            <a:endParaRPr lang="en-IN" sz="2000" b="1" dirty="0">
              <a:solidFill>
                <a:srgbClr val="FF0000"/>
              </a:solidFill>
              <a:cs typeface="Times New Roman" panose="02020603050405020304" pitchFamily="18" charset="0"/>
            </a:endParaRPr>
          </a:p>
          <a:p>
            <a:pPr marL="342900" indent="-342900">
              <a:buFont typeface="Arial" panose="020B0604020202020204" pitchFamily="34" charset="0"/>
              <a:buChar char="•"/>
            </a:pPr>
            <a:r>
              <a:rPr lang="en-IN" sz="2000" dirty="0">
                <a:cs typeface="Times New Roman" panose="02020603050405020304" pitchFamily="18" charset="0"/>
              </a:rPr>
              <a:t>The </a:t>
            </a:r>
            <a:r>
              <a:rPr lang="en-IN" sz="2000" b="1" dirty="0">
                <a:cs typeface="Times New Roman" panose="02020603050405020304" pitchFamily="18" charset="0"/>
              </a:rPr>
              <a:t>update() </a:t>
            </a:r>
            <a:r>
              <a:rPr lang="en-IN" sz="2000" dirty="0">
                <a:cs typeface="Times New Roman" panose="02020603050405020304" pitchFamily="18" charset="0"/>
              </a:rPr>
              <a:t>method inserts all items from one set into another.</a:t>
            </a:r>
          </a:p>
          <a:p>
            <a:pPr marL="342900" indent="-342900">
              <a:buFont typeface="Arial" panose="020B0604020202020204" pitchFamily="34" charset="0"/>
              <a:buChar char="•"/>
            </a:pPr>
            <a:r>
              <a:rPr lang="en-IN" sz="2000" dirty="0">
                <a:cs typeface="Times New Roman" panose="02020603050405020304" pitchFamily="18" charset="0"/>
              </a:rPr>
              <a:t>The update() changes the original set, and does not return a new set.</a:t>
            </a:r>
          </a:p>
          <a:p>
            <a:pPr marL="0" indent="0">
              <a:buNone/>
            </a:pPr>
            <a:r>
              <a:rPr lang="en-IN" sz="2000" b="1" u="sng" dirty="0">
                <a:cs typeface="Times New Roman" panose="02020603050405020304" pitchFamily="18" charset="0"/>
              </a:rPr>
              <a:t>Example</a:t>
            </a:r>
          </a:p>
          <a:p>
            <a:pPr marL="0" indent="0">
              <a:buNone/>
            </a:pPr>
            <a:r>
              <a:rPr lang="en-US" sz="2000" dirty="0">
                <a:cs typeface="Times New Roman" panose="02020603050405020304" pitchFamily="18" charset="0"/>
              </a:rPr>
              <a:t>	set1 = {"a", "b", "c"}</a:t>
            </a:r>
          </a:p>
          <a:p>
            <a:pPr marL="0" indent="0">
              <a:buNone/>
            </a:pPr>
            <a:r>
              <a:rPr lang="en-US" sz="2000" dirty="0">
                <a:cs typeface="Times New Roman" panose="02020603050405020304" pitchFamily="18" charset="0"/>
              </a:rPr>
              <a:t>	set2 = {1, 2, 3, "a", "b", "c"}</a:t>
            </a:r>
          </a:p>
          <a:p>
            <a:pPr marL="0" indent="0">
              <a:buNone/>
            </a:pPr>
            <a:r>
              <a:rPr lang="en-US" sz="2000" dirty="0">
                <a:cs typeface="Times New Roman" panose="02020603050405020304" pitchFamily="18" charset="0"/>
              </a:rPr>
              <a:t>	set1.update(set2)</a:t>
            </a:r>
          </a:p>
          <a:p>
            <a:pPr marL="0" indent="0">
              <a:buNone/>
            </a:pPr>
            <a:r>
              <a:rPr lang="en-US" sz="2000" dirty="0">
                <a:cs typeface="Times New Roman" panose="02020603050405020304" pitchFamily="18" charset="0"/>
              </a:rPr>
              <a:t>	print(set1)</a:t>
            </a:r>
          </a:p>
          <a:p>
            <a:pPr marL="0" indent="0">
              <a:buNone/>
            </a:pPr>
            <a:r>
              <a:rPr lang="en-US" sz="2000" dirty="0">
                <a:cs typeface="Times New Roman" panose="02020603050405020304" pitchFamily="18" charset="0"/>
              </a:rPr>
              <a:t>	#{1, 2, 3, ‘c’, ‘a’, ‘b’}</a:t>
            </a:r>
          </a:p>
          <a:p>
            <a:pPr marL="0" indent="0">
              <a:buNone/>
            </a:pPr>
            <a:endParaRPr lang="en-IN" sz="2000" dirty="0">
              <a:cs typeface="Times New Roman" panose="02020603050405020304" pitchFamily="18" charset="0"/>
            </a:endParaRPr>
          </a:p>
        </p:txBody>
      </p:sp>
    </p:spTree>
    <p:extLst>
      <p:ext uri="{BB962C8B-B14F-4D97-AF65-F5344CB8AC3E}">
        <p14:creationId xmlns:p14="http://schemas.microsoft.com/office/powerpoint/2010/main" val="193912214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DCC7F-117D-EED7-B1BD-B0905A3BCBC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6432BB3-9708-E8EF-4F8E-243B390317F0}"/>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4B98B5AA-BD34-ECA0-1255-41267E4AB21A}"/>
              </a:ext>
            </a:extLst>
          </p:cNvPr>
          <p:cNvSpPr txBox="1"/>
          <p:nvPr/>
        </p:nvSpPr>
        <p:spPr>
          <a:xfrm>
            <a:off x="299257" y="532015"/>
            <a:ext cx="11621193" cy="5940088"/>
          </a:xfrm>
          <a:prstGeom prst="rect">
            <a:avLst/>
          </a:prstGeom>
          <a:noFill/>
        </p:spPr>
        <p:txBody>
          <a:bodyPr wrap="square">
            <a:spAutoFit/>
          </a:bodyPr>
          <a:lstStyle/>
          <a:p>
            <a:pPr marL="0" indent="0">
              <a:buNone/>
            </a:pPr>
            <a:r>
              <a:rPr lang="en-IN" sz="2000" b="1" dirty="0">
                <a:solidFill>
                  <a:srgbClr val="FF0000"/>
                </a:solidFill>
                <a:cs typeface="Times New Roman" panose="02020603050405020304" pitchFamily="18" charset="0"/>
              </a:rPr>
              <a:t>INTERSECTION</a:t>
            </a:r>
          </a:p>
          <a:p>
            <a:pPr marL="0" indent="0">
              <a:buNone/>
            </a:pPr>
            <a:endParaRPr lang="en-IN" sz="2000" b="1" dirty="0">
              <a:solidFill>
                <a:srgbClr val="FF0000"/>
              </a:solidFill>
              <a:cs typeface="Times New Roman" panose="02020603050405020304" pitchFamily="18" charset="0"/>
            </a:endParaRPr>
          </a:p>
          <a:p>
            <a:pPr marL="342900" indent="-342900">
              <a:buFont typeface="Arial" panose="020B0604020202020204" pitchFamily="34" charset="0"/>
              <a:buChar char="•"/>
            </a:pPr>
            <a:r>
              <a:rPr lang="en-IN" sz="2000" dirty="0">
                <a:cs typeface="Times New Roman" panose="02020603050405020304" pitchFamily="18" charset="0"/>
              </a:rPr>
              <a:t>The intersection() method will return a new set, that only contains the items that are present in both sets.</a:t>
            </a:r>
          </a:p>
          <a:p>
            <a:pPr marL="0" indent="0">
              <a:buNone/>
            </a:pPr>
            <a:r>
              <a:rPr lang="en-IN" sz="2000" b="1" u="sng" dirty="0">
                <a:cs typeface="Times New Roman" panose="02020603050405020304" pitchFamily="18" charset="0"/>
              </a:rPr>
              <a:t>Example</a:t>
            </a:r>
          </a:p>
          <a:p>
            <a:pPr marL="0" indent="0">
              <a:buNone/>
            </a:pPr>
            <a:r>
              <a:rPr lang="en-US" sz="2000" dirty="0">
                <a:cs typeface="Times New Roman" panose="02020603050405020304" pitchFamily="18" charset="0"/>
              </a:rPr>
              <a:t>	set1 = {"a", "b", "c"}</a:t>
            </a:r>
          </a:p>
          <a:p>
            <a:pPr marL="0" indent="0">
              <a:buNone/>
            </a:pPr>
            <a:r>
              <a:rPr lang="en-US" sz="2000" dirty="0">
                <a:cs typeface="Times New Roman" panose="02020603050405020304" pitchFamily="18" charset="0"/>
              </a:rPr>
              <a:t>	set2 = {1, 2, 3, "a", "b", "c"}</a:t>
            </a:r>
          </a:p>
          <a:p>
            <a:pPr marL="0" indent="0">
              <a:buNone/>
            </a:pPr>
            <a:r>
              <a:rPr lang="en-US" sz="2000" dirty="0">
                <a:cs typeface="Times New Roman" panose="02020603050405020304" pitchFamily="18" charset="0"/>
              </a:rPr>
              <a:t>	set3 = set1.intersection(set2)</a:t>
            </a:r>
          </a:p>
          <a:p>
            <a:pPr marL="0" indent="0">
              <a:buNone/>
            </a:pPr>
            <a:r>
              <a:rPr lang="en-US" sz="2000" dirty="0">
                <a:cs typeface="Times New Roman" panose="02020603050405020304" pitchFamily="18" charset="0"/>
              </a:rPr>
              <a:t>	print(set3)</a:t>
            </a:r>
          </a:p>
          <a:p>
            <a:pPr marL="0" indent="0">
              <a:buNone/>
            </a:pPr>
            <a:r>
              <a:rPr lang="en-US" sz="2000" dirty="0">
                <a:cs typeface="Times New Roman" panose="02020603050405020304" pitchFamily="18" charset="0"/>
              </a:rPr>
              <a:t>	#{‘a’, ‘b’, ‘c’}</a:t>
            </a:r>
          </a:p>
          <a:p>
            <a:pPr marL="0" indent="0">
              <a:buNone/>
            </a:pPr>
            <a:endParaRPr lang="en-US" sz="2000" dirty="0">
              <a:cs typeface="Times New Roman" panose="02020603050405020304" pitchFamily="18" charset="0"/>
            </a:endParaRPr>
          </a:p>
          <a:p>
            <a:pPr marL="342900" indent="-342900">
              <a:buFont typeface="Arial" panose="020B0604020202020204" pitchFamily="34" charset="0"/>
              <a:buChar char="•"/>
            </a:pPr>
            <a:r>
              <a:rPr lang="en-US" sz="2000" dirty="0">
                <a:cs typeface="Times New Roman" panose="02020603050405020304" pitchFamily="18" charset="0"/>
              </a:rPr>
              <a:t>You can use the </a:t>
            </a:r>
            <a:r>
              <a:rPr lang="en-US" sz="2000" b="1" dirty="0">
                <a:cs typeface="Times New Roman" panose="02020603050405020304" pitchFamily="18" charset="0"/>
              </a:rPr>
              <a:t>&amp; </a:t>
            </a:r>
            <a:r>
              <a:rPr lang="en-US" sz="2000" dirty="0">
                <a:cs typeface="Times New Roman" panose="02020603050405020304" pitchFamily="18" charset="0"/>
              </a:rPr>
              <a:t>operator instead of the intersection() method, and you will get the same result.</a:t>
            </a:r>
          </a:p>
          <a:p>
            <a:pPr marL="0" indent="0">
              <a:buNone/>
            </a:pPr>
            <a:r>
              <a:rPr lang="en-IN" sz="2000" b="1" u="sng" dirty="0">
                <a:cs typeface="Times New Roman" panose="02020603050405020304" pitchFamily="18" charset="0"/>
              </a:rPr>
              <a:t>Example</a:t>
            </a:r>
          </a:p>
          <a:p>
            <a:pPr marL="0" indent="0">
              <a:buNone/>
            </a:pPr>
            <a:r>
              <a:rPr lang="en-US" sz="2000" dirty="0">
                <a:cs typeface="Times New Roman" panose="02020603050405020304" pitchFamily="18" charset="0"/>
              </a:rPr>
              <a:t>	set1 = {"a", "b", "c"}</a:t>
            </a:r>
          </a:p>
          <a:p>
            <a:pPr marL="0" indent="0">
              <a:buNone/>
            </a:pPr>
            <a:r>
              <a:rPr lang="en-US" sz="2000" dirty="0">
                <a:cs typeface="Times New Roman" panose="02020603050405020304" pitchFamily="18" charset="0"/>
              </a:rPr>
              <a:t>	set2 = {1, 2, 3, "a", "b", "c"}</a:t>
            </a:r>
          </a:p>
          <a:p>
            <a:pPr marL="0" indent="0">
              <a:buNone/>
            </a:pPr>
            <a:r>
              <a:rPr lang="en-US" sz="2000" dirty="0">
                <a:cs typeface="Times New Roman" panose="02020603050405020304" pitchFamily="18" charset="0"/>
              </a:rPr>
              <a:t>	set3 = set1 &amp; set2</a:t>
            </a:r>
          </a:p>
          <a:p>
            <a:pPr marL="0" indent="0">
              <a:buNone/>
            </a:pPr>
            <a:r>
              <a:rPr lang="en-US" sz="2000" dirty="0">
                <a:cs typeface="Times New Roman" panose="02020603050405020304" pitchFamily="18" charset="0"/>
              </a:rPr>
              <a:t>	print(set3)</a:t>
            </a:r>
          </a:p>
          <a:p>
            <a:pPr marL="0" indent="0">
              <a:buNone/>
            </a:pPr>
            <a:r>
              <a:rPr lang="en-US" sz="2000" dirty="0">
                <a:cs typeface="Times New Roman" panose="02020603050405020304" pitchFamily="18" charset="0"/>
              </a:rPr>
              <a:t>	#{‘a’, ‘b’, ‘c’}</a:t>
            </a:r>
          </a:p>
          <a:p>
            <a:pPr marL="0" indent="0">
              <a:buNone/>
            </a:pPr>
            <a:r>
              <a:rPr lang="en-US" sz="2000" b="1" dirty="0">
                <a:cs typeface="Times New Roman" panose="02020603050405020304" pitchFamily="18" charset="0"/>
              </a:rPr>
              <a:t>Note: - </a:t>
            </a:r>
            <a:r>
              <a:rPr lang="en-US" sz="2000" dirty="0">
                <a:cs typeface="Times New Roman" panose="02020603050405020304" pitchFamily="18" charset="0"/>
              </a:rPr>
              <a:t>The &amp; operator only allows you to join sets with sets, and not with other data types like you can with the intersection() method.</a:t>
            </a:r>
            <a:endParaRPr lang="en-US" sz="2000" b="1" dirty="0">
              <a:cs typeface="Times New Roman" panose="02020603050405020304" pitchFamily="18" charset="0"/>
            </a:endParaRPr>
          </a:p>
        </p:txBody>
      </p:sp>
    </p:spTree>
    <p:extLst>
      <p:ext uri="{BB962C8B-B14F-4D97-AF65-F5344CB8AC3E}">
        <p14:creationId xmlns:p14="http://schemas.microsoft.com/office/powerpoint/2010/main" val="332760380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E2AD208-3F3A-F29C-F0B8-91BA77823E6B}"/>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214E9591-5654-B13E-D73D-7802EB2EA6A6}"/>
              </a:ext>
            </a:extLst>
          </p:cNvPr>
          <p:cNvSpPr txBox="1"/>
          <p:nvPr/>
        </p:nvSpPr>
        <p:spPr>
          <a:xfrm>
            <a:off x="727587" y="753802"/>
            <a:ext cx="10775733" cy="5632311"/>
          </a:xfrm>
          <a:prstGeom prst="rect">
            <a:avLst/>
          </a:prstGeom>
          <a:noFill/>
        </p:spPr>
        <p:txBody>
          <a:bodyPr wrap="square">
            <a:spAutoFit/>
          </a:bodyPr>
          <a:lstStyle/>
          <a:p>
            <a:pPr marL="0" indent="0">
              <a:buNone/>
            </a:pPr>
            <a:r>
              <a:rPr lang="en-IN" sz="2000" b="1" dirty="0">
                <a:solidFill>
                  <a:srgbClr val="FF0000"/>
                </a:solidFill>
                <a:cs typeface="Times New Roman" panose="02020603050405020304" pitchFamily="18" charset="0"/>
              </a:rPr>
              <a:t>DIFFERENCE</a:t>
            </a:r>
          </a:p>
          <a:p>
            <a:pPr marL="0" indent="0">
              <a:buNone/>
            </a:pPr>
            <a:endParaRPr lang="en-IN" sz="2000" b="1" dirty="0">
              <a:solidFill>
                <a:srgbClr val="FF0000"/>
              </a:solidFill>
              <a:cs typeface="Times New Roman" panose="02020603050405020304" pitchFamily="18" charset="0"/>
            </a:endParaRPr>
          </a:p>
          <a:p>
            <a:pPr marL="342900" indent="-342900">
              <a:buFont typeface="Arial" panose="020B0604020202020204" pitchFamily="34" charset="0"/>
              <a:buChar char="•"/>
            </a:pPr>
            <a:r>
              <a:rPr lang="en-IN" sz="2000" dirty="0">
                <a:cs typeface="Times New Roman" panose="02020603050405020304" pitchFamily="18" charset="0"/>
              </a:rPr>
              <a:t>The </a:t>
            </a:r>
            <a:r>
              <a:rPr lang="en-IN" sz="2000" b="1" dirty="0">
                <a:cs typeface="Times New Roman" panose="02020603050405020304" pitchFamily="18" charset="0"/>
              </a:rPr>
              <a:t>difference() </a:t>
            </a:r>
            <a:r>
              <a:rPr lang="en-IN" sz="2000" dirty="0">
                <a:cs typeface="Times New Roman" panose="02020603050405020304" pitchFamily="18" charset="0"/>
              </a:rPr>
              <a:t>method will return a new set that will contain only the items from the first set that are not present in the other set.</a:t>
            </a:r>
          </a:p>
          <a:p>
            <a:pPr marL="0" indent="0">
              <a:buNone/>
            </a:pPr>
            <a:r>
              <a:rPr lang="en-IN" sz="2000" b="1" u="sng" dirty="0">
                <a:cs typeface="Times New Roman" panose="02020603050405020304" pitchFamily="18" charset="0"/>
              </a:rPr>
              <a:t>Example</a:t>
            </a:r>
          </a:p>
          <a:p>
            <a:pPr marL="0" indent="0">
              <a:buNone/>
            </a:pPr>
            <a:r>
              <a:rPr lang="en-IN" sz="2000" dirty="0">
                <a:cs typeface="Times New Roman" panose="02020603050405020304" pitchFamily="18" charset="0"/>
              </a:rPr>
              <a:t>	</a:t>
            </a:r>
            <a:r>
              <a:rPr lang="en-US" sz="2000" dirty="0">
                <a:cs typeface="Times New Roman" panose="02020603050405020304" pitchFamily="18" charset="0"/>
              </a:rPr>
              <a:t>set1 = {"apple", "banana" , "cherry"}</a:t>
            </a:r>
          </a:p>
          <a:p>
            <a:pPr marL="0" indent="0">
              <a:buNone/>
            </a:pPr>
            <a:r>
              <a:rPr lang="en-US" sz="2000" dirty="0">
                <a:cs typeface="Times New Roman" panose="02020603050405020304" pitchFamily="18" charset="0"/>
              </a:rPr>
              <a:t>	set2 = {"google", "</a:t>
            </a:r>
            <a:r>
              <a:rPr lang="en-US" sz="2000" dirty="0" err="1">
                <a:cs typeface="Times New Roman" panose="02020603050405020304" pitchFamily="18" charset="0"/>
              </a:rPr>
              <a:t>microsoft</a:t>
            </a:r>
            <a:r>
              <a:rPr lang="en-US" sz="2000" dirty="0">
                <a:cs typeface="Times New Roman" panose="02020603050405020304" pitchFamily="18" charset="0"/>
              </a:rPr>
              <a:t>", "apple"}</a:t>
            </a:r>
          </a:p>
          <a:p>
            <a:pPr marL="0" indent="0">
              <a:buNone/>
            </a:pPr>
            <a:r>
              <a:rPr lang="en-US" sz="2000" dirty="0">
                <a:cs typeface="Times New Roman" panose="02020603050405020304" pitchFamily="18" charset="0"/>
              </a:rPr>
              <a:t>	set3 = set1.difference(set2)</a:t>
            </a:r>
          </a:p>
          <a:p>
            <a:pPr marL="0" indent="0">
              <a:buNone/>
            </a:pPr>
            <a:r>
              <a:rPr lang="en-US" sz="2000" dirty="0">
                <a:cs typeface="Times New Roman" panose="02020603050405020304" pitchFamily="18" charset="0"/>
              </a:rPr>
              <a:t>	print(set3)</a:t>
            </a:r>
          </a:p>
          <a:p>
            <a:pPr marL="0" indent="0">
              <a:buNone/>
            </a:pPr>
            <a:r>
              <a:rPr lang="en-US" sz="2000" dirty="0">
                <a:cs typeface="Times New Roman" panose="02020603050405020304" pitchFamily="18" charset="0"/>
              </a:rPr>
              <a:t>	#{‘banana’, ‘cherry’}</a:t>
            </a:r>
          </a:p>
          <a:p>
            <a:pPr marL="0" indent="0">
              <a:buNone/>
            </a:pPr>
            <a:endParaRPr lang="en-US" sz="2000" dirty="0">
              <a:cs typeface="Times New Roman" panose="02020603050405020304" pitchFamily="18" charset="0"/>
            </a:endParaRPr>
          </a:p>
          <a:p>
            <a:pPr marL="342900" indent="-342900">
              <a:buFont typeface="Arial" panose="020B0604020202020204" pitchFamily="34" charset="0"/>
              <a:buChar char="•"/>
            </a:pPr>
            <a:r>
              <a:rPr lang="en-IN" sz="2000" dirty="0">
                <a:cs typeface="Times New Roman" panose="02020603050405020304" pitchFamily="18" charset="0"/>
              </a:rPr>
              <a:t>You can use the </a:t>
            </a:r>
            <a:r>
              <a:rPr lang="en-IN" sz="2000" b="1" dirty="0">
                <a:cs typeface="Times New Roman" panose="02020603050405020304" pitchFamily="18" charset="0"/>
              </a:rPr>
              <a:t>– </a:t>
            </a:r>
            <a:r>
              <a:rPr lang="en-IN" sz="2000" dirty="0">
                <a:cs typeface="Times New Roman" panose="02020603050405020304" pitchFamily="18" charset="0"/>
              </a:rPr>
              <a:t>operator instead of the difference() method, and you will get the same result.</a:t>
            </a:r>
          </a:p>
          <a:p>
            <a:pPr marL="0" indent="0">
              <a:buNone/>
            </a:pPr>
            <a:r>
              <a:rPr lang="en-IN" sz="2000" b="1" u="sng" dirty="0">
                <a:cs typeface="Times New Roman" panose="02020603050405020304" pitchFamily="18" charset="0"/>
              </a:rPr>
              <a:t>Example</a:t>
            </a:r>
          </a:p>
          <a:p>
            <a:pPr marL="0" indent="0">
              <a:buNone/>
            </a:pPr>
            <a:r>
              <a:rPr lang="en-IN" sz="2000" dirty="0">
                <a:cs typeface="Times New Roman" panose="02020603050405020304" pitchFamily="18" charset="0"/>
              </a:rPr>
              <a:t>	</a:t>
            </a:r>
            <a:r>
              <a:rPr lang="en-US" sz="2000" dirty="0">
                <a:cs typeface="Times New Roman" panose="02020603050405020304" pitchFamily="18" charset="0"/>
              </a:rPr>
              <a:t>set1 = {"apple", "banana" , "cherry"}</a:t>
            </a:r>
          </a:p>
          <a:p>
            <a:pPr marL="0" indent="0">
              <a:buNone/>
            </a:pPr>
            <a:r>
              <a:rPr lang="en-US" sz="2000" dirty="0">
                <a:cs typeface="Times New Roman" panose="02020603050405020304" pitchFamily="18" charset="0"/>
              </a:rPr>
              <a:t>	set2 = {"google", "</a:t>
            </a:r>
            <a:r>
              <a:rPr lang="en-US" sz="2000" dirty="0" err="1">
                <a:cs typeface="Times New Roman" panose="02020603050405020304" pitchFamily="18" charset="0"/>
              </a:rPr>
              <a:t>microsoft</a:t>
            </a:r>
            <a:r>
              <a:rPr lang="en-US" sz="2000" dirty="0">
                <a:cs typeface="Times New Roman" panose="02020603050405020304" pitchFamily="18" charset="0"/>
              </a:rPr>
              <a:t>", "apple"}</a:t>
            </a:r>
          </a:p>
          <a:p>
            <a:pPr marL="0" indent="0">
              <a:buNone/>
            </a:pPr>
            <a:r>
              <a:rPr lang="en-US" sz="2000" dirty="0">
                <a:cs typeface="Times New Roman" panose="02020603050405020304" pitchFamily="18" charset="0"/>
              </a:rPr>
              <a:t>	set3 = set1 - set2</a:t>
            </a:r>
          </a:p>
          <a:p>
            <a:pPr marL="0" indent="0">
              <a:buNone/>
            </a:pPr>
            <a:r>
              <a:rPr lang="en-US" sz="2000" dirty="0">
                <a:cs typeface="Times New Roman" panose="02020603050405020304" pitchFamily="18" charset="0"/>
              </a:rPr>
              <a:t>	print(set3)</a:t>
            </a:r>
          </a:p>
          <a:p>
            <a:pPr marL="0" indent="0">
              <a:buNone/>
            </a:pPr>
            <a:r>
              <a:rPr lang="en-US" sz="2000" dirty="0">
                <a:cs typeface="Times New Roman" panose="02020603050405020304" pitchFamily="18" charset="0"/>
              </a:rPr>
              <a:t>	#{‘banana’, ‘cherry’}</a:t>
            </a:r>
          </a:p>
        </p:txBody>
      </p:sp>
    </p:spTree>
    <p:extLst>
      <p:ext uri="{BB962C8B-B14F-4D97-AF65-F5344CB8AC3E}">
        <p14:creationId xmlns:p14="http://schemas.microsoft.com/office/powerpoint/2010/main" val="378077003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130D70-8060-3670-429F-CA688F28E765}"/>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0FCE8C97-12CA-160D-874D-8713D70DE59F}"/>
              </a:ext>
            </a:extLst>
          </p:cNvPr>
          <p:cNvSpPr txBox="1"/>
          <p:nvPr/>
        </p:nvSpPr>
        <p:spPr>
          <a:xfrm>
            <a:off x="717755" y="353961"/>
            <a:ext cx="10785565" cy="5632311"/>
          </a:xfrm>
          <a:prstGeom prst="rect">
            <a:avLst/>
          </a:prstGeom>
          <a:noFill/>
        </p:spPr>
        <p:txBody>
          <a:bodyPr wrap="square">
            <a:spAutoFit/>
          </a:bodyPr>
          <a:lstStyle/>
          <a:p>
            <a:pPr marL="0" indent="0">
              <a:buNone/>
            </a:pPr>
            <a:r>
              <a:rPr lang="en-IN" sz="2000" b="1" dirty="0">
                <a:solidFill>
                  <a:srgbClr val="FF0000"/>
                </a:solidFill>
                <a:cs typeface="Times New Roman" panose="02020603050405020304" pitchFamily="18" charset="0"/>
              </a:rPr>
              <a:t>SYMMETRIC DIFFERENCES</a:t>
            </a:r>
          </a:p>
          <a:p>
            <a:pPr marL="0" indent="0">
              <a:buNone/>
            </a:pPr>
            <a:endParaRPr lang="en-IN" sz="2000" b="1" dirty="0">
              <a:solidFill>
                <a:srgbClr val="FF0000"/>
              </a:solidFill>
              <a:cs typeface="Times New Roman" panose="02020603050405020304" pitchFamily="18" charset="0"/>
            </a:endParaRPr>
          </a:p>
          <a:p>
            <a:pPr marL="342900" indent="-342900">
              <a:buFont typeface="Arial" panose="020B0604020202020204" pitchFamily="34" charset="0"/>
              <a:buChar char="•"/>
            </a:pPr>
            <a:r>
              <a:rPr lang="en-IN" sz="2000" dirty="0">
                <a:cs typeface="Times New Roman" panose="02020603050405020304" pitchFamily="18" charset="0"/>
              </a:rPr>
              <a:t>The </a:t>
            </a:r>
            <a:r>
              <a:rPr lang="en-IN" sz="2000" b="1" dirty="0" err="1">
                <a:cs typeface="Times New Roman" panose="02020603050405020304" pitchFamily="18" charset="0"/>
              </a:rPr>
              <a:t>symmetric_difference</a:t>
            </a:r>
            <a:r>
              <a:rPr lang="en-IN" sz="2000" b="1" dirty="0">
                <a:cs typeface="Times New Roman" panose="02020603050405020304" pitchFamily="18" charset="0"/>
              </a:rPr>
              <a:t>() </a:t>
            </a:r>
            <a:r>
              <a:rPr lang="en-IN" sz="2000" dirty="0">
                <a:cs typeface="Times New Roman" panose="02020603050405020304" pitchFamily="18" charset="0"/>
              </a:rPr>
              <a:t>method will keep only the elements that are NOT present in both sets.</a:t>
            </a:r>
          </a:p>
          <a:p>
            <a:pPr marL="0" indent="0">
              <a:buNone/>
            </a:pPr>
            <a:r>
              <a:rPr lang="en-IN" sz="2000" b="1" u="sng" dirty="0">
                <a:cs typeface="Times New Roman" panose="02020603050405020304" pitchFamily="18" charset="0"/>
              </a:rPr>
              <a:t>Example</a:t>
            </a:r>
          </a:p>
          <a:p>
            <a:pPr marL="0" indent="0">
              <a:buNone/>
            </a:pPr>
            <a:r>
              <a:rPr lang="en-IN" sz="2000" dirty="0">
                <a:cs typeface="Times New Roman" panose="02020603050405020304" pitchFamily="18" charset="0"/>
              </a:rPr>
              <a:t>	</a:t>
            </a:r>
            <a:r>
              <a:rPr lang="en-US" sz="2000" dirty="0">
                <a:cs typeface="Times New Roman" panose="02020603050405020304" pitchFamily="18" charset="0"/>
              </a:rPr>
              <a:t>set1 = {"apple", "banana" , "cherry"}</a:t>
            </a:r>
          </a:p>
          <a:p>
            <a:pPr marL="0" indent="0">
              <a:buNone/>
            </a:pPr>
            <a:r>
              <a:rPr lang="en-US" sz="2000" dirty="0">
                <a:cs typeface="Times New Roman" panose="02020603050405020304" pitchFamily="18" charset="0"/>
              </a:rPr>
              <a:t>	set2 = {"google", "</a:t>
            </a:r>
            <a:r>
              <a:rPr lang="en-US" sz="2000" dirty="0" err="1">
                <a:cs typeface="Times New Roman" panose="02020603050405020304" pitchFamily="18" charset="0"/>
              </a:rPr>
              <a:t>microsoft</a:t>
            </a:r>
            <a:r>
              <a:rPr lang="en-US" sz="2000" dirty="0">
                <a:cs typeface="Times New Roman" panose="02020603050405020304" pitchFamily="18" charset="0"/>
              </a:rPr>
              <a:t>", "apple"}</a:t>
            </a:r>
          </a:p>
          <a:p>
            <a:pPr marL="0" indent="0">
              <a:buNone/>
            </a:pPr>
            <a:r>
              <a:rPr lang="en-US" sz="2000" dirty="0">
                <a:cs typeface="Times New Roman" panose="02020603050405020304" pitchFamily="18" charset="0"/>
              </a:rPr>
              <a:t>	set3 = set1.symmetric_difference(set2)</a:t>
            </a:r>
          </a:p>
          <a:p>
            <a:pPr marL="0" indent="0">
              <a:buNone/>
            </a:pPr>
            <a:r>
              <a:rPr lang="en-US" sz="2000" dirty="0">
                <a:cs typeface="Times New Roman" panose="02020603050405020304" pitchFamily="18" charset="0"/>
              </a:rPr>
              <a:t>	print(set3)</a:t>
            </a:r>
          </a:p>
          <a:p>
            <a:pPr marL="0" indent="0">
              <a:buNone/>
            </a:pPr>
            <a:r>
              <a:rPr lang="en-US" sz="2000" dirty="0">
                <a:cs typeface="Times New Roman" panose="02020603050405020304" pitchFamily="18" charset="0"/>
              </a:rPr>
              <a:t>	#{‘google’, ‘banana’, ‘cherry’, ‘</a:t>
            </a:r>
            <a:r>
              <a:rPr lang="en-US" sz="2000" dirty="0" err="1">
                <a:cs typeface="Times New Roman" panose="02020603050405020304" pitchFamily="18" charset="0"/>
              </a:rPr>
              <a:t>microsoft</a:t>
            </a:r>
            <a:r>
              <a:rPr lang="en-US" sz="2000" dirty="0">
                <a:cs typeface="Times New Roman" panose="02020603050405020304" pitchFamily="18" charset="0"/>
              </a:rPr>
              <a:t>’}</a:t>
            </a:r>
          </a:p>
          <a:p>
            <a:pPr marL="0" indent="0">
              <a:buNone/>
            </a:pPr>
            <a:endParaRPr lang="en-US" sz="2000" dirty="0">
              <a:cs typeface="Times New Roman" panose="02020603050405020304" pitchFamily="18" charset="0"/>
            </a:endParaRPr>
          </a:p>
          <a:p>
            <a:pPr marL="342900" indent="-342900">
              <a:buFont typeface="Arial" panose="020B0604020202020204" pitchFamily="34" charset="0"/>
              <a:buChar char="•"/>
            </a:pPr>
            <a:r>
              <a:rPr lang="en-IN" sz="2000" dirty="0">
                <a:cs typeface="Times New Roman" panose="02020603050405020304" pitchFamily="18" charset="0"/>
              </a:rPr>
              <a:t>You can use the </a:t>
            </a:r>
            <a:r>
              <a:rPr lang="en-IN" sz="2000" b="1" dirty="0">
                <a:cs typeface="Times New Roman" panose="02020603050405020304" pitchFamily="18" charset="0"/>
              </a:rPr>
              <a:t>^ </a:t>
            </a:r>
            <a:r>
              <a:rPr lang="en-IN" sz="2000" dirty="0">
                <a:cs typeface="Times New Roman" panose="02020603050405020304" pitchFamily="18" charset="0"/>
              </a:rPr>
              <a:t>operator instead of the </a:t>
            </a:r>
            <a:r>
              <a:rPr lang="en-IN" sz="2000" dirty="0" err="1">
                <a:cs typeface="Times New Roman" panose="02020603050405020304" pitchFamily="18" charset="0"/>
              </a:rPr>
              <a:t>symmetric_difference</a:t>
            </a:r>
            <a:r>
              <a:rPr lang="en-IN" sz="2000" dirty="0">
                <a:cs typeface="Times New Roman" panose="02020603050405020304" pitchFamily="18" charset="0"/>
              </a:rPr>
              <a:t>() method, and you will get the same result.</a:t>
            </a:r>
          </a:p>
          <a:p>
            <a:pPr marL="0" indent="0">
              <a:buNone/>
            </a:pPr>
            <a:r>
              <a:rPr lang="en-IN" sz="2000" b="1" u="sng" dirty="0">
                <a:cs typeface="Times New Roman" panose="02020603050405020304" pitchFamily="18" charset="0"/>
              </a:rPr>
              <a:t>Example</a:t>
            </a:r>
          </a:p>
          <a:p>
            <a:pPr marL="0" indent="0">
              <a:buNone/>
            </a:pPr>
            <a:r>
              <a:rPr lang="en-IN" sz="2000" dirty="0">
                <a:cs typeface="Times New Roman" panose="02020603050405020304" pitchFamily="18" charset="0"/>
              </a:rPr>
              <a:t>	</a:t>
            </a:r>
            <a:r>
              <a:rPr lang="en-US" sz="2000" dirty="0">
                <a:cs typeface="Times New Roman" panose="02020603050405020304" pitchFamily="18" charset="0"/>
              </a:rPr>
              <a:t>set1 = {"apple", "banana" , "cherry"}</a:t>
            </a:r>
          </a:p>
          <a:p>
            <a:pPr marL="0" indent="0">
              <a:buNone/>
            </a:pPr>
            <a:r>
              <a:rPr lang="en-US" sz="2000" dirty="0">
                <a:cs typeface="Times New Roman" panose="02020603050405020304" pitchFamily="18" charset="0"/>
              </a:rPr>
              <a:t>	set2 = {"google", "</a:t>
            </a:r>
            <a:r>
              <a:rPr lang="en-US" sz="2000" dirty="0" err="1">
                <a:cs typeface="Times New Roman" panose="02020603050405020304" pitchFamily="18" charset="0"/>
              </a:rPr>
              <a:t>microsoft</a:t>
            </a:r>
            <a:r>
              <a:rPr lang="en-US" sz="2000" dirty="0">
                <a:cs typeface="Times New Roman" panose="02020603050405020304" pitchFamily="18" charset="0"/>
              </a:rPr>
              <a:t>", "apple"}</a:t>
            </a:r>
          </a:p>
          <a:p>
            <a:pPr marL="0" indent="0">
              <a:buNone/>
            </a:pPr>
            <a:r>
              <a:rPr lang="en-US" sz="2000" dirty="0">
                <a:cs typeface="Times New Roman" panose="02020603050405020304" pitchFamily="18" charset="0"/>
              </a:rPr>
              <a:t>	set3 = set1 ^ set2</a:t>
            </a:r>
          </a:p>
          <a:p>
            <a:pPr marL="0" indent="0">
              <a:buNone/>
            </a:pPr>
            <a:r>
              <a:rPr lang="en-US" sz="2000" dirty="0">
                <a:cs typeface="Times New Roman" panose="02020603050405020304" pitchFamily="18" charset="0"/>
              </a:rPr>
              <a:t>	print(set3)</a:t>
            </a:r>
          </a:p>
          <a:p>
            <a:pPr marL="0" indent="0">
              <a:buNone/>
            </a:pPr>
            <a:r>
              <a:rPr lang="en-US" sz="2000" dirty="0">
                <a:cs typeface="Times New Roman" panose="02020603050405020304" pitchFamily="18" charset="0"/>
              </a:rPr>
              <a:t>	#{‘google’, ‘banana’, ‘Microsoft’, ‘cherry’}</a:t>
            </a:r>
          </a:p>
        </p:txBody>
      </p:sp>
    </p:spTree>
    <p:extLst>
      <p:ext uri="{BB962C8B-B14F-4D97-AF65-F5344CB8AC3E}">
        <p14:creationId xmlns:p14="http://schemas.microsoft.com/office/powerpoint/2010/main" val="417674384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6799-FCCD-47FC-01B5-C12998B76F0A}"/>
              </a:ext>
            </a:extLst>
          </p:cNvPr>
          <p:cNvSpPr>
            <a:spLocks noGrp="1"/>
          </p:cNvSpPr>
          <p:nvPr>
            <p:ph type="title"/>
          </p:nvPr>
        </p:nvSpPr>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PYTHON DICTIONARIES</a:t>
            </a:r>
          </a:p>
        </p:txBody>
      </p:sp>
      <p:sp>
        <p:nvSpPr>
          <p:cNvPr id="3" name="Content Placeholder 2">
            <a:extLst>
              <a:ext uri="{FF2B5EF4-FFF2-40B4-BE49-F238E27FC236}">
                <a16:creationId xmlns:a16="http://schemas.microsoft.com/office/drawing/2014/main" id="{84E42791-421E-9628-9E42-2D18684EEDC2}"/>
              </a:ext>
            </a:extLst>
          </p:cNvPr>
          <p:cNvSpPr>
            <a:spLocks noGrp="1"/>
          </p:cNvSpPr>
          <p:nvPr>
            <p:ph idx="1"/>
          </p:nvPr>
        </p:nvSpPr>
        <p:spPr>
          <a:xfrm>
            <a:off x="838200" y="1494971"/>
            <a:ext cx="10515600" cy="4997904"/>
          </a:xfrm>
        </p:spPr>
        <p:txBody>
          <a:bodyPr>
            <a:normAutofit fontScale="92500" lnSpcReduction="10000"/>
          </a:bodyPr>
          <a:lstStyle/>
          <a:p>
            <a:pPr marL="0" indent="0">
              <a:buNone/>
            </a:pPr>
            <a:r>
              <a:rPr lang="en-IN" sz="2400" b="1" dirty="0">
                <a:cs typeface="Times New Roman" panose="02020603050405020304" pitchFamily="18" charset="0"/>
              </a:rPr>
              <a:t>Definition: -</a:t>
            </a:r>
          </a:p>
          <a:p>
            <a:pPr marL="0" indent="0" algn="just">
              <a:buNone/>
            </a:pPr>
            <a:r>
              <a:rPr lang="en-IN" sz="2400" b="1" dirty="0">
                <a:cs typeface="Times New Roman" panose="02020603050405020304" pitchFamily="18" charset="0"/>
              </a:rPr>
              <a:t>	</a:t>
            </a:r>
            <a:r>
              <a:rPr lang="en-IN" sz="2400" dirty="0">
                <a:cs typeface="Times New Roman" panose="02020603050405020304" pitchFamily="18" charset="0"/>
              </a:rPr>
              <a:t>A dictionary can be defined as a collection of objects, values or items of different types stored in key-value pair format. These multiple key-value pairs created are enclosed within the curly braces </a:t>
            </a:r>
            <a:r>
              <a:rPr lang="en-IN" sz="2400" b="1" dirty="0">
                <a:cs typeface="Times New Roman" panose="02020603050405020304" pitchFamily="18" charset="0"/>
              </a:rPr>
              <a:t>{ }</a:t>
            </a:r>
            <a:r>
              <a:rPr lang="en-IN" sz="2400" dirty="0">
                <a:cs typeface="Times New Roman" panose="02020603050405020304" pitchFamily="18" charset="0"/>
              </a:rPr>
              <a:t>, and each key is separated from its value by the colon (</a:t>
            </a:r>
            <a:r>
              <a:rPr lang="en-IN" sz="2400" b="1" dirty="0">
                <a:cs typeface="Times New Roman" panose="02020603050405020304" pitchFamily="18" charset="0"/>
              </a:rPr>
              <a:t> : </a:t>
            </a:r>
            <a:r>
              <a:rPr lang="en-IN" sz="2400" dirty="0">
                <a:cs typeface="Times New Roman" panose="02020603050405020304" pitchFamily="18" charset="0"/>
              </a:rPr>
              <a:t>).</a:t>
            </a:r>
          </a:p>
          <a:p>
            <a:pPr marL="0" indent="0" algn="just">
              <a:buNone/>
            </a:pPr>
            <a:endParaRPr lang="en-IN" sz="2400" dirty="0">
              <a:cs typeface="Times New Roman" panose="02020603050405020304" pitchFamily="18" charset="0"/>
            </a:endParaRPr>
          </a:p>
          <a:p>
            <a:pPr marL="0" indent="0" algn="just">
              <a:buNone/>
            </a:pPr>
            <a:r>
              <a:rPr lang="en-IN" sz="2400" b="1" u="sng" dirty="0">
                <a:cs typeface="Times New Roman" panose="02020603050405020304" pitchFamily="18" charset="0"/>
              </a:rPr>
              <a:t>Example</a:t>
            </a:r>
          </a:p>
          <a:p>
            <a:pPr marL="0" indent="0" algn="just">
              <a:buNone/>
            </a:pPr>
            <a:r>
              <a:rPr lang="en-IN" dirty="0">
                <a:cs typeface="Times New Roman" panose="02020603050405020304" pitchFamily="18" charset="0"/>
              </a:rPr>
              <a:t>				</a:t>
            </a:r>
            <a:r>
              <a:rPr lang="en-IN" sz="2200" dirty="0">
                <a:cs typeface="Times New Roman" panose="02020603050405020304" pitchFamily="18" charset="0"/>
              </a:rPr>
              <a:t>            Value</a:t>
            </a:r>
          </a:p>
          <a:p>
            <a:pPr marL="0" indent="0" algn="just">
              <a:buNone/>
            </a:pPr>
            <a:endParaRPr lang="en-IN" dirty="0">
              <a:cs typeface="Times New Roman" panose="02020603050405020304" pitchFamily="18" charset="0"/>
            </a:endParaRPr>
          </a:p>
          <a:p>
            <a:pPr marL="0" indent="0" algn="just">
              <a:buNone/>
            </a:pPr>
            <a:r>
              <a:rPr lang="en-IN" dirty="0">
                <a:cs typeface="Times New Roman" panose="02020603050405020304" pitchFamily="18" charset="0"/>
              </a:rPr>
              <a:t> </a:t>
            </a:r>
          </a:p>
          <a:p>
            <a:pPr marL="0" indent="0" algn="just">
              <a:buNone/>
            </a:pPr>
            <a:r>
              <a:rPr lang="en-IN" dirty="0">
                <a:cs typeface="Times New Roman" panose="02020603050405020304" pitchFamily="18" charset="0"/>
              </a:rPr>
              <a:t>			</a:t>
            </a:r>
          </a:p>
          <a:p>
            <a:pPr marL="0" indent="0" algn="just">
              <a:buNone/>
            </a:pPr>
            <a:endParaRPr lang="en-IN" dirty="0">
              <a:cs typeface="Times New Roman" panose="02020603050405020304" pitchFamily="18" charset="0"/>
            </a:endParaRPr>
          </a:p>
          <a:p>
            <a:pPr marL="0" indent="0" algn="just">
              <a:buNone/>
            </a:pPr>
            <a:r>
              <a:rPr lang="en-IN" dirty="0">
                <a:cs typeface="Times New Roman" panose="02020603050405020304" pitchFamily="18" charset="0"/>
              </a:rPr>
              <a:t>				    </a:t>
            </a:r>
            <a:r>
              <a:rPr lang="en-IN" sz="2200" dirty="0">
                <a:cs typeface="Times New Roman" panose="02020603050405020304" pitchFamily="18" charset="0"/>
              </a:rPr>
              <a:t>Key</a:t>
            </a:r>
          </a:p>
        </p:txBody>
      </p:sp>
      <p:pic>
        <p:nvPicPr>
          <p:cNvPr id="4" name="Picture 3">
            <a:extLst>
              <a:ext uri="{FF2B5EF4-FFF2-40B4-BE49-F238E27FC236}">
                <a16:creationId xmlns:a16="http://schemas.microsoft.com/office/drawing/2014/main" id="{370BFE92-ED4A-D0AA-5A86-EC0BBD43BC2B}"/>
              </a:ext>
            </a:extLst>
          </p:cNvPr>
          <p:cNvPicPr/>
          <p:nvPr/>
        </p:nvPicPr>
        <p:blipFill>
          <a:blip r:embed="rId2" cstate="print"/>
          <a:stretch/>
        </p:blipFill>
        <p:spPr>
          <a:xfrm>
            <a:off x="11503320" y="20605"/>
            <a:ext cx="688680" cy="689040"/>
          </a:xfrm>
          <a:prstGeom prst="rect">
            <a:avLst/>
          </a:prstGeom>
          <a:ln w="0">
            <a:noFill/>
          </a:ln>
        </p:spPr>
      </p:pic>
      <p:sp>
        <p:nvSpPr>
          <p:cNvPr id="5" name="Rectangle: Rounded Corners 4">
            <a:extLst>
              <a:ext uri="{FF2B5EF4-FFF2-40B4-BE49-F238E27FC236}">
                <a16:creationId xmlns:a16="http://schemas.microsoft.com/office/drawing/2014/main" id="{7F078E5A-5EE9-C311-CDF2-32F9EC6A39EE}"/>
              </a:ext>
            </a:extLst>
          </p:cNvPr>
          <p:cNvSpPr/>
          <p:nvPr/>
        </p:nvSpPr>
        <p:spPr>
          <a:xfrm>
            <a:off x="2743198" y="4470400"/>
            <a:ext cx="4194631" cy="754743"/>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2400" b="1" dirty="0">
                <a:latin typeface="Times New Roman" panose="02020603050405020304" pitchFamily="18" charset="0"/>
                <a:cs typeface="Times New Roman" panose="02020603050405020304" pitchFamily="18" charset="0"/>
              </a:rPr>
              <a:t>dict1 = {‘a’ : 1, ‘b’ : 2, ‘c’ : 3} </a:t>
            </a:r>
          </a:p>
        </p:txBody>
      </p:sp>
      <p:cxnSp>
        <p:nvCxnSpPr>
          <p:cNvPr id="7" name="Straight Arrow Connector 6">
            <a:extLst>
              <a:ext uri="{FF2B5EF4-FFF2-40B4-BE49-F238E27FC236}">
                <a16:creationId xmlns:a16="http://schemas.microsoft.com/office/drawing/2014/main" id="{CF966687-D73B-E6B7-BA43-21CF8D3EA6CB}"/>
              </a:ext>
            </a:extLst>
          </p:cNvPr>
          <p:cNvCxnSpPr>
            <a:cxnSpLocks/>
          </p:cNvCxnSpPr>
          <p:nvPr/>
        </p:nvCxnSpPr>
        <p:spPr>
          <a:xfrm>
            <a:off x="5573486" y="4093029"/>
            <a:ext cx="0" cy="60960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13684A6-27A4-D478-7DC9-A652552D90EC}"/>
              </a:ext>
            </a:extLst>
          </p:cNvPr>
          <p:cNvCxnSpPr>
            <a:cxnSpLocks/>
          </p:cNvCxnSpPr>
          <p:nvPr/>
        </p:nvCxnSpPr>
        <p:spPr>
          <a:xfrm flipV="1">
            <a:off x="5065486" y="5036457"/>
            <a:ext cx="0" cy="84323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090155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05FD6-45F7-AF4A-73FF-B383C0415ADE}"/>
              </a:ext>
            </a:extLst>
          </p:cNvPr>
          <p:cNvSpPr>
            <a:spLocks noGrp="1"/>
          </p:cNvSpPr>
          <p:nvPr>
            <p:ph type="title"/>
          </p:nvPr>
        </p:nvSpPr>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Characteristics Of Dictionaries</a:t>
            </a:r>
          </a:p>
        </p:txBody>
      </p:sp>
      <p:pic>
        <p:nvPicPr>
          <p:cNvPr id="4" name="Picture 3">
            <a:extLst>
              <a:ext uri="{FF2B5EF4-FFF2-40B4-BE49-F238E27FC236}">
                <a16:creationId xmlns:a16="http://schemas.microsoft.com/office/drawing/2014/main" id="{EB44BEA9-2C00-A39D-4A4A-33082B3B8FB8}"/>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6B1F487E-C0A4-DAA0-E90F-B30B9177F6EF}"/>
              </a:ext>
            </a:extLst>
          </p:cNvPr>
          <p:cNvSpPr txBox="1"/>
          <p:nvPr/>
        </p:nvSpPr>
        <p:spPr>
          <a:xfrm>
            <a:off x="963561" y="1690689"/>
            <a:ext cx="10539759" cy="2554545"/>
          </a:xfrm>
          <a:prstGeom prst="rect">
            <a:avLst/>
          </a:prstGeom>
          <a:noFill/>
        </p:spPr>
        <p:txBody>
          <a:bodyPr wrap="square">
            <a:spAutoFit/>
          </a:bodyPr>
          <a:lstStyle/>
          <a:p>
            <a:pPr marL="285750" indent="-285750" algn="just">
              <a:buFont typeface="Arial" panose="020B0604020202020204" pitchFamily="34" charset="0"/>
              <a:buChar char="•"/>
            </a:pPr>
            <a:r>
              <a:rPr lang="en-IN" sz="2000" dirty="0">
                <a:cs typeface="Times New Roman" panose="02020603050405020304" pitchFamily="18" charset="0"/>
              </a:rPr>
              <a:t>The dictionaries are </a:t>
            </a:r>
            <a:r>
              <a:rPr lang="en-IN" sz="2000" b="1" dirty="0">
                <a:cs typeface="Times New Roman" panose="02020603050405020304" pitchFamily="18" charset="0"/>
              </a:rPr>
              <a:t>ordered</a:t>
            </a:r>
            <a:r>
              <a:rPr lang="en-IN" sz="2000" dirty="0">
                <a:cs typeface="Times New Roman" panose="02020603050405020304" pitchFamily="18" charset="0"/>
              </a:rPr>
              <a:t>. It means that the items have a defined order, and that order will not change.</a:t>
            </a:r>
          </a:p>
          <a:p>
            <a:pPr marL="285750" indent="-285750" algn="just">
              <a:buFont typeface="Arial" panose="020B0604020202020204" pitchFamily="34" charset="0"/>
              <a:buChar char="•"/>
            </a:pPr>
            <a:r>
              <a:rPr lang="en-IN" sz="2000" dirty="0">
                <a:cs typeface="Times New Roman" panose="02020603050405020304" pitchFamily="18" charset="0"/>
              </a:rPr>
              <a:t>Elements of the dictionaries cannot be accessed by index.</a:t>
            </a:r>
          </a:p>
          <a:p>
            <a:pPr marL="285750" indent="-285750" algn="just">
              <a:buFont typeface="Arial" panose="020B0604020202020204" pitchFamily="34" charset="0"/>
              <a:buChar char="•"/>
            </a:pPr>
            <a:r>
              <a:rPr lang="en-IN" sz="2000" dirty="0">
                <a:cs typeface="Times New Roman" panose="02020603050405020304" pitchFamily="18" charset="0"/>
              </a:rPr>
              <a:t>Dictionaries can store various types of elements.</a:t>
            </a:r>
          </a:p>
          <a:p>
            <a:pPr marL="285750" indent="-285750" algn="just">
              <a:buFont typeface="Arial" panose="020B0604020202020204" pitchFamily="34" charset="0"/>
              <a:buChar char="•"/>
            </a:pPr>
            <a:r>
              <a:rPr lang="en-IN" sz="2000" dirty="0">
                <a:cs typeface="Times New Roman" panose="02020603050405020304" pitchFamily="18" charset="0"/>
              </a:rPr>
              <a:t>Dictionaries are </a:t>
            </a:r>
            <a:r>
              <a:rPr lang="en-IN" sz="2000" b="1" dirty="0">
                <a:cs typeface="Times New Roman" panose="02020603050405020304" pitchFamily="18" charset="0"/>
              </a:rPr>
              <a:t>mutable</a:t>
            </a:r>
            <a:r>
              <a:rPr lang="en-IN" sz="2000" dirty="0">
                <a:cs typeface="Times New Roman" panose="02020603050405020304" pitchFamily="18" charset="0"/>
              </a:rPr>
              <a:t> or </a:t>
            </a:r>
            <a:r>
              <a:rPr lang="en-IN" sz="2000" b="1" dirty="0">
                <a:cs typeface="Times New Roman" panose="02020603050405020304" pitchFamily="18" charset="0"/>
              </a:rPr>
              <a:t>changeable</a:t>
            </a:r>
            <a:r>
              <a:rPr lang="en-IN" sz="2000" dirty="0">
                <a:cs typeface="Times New Roman" panose="02020603050405020304" pitchFamily="18" charset="0"/>
              </a:rPr>
              <a:t>. It means that we can change, add or remove items after the dictionary has been created.</a:t>
            </a:r>
          </a:p>
          <a:p>
            <a:pPr marL="285750" indent="-285750" algn="just">
              <a:buFont typeface="Arial" panose="020B0604020202020204" pitchFamily="34" charset="0"/>
              <a:buChar char="•"/>
            </a:pPr>
            <a:r>
              <a:rPr lang="en-IN" sz="2000" dirty="0">
                <a:cs typeface="Times New Roman" panose="02020603050405020304" pitchFamily="18" charset="0"/>
              </a:rPr>
              <a:t>Dictionaries do not allow duplicate elements. Meaning that dictionaries cannot have two items with the same key.</a:t>
            </a:r>
          </a:p>
        </p:txBody>
      </p:sp>
    </p:spTree>
    <p:extLst>
      <p:ext uri="{BB962C8B-B14F-4D97-AF65-F5344CB8AC3E}">
        <p14:creationId xmlns:p14="http://schemas.microsoft.com/office/powerpoint/2010/main" val="139333415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553F89-AFF6-40CC-5D46-C2182C705862}"/>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7D0757E9-FF5B-AAB9-23F3-27E14C9CC8BF}"/>
              </a:ext>
            </a:extLst>
          </p:cNvPr>
          <p:cNvSpPr txBox="1"/>
          <p:nvPr/>
        </p:nvSpPr>
        <p:spPr>
          <a:xfrm>
            <a:off x="491613" y="619432"/>
            <a:ext cx="10304206" cy="3170099"/>
          </a:xfrm>
          <a:prstGeom prst="rect">
            <a:avLst/>
          </a:prstGeom>
          <a:noFill/>
        </p:spPr>
        <p:txBody>
          <a:bodyPr wrap="square">
            <a:spAutoFit/>
          </a:bodyPr>
          <a:lstStyle/>
          <a:p>
            <a:pPr marL="0" indent="0" algn="just">
              <a:buNone/>
            </a:pPr>
            <a:r>
              <a:rPr lang="en-IN" sz="2000" b="1" dirty="0">
                <a:cs typeface="Times New Roman" panose="02020603050405020304" pitchFamily="18" charset="0"/>
              </a:rPr>
              <a:t>DICTIONARY LENGTH: -</a:t>
            </a:r>
            <a:r>
              <a:rPr lang="en-IN" sz="2000" dirty="0">
                <a:cs typeface="Times New Roman" panose="02020603050405020304" pitchFamily="18" charset="0"/>
              </a:rPr>
              <a:t> To determine how many items a dictionary has, use the </a:t>
            </a:r>
            <a:r>
              <a:rPr lang="en-IN" sz="2000" b="1" dirty="0">
                <a:cs typeface="Times New Roman" panose="02020603050405020304" pitchFamily="18" charset="0"/>
              </a:rPr>
              <a:t>len() </a:t>
            </a:r>
            <a:r>
              <a:rPr lang="en-IN" sz="2000" dirty="0">
                <a:cs typeface="Times New Roman" panose="02020603050405020304" pitchFamily="18" charset="0"/>
              </a:rPr>
              <a:t>function.</a:t>
            </a:r>
          </a:p>
          <a:p>
            <a:pPr marL="0" indent="0" algn="just">
              <a:buNone/>
            </a:pPr>
            <a:endParaRPr lang="en-IN" sz="2000" b="1" dirty="0">
              <a:cs typeface="Times New Roman" panose="02020603050405020304" pitchFamily="18" charset="0"/>
            </a:endParaRPr>
          </a:p>
          <a:p>
            <a:pPr marL="0" indent="0" algn="just">
              <a:buNone/>
            </a:pPr>
            <a:r>
              <a:rPr lang="en-IN" sz="2000" b="1" u="sng" dirty="0">
                <a:cs typeface="Times New Roman" panose="02020603050405020304" pitchFamily="18" charset="0"/>
              </a:rPr>
              <a:t>Example</a:t>
            </a:r>
          </a:p>
          <a:p>
            <a:pPr marL="0" indent="0" algn="just">
              <a:buNone/>
            </a:pPr>
            <a:r>
              <a:rPr lang="en-US" sz="2000" dirty="0">
                <a:cs typeface="Times New Roman" panose="02020603050405020304" pitchFamily="18" charset="0"/>
              </a:rPr>
              <a:t>	</a:t>
            </a:r>
            <a:r>
              <a:rPr lang="en-US" sz="2000" dirty="0" err="1">
                <a:cs typeface="Times New Roman" panose="02020603050405020304" pitchFamily="18" charset="0"/>
              </a:rPr>
              <a:t>thisdict</a:t>
            </a:r>
            <a:r>
              <a:rPr lang="en-US" sz="2000" dirty="0">
                <a:cs typeface="Times New Roman" panose="02020603050405020304" pitchFamily="18" charset="0"/>
              </a:rPr>
              <a:t> = {"brand": "Ford", "model": "Mustang", "year": 1964,  "year": 2020}</a:t>
            </a:r>
          </a:p>
          <a:p>
            <a:pPr marL="0" indent="0" algn="just">
              <a:buNone/>
            </a:pPr>
            <a:r>
              <a:rPr lang="en-US" sz="2000" dirty="0">
                <a:cs typeface="Times New Roman" panose="02020603050405020304" pitchFamily="18" charset="0"/>
              </a:rPr>
              <a:t>	print(len(</a:t>
            </a:r>
            <a:r>
              <a:rPr lang="en-US" sz="2000" dirty="0" err="1">
                <a:cs typeface="Times New Roman" panose="02020603050405020304" pitchFamily="18" charset="0"/>
              </a:rPr>
              <a:t>thisdict</a:t>
            </a:r>
            <a:r>
              <a:rPr lang="en-US" sz="2000" dirty="0">
                <a:cs typeface="Times New Roman" panose="02020603050405020304" pitchFamily="18" charset="0"/>
              </a:rPr>
              <a:t>)) </a:t>
            </a:r>
          </a:p>
          <a:p>
            <a:pPr marL="0" indent="0" algn="just">
              <a:buNone/>
            </a:pPr>
            <a:endParaRPr lang="en-US" sz="2000" dirty="0">
              <a:cs typeface="Times New Roman" panose="02020603050405020304" pitchFamily="18" charset="0"/>
            </a:endParaRPr>
          </a:p>
          <a:p>
            <a:pPr marL="0" indent="0" algn="just">
              <a:buNone/>
            </a:pPr>
            <a:r>
              <a:rPr lang="en-US" sz="2000" b="1" dirty="0">
                <a:cs typeface="Times New Roman" panose="02020603050405020304" pitchFamily="18" charset="0"/>
              </a:rPr>
              <a:t>type() – </a:t>
            </a:r>
            <a:r>
              <a:rPr lang="en-US" sz="2000" dirty="0">
                <a:cs typeface="Times New Roman" panose="02020603050405020304" pitchFamily="18" charset="0"/>
              </a:rPr>
              <a:t>Dictionaries are defined as objects with the data type ‘</a:t>
            </a:r>
            <a:r>
              <a:rPr lang="en-US" sz="2000" dirty="0" err="1">
                <a:cs typeface="Times New Roman" panose="02020603050405020304" pitchFamily="18" charset="0"/>
              </a:rPr>
              <a:t>dict</a:t>
            </a:r>
            <a:r>
              <a:rPr lang="en-US" sz="2000" dirty="0">
                <a:cs typeface="Times New Roman" panose="02020603050405020304" pitchFamily="18" charset="0"/>
              </a:rPr>
              <a:t>’.</a:t>
            </a:r>
          </a:p>
          <a:p>
            <a:pPr marL="0" indent="0" algn="just">
              <a:buNone/>
            </a:pPr>
            <a:r>
              <a:rPr lang="en-US" sz="2000" b="1" u="sng" dirty="0">
                <a:cs typeface="Times New Roman" panose="02020603050405020304" pitchFamily="18" charset="0"/>
              </a:rPr>
              <a:t>Example</a:t>
            </a:r>
            <a:r>
              <a:rPr lang="en-US" sz="2000" b="1" dirty="0">
                <a:cs typeface="Times New Roman" panose="02020603050405020304" pitchFamily="18" charset="0"/>
              </a:rPr>
              <a:t> </a:t>
            </a:r>
          </a:p>
          <a:p>
            <a:pPr marL="0" indent="0" algn="just">
              <a:buNone/>
            </a:pPr>
            <a:r>
              <a:rPr lang="en-US" sz="2000" dirty="0">
                <a:cs typeface="Times New Roman" panose="02020603050405020304" pitchFamily="18" charset="0"/>
              </a:rPr>
              <a:t>	</a:t>
            </a:r>
            <a:r>
              <a:rPr lang="en-US" sz="2000" dirty="0" err="1">
                <a:cs typeface="Times New Roman" panose="02020603050405020304" pitchFamily="18" charset="0"/>
              </a:rPr>
              <a:t>thisdict</a:t>
            </a:r>
            <a:r>
              <a:rPr lang="en-US" sz="2000" dirty="0">
                <a:cs typeface="Times New Roman" panose="02020603050405020304" pitchFamily="18" charset="0"/>
              </a:rPr>
              <a:t> = {"brand": "Ford", "model": "Mustang", "year": 1964}</a:t>
            </a:r>
          </a:p>
          <a:p>
            <a:pPr marL="0" indent="0" algn="just">
              <a:buNone/>
            </a:pPr>
            <a:r>
              <a:rPr lang="en-US" sz="2000" dirty="0">
                <a:cs typeface="Times New Roman" panose="02020603050405020304" pitchFamily="18" charset="0"/>
              </a:rPr>
              <a:t>	print(type(</a:t>
            </a:r>
            <a:r>
              <a:rPr lang="en-US" sz="2000" dirty="0" err="1">
                <a:cs typeface="Times New Roman" panose="02020603050405020304" pitchFamily="18" charset="0"/>
              </a:rPr>
              <a:t>thisdict</a:t>
            </a:r>
            <a:r>
              <a:rPr lang="en-US" sz="2000" dirty="0">
                <a:cs typeface="Times New Roman" panose="02020603050405020304" pitchFamily="18" charset="0"/>
              </a:rPr>
              <a:t>)) 		#&lt;class ‘</a:t>
            </a:r>
            <a:r>
              <a:rPr lang="en-US" sz="2000" dirty="0" err="1">
                <a:cs typeface="Times New Roman" panose="02020603050405020304" pitchFamily="18" charset="0"/>
              </a:rPr>
              <a:t>dict</a:t>
            </a:r>
            <a:r>
              <a:rPr lang="en-US" sz="2000" dirty="0">
                <a:cs typeface="Times New Roman" panose="02020603050405020304" pitchFamily="18" charset="0"/>
              </a:rPr>
              <a:t>’&gt;</a:t>
            </a:r>
          </a:p>
        </p:txBody>
      </p:sp>
    </p:spTree>
    <p:extLst>
      <p:ext uri="{BB962C8B-B14F-4D97-AF65-F5344CB8AC3E}">
        <p14:creationId xmlns:p14="http://schemas.microsoft.com/office/powerpoint/2010/main" val="101023063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452F1-75ED-FAC9-6BED-F6EADB5FA7C0}"/>
              </a:ext>
            </a:extLst>
          </p:cNvPr>
          <p:cNvSpPr>
            <a:spLocks noGrp="1"/>
          </p:cNvSpPr>
          <p:nvPr>
            <p:ph type="title"/>
          </p:nvPr>
        </p:nvSpPr>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Access Dictionary Items</a:t>
            </a:r>
          </a:p>
        </p:txBody>
      </p:sp>
      <p:pic>
        <p:nvPicPr>
          <p:cNvPr id="4" name="Picture 3">
            <a:extLst>
              <a:ext uri="{FF2B5EF4-FFF2-40B4-BE49-F238E27FC236}">
                <a16:creationId xmlns:a16="http://schemas.microsoft.com/office/drawing/2014/main" id="{CC578BEC-A13F-6405-815F-5C7D543D5E6A}"/>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D1FF06E2-08A2-0232-5435-6C01CBA862AF}"/>
              </a:ext>
            </a:extLst>
          </p:cNvPr>
          <p:cNvSpPr txBox="1"/>
          <p:nvPr/>
        </p:nvSpPr>
        <p:spPr>
          <a:xfrm>
            <a:off x="963561" y="1690688"/>
            <a:ext cx="9733936" cy="3785652"/>
          </a:xfrm>
          <a:prstGeom prst="rect">
            <a:avLst/>
          </a:prstGeom>
          <a:noFill/>
        </p:spPr>
        <p:txBody>
          <a:bodyPr wrap="square">
            <a:spAutoFit/>
          </a:bodyPr>
          <a:lstStyle/>
          <a:p>
            <a:pPr marL="0" indent="0">
              <a:buNone/>
            </a:pPr>
            <a:r>
              <a:rPr lang="en-US" sz="2000" b="0" i="0" dirty="0">
                <a:solidFill>
                  <a:srgbClr val="000000"/>
                </a:solidFill>
                <a:effectLst/>
                <a:cs typeface="Times New Roman" panose="02020603050405020304" pitchFamily="18" charset="0"/>
              </a:rPr>
              <a:t>You can access the items of a dictionary by referring to its key name, inside square brackets.</a:t>
            </a:r>
          </a:p>
          <a:p>
            <a:pPr marL="0" indent="0">
              <a:buNone/>
            </a:pPr>
            <a:r>
              <a:rPr lang="en-US" sz="2000" b="1" dirty="0">
                <a:solidFill>
                  <a:srgbClr val="000000"/>
                </a:solidFill>
                <a:cs typeface="Times New Roman" panose="02020603050405020304" pitchFamily="18" charset="0"/>
              </a:rPr>
              <a:t>Example</a:t>
            </a:r>
          </a:p>
          <a:p>
            <a:pPr marL="0" indent="0">
              <a:buNone/>
            </a:pPr>
            <a:r>
              <a:rPr lang="en-US" sz="2000" b="1" dirty="0">
                <a:solidFill>
                  <a:srgbClr val="000000"/>
                </a:solidFill>
                <a:cs typeface="Times New Roman" panose="02020603050405020304" pitchFamily="18" charset="0"/>
              </a:rPr>
              <a:t>	</a:t>
            </a:r>
            <a:r>
              <a:rPr lang="en-US" sz="2000" dirty="0">
                <a:solidFill>
                  <a:srgbClr val="000000"/>
                </a:solidFill>
                <a:cs typeface="Times New Roman" panose="02020603050405020304" pitchFamily="18" charset="0"/>
              </a:rPr>
              <a:t>dict1 = {“brand”: “Ford”, “model”: “Mustang”, “year”:1964}</a:t>
            </a:r>
          </a:p>
          <a:p>
            <a:pPr marL="0" indent="0">
              <a:buNone/>
            </a:pPr>
            <a:r>
              <a:rPr lang="en-US" sz="2000" b="1" dirty="0">
                <a:solidFill>
                  <a:srgbClr val="000000"/>
                </a:solidFill>
                <a:cs typeface="Times New Roman" panose="02020603050405020304" pitchFamily="18" charset="0"/>
              </a:rPr>
              <a:t>	</a:t>
            </a:r>
            <a:r>
              <a:rPr lang="en-US" sz="2000" dirty="0">
                <a:solidFill>
                  <a:srgbClr val="000000"/>
                </a:solidFill>
                <a:cs typeface="Times New Roman" panose="02020603050405020304" pitchFamily="18" charset="0"/>
              </a:rPr>
              <a:t>x = dict1[“year”]</a:t>
            </a:r>
          </a:p>
          <a:p>
            <a:pPr marL="0" indent="0">
              <a:buNone/>
            </a:pPr>
            <a:r>
              <a:rPr lang="en-US" sz="2000" b="1" dirty="0">
                <a:solidFill>
                  <a:srgbClr val="000000"/>
                </a:solidFill>
                <a:cs typeface="Times New Roman" panose="02020603050405020304" pitchFamily="18" charset="0"/>
              </a:rPr>
              <a:t>	</a:t>
            </a:r>
            <a:r>
              <a:rPr lang="en-US" sz="2000" dirty="0">
                <a:solidFill>
                  <a:srgbClr val="000000"/>
                </a:solidFill>
                <a:cs typeface="Times New Roman" panose="02020603050405020304" pitchFamily="18" charset="0"/>
              </a:rPr>
              <a:t>print(x)			#1964</a:t>
            </a:r>
          </a:p>
          <a:p>
            <a:pPr marL="0" indent="0">
              <a:buNone/>
            </a:pPr>
            <a:endParaRPr lang="en-US" sz="2000" b="1" dirty="0">
              <a:solidFill>
                <a:srgbClr val="000000"/>
              </a:solidFill>
              <a:cs typeface="Times New Roman" panose="02020603050405020304" pitchFamily="18" charset="0"/>
            </a:endParaRPr>
          </a:p>
          <a:p>
            <a:pPr marL="0" indent="0">
              <a:buNone/>
            </a:pPr>
            <a:r>
              <a:rPr lang="en-IN" sz="2000" dirty="0">
                <a:cs typeface="Times New Roman" panose="02020603050405020304" pitchFamily="18" charset="0"/>
              </a:rPr>
              <a:t>There is also a method called </a:t>
            </a:r>
            <a:r>
              <a:rPr lang="en-IN" sz="2000" b="1" dirty="0">
                <a:cs typeface="Times New Roman" panose="02020603050405020304" pitchFamily="18" charset="0"/>
              </a:rPr>
              <a:t>get() </a:t>
            </a:r>
            <a:r>
              <a:rPr lang="en-IN" sz="2000" dirty="0">
                <a:cs typeface="Times New Roman" panose="02020603050405020304" pitchFamily="18" charset="0"/>
              </a:rPr>
              <a:t>that will give you the same result.</a:t>
            </a:r>
          </a:p>
          <a:p>
            <a:pPr marL="0" indent="0">
              <a:buNone/>
            </a:pPr>
            <a:r>
              <a:rPr lang="en-IN" sz="2000" b="1" dirty="0">
                <a:cs typeface="Times New Roman" panose="02020603050405020304" pitchFamily="18" charset="0"/>
              </a:rPr>
              <a:t>Example</a:t>
            </a:r>
          </a:p>
          <a:p>
            <a:pPr marL="0" indent="0">
              <a:buNone/>
            </a:pPr>
            <a:r>
              <a:rPr lang="en-IN" sz="2000" dirty="0">
                <a:cs typeface="Times New Roman" panose="02020603050405020304" pitchFamily="18" charset="0"/>
              </a:rPr>
              <a:t>	</a:t>
            </a:r>
            <a:r>
              <a:rPr lang="en-US" sz="2000" dirty="0">
                <a:solidFill>
                  <a:srgbClr val="000000"/>
                </a:solidFill>
                <a:cs typeface="Times New Roman" panose="02020603050405020304" pitchFamily="18" charset="0"/>
              </a:rPr>
              <a:t>dict1 = {“brand”: “Ford”, “model”: “Mustang”, “year”:1964}</a:t>
            </a:r>
          </a:p>
          <a:p>
            <a:pPr marL="0" indent="0">
              <a:buNone/>
            </a:pPr>
            <a:r>
              <a:rPr lang="en-US" sz="2000" b="1" dirty="0">
                <a:solidFill>
                  <a:srgbClr val="000000"/>
                </a:solidFill>
                <a:cs typeface="Times New Roman" panose="02020603050405020304" pitchFamily="18" charset="0"/>
              </a:rPr>
              <a:t>	</a:t>
            </a:r>
            <a:r>
              <a:rPr lang="en-US" sz="2000" dirty="0">
                <a:solidFill>
                  <a:srgbClr val="000000"/>
                </a:solidFill>
                <a:cs typeface="Times New Roman" panose="02020603050405020304" pitchFamily="18" charset="0"/>
              </a:rPr>
              <a:t>x = dict1.get(“year”)</a:t>
            </a:r>
          </a:p>
          <a:p>
            <a:pPr marL="0" indent="0">
              <a:buNone/>
            </a:pPr>
            <a:r>
              <a:rPr lang="en-US" sz="2000" b="1" dirty="0">
                <a:solidFill>
                  <a:srgbClr val="000000"/>
                </a:solidFill>
                <a:cs typeface="Times New Roman" panose="02020603050405020304" pitchFamily="18" charset="0"/>
              </a:rPr>
              <a:t>	</a:t>
            </a:r>
            <a:r>
              <a:rPr lang="en-US" sz="2000" dirty="0">
                <a:solidFill>
                  <a:srgbClr val="000000"/>
                </a:solidFill>
                <a:cs typeface="Times New Roman" panose="02020603050405020304" pitchFamily="18" charset="0"/>
              </a:rPr>
              <a:t>print(x)			#1964</a:t>
            </a:r>
          </a:p>
          <a:p>
            <a:pPr marL="0" indent="0">
              <a:buNone/>
            </a:pPr>
            <a:endParaRPr lang="en-IN" sz="2000" dirty="0">
              <a:cs typeface="Times New Roman" panose="02020603050405020304" pitchFamily="18" charset="0"/>
            </a:endParaRPr>
          </a:p>
        </p:txBody>
      </p:sp>
    </p:spTree>
    <p:extLst>
      <p:ext uri="{BB962C8B-B14F-4D97-AF65-F5344CB8AC3E}">
        <p14:creationId xmlns:p14="http://schemas.microsoft.com/office/powerpoint/2010/main" val="155596702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CA29B8-648F-03DD-3A3F-5287A9392BD7}"/>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A79037C1-105B-CF21-EE93-ADC2A33760D8}"/>
              </a:ext>
            </a:extLst>
          </p:cNvPr>
          <p:cNvSpPr txBox="1"/>
          <p:nvPr/>
        </p:nvSpPr>
        <p:spPr>
          <a:xfrm>
            <a:off x="727587" y="835742"/>
            <a:ext cx="10205884" cy="4093428"/>
          </a:xfrm>
          <a:prstGeom prst="rect">
            <a:avLst/>
          </a:prstGeom>
          <a:noFill/>
        </p:spPr>
        <p:txBody>
          <a:bodyPr wrap="square">
            <a:spAutoFit/>
          </a:bodyPr>
          <a:lstStyle/>
          <a:p>
            <a:r>
              <a:rPr lang="en-IN" sz="2000" b="1" dirty="0">
                <a:cs typeface="Times New Roman" panose="02020603050405020304" pitchFamily="18" charset="0"/>
              </a:rPr>
              <a:t>GET KEYS: - </a:t>
            </a:r>
            <a:r>
              <a:rPr lang="en-IN" sz="2000" dirty="0">
                <a:cs typeface="Times New Roman" panose="02020603050405020304" pitchFamily="18" charset="0"/>
              </a:rPr>
              <a:t>The </a:t>
            </a:r>
            <a:r>
              <a:rPr lang="en-IN" sz="2000" b="1" dirty="0">
                <a:cs typeface="Times New Roman" panose="02020603050405020304" pitchFamily="18" charset="0"/>
              </a:rPr>
              <a:t>keys() </a:t>
            </a:r>
            <a:r>
              <a:rPr lang="en-IN" sz="2000" dirty="0">
                <a:cs typeface="Times New Roman" panose="02020603050405020304" pitchFamily="18" charset="0"/>
              </a:rPr>
              <a:t>method will return a list of all keys in the dictionary.</a:t>
            </a:r>
          </a:p>
          <a:p>
            <a:r>
              <a:rPr lang="en-IN" sz="2000" b="1" dirty="0">
                <a:cs typeface="Times New Roman" panose="02020603050405020304" pitchFamily="18" charset="0"/>
              </a:rPr>
              <a:t>GET VALUES: -</a:t>
            </a:r>
            <a:r>
              <a:rPr lang="en-IN" sz="2000" dirty="0">
                <a:cs typeface="Times New Roman" panose="02020603050405020304" pitchFamily="18" charset="0"/>
              </a:rPr>
              <a:t>The </a:t>
            </a:r>
            <a:r>
              <a:rPr lang="en-IN" sz="2000" b="1" dirty="0">
                <a:cs typeface="Times New Roman" panose="02020603050405020304" pitchFamily="18" charset="0"/>
              </a:rPr>
              <a:t>values() </a:t>
            </a:r>
            <a:r>
              <a:rPr lang="en-IN" sz="2000" dirty="0">
                <a:cs typeface="Times New Roman" panose="02020603050405020304" pitchFamily="18" charset="0"/>
              </a:rPr>
              <a:t>method will return a list of all the values in the dictionary.</a:t>
            </a:r>
          </a:p>
          <a:p>
            <a:r>
              <a:rPr lang="en-IN" sz="2000" b="1" dirty="0">
                <a:cs typeface="Times New Roman" panose="02020603050405020304" pitchFamily="18" charset="0"/>
              </a:rPr>
              <a:t>GET ITEMS: -</a:t>
            </a:r>
            <a:r>
              <a:rPr lang="en-IN" sz="2000" dirty="0">
                <a:cs typeface="Times New Roman" panose="02020603050405020304" pitchFamily="18" charset="0"/>
              </a:rPr>
              <a:t> The </a:t>
            </a:r>
            <a:r>
              <a:rPr lang="en-IN" sz="2000" b="1" dirty="0">
                <a:cs typeface="Times New Roman" panose="02020603050405020304" pitchFamily="18" charset="0"/>
              </a:rPr>
              <a:t>items() </a:t>
            </a:r>
            <a:r>
              <a:rPr lang="en-IN" sz="2000" dirty="0">
                <a:cs typeface="Times New Roman" panose="02020603050405020304" pitchFamily="18" charset="0"/>
              </a:rPr>
              <a:t>method will return each item in a dictionary, as tuples in a list.</a:t>
            </a:r>
          </a:p>
          <a:p>
            <a:pPr marL="0" indent="0">
              <a:buNone/>
            </a:pPr>
            <a:endParaRPr lang="en-IN" sz="2000" b="1" dirty="0">
              <a:cs typeface="Times New Roman" panose="02020603050405020304" pitchFamily="18" charset="0"/>
            </a:endParaRPr>
          </a:p>
          <a:p>
            <a:pPr marL="0" indent="0">
              <a:buNone/>
            </a:pPr>
            <a:r>
              <a:rPr lang="en-IN" sz="2000" b="1" dirty="0">
                <a:cs typeface="Times New Roman" panose="02020603050405020304" pitchFamily="18" charset="0"/>
              </a:rPr>
              <a:t>Example</a:t>
            </a:r>
          </a:p>
          <a:p>
            <a:pPr marL="0" indent="0">
              <a:buNone/>
            </a:pPr>
            <a:r>
              <a:rPr lang="en-IN" sz="2000" dirty="0">
                <a:solidFill>
                  <a:srgbClr val="000000"/>
                </a:solidFill>
                <a:cs typeface="Times New Roman" panose="02020603050405020304" pitchFamily="18" charset="0"/>
              </a:rPr>
              <a:t>	</a:t>
            </a:r>
            <a:r>
              <a:rPr lang="en-US" sz="2000" dirty="0">
                <a:solidFill>
                  <a:srgbClr val="000000"/>
                </a:solidFill>
                <a:cs typeface="Times New Roman" panose="02020603050405020304" pitchFamily="18" charset="0"/>
              </a:rPr>
              <a:t>dict1 = {“brand”: “Ford”, “model”: “Mustang”, “year”:1964}</a:t>
            </a:r>
          </a:p>
          <a:p>
            <a:pPr marL="0" indent="0">
              <a:buNone/>
            </a:pPr>
            <a:r>
              <a:rPr lang="en-US" sz="2000" dirty="0">
                <a:solidFill>
                  <a:srgbClr val="000000"/>
                </a:solidFill>
                <a:cs typeface="Times New Roman" panose="02020603050405020304" pitchFamily="18" charset="0"/>
              </a:rPr>
              <a:t>	x = dict1.keys()</a:t>
            </a:r>
          </a:p>
          <a:p>
            <a:pPr marL="0" indent="0">
              <a:buNone/>
            </a:pPr>
            <a:r>
              <a:rPr lang="en-US" sz="2000" dirty="0">
                <a:solidFill>
                  <a:srgbClr val="000000"/>
                </a:solidFill>
                <a:cs typeface="Times New Roman" panose="02020603050405020304" pitchFamily="18" charset="0"/>
              </a:rPr>
              <a:t>	y = dict1.values()</a:t>
            </a:r>
          </a:p>
          <a:p>
            <a:pPr marL="0" indent="0">
              <a:buNone/>
            </a:pPr>
            <a:r>
              <a:rPr lang="en-US" sz="2000" dirty="0">
                <a:solidFill>
                  <a:srgbClr val="000000"/>
                </a:solidFill>
                <a:cs typeface="Times New Roman" panose="02020603050405020304" pitchFamily="18" charset="0"/>
              </a:rPr>
              <a:t>	z = dict1.items()</a:t>
            </a:r>
          </a:p>
          <a:p>
            <a:pPr marL="0" indent="0">
              <a:buNone/>
            </a:pPr>
            <a:r>
              <a:rPr lang="en-US" sz="2000" dirty="0">
                <a:solidFill>
                  <a:srgbClr val="000000"/>
                </a:solidFill>
                <a:cs typeface="Times New Roman" panose="02020603050405020304" pitchFamily="18" charset="0"/>
              </a:rPr>
              <a:t>	print(x)		#dict_keys([‘brand’, ‘model’, ‘year’])</a:t>
            </a:r>
          </a:p>
          <a:p>
            <a:pPr marL="0" indent="0">
              <a:buNone/>
            </a:pPr>
            <a:r>
              <a:rPr lang="en-US" sz="2000" dirty="0">
                <a:solidFill>
                  <a:srgbClr val="000000"/>
                </a:solidFill>
                <a:cs typeface="Times New Roman" panose="02020603050405020304" pitchFamily="18" charset="0"/>
              </a:rPr>
              <a:t>	print(y)		#dict_values([‘Ford’, ‘Mustang’, 1964])</a:t>
            </a:r>
          </a:p>
          <a:p>
            <a:pPr marL="0" indent="0">
              <a:buNone/>
            </a:pPr>
            <a:r>
              <a:rPr lang="en-US" sz="2000" dirty="0">
                <a:solidFill>
                  <a:srgbClr val="000000"/>
                </a:solidFill>
                <a:cs typeface="Times New Roman" panose="02020603050405020304" pitchFamily="18" charset="0"/>
              </a:rPr>
              <a:t>	print(z)	</a:t>
            </a:r>
          </a:p>
          <a:p>
            <a:pPr marL="0" indent="0">
              <a:buNone/>
            </a:pPr>
            <a:r>
              <a:rPr lang="en-US" sz="2000" dirty="0">
                <a:solidFill>
                  <a:srgbClr val="000000"/>
                </a:solidFill>
                <a:cs typeface="Times New Roman" panose="02020603050405020304" pitchFamily="18" charset="0"/>
              </a:rPr>
              <a:t>	#dict_items([(‘brand’, ‘Ford’), (‘model’, ‘Mustang’), (‘year’, 1964)])</a:t>
            </a:r>
            <a:endParaRPr lang="en-IN" sz="2000" dirty="0">
              <a:cs typeface="Times New Roman" panose="02020603050405020304" pitchFamily="18" charset="0"/>
            </a:endParaRPr>
          </a:p>
        </p:txBody>
      </p:sp>
    </p:spTree>
    <p:extLst>
      <p:ext uri="{BB962C8B-B14F-4D97-AF65-F5344CB8AC3E}">
        <p14:creationId xmlns:p14="http://schemas.microsoft.com/office/powerpoint/2010/main" val="58773429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DCE4B-484F-A4B9-CE6F-4A1EEEA48BBB}"/>
              </a:ext>
            </a:extLst>
          </p:cNvPr>
          <p:cNvSpPr>
            <a:spLocks noGrp="1"/>
          </p:cNvSpPr>
          <p:nvPr>
            <p:ph type="title"/>
          </p:nvPr>
        </p:nvSpPr>
        <p:spPr/>
        <p:txBody>
          <a:bodyPr>
            <a:normAutofit/>
          </a:bodyPr>
          <a:lstStyle/>
          <a:p>
            <a:pPr algn="ctr"/>
            <a:r>
              <a:rPr lang="en-IN" sz="4000"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Change And Add Dictionary Items</a:t>
            </a:r>
          </a:p>
        </p:txBody>
      </p:sp>
      <p:pic>
        <p:nvPicPr>
          <p:cNvPr id="4" name="Picture 3">
            <a:extLst>
              <a:ext uri="{FF2B5EF4-FFF2-40B4-BE49-F238E27FC236}">
                <a16:creationId xmlns:a16="http://schemas.microsoft.com/office/drawing/2014/main" id="{93B1CBEF-C670-47A2-6510-C908C036AF7A}"/>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70B8093B-00D2-FE8C-52C5-F36DE8C38FEC}"/>
              </a:ext>
            </a:extLst>
          </p:cNvPr>
          <p:cNvSpPr txBox="1"/>
          <p:nvPr/>
        </p:nvSpPr>
        <p:spPr>
          <a:xfrm>
            <a:off x="838200" y="1928553"/>
            <a:ext cx="11107995" cy="4093428"/>
          </a:xfrm>
          <a:prstGeom prst="rect">
            <a:avLst/>
          </a:prstGeom>
          <a:noFill/>
        </p:spPr>
        <p:txBody>
          <a:bodyPr wrap="square">
            <a:spAutoFit/>
          </a:bodyPr>
          <a:lstStyle/>
          <a:p>
            <a:pPr marL="0" indent="0">
              <a:buNone/>
            </a:pPr>
            <a:r>
              <a:rPr lang="en-IN" sz="2000" dirty="0">
                <a:cs typeface="Times New Roman" panose="02020603050405020304" pitchFamily="18" charset="0"/>
              </a:rPr>
              <a:t>You can change the value of a specific item by referring to its key name.</a:t>
            </a:r>
          </a:p>
          <a:p>
            <a:pPr marL="0" indent="0">
              <a:buNone/>
            </a:pPr>
            <a:r>
              <a:rPr lang="en-IN" sz="2000" b="1" dirty="0">
                <a:cs typeface="Times New Roman" panose="02020603050405020304" pitchFamily="18" charset="0"/>
              </a:rPr>
              <a:t>Example</a:t>
            </a:r>
          </a:p>
          <a:p>
            <a:pPr marL="0" indent="0">
              <a:buNone/>
            </a:pPr>
            <a:r>
              <a:rPr lang="en-IN" sz="2000" dirty="0">
                <a:cs typeface="Times New Roman" panose="02020603050405020304" pitchFamily="18" charset="0"/>
              </a:rPr>
              <a:t>	</a:t>
            </a:r>
            <a:r>
              <a:rPr lang="en-US" sz="2000" dirty="0">
                <a:solidFill>
                  <a:srgbClr val="000000"/>
                </a:solidFill>
                <a:cs typeface="Times New Roman" panose="02020603050405020304" pitchFamily="18" charset="0"/>
              </a:rPr>
              <a:t>dict1 = {“brand”: “Ford”, “model”: “Mustang”, “year”:1964}</a:t>
            </a:r>
          </a:p>
          <a:p>
            <a:pPr marL="0" indent="0">
              <a:buNone/>
            </a:pPr>
            <a:r>
              <a:rPr lang="en-IN" sz="2000" dirty="0">
                <a:cs typeface="Times New Roman" panose="02020603050405020304" pitchFamily="18" charset="0"/>
              </a:rPr>
              <a:t>	dict1[“year”] = 2024</a:t>
            </a:r>
          </a:p>
          <a:p>
            <a:pPr marL="0" indent="0">
              <a:buNone/>
            </a:pPr>
            <a:r>
              <a:rPr lang="en-IN" sz="2000" dirty="0">
                <a:cs typeface="Times New Roman" panose="02020603050405020304" pitchFamily="18" charset="0"/>
              </a:rPr>
              <a:t>	print(dict1)</a:t>
            </a:r>
          </a:p>
          <a:p>
            <a:pPr marL="0" indent="0">
              <a:buNone/>
            </a:pPr>
            <a:r>
              <a:rPr lang="en-IN" sz="2000" dirty="0">
                <a:cs typeface="Times New Roman" panose="02020603050405020304" pitchFamily="18" charset="0"/>
              </a:rPr>
              <a:t>	#{‘brand’: ‘Ford’, ‘model’: ‘Mustang’, ‘year’: 2024}</a:t>
            </a:r>
          </a:p>
          <a:p>
            <a:pPr marL="0" indent="0">
              <a:buNone/>
            </a:pPr>
            <a:endParaRPr lang="en-IN" sz="2000" dirty="0">
              <a:cs typeface="Times New Roman" panose="02020603050405020304" pitchFamily="18" charset="0"/>
            </a:endParaRPr>
          </a:p>
          <a:p>
            <a:pPr marL="0" indent="0">
              <a:buNone/>
            </a:pPr>
            <a:r>
              <a:rPr lang="en-IN" sz="2000" dirty="0">
                <a:cs typeface="Times New Roman" panose="02020603050405020304" pitchFamily="18" charset="0"/>
              </a:rPr>
              <a:t>Adding an item to the dictionary is done by using a new index key and assigning a value to it.</a:t>
            </a:r>
          </a:p>
          <a:p>
            <a:pPr marL="0" indent="0">
              <a:buNone/>
            </a:pPr>
            <a:r>
              <a:rPr lang="en-IN" sz="2000" b="1" dirty="0">
                <a:cs typeface="Times New Roman" panose="02020603050405020304" pitchFamily="18" charset="0"/>
              </a:rPr>
              <a:t>Example</a:t>
            </a:r>
          </a:p>
          <a:p>
            <a:pPr marL="0" indent="0">
              <a:buNone/>
            </a:pPr>
            <a:r>
              <a:rPr lang="en-IN" sz="2000" dirty="0">
                <a:cs typeface="Times New Roman" panose="02020603050405020304" pitchFamily="18" charset="0"/>
              </a:rPr>
              <a:t>	</a:t>
            </a:r>
            <a:r>
              <a:rPr lang="en-US" sz="2000" dirty="0">
                <a:solidFill>
                  <a:srgbClr val="000000"/>
                </a:solidFill>
                <a:cs typeface="Times New Roman" panose="02020603050405020304" pitchFamily="18" charset="0"/>
              </a:rPr>
              <a:t>dict1 = {“brand”: “Ford”, “model”: “Mustang”, “year”:1964}</a:t>
            </a:r>
          </a:p>
          <a:p>
            <a:pPr marL="0" indent="0">
              <a:buNone/>
            </a:pPr>
            <a:r>
              <a:rPr lang="en-IN" sz="2000" dirty="0">
                <a:cs typeface="Times New Roman" panose="02020603050405020304" pitchFamily="18" charset="0"/>
              </a:rPr>
              <a:t>	dict1[“color”] = “red”</a:t>
            </a:r>
          </a:p>
          <a:p>
            <a:pPr marL="0" indent="0">
              <a:buNone/>
            </a:pPr>
            <a:r>
              <a:rPr lang="en-IN" sz="2000" dirty="0">
                <a:cs typeface="Times New Roman" panose="02020603050405020304" pitchFamily="18" charset="0"/>
              </a:rPr>
              <a:t>	print(dict1)</a:t>
            </a:r>
          </a:p>
          <a:p>
            <a:pPr marL="0" indent="0">
              <a:buNone/>
            </a:pPr>
            <a:r>
              <a:rPr lang="en-IN" sz="2000" dirty="0">
                <a:cs typeface="Times New Roman" panose="02020603050405020304" pitchFamily="18" charset="0"/>
              </a:rPr>
              <a:t>	#{‘brand’: ‘Ford’, ‘model’: ‘Mustang’, ‘year’: 1964, ‘color’: ‘red’}</a:t>
            </a:r>
          </a:p>
        </p:txBody>
      </p:sp>
    </p:spTree>
    <p:extLst>
      <p:ext uri="{BB962C8B-B14F-4D97-AF65-F5344CB8AC3E}">
        <p14:creationId xmlns:p14="http://schemas.microsoft.com/office/powerpoint/2010/main" val="332865775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0802070-734D-A898-4A79-0D0F0D66593B}"/>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C231170D-16D5-23A0-3263-A48600595CBF}"/>
              </a:ext>
            </a:extLst>
          </p:cNvPr>
          <p:cNvSpPr txBox="1"/>
          <p:nvPr/>
        </p:nvSpPr>
        <p:spPr>
          <a:xfrm>
            <a:off x="415636" y="993058"/>
            <a:ext cx="10930789" cy="5324535"/>
          </a:xfrm>
          <a:prstGeom prst="rect">
            <a:avLst/>
          </a:prstGeom>
          <a:noFill/>
        </p:spPr>
        <p:txBody>
          <a:bodyPr wrap="square">
            <a:spAutoFit/>
          </a:bodyPr>
          <a:lstStyle/>
          <a:p>
            <a:pPr marL="0" indent="0">
              <a:buNone/>
            </a:pPr>
            <a:r>
              <a:rPr lang="en-IN" sz="2000" b="1" dirty="0">
                <a:solidFill>
                  <a:srgbClr val="FF0000"/>
                </a:solidFill>
                <a:cs typeface="Times New Roman" panose="02020603050405020304" pitchFamily="18" charset="0"/>
              </a:rPr>
              <a:t>UPDATE DICTIONARY</a:t>
            </a:r>
          </a:p>
          <a:p>
            <a:pPr marL="0" indent="0">
              <a:buNone/>
            </a:pPr>
            <a:endParaRPr lang="en-IN" sz="2000" b="1" dirty="0">
              <a:solidFill>
                <a:srgbClr val="FF0000"/>
              </a:solidFill>
              <a:cs typeface="Times New Roman" panose="02020603050405020304" pitchFamily="18" charset="0"/>
            </a:endParaRPr>
          </a:p>
          <a:p>
            <a:pPr marL="342900" indent="-342900">
              <a:buFont typeface="Arial" panose="020B0604020202020204" pitchFamily="34" charset="0"/>
              <a:buChar char="•"/>
            </a:pPr>
            <a:r>
              <a:rPr lang="en-IN" sz="2000" dirty="0">
                <a:cs typeface="Times New Roman" panose="02020603050405020304" pitchFamily="18" charset="0"/>
              </a:rPr>
              <a:t>The </a:t>
            </a:r>
            <a:r>
              <a:rPr lang="en-IN" sz="2000" b="1" dirty="0">
                <a:cs typeface="Times New Roman" panose="02020603050405020304" pitchFamily="18" charset="0"/>
              </a:rPr>
              <a:t>update() </a:t>
            </a:r>
            <a:r>
              <a:rPr lang="en-IN" sz="2000" dirty="0">
                <a:cs typeface="Times New Roman" panose="02020603050405020304" pitchFamily="18" charset="0"/>
              </a:rPr>
              <a:t>method will update the dictionary with the items from the given argument. The argument must be a dictionary, or an </a:t>
            </a:r>
            <a:r>
              <a:rPr lang="en-IN" sz="2000" dirty="0" err="1">
                <a:cs typeface="Times New Roman" panose="02020603050405020304" pitchFamily="18" charset="0"/>
              </a:rPr>
              <a:t>iterable</a:t>
            </a:r>
            <a:r>
              <a:rPr lang="en-IN" sz="2000" dirty="0">
                <a:cs typeface="Times New Roman" panose="02020603050405020304" pitchFamily="18" charset="0"/>
              </a:rPr>
              <a:t> object with the key: value pairs.</a:t>
            </a:r>
          </a:p>
          <a:p>
            <a:pPr marL="0" indent="0">
              <a:buNone/>
            </a:pPr>
            <a:r>
              <a:rPr lang="en-IN" sz="2000" b="1" dirty="0">
                <a:cs typeface="Times New Roman" panose="02020603050405020304" pitchFamily="18" charset="0"/>
              </a:rPr>
              <a:t>Example</a:t>
            </a:r>
          </a:p>
          <a:p>
            <a:pPr marL="0" indent="0">
              <a:buNone/>
            </a:pPr>
            <a:r>
              <a:rPr lang="en-US" sz="2000" dirty="0">
                <a:solidFill>
                  <a:srgbClr val="000000"/>
                </a:solidFill>
                <a:cs typeface="Times New Roman" panose="02020603050405020304" pitchFamily="18" charset="0"/>
              </a:rPr>
              <a:t>	dict1 = {“brand”: “Ford”, “model”: “Mustang”, “year”:1964}</a:t>
            </a:r>
          </a:p>
          <a:p>
            <a:pPr marL="0" indent="0">
              <a:buNone/>
            </a:pPr>
            <a:r>
              <a:rPr lang="en-IN" sz="2000" dirty="0">
                <a:cs typeface="Times New Roman" panose="02020603050405020304" pitchFamily="18" charset="0"/>
              </a:rPr>
              <a:t>	dict1.update({“year”: 2024})</a:t>
            </a:r>
          </a:p>
          <a:p>
            <a:pPr marL="0" indent="0">
              <a:buNone/>
            </a:pPr>
            <a:r>
              <a:rPr lang="en-IN" sz="2000" dirty="0">
                <a:cs typeface="Times New Roman" panose="02020603050405020304" pitchFamily="18" charset="0"/>
              </a:rPr>
              <a:t>	print(dict1)</a:t>
            </a:r>
          </a:p>
          <a:p>
            <a:pPr marL="0" indent="0">
              <a:buNone/>
            </a:pPr>
            <a:r>
              <a:rPr lang="en-IN" sz="2000" dirty="0">
                <a:cs typeface="Times New Roman" panose="02020603050405020304" pitchFamily="18" charset="0"/>
              </a:rPr>
              <a:t>	#{‘brand’: ‘Ford’, ‘model’: ‘Mustang’, ‘year’: 2024}</a:t>
            </a:r>
          </a:p>
          <a:p>
            <a:pPr marL="0" indent="0">
              <a:buNone/>
            </a:pPr>
            <a:endParaRPr lang="en-IN" sz="2000" dirty="0">
              <a:cs typeface="Times New Roman" panose="02020603050405020304" pitchFamily="18" charset="0"/>
            </a:endParaRPr>
          </a:p>
          <a:p>
            <a:pPr marL="342900" indent="-342900">
              <a:buFont typeface="Arial" panose="020B0604020202020204" pitchFamily="34" charset="0"/>
              <a:buChar char="•"/>
            </a:pPr>
            <a:r>
              <a:rPr lang="en-IN" sz="2000" dirty="0">
                <a:cs typeface="Times New Roman" panose="02020603050405020304" pitchFamily="18" charset="0"/>
              </a:rPr>
              <a:t>The </a:t>
            </a:r>
            <a:r>
              <a:rPr lang="en-IN" sz="2000" b="1" dirty="0">
                <a:cs typeface="Times New Roman" panose="02020603050405020304" pitchFamily="18" charset="0"/>
              </a:rPr>
              <a:t>update() </a:t>
            </a:r>
            <a:r>
              <a:rPr lang="en-IN" sz="2000" dirty="0">
                <a:cs typeface="Times New Roman" panose="02020603050405020304" pitchFamily="18" charset="0"/>
              </a:rPr>
              <a:t>method will update the dictionary with the items from a given argument. If a item does not exist, the item will be added.</a:t>
            </a:r>
          </a:p>
          <a:p>
            <a:pPr marL="0" indent="0">
              <a:buNone/>
            </a:pPr>
            <a:r>
              <a:rPr lang="en-IN" sz="2000" b="1" dirty="0">
                <a:cs typeface="Times New Roman" panose="02020603050405020304" pitchFamily="18" charset="0"/>
              </a:rPr>
              <a:t>Example</a:t>
            </a:r>
          </a:p>
          <a:p>
            <a:pPr marL="0" indent="0">
              <a:buNone/>
            </a:pPr>
            <a:r>
              <a:rPr lang="en-IN" sz="2000" dirty="0">
                <a:cs typeface="Times New Roman" panose="02020603050405020304" pitchFamily="18" charset="0"/>
              </a:rPr>
              <a:t>	</a:t>
            </a:r>
            <a:r>
              <a:rPr lang="en-US" sz="2000" dirty="0">
                <a:solidFill>
                  <a:srgbClr val="000000"/>
                </a:solidFill>
                <a:cs typeface="Times New Roman" panose="02020603050405020304" pitchFamily="18" charset="0"/>
              </a:rPr>
              <a:t>dict1 = {“brand”: “Ford”, “model”: “Mustang”, “year”:1964}</a:t>
            </a:r>
          </a:p>
          <a:p>
            <a:pPr marL="0" indent="0">
              <a:buNone/>
            </a:pPr>
            <a:r>
              <a:rPr lang="en-IN" sz="2000" dirty="0">
                <a:cs typeface="Times New Roman" panose="02020603050405020304" pitchFamily="18" charset="0"/>
              </a:rPr>
              <a:t>	dict1.update({“color”: “red”})</a:t>
            </a:r>
          </a:p>
          <a:p>
            <a:pPr marL="0" indent="0">
              <a:buNone/>
            </a:pPr>
            <a:r>
              <a:rPr lang="en-IN" sz="2000" dirty="0">
                <a:cs typeface="Times New Roman" panose="02020603050405020304" pitchFamily="18" charset="0"/>
              </a:rPr>
              <a:t>	print(dict1)</a:t>
            </a:r>
          </a:p>
          <a:p>
            <a:pPr marL="0" indent="0">
              <a:buNone/>
            </a:pPr>
            <a:r>
              <a:rPr lang="en-IN" sz="2000" dirty="0">
                <a:cs typeface="Times New Roman" panose="02020603050405020304" pitchFamily="18" charset="0"/>
              </a:rPr>
              <a:t>	#{‘brand’: ‘Ford’, ‘model’: ‘Mustang’, ‘year’: 1964, ‘color’: ‘red’}</a:t>
            </a:r>
            <a:endParaRPr lang="en-IN" sz="2000" b="1" dirty="0">
              <a:cs typeface="Times New Roman" panose="02020603050405020304" pitchFamily="18" charset="0"/>
            </a:endParaRPr>
          </a:p>
        </p:txBody>
      </p:sp>
    </p:spTree>
    <p:extLst>
      <p:ext uri="{BB962C8B-B14F-4D97-AF65-F5344CB8AC3E}">
        <p14:creationId xmlns:p14="http://schemas.microsoft.com/office/powerpoint/2010/main" val="31067180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A977F-E0EB-AB6E-37BE-659CA1D4910D}"/>
              </a:ext>
            </a:extLst>
          </p:cNvPr>
          <p:cNvSpPr>
            <a:spLocks noGrp="1"/>
          </p:cNvSpPr>
          <p:nvPr>
            <p:ph type="title"/>
          </p:nvPr>
        </p:nvSpPr>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Remove Dictionary Items</a:t>
            </a:r>
          </a:p>
        </p:txBody>
      </p:sp>
      <p:pic>
        <p:nvPicPr>
          <p:cNvPr id="4" name="Picture 3">
            <a:extLst>
              <a:ext uri="{FF2B5EF4-FFF2-40B4-BE49-F238E27FC236}">
                <a16:creationId xmlns:a16="http://schemas.microsoft.com/office/drawing/2014/main" id="{E0149851-0BDE-BA13-1201-B446D32D6AC2}"/>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771E568F-C83A-72CA-1CF2-B58B99C3F84C}"/>
              </a:ext>
            </a:extLst>
          </p:cNvPr>
          <p:cNvSpPr txBox="1"/>
          <p:nvPr/>
        </p:nvSpPr>
        <p:spPr>
          <a:xfrm>
            <a:off x="1081547" y="1690688"/>
            <a:ext cx="9232491" cy="1631216"/>
          </a:xfrm>
          <a:prstGeom prst="rect">
            <a:avLst/>
          </a:prstGeom>
          <a:noFill/>
        </p:spPr>
        <p:txBody>
          <a:bodyPr wrap="square">
            <a:spAutoFit/>
          </a:bodyPr>
          <a:lstStyle/>
          <a:p>
            <a:pPr marL="0" indent="0">
              <a:buNone/>
            </a:pPr>
            <a:r>
              <a:rPr lang="en-IN" sz="2000" dirty="0">
                <a:cs typeface="Times New Roman" panose="02020603050405020304" pitchFamily="18" charset="0"/>
              </a:rPr>
              <a:t>There are several methods to remove items from a dictionary.</a:t>
            </a:r>
          </a:p>
          <a:p>
            <a:pPr marL="285750" indent="-285750">
              <a:buFont typeface="Arial" panose="020B0604020202020204" pitchFamily="34" charset="0"/>
              <a:buChar char="•"/>
            </a:pPr>
            <a:r>
              <a:rPr lang="en-IN" sz="2000" dirty="0">
                <a:cs typeface="Times New Roman" panose="02020603050405020304" pitchFamily="18" charset="0"/>
              </a:rPr>
              <a:t>The </a:t>
            </a:r>
            <a:r>
              <a:rPr lang="en-IN" sz="2000" b="1" dirty="0">
                <a:cs typeface="Times New Roman" panose="02020603050405020304" pitchFamily="18" charset="0"/>
              </a:rPr>
              <a:t>pop() </a:t>
            </a:r>
            <a:r>
              <a:rPr lang="en-IN" sz="2000" dirty="0">
                <a:cs typeface="Times New Roman" panose="02020603050405020304" pitchFamily="18" charset="0"/>
              </a:rPr>
              <a:t>method removes the item with the specified key name</a:t>
            </a:r>
          </a:p>
          <a:p>
            <a:pPr marL="285750" indent="-285750">
              <a:buFont typeface="Arial" panose="020B0604020202020204" pitchFamily="34" charset="0"/>
              <a:buChar char="•"/>
            </a:pPr>
            <a:r>
              <a:rPr lang="en-IN" sz="2000" dirty="0">
                <a:cs typeface="Times New Roman" panose="02020603050405020304" pitchFamily="18" charset="0"/>
              </a:rPr>
              <a:t>The </a:t>
            </a:r>
            <a:r>
              <a:rPr lang="en-IN" sz="2000" b="1" dirty="0" err="1">
                <a:cs typeface="Times New Roman" panose="02020603050405020304" pitchFamily="18" charset="0"/>
              </a:rPr>
              <a:t>popitem</a:t>
            </a:r>
            <a:r>
              <a:rPr lang="en-IN" sz="2000" b="1" dirty="0">
                <a:cs typeface="Times New Roman" panose="02020603050405020304" pitchFamily="18" charset="0"/>
              </a:rPr>
              <a:t>() </a:t>
            </a:r>
            <a:r>
              <a:rPr lang="en-IN" sz="2000" dirty="0">
                <a:cs typeface="Times New Roman" panose="02020603050405020304" pitchFamily="18" charset="0"/>
              </a:rPr>
              <a:t>method removes the last inserted item.</a:t>
            </a:r>
          </a:p>
          <a:p>
            <a:pPr marL="285750" indent="-285750">
              <a:buFont typeface="Arial" panose="020B0604020202020204" pitchFamily="34" charset="0"/>
              <a:buChar char="•"/>
            </a:pPr>
            <a:r>
              <a:rPr lang="en-IN" sz="2000" dirty="0">
                <a:cs typeface="Times New Roman" panose="02020603050405020304" pitchFamily="18" charset="0"/>
              </a:rPr>
              <a:t>The </a:t>
            </a:r>
            <a:r>
              <a:rPr lang="en-IN" sz="2000" b="1" dirty="0">
                <a:cs typeface="Times New Roman" panose="02020603050405020304" pitchFamily="18" charset="0"/>
              </a:rPr>
              <a:t>del </a:t>
            </a:r>
            <a:r>
              <a:rPr lang="en-IN" sz="2000" dirty="0">
                <a:cs typeface="Times New Roman" panose="02020603050405020304" pitchFamily="18" charset="0"/>
              </a:rPr>
              <a:t>keyword removes the item with the specified key name.</a:t>
            </a:r>
          </a:p>
          <a:p>
            <a:pPr marL="285750" indent="-285750">
              <a:buFont typeface="Arial" panose="020B0604020202020204" pitchFamily="34" charset="0"/>
              <a:buChar char="•"/>
            </a:pPr>
            <a:r>
              <a:rPr lang="en-IN" sz="2000" dirty="0">
                <a:cs typeface="Times New Roman" panose="02020603050405020304" pitchFamily="18" charset="0"/>
              </a:rPr>
              <a:t>The </a:t>
            </a:r>
            <a:r>
              <a:rPr lang="en-IN" sz="2000" b="1" dirty="0">
                <a:cs typeface="Times New Roman" panose="02020603050405020304" pitchFamily="18" charset="0"/>
              </a:rPr>
              <a:t>clear() </a:t>
            </a:r>
            <a:r>
              <a:rPr lang="en-IN" sz="2000" dirty="0">
                <a:cs typeface="Times New Roman" panose="02020603050405020304" pitchFamily="18" charset="0"/>
              </a:rPr>
              <a:t>method empties the dictionary.</a:t>
            </a:r>
          </a:p>
        </p:txBody>
      </p:sp>
    </p:spTree>
    <p:extLst>
      <p:ext uri="{BB962C8B-B14F-4D97-AF65-F5344CB8AC3E}">
        <p14:creationId xmlns:p14="http://schemas.microsoft.com/office/powerpoint/2010/main" val="105519526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C5D554C-485F-B6CA-B83B-5C1D3CCBACCC}"/>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925F14D1-8292-C474-91E7-3D543B1B23AD}"/>
              </a:ext>
            </a:extLst>
          </p:cNvPr>
          <p:cNvSpPr txBox="1"/>
          <p:nvPr/>
        </p:nvSpPr>
        <p:spPr>
          <a:xfrm>
            <a:off x="875071" y="560440"/>
            <a:ext cx="9596284" cy="3785652"/>
          </a:xfrm>
          <a:prstGeom prst="rect">
            <a:avLst/>
          </a:prstGeom>
          <a:noFill/>
        </p:spPr>
        <p:txBody>
          <a:bodyPr wrap="square">
            <a:spAutoFit/>
          </a:bodyPr>
          <a:lstStyle/>
          <a:p>
            <a:pPr marL="0" indent="0">
              <a:buNone/>
            </a:pPr>
            <a:r>
              <a:rPr lang="en-IN" sz="2000" b="1" dirty="0">
                <a:cs typeface="Times New Roman" panose="02020603050405020304" pitchFamily="18" charset="0"/>
              </a:rPr>
              <a:t>Example</a:t>
            </a:r>
          </a:p>
          <a:p>
            <a:pPr marL="0" indent="0">
              <a:buNone/>
            </a:pPr>
            <a:r>
              <a:rPr lang="en-IN" sz="2000" dirty="0">
                <a:cs typeface="Times New Roman" panose="02020603050405020304" pitchFamily="18" charset="0"/>
              </a:rPr>
              <a:t>	</a:t>
            </a:r>
            <a:r>
              <a:rPr lang="en-US" sz="2000" dirty="0">
                <a:solidFill>
                  <a:srgbClr val="000000"/>
                </a:solidFill>
                <a:cs typeface="Times New Roman" panose="02020603050405020304" pitchFamily="18" charset="0"/>
              </a:rPr>
              <a:t>dict1 = {“brand”: “Ford”, “model”: “Mustang”, “year”:1964, “</a:t>
            </a:r>
            <a:r>
              <a:rPr lang="en-US" sz="2000" dirty="0" err="1">
                <a:solidFill>
                  <a:srgbClr val="000000"/>
                </a:solidFill>
                <a:cs typeface="Times New Roman" panose="02020603050405020304" pitchFamily="18" charset="0"/>
              </a:rPr>
              <a:t>color”:“red</a:t>
            </a:r>
            <a:r>
              <a:rPr lang="en-US" sz="2000" dirty="0">
                <a:solidFill>
                  <a:srgbClr val="000000"/>
                </a:solidFill>
                <a:cs typeface="Times New Roman" panose="02020603050405020304" pitchFamily="18" charset="0"/>
              </a:rPr>
              <a:t>”}</a:t>
            </a:r>
          </a:p>
          <a:p>
            <a:pPr marL="0" indent="0">
              <a:buNone/>
            </a:pPr>
            <a:r>
              <a:rPr lang="en-IN" sz="2000" dirty="0">
                <a:cs typeface="Times New Roman" panose="02020603050405020304" pitchFamily="18" charset="0"/>
              </a:rPr>
              <a:t>	dict1.pop(“model”)</a:t>
            </a:r>
          </a:p>
          <a:p>
            <a:pPr marL="0" indent="0">
              <a:buNone/>
            </a:pPr>
            <a:r>
              <a:rPr lang="en-IN" sz="2000" dirty="0">
                <a:cs typeface="Times New Roman" panose="02020603050405020304" pitchFamily="18" charset="0"/>
              </a:rPr>
              <a:t>	print(dict1)		#{‘brand’: ‘Ford’, ‘year’: 1964, ‘color’: ‘red’}</a:t>
            </a:r>
          </a:p>
          <a:p>
            <a:pPr marL="0" indent="0">
              <a:buNone/>
            </a:pPr>
            <a:r>
              <a:rPr lang="en-IN" sz="2000" dirty="0">
                <a:cs typeface="Times New Roman" panose="02020603050405020304" pitchFamily="18" charset="0"/>
              </a:rPr>
              <a:t>	dict1.popitem()</a:t>
            </a:r>
          </a:p>
          <a:p>
            <a:pPr marL="0" indent="0">
              <a:buNone/>
            </a:pPr>
            <a:r>
              <a:rPr lang="en-IN" sz="2000" dirty="0">
                <a:cs typeface="Times New Roman" panose="02020603050405020304" pitchFamily="18" charset="0"/>
              </a:rPr>
              <a:t>	print(dict1)		#{‘brand’: ‘Ford’, ‘year’: 1964}</a:t>
            </a:r>
          </a:p>
          <a:p>
            <a:pPr marL="0" indent="0">
              <a:buNone/>
            </a:pPr>
            <a:r>
              <a:rPr lang="en-IN" sz="2000" dirty="0">
                <a:cs typeface="Times New Roman" panose="02020603050405020304" pitchFamily="18" charset="0"/>
              </a:rPr>
              <a:t>	del dict1[“brand”]</a:t>
            </a:r>
          </a:p>
          <a:p>
            <a:pPr marL="0" indent="0">
              <a:buNone/>
            </a:pPr>
            <a:r>
              <a:rPr lang="en-IN" sz="2000" dirty="0">
                <a:cs typeface="Times New Roman" panose="02020603050405020304" pitchFamily="18" charset="0"/>
              </a:rPr>
              <a:t>	print(dict1)		#{‘year’: 1964}</a:t>
            </a:r>
          </a:p>
          <a:p>
            <a:pPr marL="0" indent="0">
              <a:buNone/>
            </a:pPr>
            <a:r>
              <a:rPr lang="en-IN" sz="2000" dirty="0">
                <a:cs typeface="Times New Roman" panose="02020603050405020304" pitchFamily="18" charset="0"/>
              </a:rPr>
              <a:t>	dict1.clear()</a:t>
            </a:r>
          </a:p>
          <a:p>
            <a:pPr marL="0" indent="0">
              <a:buNone/>
            </a:pPr>
            <a:r>
              <a:rPr lang="en-IN" sz="2000" dirty="0">
                <a:cs typeface="Times New Roman" panose="02020603050405020304" pitchFamily="18" charset="0"/>
              </a:rPr>
              <a:t>	print(dict1)		#{}</a:t>
            </a:r>
          </a:p>
          <a:p>
            <a:pPr marL="0" indent="0">
              <a:buNone/>
            </a:pPr>
            <a:r>
              <a:rPr lang="en-IN" sz="2000" dirty="0">
                <a:cs typeface="Times New Roman" panose="02020603050405020304" pitchFamily="18" charset="0"/>
              </a:rPr>
              <a:t>	del dict1</a:t>
            </a:r>
          </a:p>
          <a:p>
            <a:pPr marL="0" indent="0">
              <a:buNone/>
            </a:pPr>
            <a:r>
              <a:rPr lang="en-IN" sz="2000" dirty="0">
                <a:cs typeface="Times New Roman" panose="02020603050405020304" pitchFamily="18" charset="0"/>
              </a:rPr>
              <a:t>	print(dict1)		#NameError: name ‘dict1’ is not defined</a:t>
            </a:r>
          </a:p>
        </p:txBody>
      </p:sp>
    </p:spTree>
    <p:extLst>
      <p:ext uri="{BB962C8B-B14F-4D97-AF65-F5344CB8AC3E}">
        <p14:creationId xmlns:p14="http://schemas.microsoft.com/office/powerpoint/2010/main" val="356326259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36AE7-6B6B-3034-1912-475C619362ED}"/>
              </a:ext>
            </a:extLst>
          </p:cNvPr>
          <p:cNvSpPr>
            <a:spLocks noGrp="1"/>
          </p:cNvSpPr>
          <p:nvPr>
            <p:ph type="title"/>
          </p:nvPr>
        </p:nvSpPr>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Nested Dictionaries</a:t>
            </a:r>
          </a:p>
        </p:txBody>
      </p:sp>
      <p:pic>
        <p:nvPicPr>
          <p:cNvPr id="4" name="Picture 3">
            <a:extLst>
              <a:ext uri="{FF2B5EF4-FFF2-40B4-BE49-F238E27FC236}">
                <a16:creationId xmlns:a16="http://schemas.microsoft.com/office/drawing/2014/main" id="{73FFA3C8-C900-479A-A39B-3B11E69EB36D}"/>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80E08015-4322-4923-2E6B-A28F94EA5684}"/>
              </a:ext>
            </a:extLst>
          </p:cNvPr>
          <p:cNvSpPr txBox="1"/>
          <p:nvPr/>
        </p:nvSpPr>
        <p:spPr>
          <a:xfrm>
            <a:off x="412955" y="2163097"/>
            <a:ext cx="11297264" cy="2530245"/>
          </a:xfrm>
          <a:prstGeom prst="rect">
            <a:avLst/>
          </a:prstGeom>
          <a:noFill/>
        </p:spPr>
        <p:txBody>
          <a:bodyPr wrap="square">
            <a:spAutoFit/>
          </a:bodyPr>
          <a:lstStyle/>
          <a:p>
            <a:pPr marL="0" indent="0">
              <a:buNone/>
            </a:pPr>
            <a:r>
              <a:rPr lang="en-US" sz="2000" b="0" i="0" dirty="0">
                <a:solidFill>
                  <a:srgbClr val="000000"/>
                </a:solidFill>
                <a:effectLst/>
                <a:cs typeface="Times New Roman" panose="02020603050405020304" pitchFamily="18" charset="0"/>
              </a:rPr>
              <a:t>A dictionary can contain dictionaries; this is called nested dictionaries.</a:t>
            </a:r>
          </a:p>
          <a:p>
            <a:pPr marL="0" indent="0">
              <a:buNone/>
            </a:pPr>
            <a:r>
              <a:rPr lang="en-US" sz="2000" b="1" dirty="0">
                <a:solidFill>
                  <a:srgbClr val="000000"/>
                </a:solidFill>
                <a:cs typeface="Times New Roman" panose="02020603050405020304" pitchFamily="18" charset="0"/>
              </a:rPr>
              <a:t>Example</a:t>
            </a:r>
          </a:p>
          <a:p>
            <a:pPr marL="0" indent="0">
              <a:buNone/>
            </a:pPr>
            <a:r>
              <a:rPr lang="en-US" sz="2000" dirty="0">
                <a:solidFill>
                  <a:srgbClr val="000000"/>
                </a:solidFill>
                <a:cs typeface="Times New Roman" panose="02020603050405020304" pitchFamily="18" charset="0"/>
              </a:rPr>
              <a:t>	</a:t>
            </a:r>
            <a:r>
              <a:rPr lang="en-US" sz="2000" dirty="0" err="1">
                <a:solidFill>
                  <a:srgbClr val="000000"/>
                </a:solidFill>
                <a:cs typeface="Times New Roman" panose="02020603050405020304" pitchFamily="18" charset="0"/>
              </a:rPr>
              <a:t>myfamily</a:t>
            </a:r>
            <a:r>
              <a:rPr lang="en-US" sz="2000" dirty="0">
                <a:solidFill>
                  <a:srgbClr val="000000"/>
                </a:solidFill>
                <a:cs typeface="Times New Roman" panose="02020603050405020304" pitchFamily="18" charset="0"/>
              </a:rPr>
              <a:t> = {“child1” : {“name” : “John”, “year” : 2004},</a:t>
            </a:r>
          </a:p>
          <a:p>
            <a:pPr marL="0" indent="0">
              <a:buNone/>
            </a:pPr>
            <a:r>
              <a:rPr lang="en-US" sz="2000" dirty="0">
                <a:solidFill>
                  <a:srgbClr val="000000"/>
                </a:solidFill>
                <a:cs typeface="Times New Roman" panose="02020603050405020304" pitchFamily="18" charset="0"/>
              </a:rPr>
              <a:t>			 “child2” : {“name” : “Ram”, “year” : 2007},</a:t>
            </a:r>
          </a:p>
          <a:p>
            <a:pPr marL="0" indent="0">
              <a:buNone/>
            </a:pPr>
            <a:r>
              <a:rPr lang="en-US" sz="2000" dirty="0">
                <a:solidFill>
                  <a:srgbClr val="000000"/>
                </a:solidFill>
                <a:cs typeface="Times New Roman" panose="02020603050405020304" pitchFamily="18" charset="0"/>
              </a:rPr>
              <a:t>			 “child3” : {“name” : “Raju”, “year” : 2011}}</a:t>
            </a:r>
          </a:p>
          <a:p>
            <a:pPr marL="0" indent="0">
              <a:buNone/>
            </a:pPr>
            <a:r>
              <a:rPr lang="en-US" sz="2000" dirty="0">
                <a:solidFill>
                  <a:srgbClr val="000000"/>
                </a:solidFill>
                <a:cs typeface="Times New Roman" panose="02020603050405020304" pitchFamily="18" charset="0"/>
              </a:rPr>
              <a:t>	print(</a:t>
            </a:r>
            <a:r>
              <a:rPr lang="en-US" sz="2000" dirty="0" err="1">
                <a:solidFill>
                  <a:srgbClr val="000000"/>
                </a:solidFill>
                <a:cs typeface="Times New Roman" panose="02020603050405020304" pitchFamily="18" charset="0"/>
              </a:rPr>
              <a:t>myfamily</a:t>
            </a:r>
            <a:r>
              <a:rPr lang="en-US" sz="2000" dirty="0">
                <a:solidFill>
                  <a:srgbClr val="000000"/>
                </a:solidFill>
                <a:cs typeface="Times New Roman" panose="02020603050405020304" pitchFamily="18" charset="0"/>
              </a:rPr>
              <a:t>)</a:t>
            </a:r>
          </a:p>
          <a:p>
            <a:pPr marL="0" indent="0">
              <a:buNone/>
            </a:pPr>
            <a:r>
              <a:rPr lang="en-US" sz="2000" dirty="0">
                <a:solidFill>
                  <a:srgbClr val="000000"/>
                </a:solidFill>
                <a:cs typeface="Times New Roman" panose="02020603050405020304" pitchFamily="18" charset="0"/>
              </a:rPr>
              <a:t>	#{‘child1’: {‘name’: ‘John’, ‘year’: 2004}, ‘child2’: {‘name’: ‘Ram’, ‘year’:2007}, ‘child3’: {‘name’: ‘Raju’, ‘year’: 2011}}</a:t>
            </a:r>
            <a:endParaRPr lang="en-IN" sz="2000" dirty="0">
              <a:cs typeface="Times New Roman" panose="02020603050405020304" pitchFamily="18" charset="0"/>
            </a:endParaRPr>
          </a:p>
        </p:txBody>
      </p:sp>
    </p:spTree>
    <p:extLst>
      <p:ext uri="{BB962C8B-B14F-4D97-AF65-F5344CB8AC3E}">
        <p14:creationId xmlns:p14="http://schemas.microsoft.com/office/powerpoint/2010/main" val="257665157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604B6-A76C-9633-E057-877D51D7C034}"/>
              </a:ext>
            </a:extLst>
          </p:cNvPr>
          <p:cNvSpPr>
            <a:spLocks noGrp="1"/>
          </p:cNvSpPr>
          <p:nvPr>
            <p:ph type="title"/>
          </p:nvPr>
        </p:nvSpPr>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Copy Dictionaries</a:t>
            </a:r>
          </a:p>
        </p:txBody>
      </p:sp>
      <p:pic>
        <p:nvPicPr>
          <p:cNvPr id="4" name="Picture 3">
            <a:extLst>
              <a:ext uri="{FF2B5EF4-FFF2-40B4-BE49-F238E27FC236}">
                <a16:creationId xmlns:a16="http://schemas.microsoft.com/office/drawing/2014/main" id="{361676C2-A099-A021-D3DF-EB55EF5D8E02}"/>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6ACF83F3-3543-C055-47AF-C37603B57D21}"/>
              </a:ext>
            </a:extLst>
          </p:cNvPr>
          <p:cNvSpPr txBox="1"/>
          <p:nvPr/>
        </p:nvSpPr>
        <p:spPr>
          <a:xfrm>
            <a:off x="838200" y="2133600"/>
            <a:ext cx="10360743" cy="4093428"/>
          </a:xfrm>
          <a:prstGeom prst="rect">
            <a:avLst/>
          </a:prstGeom>
          <a:noFill/>
        </p:spPr>
        <p:txBody>
          <a:bodyPr wrap="square">
            <a:spAutoFit/>
          </a:bodyPr>
          <a:lstStyle/>
          <a:p>
            <a:pPr marL="0" indent="0">
              <a:buNone/>
            </a:pPr>
            <a:r>
              <a:rPr lang="en-IN" sz="2000" dirty="0">
                <a:cs typeface="Times New Roman" panose="02020603050405020304" pitchFamily="18" charset="0"/>
              </a:rPr>
              <a:t>Make a copy of a dictionary with the </a:t>
            </a:r>
            <a:r>
              <a:rPr lang="en-IN" sz="2000" b="1" dirty="0">
                <a:cs typeface="Times New Roman" panose="02020603050405020304" pitchFamily="18" charset="0"/>
              </a:rPr>
              <a:t>copy() </a:t>
            </a:r>
            <a:r>
              <a:rPr lang="en-IN" sz="2000" dirty="0">
                <a:cs typeface="Times New Roman" panose="02020603050405020304" pitchFamily="18" charset="0"/>
              </a:rPr>
              <a:t>method.</a:t>
            </a:r>
          </a:p>
          <a:p>
            <a:pPr marL="0" indent="0">
              <a:buNone/>
            </a:pPr>
            <a:r>
              <a:rPr lang="en-IN" sz="2000" b="1" dirty="0">
                <a:cs typeface="Times New Roman" panose="02020603050405020304" pitchFamily="18" charset="0"/>
              </a:rPr>
              <a:t>Example</a:t>
            </a:r>
          </a:p>
          <a:p>
            <a:pPr marL="0" indent="0">
              <a:buNone/>
            </a:pPr>
            <a:r>
              <a:rPr lang="en-IN" sz="2000" dirty="0">
                <a:cs typeface="Times New Roman" panose="02020603050405020304" pitchFamily="18" charset="0"/>
              </a:rPr>
              <a:t>	</a:t>
            </a:r>
            <a:r>
              <a:rPr lang="en-US" sz="2000" dirty="0">
                <a:solidFill>
                  <a:srgbClr val="000000"/>
                </a:solidFill>
                <a:cs typeface="Times New Roman" panose="02020603050405020304" pitchFamily="18" charset="0"/>
              </a:rPr>
              <a:t>dict1 = {“brand”: “Ford”, “model”: “Mustang”, “year”:1964}</a:t>
            </a:r>
          </a:p>
          <a:p>
            <a:pPr marL="0" indent="0">
              <a:buNone/>
            </a:pPr>
            <a:r>
              <a:rPr lang="en-IN" sz="2000" dirty="0">
                <a:cs typeface="Times New Roman" panose="02020603050405020304" pitchFamily="18" charset="0"/>
              </a:rPr>
              <a:t>	dict2 = dict1.copy()</a:t>
            </a:r>
          </a:p>
          <a:p>
            <a:pPr marL="0" indent="0">
              <a:buNone/>
            </a:pPr>
            <a:r>
              <a:rPr lang="en-IN" sz="2000" dirty="0">
                <a:cs typeface="Times New Roman" panose="02020603050405020304" pitchFamily="18" charset="0"/>
              </a:rPr>
              <a:t>	print(dict2)</a:t>
            </a:r>
          </a:p>
          <a:p>
            <a:pPr marL="0" indent="0">
              <a:buNone/>
            </a:pPr>
            <a:r>
              <a:rPr lang="en-IN" sz="2000" dirty="0">
                <a:cs typeface="Times New Roman" panose="02020603050405020304" pitchFamily="18" charset="0"/>
              </a:rPr>
              <a:t>	#</a:t>
            </a:r>
            <a:r>
              <a:rPr lang="en-US" sz="2000" dirty="0">
                <a:solidFill>
                  <a:srgbClr val="000000"/>
                </a:solidFill>
                <a:cs typeface="Times New Roman" panose="02020603050405020304" pitchFamily="18" charset="0"/>
              </a:rPr>
              <a:t>{“brand”: “Ford”, “model”: “Mustang”, “year”:1964}</a:t>
            </a:r>
          </a:p>
          <a:p>
            <a:pPr marL="0" indent="0">
              <a:buNone/>
            </a:pPr>
            <a:endParaRPr lang="en-IN" sz="2000" dirty="0">
              <a:cs typeface="Times New Roman" panose="02020603050405020304" pitchFamily="18" charset="0"/>
            </a:endParaRPr>
          </a:p>
          <a:p>
            <a:pPr marL="0" indent="0">
              <a:buNone/>
            </a:pPr>
            <a:r>
              <a:rPr lang="en-IN" sz="2000" dirty="0">
                <a:cs typeface="Times New Roman" panose="02020603050405020304" pitchFamily="18" charset="0"/>
              </a:rPr>
              <a:t>Another way to make a copy is to use the built-in function </a:t>
            </a:r>
            <a:r>
              <a:rPr lang="en-IN" sz="2000" b="1" dirty="0" err="1">
                <a:cs typeface="Times New Roman" panose="02020603050405020304" pitchFamily="18" charset="0"/>
              </a:rPr>
              <a:t>dict</a:t>
            </a:r>
            <a:r>
              <a:rPr lang="en-IN" sz="2000" b="1" dirty="0">
                <a:cs typeface="Times New Roman" panose="02020603050405020304" pitchFamily="18" charset="0"/>
              </a:rPr>
              <a:t>()</a:t>
            </a:r>
            <a:r>
              <a:rPr lang="en-IN" sz="2000" dirty="0">
                <a:cs typeface="Times New Roman" panose="02020603050405020304" pitchFamily="18" charset="0"/>
              </a:rPr>
              <a:t>.</a:t>
            </a:r>
          </a:p>
          <a:p>
            <a:pPr marL="0" indent="0">
              <a:buNone/>
            </a:pPr>
            <a:r>
              <a:rPr lang="en-IN" sz="2000" b="1" dirty="0">
                <a:cs typeface="Times New Roman" panose="02020603050405020304" pitchFamily="18" charset="0"/>
              </a:rPr>
              <a:t>Example</a:t>
            </a:r>
          </a:p>
          <a:p>
            <a:pPr marL="0" indent="0">
              <a:buNone/>
            </a:pPr>
            <a:r>
              <a:rPr lang="en-IN" sz="2000" dirty="0">
                <a:cs typeface="Times New Roman" panose="02020603050405020304" pitchFamily="18" charset="0"/>
              </a:rPr>
              <a:t>	</a:t>
            </a:r>
            <a:r>
              <a:rPr lang="en-US" sz="2000" dirty="0">
                <a:solidFill>
                  <a:srgbClr val="000000"/>
                </a:solidFill>
                <a:cs typeface="Times New Roman" panose="02020603050405020304" pitchFamily="18" charset="0"/>
              </a:rPr>
              <a:t>dict1 = {“brand”: “Ford”, “model”: “Mustang”, “year”:1964}</a:t>
            </a:r>
          </a:p>
          <a:p>
            <a:pPr marL="0" indent="0">
              <a:buNone/>
            </a:pPr>
            <a:r>
              <a:rPr lang="en-IN" sz="2000" dirty="0">
                <a:cs typeface="Times New Roman" panose="02020603050405020304" pitchFamily="18" charset="0"/>
              </a:rPr>
              <a:t>	dict2 = </a:t>
            </a:r>
            <a:r>
              <a:rPr lang="en-IN" sz="2000" dirty="0" err="1">
                <a:cs typeface="Times New Roman" panose="02020603050405020304" pitchFamily="18" charset="0"/>
              </a:rPr>
              <a:t>dict</a:t>
            </a:r>
            <a:r>
              <a:rPr lang="en-IN" sz="2000" dirty="0">
                <a:cs typeface="Times New Roman" panose="02020603050405020304" pitchFamily="18" charset="0"/>
              </a:rPr>
              <a:t>(dict1)</a:t>
            </a:r>
          </a:p>
          <a:p>
            <a:pPr marL="0" indent="0">
              <a:buNone/>
            </a:pPr>
            <a:r>
              <a:rPr lang="en-IN" sz="2000" dirty="0">
                <a:cs typeface="Times New Roman" panose="02020603050405020304" pitchFamily="18" charset="0"/>
              </a:rPr>
              <a:t>	print(dict2)</a:t>
            </a:r>
          </a:p>
          <a:p>
            <a:pPr marL="0" indent="0">
              <a:buNone/>
            </a:pPr>
            <a:r>
              <a:rPr lang="en-IN" sz="2000" dirty="0">
                <a:cs typeface="Times New Roman" panose="02020603050405020304" pitchFamily="18" charset="0"/>
              </a:rPr>
              <a:t>	#</a:t>
            </a:r>
            <a:r>
              <a:rPr lang="en-US" sz="2000" dirty="0">
                <a:solidFill>
                  <a:srgbClr val="000000"/>
                </a:solidFill>
                <a:cs typeface="Times New Roman" panose="02020603050405020304" pitchFamily="18" charset="0"/>
              </a:rPr>
              <a:t>{“brand”: “Ford”, “model”: “Mustang”, “year”:1964}</a:t>
            </a:r>
          </a:p>
        </p:txBody>
      </p:sp>
    </p:spTree>
    <p:extLst>
      <p:ext uri="{BB962C8B-B14F-4D97-AF65-F5344CB8AC3E}">
        <p14:creationId xmlns:p14="http://schemas.microsoft.com/office/powerpoint/2010/main" val="275215880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7F1B4-9D94-9212-BA0E-22246AA75D1E}"/>
              </a:ext>
            </a:extLst>
          </p:cNvPr>
          <p:cNvSpPr>
            <a:spLocks noGrp="1"/>
          </p:cNvSpPr>
          <p:nvPr>
            <p:ph type="title"/>
          </p:nvPr>
        </p:nvSpPr>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Python Booleans</a:t>
            </a:r>
          </a:p>
        </p:txBody>
      </p:sp>
      <p:pic>
        <p:nvPicPr>
          <p:cNvPr id="4" name="Picture 3">
            <a:extLst>
              <a:ext uri="{FF2B5EF4-FFF2-40B4-BE49-F238E27FC236}">
                <a16:creationId xmlns:a16="http://schemas.microsoft.com/office/drawing/2014/main" id="{BFD105E2-B508-C7AB-60EF-45234ED0EB3E}"/>
              </a:ext>
            </a:extLst>
          </p:cNvPr>
          <p:cNvPicPr/>
          <p:nvPr/>
        </p:nvPicPr>
        <p:blipFill>
          <a:blip r:embed="rId2" cstate="print"/>
          <a:stretch/>
        </p:blipFill>
        <p:spPr>
          <a:xfrm>
            <a:off x="11503320" y="0"/>
            <a:ext cx="688680" cy="689040"/>
          </a:xfrm>
          <a:prstGeom prst="rect">
            <a:avLst/>
          </a:prstGeom>
          <a:ln w="0">
            <a:noFill/>
          </a:ln>
        </p:spPr>
      </p:pic>
      <p:sp>
        <p:nvSpPr>
          <p:cNvPr id="6" name="TextBox 5">
            <a:extLst>
              <a:ext uri="{FF2B5EF4-FFF2-40B4-BE49-F238E27FC236}">
                <a16:creationId xmlns:a16="http://schemas.microsoft.com/office/drawing/2014/main" id="{12A06591-A859-20CE-0609-725BA89D8478}"/>
              </a:ext>
            </a:extLst>
          </p:cNvPr>
          <p:cNvSpPr txBox="1"/>
          <p:nvPr/>
        </p:nvSpPr>
        <p:spPr>
          <a:xfrm>
            <a:off x="838200" y="1861798"/>
            <a:ext cx="10665120" cy="2862322"/>
          </a:xfrm>
          <a:prstGeom prst="rect">
            <a:avLst/>
          </a:prstGeom>
          <a:noFill/>
        </p:spPr>
        <p:txBody>
          <a:bodyPr wrap="square">
            <a:spAutoFit/>
          </a:bodyPr>
          <a:lstStyle/>
          <a:p>
            <a:r>
              <a:rPr lang="en-IN" sz="2000" dirty="0">
                <a:cs typeface="Times New Roman" panose="02020603050405020304" pitchFamily="18" charset="0"/>
              </a:rPr>
              <a:t>Booleans represent one of two values: </a:t>
            </a:r>
            <a:r>
              <a:rPr lang="en-IN" sz="2000" b="1" dirty="0">
                <a:cs typeface="Times New Roman" panose="02020603050405020304" pitchFamily="18" charset="0"/>
              </a:rPr>
              <a:t>True</a:t>
            </a:r>
            <a:r>
              <a:rPr lang="en-IN" sz="2000" dirty="0">
                <a:cs typeface="Times New Roman" panose="02020603050405020304" pitchFamily="18" charset="0"/>
              </a:rPr>
              <a:t> or </a:t>
            </a:r>
            <a:r>
              <a:rPr lang="en-IN" sz="2000" b="1" dirty="0">
                <a:cs typeface="Times New Roman" panose="02020603050405020304" pitchFamily="18" charset="0"/>
              </a:rPr>
              <a:t>False</a:t>
            </a:r>
            <a:r>
              <a:rPr lang="en-IN" sz="2000" dirty="0">
                <a:cs typeface="Times New Roman" panose="02020603050405020304" pitchFamily="18" charset="0"/>
              </a:rPr>
              <a:t>.</a:t>
            </a:r>
          </a:p>
          <a:p>
            <a:r>
              <a:rPr lang="en-IN" sz="2000" dirty="0">
                <a:cs typeface="Times New Roman" panose="02020603050405020304" pitchFamily="18" charset="0"/>
              </a:rPr>
              <a:t>In programming you often need to know if an expression is True or False.</a:t>
            </a:r>
          </a:p>
          <a:p>
            <a:r>
              <a:rPr lang="en-IN" sz="2000" dirty="0">
                <a:cs typeface="Times New Roman" panose="02020603050405020304" pitchFamily="18" charset="0"/>
              </a:rPr>
              <a:t>When you compare two values, the expression is evaluated and Python returns the Boolean answer.</a:t>
            </a:r>
          </a:p>
          <a:p>
            <a:pPr marL="0" indent="0">
              <a:buNone/>
            </a:pPr>
            <a:endParaRPr lang="en-IN" sz="2000" dirty="0">
              <a:cs typeface="Times New Roman" panose="02020603050405020304" pitchFamily="18" charset="0"/>
            </a:endParaRPr>
          </a:p>
          <a:p>
            <a:pPr marL="0" indent="0">
              <a:buNone/>
            </a:pPr>
            <a:r>
              <a:rPr lang="en-IN" sz="2000" b="1" dirty="0">
                <a:cs typeface="Times New Roman" panose="02020603050405020304" pitchFamily="18" charset="0"/>
              </a:rPr>
              <a:t>Example:</a:t>
            </a:r>
          </a:p>
          <a:p>
            <a:pPr marL="0" indent="0">
              <a:buNone/>
            </a:pPr>
            <a:r>
              <a:rPr lang="en-IN" sz="2000" dirty="0">
                <a:cs typeface="Times New Roman" panose="02020603050405020304" pitchFamily="18" charset="0"/>
              </a:rPr>
              <a:t>	print(10 &gt; 9)			#True</a:t>
            </a:r>
          </a:p>
          <a:p>
            <a:pPr marL="0" indent="0">
              <a:buNone/>
            </a:pPr>
            <a:r>
              <a:rPr lang="en-IN" sz="2000" dirty="0">
                <a:cs typeface="Times New Roman" panose="02020603050405020304" pitchFamily="18" charset="0"/>
              </a:rPr>
              <a:t>	print(10 = = 9)		#False</a:t>
            </a:r>
          </a:p>
          <a:p>
            <a:pPr marL="0" indent="0">
              <a:buNone/>
            </a:pPr>
            <a:r>
              <a:rPr lang="en-IN" sz="2000" dirty="0">
                <a:cs typeface="Times New Roman" panose="02020603050405020304" pitchFamily="18" charset="0"/>
              </a:rPr>
              <a:t>	print( 7 &lt; 5)			#False</a:t>
            </a:r>
          </a:p>
          <a:p>
            <a:pPr marL="0" indent="0">
              <a:buNone/>
            </a:pPr>
            <a:r>
              <a:rPr lang="en-IN" sz="2000" dirty="0">
                <a:cs typeface="Times New Roman" panose="02020603050405020304" pitchFamily="18" charset="0"/>
              </a:rPr>
              <a:t>	print(15 = = 15)		#True</a:t>
            </a:r>
          </a:p>
        </p:txBody>
      </p:sp>
    </p:spTree>
    <p:extLst>
      <p:ext uri="{BB962C8B-B14F-4D97-AF65-F5344CB8AC3E}">
        <p14:creationId xmlns:p14="http://schemas.microsoft.com/office/powerpoint/2010/main" val="404036768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8F2DFE-E34E-94C9-EB9B-3CEF581A2087}"/>
              </a:ext>
            </a:extLst>
          </p:cNvPr>
          <p:cNvPicPr/>
          <p:nvPr/>
        </p:nvPicPr>
        <p:blipFill>
          <a:blip r:embed="rId2" cstate="print"/>
          <a:stretch/>
        </p:blipFill>
        <p:spPr>
          <a:xfrm>
            <a:off x="11503320" y="37"/>
            <a:ext cx="688680" cy="689040"/>
          </a:xfrm>
          <a:prstGeom prst="rect">
            <a:avLst/>
          </a:prstGeom>
          <a:ln w="0">
            <a:noFill/>
          </a:ln>
        </p:spPr>
      </p:pic>
      <p:sp>
        <p:nvSpPr>
          <p:cNvPr id="5" name="TextBox 4">
            <a:extLst>
              <a:ext uri="{FF2B5EF4-FFF2-40B4-BE49-F238E27FC236}">
                <a16:creationId xmlns:a16="http://schemas.microsoft.com/office/drawing/2014/main" id="{E70499B6-03B2-D332-9A0D-7C1700066B5A}"/>
              </a:ext>
            </a:extLst>
          </p:cNvPr>
          <p:cNvSpPr txBox="1"/>
          <p:nvPr/>
        </p:nvSpPr>
        <p:spPr>
          <a:xfrm>
            <a:off x="1199535" y="1446299"/>
            <a:ext cx="10461523" cy="4401205"/>
          </a:xfrm>
          <a:prstGeom prst="rect">
            <a:avLst/>
          </a:prstGeom>
          <a:noFill/>
        </p:spPr>
        <p:txBody>
          <a:bodyPr wrap="square">
            <a:spAutoFit/>
          </a:bodyPr>
          <a:lstStyle/>
          <a:p>
            <a:pPr marL="0" indent="0">
              <a:buNone/>
            </a:pPr>
            <a:r>
              <a:rPr lang="en-IN" sz="2000" b="1" dirty="0">
                <a:solidFill>
                  <a:srgbClr val="FF0000"/>
                </a:solidFill>
                <a:cs typeface="Times New Roman" panose="02020603050405020304" pitchFamily="18" charset="0"/>
              </a:rPr>
              <a:t>Evaluate Values and Variables</a:t>
            </a:r>
          </a:p>
          <a:p>
            <a:pPr marL="0" indent="0">
              <a:buNone/>
            </a:pPr>
            <a:endParaRPr lang="en-IN" sz="2000" dirty="0">
              <a:effectLst>
                <a:outerShdw blurRad="38100" dist="38100" dir="2700000" algn="tl">
                  <a:srgbClr val="000000">
                    <a:alpha val="43137"/>
                  </a:srgbClr>
                </a:outerShdw>
              </a:effectLst>
              <a:cs typeface="Times New Roman" panose="02020603050405020304" pitchFamily="18" charset="0"/>
            </a:endParaRPr>
          </a:p>
          <a:p>
            <a:pPr marL="342900" indent="-342900">
              <a:buFont typeface="Arial" panose="020B0604020202020204" pitchFamily="34" charset="0"/>
              <a:buChar char="•"/>
            </a:pPr>
            <a:r>
              <a:rPr lang="en-IN" sz="2000" dirty="0">
                <a:cs typeface="Times New Roman" panose="02020603050405020304" pitchFamily="18" charset="0"/>
              </a:rPr>
              <a:t>The </a:t>
            </a:r>
            <a:r>
              <a:rPr lang="en-IN" sz="2000" b="1" dirty="0">
                <a:solidFill>
                  <a:srgbClr val="CC00FF"/>
                </a:solidFill>
                <a:cs typeface="Times New Roman" panose="02020603050405020304" pitchFamily="18" charset="0"/>
              </a:rPr>
              <a:t>bool() </a:t>
            </a:r>
            <a:r>
              <a:rPr lang="en-IN" sz="2000" dirty="0">
                <a:cs typeface="Times New Roman" panose="02020603050405020304" pitchFamily="18" charset="0"/>
              </a:rPr>
              <a:t>function allows you to evaluate any value, and give you True or False in return.</a:t>
            </a:r>
            <a:endParaRPr lang="en-IN" sz="2000" b="1" dirty="0">
              <a:solidFill>
                <a:srgbClr val="CC00FF"/>
              </a:solidFill>
              <a:cs typeface="Times New Roman" panose="02020603050405020304" pitchFamily="18" charset="0"/>
            </a:endParaRPr>
          </a:p>
          <a:p>
            <a:pPr marL="0" indent="0">
              <a:buNone/>
            </a:pPr>
            <a:endParaRPr lang="en-IN" sz="2000" dirty="0">
              <a:cs typeface="Times New Roman" panose="02020603050405020304" pitchFamily="18" charset="0"/>
            </a:endParaRPr>
          </a:p>
          <a:p>
            <a:pPr marL="0" indent="0">
              <a:buNone/>
            </a:pPr>
            <a:r>
              <a:rPr lang="en-IN" sz="2000" b="1" dirty="0">
                <a:cs typeface="Times New Roman" panose="02020603050405020304" pitchFamily="18" charset="0"/>
              </a:rPr>
              <a:t>Example</a:t>
            </a:r>
          </a:p>
          <a:p>
            <a:pPr marL="0" indent="0">
              <a:buNone/>
            </a:pPr>
            <a:r>
              <a:rPr lang="en-IN" sz="2000" dirty="0">
                <a:cs typeface="Times New Roman" panose="02020603050405020304" pitchFamily="18" charset="0"/>
              </a:rPr>
              <a:t>Evaluate a string and a number</a:t>
            </a:r>
          </a:p>
          <a:p>
            <a:pPr marL="0" indent="0">
              <a:buNone/>
            </a:pPr>
            <a:r>
              <a:rPr lang="en-IN" sz="2000" dirty="0">
                <a:cs typeface="Times New Roman" panose="02020603050405020304" pitchFamily="18" charset="0"/>
              </a:rPr>
              <a:t>	print(bool(“Hello”))			#True</a:t>
            </a:r>
          </a:p>
          <a:p>
            <a:pPr marL="0" indent="0">
              <a:buNone/>
            </a:pPr>
            <a:r>
              <a:rPr lang="en-IN" sz="2000" dirty="0">
                <a:cs typeface="Times New Roman" panose="02020603050405020304" pitchFamily="18" charset="0"/>
              </a:rPr>
              <a:t>	print(bool(48))			#True</a:t>
            </a:r>
          </a:p>
          <a:p>
            <a:pPr marL="0" indent="0">
              <a:buNone/>
            </a:pPr>
            <a:endParaRPr lang="en-IN" sz="2000" dirty="0">
              <a:cs typeface="Times New Roman" panose="02020603050405020304" pitchFamily="18" charset="0"/>
            </a:endParaRPr>
          </a:p>
          <a:p>
            <a:pPr marL="0" indent="0">
              <a:buNone/>
            </a:pPr>
            <a:r>
              <a:rPr lang="en-IN" sz="2000" dirty="0">
                <a:cs typeface="Times New Roman" panose="02020603050405020304" pitchFamily="18" charset="0"/>
              </a:rPr>
              <a:t>Evaluate two variables</a:t>
            </a:r>
          </a:p>
          <a:p>
            <a:pPr marL="0" indent="0">
              <a:buNone/>
            </a:pPr>
            <a:r>
              <a:rPr lang="en-IN" sz="2000" dirty="0">
                <a:cs typeface="Times New Roman" panose="02020603050405020304" pitchFamily="18" charset="0"/>
              </a:rPr>
              <a:t>	x = “Hello”</a:t>
            </a:r>
          </a:p>
          <a:p>
            <a:pPr marL="0" indent="0">
              <a:buNone/>
            </a:pPr>
            <a:r>
              <a:rPr lang="en-IN" sz="2000" dirty="0">
                <a:cs typeface="Times New Roman" panose="02020603050405020304" pitchFamily="18" charset="0"/>
              </a:rPr>
              <a:t>	y = 46</a:t>
            </a:r>
          </a:p>
          <a:p>
            <a:pPr marL="0" indent="0">
              <a:buNone/>
            </a:pPr>
            <a:r>
              <a:rPr lang="en-IN" sz="2000" dirty="0">
                <a:cs typeface="Times New Roman" panose="02020603050405020304" pitchFamily="18" charset="0"/>
              </a:rPr>
              <a:t>	print(bool(x))				#True</a:t>
            </a:r>
          </a:p>
          <a:p>
            <a:pPr marL="0" indent="0">
              <a:buNone/>
            </a:pPr>
            <a:r>
              <a:rPr lang="en-IN" sz="2000" dirty="0">
                <a:cs typeface="Times New Roman" panose="02020603050405020304" pitchFamily="18" charset="0"/>
              </a:rPr>
              <a:t>	print(bool(y))				#True</a:t>
            </a:r>
          </a:p>
        </p:txBody>
      </p:sp>
    </p:spTree>
    <p:extLst>
      <p:ext uri="{BB962C8B-B14F-4D97-AF65-F5344CB8AC3E}">
        <p14:creationId xmlns:p14="http://schemas.microsoft.com/office/powerpoint/2010/main" val="4341877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D74C38F-B2DA-3195-9FE7-A76AE83B0E3B}"/>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1103452B-EC77-4692-2BE6-CF81FD093232}"/>
              </a:ext>
            </a:extLst>
          </p:cNvPr>
          <p:cNvSpPr txBox="1"/>
          <p:nvPr/>
        </p:nvSpPr>
        <p:spPr>
          <a:xfrm>
            <a:off x="747253" y="1071716"/>
            <a:ext cx="10756068" cy="2554545"/>
          </a:xfrm>
          <a:prstGeom prst="rect">
            <a:avLst/>
          </a:prstGeom>
          <a:noFill/>
        </p:spPr>
        <p:txBody>
          <a:bodyPr wrap="square">
            <a:spAutoFit/>
          </a:bodyPr>
          <a:lstStyle/>
          <a:p>
            <a:pPr marL="0" indent="0">
              <a:buNone/>
            </a:pPr>
            <a:r>
              <a:rPr lang="en-IN" sz="2000" dirty="0">
                <a:cs typeface="Times New Roman" panose="02020603050405020304" pitchFamily="18" charset="0"/>
              </a:rPr>
              <a:t>Python has a built-in function that return a Boolean value, like the </a:t>
            </a:r>
            <a:r>
              <a:rPr lang="en-IN" sz="2000" b="1" dirty="0" err="1">
                <a:solidFill>
                  <a:srgbClr val="CC00FF"/>
                </a:solidFill>
                <a:cs typeface="Times New Roman" panose="02020603050405020304" pitchFamily="18" charset="0"/>
              </a:rPr>
              <a:t>isinstance</a:t>
            </a:r>
            <a:r>
              <a:rPr lang="en-IN" sz="2000" b="1" dirty="0">
                <a:solidFill>
                  <a:srgbClr val="CC00FF"/>
                </a:solidFill>
                <a:cs typeface="Times New Roman" panose="02020603050405020304" pitchFamily="18" charset="0"/>
              </a:rPr>
              <a:t>() </a:t>
            </a:r>
            <a:r>
              <a:rPr lang="en-IN" sz="2000" dirty="0">
                <a:cs typeface="Times New Roman" panose="02020603050405020304" pitchFamily="18" charset="0"/>
              </a:rPr>
              <a:t>function, which can be used to determine if an object is of a certain data type.</a:t>
            </a:r>
          </a:p>
          <a:p>
            <a:pPr marL="0" indent="0">
              <a:buNone/>
            </a:pPr>
            <a:endParaRPr lang="en-IN" sz="2000" dirty="0">
              <a:cs typeface="Times New Roman" panose="02020603050405020304" pitchFamily="18" charset="0"/>
            </a:endParaRPr>
          </a:p>
          <a:p>
            <a:pPr marL="0" indent="0">
              <a:buNone/>
            </a:pPr>
            <a:r>
              <a:rPr lang="en-IN" sz="2000" b="1" dirty="0">
                <a:cs typeface="Times New Roman" panose="02020603050405020304" pitchFamily="18" charset="0"/>
              </a:rPr>
              <a:t>Example: </a:t>
            </a:r>
            <a:r>
              <a:rPr lang="en-IN" sz="2000" dirty="0">
                <a:cs typeface="Times New Roman" panose="02020603050405020304" pitchFamily="18" charset="0"/>
              </a:rPr>
              <a:t>Check if an object is an integer or not.</a:t>
            </a:r>
          </a:p>
          <a:p>
            <a:pPr marL="0" indent="0">
              <a:buNone/>
            </a:pPr>
            <a:r>
              <a:rPr lang="en-IN" sz="2000" dirty="0">
                <a:cs typeface="Times New Roman" panose="02020603050405020304" pitchFamily="18" charset="0"/>
              </a:rPr>
              <a:t>	x = 679</a:t>
            </a:r>
          </a:p>
          <a:p>
            <a:pPr marL="0" indent="0">
              <a:buNone/>
            </a:pPr>
            <a:r>
              <a:rPr lang="en-IN" sz="2000" dirty="0">
                <a:cs typeface="Times New Roman" panose="02020603050405020304" pitchFamily="18" charset="0"/>
              </a:rPr>
              <a:t>	y = “Hello world”</a:t>
            </a:r>
          </a:p>
          <a:p>
            <a:pPr marL="0" indent="0">
              <a:buNone/>
            </a:pPr>
            <a:r>
              <a:rPr lang="en-IN" sz="2000" dirty="0">
                <a:cs typeface="Times New Roman" panose="02020603050405020304" pitchFamily="18" charset="0"/>
              </a:rPr>
              <a:t>	print(</a:t>
            </a:r>
            <a:r>
              <a:rPr lang="en-IN" sz="2000" dirty="0" err="1">
                <a:cs typeface="Times New Roman" panose="02020603050405020304" pitchFamily="18" charset="0"/>
              </a:rPr>
              <a:t>isinstance</a:t>
            </a:r>
            <a:r>
              <a:rPr lang="en-IN" sz="2000" dirty="0">
                <a:cs typeface="Times New Roman" panose="02020603050405020304" pitchFamily="18" charset="0"/>
              </a:rPr>
              <a:t>(x, int))		#True</a:t>
            </a:r>
          </a:p>
          <a:p>
            <a:pPr marL="0" indent="0">
              <a:buNone/>
            </a:pPr>
            <a:r>
              <a:rPr lang="en-IN" sz="2000" dirty="0">
                <a:cs typeface="Times New Roman" panose="02020603050405020304" pitchFamily="18" charset="0"/>
              </a:rPr>
              <a:t>	print(</a:t>
            </a:r>
            <a:r>
              <a:rPr lang="en-IN" sz="2000" dirty="0" err="1">
                <a:cs typeface="Times New Roman" panose="02020603050405020304" pitchFamily="18" charset="0"/>
              </a:rPr>
              <a:t>isinstance</a:t>
            </a:r>
            <a:r>
              <a:rPr lang="en-IN" sz="2000" dirty="0">
                <a:cs typeface="Times New Roman" panose="02020603050405020304" pitchFamily="18" charset="0"/>
              </a:rPr>
              <a:t>(y, int))		#False</a:t>
            </a:r>
          </a:p>
        </p:txBody>
      </p:sp>
    </p:spTree>
    <p:extLst>
      <p:ext uri="{BB962C8B-B14F-4D97-AF65-F5344CB8AC3E}">
        <p14:creationId xmlns:p14="http://schemas.microsoft.com/office/powerpoint/2010/main" val="329450422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304D8-940E-4850-5AEF-3B21C450F415}"/>
              </a:ext>
            </a:extLst>
          </p:cNvPr>
          <p:cNvSpPr>
            <a:spLocks noGrp="1"/>
          </p:cNvSpPr>
          <p:nvPr>
            <p:ph type="title"/>
          </p:nvPr>
        </p:nvSpPr>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Python Operators</a:t>
            </a:r>
          </a:p>
        </p:txBody>
      </p:sp>
      <p:pic>
        <p:nvPicPr>
          <p:cNvPr id="4" name="Picture 3">
            <a:extLst>
              <a:ext uri="{FF2B5EF4-FFF2-40B4-BE49-F238E27FC236}">
                <a16:creationId xmlns:a16="http://schemas.microsoft.com/office/drawing/2014/main" id="{F8C57509-11D7-908C-B1C5-4E4C9A553633}"/>
              </a:ext>
            </a:extLst>
          </p:cNvPr>
          <p:cNvPicPr/>
          <p:nvPr/>
        </p:nvPicPr>
        <p:blipFill>
          <a:blip r:embed="rId2" cstate="print"/>
          <a:stretch/>
        </p:blipFill>
        <p:spPr>
          <a:xfrm>
            <a:off x="11503320" y="20605"/>
            <a:ext cx="688680" cy="689040"/>
          </a:xfrm>
          <a:prstGeom prst="rect">
            <a:avLst/>
          </a:prstGeom>
          <a:ln w="0">
            <a:noFill/>
          </a:ln>
        </p:spPr>
      </p:pic>
      <p:sp>
        <p:nvSpPr>
          <p:cNvPr id="5" name="TextBox 4">
            <a:extLst>
              <a:ext uri="{FF2B5EF4-FFF2-40B4-BE49-F238E27FC236}">
                <a16:creationId xmlns:a16="http://schemas.microsoft.com/office/drawing/2014/main" id="{3934C7A2-320C-6E2B-4327-EBCCFC263961}"/>
              </a:ext>
            </a:extLst>
          </p:cNvPr>
          <p:cNvSpPr txBox="1"/>
          <p:nvPr/>
        </p:nvSpPr>
        <p:spPr>
          <a:xfrm>
            <a:off x="665018" y="2078182"/>
            <a:ext cx="10688782" cy="1938992"/>
          </a:xfrm>
          <a:prstGeom prst="rect">
            <a:avLst/>
          </a:prstGeom>
          <a:noFill/>
        </p:spPr>
        <p:txBody>
          <a:bodyPr wrap="square">
            <a:spAutoFit/>
          </a:bodyPr>
          <a:lstStyle/>
          <a:p>
            <a:pPr marL="342900" indent="-342900" algn="just" rtl="0" fontAlgn="base">
              <a:spcAft>
                <a:spcPts val="750"/>
              </a:spcAft>
              <a:buFont typeface="Arial" panose="020B0604020202020204" pitchFamily="34" charset="0"/>
              <a:buChar char="•"/>
            </a:pPr>
            <a:r>
              <a:rPr lang="en-US" sz="2000" b="0" i="0" dirty="0">
                <a:solidFill>
                  <a:srgbClr val="273239"/>
                </a:solidFill>
                <a:effectLst/>
              </a:rPr>
              <a:t>In Python programming, Operators in general are used to perform operations on values and variables. </a:t>
            </a:r>
          </a:p>
          <a:p>
            <a:pPr marL="342900" indent="-342900" algn="just" rtl="0" fontAlgn="base">
              <a:spcAft>
                <a:spcPts val="750"/>
              </a:spcAft>
              <a:buFont typeface="Arial" panose="020B0604020202020204" pitchFamily="34" charset="0"/>
              <a:buChar char="•"/>
            </a:pPr>
            <a:r>
              <a:rPr lang="en-US" sz="2000" b="0" i="0" dirty="0">
                <a:solidFill>
                  <a:srgbClr val="273239"/>
                </a:solidFill>
                <a:effectLst/>
              </a:rPr>
              <a:t>These are standard symbols used for logical and arithmetic operations. </a:t>
            </a:r>
          </a:p>
          <a:p>
            <a:pPr marL="342900" indent="-342900" algn="just" rtl="0" fontAlgn="base">
              <a:spcAft>
                <a:spcPts val="750"/>
              </a:spcAft>
              <a:buFont typeface="Arial" panose="020B0604020202020204" pitchFamily="34" charset="0"/>
              <a:buChar char="•"/>
            </a:pPr>
            <a:r>
              <a:rPr lang="en-US" sz="2000" b="1" i="0" dirty="0">
                <a:solidFill>
                  <a:srgbClr val="273239"/>
                </a:solidFill>
                <a:effectLst/>
              </a:rPr>
              <a:t>OPERATORS: </a:t>
            </a:r>
            <a:r>
              <a:rPr lang="en-US" sz="2000" b="0" i="0" dirty="0">
                <a:solidFill>
                  <a:srgbClr val="273239"/>
                </a:solidFill>
                <a:effectLst/>
              </a:rPr>
              <a:t>These are the special symbols. E.g.- + , * , /, etc.</a:t>
            </a:r>
          </a:p>
          <a:p>
            <a:pPr marL="342900" indent="-342900" algn="just" rtl="0" fontAlgn="base">
              <a:spcAft>
                <a:spcPts val="750"/>
              </a:spcAft>
              <a:buFont typeface="Arial" panose="020B0604020202020204" pitchFamily="34" charset="0"/>
              <a:buChar char="•"/>
            </a:pPr>
            <a:r>
              <a:rPr lang="en-US" sz="2000" b="1" i="0" dirty="0">
                <a:solidFill>
                  <a:srgbClr val="273239"/>
                </a:solidFill>
                <a:effectLst/>
              </a:rPr>
              <a:t>OPERAND: </a:t>
            </a:r>
            <a:r>
              <a:rPr lang="en-US" sz="2000" b="0" i="0" dirty="0">
                <a:solidFill>
                  <a:srgbClr val="273239"/>
                </a:solidFill>
                <a:effectLst/>
              </a:rPr>
              <a:t>It is the value on which the operator is applied.</a:t>
            </a:r>
          </a:p>
        </p:txBody>
      </p:sp>
    </p:spTree>
    <p:extLst>
      <p:ext uri="{BB962C8B-B14F-4D97-AF65-F5344CB8AC3E}">
        <p14:creationId xmlns:p14="http://schemas.microsoft.com/office/powerpoint/2010/main" val="119913234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D123A-D679-5607-DB53-065AA8212A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B4E028-5A00-F3B2-8F2D-803503A43E02}"/>
              </a:ext>
            </a:extLst>
          </p:cNvPr>
          <p:cNvSpPr>
            <a:spLocks noGrp="1"/>
          </p:cNvSpPr>
          <p:nvPr>
            <p:ph type="title"/>
          </p:nvPr>
        </p:nvSpPr>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Types Of Operators</a:t>
            </a:r>
          </a:p>
        </p:txBody>
      </p:sp>
      <p:pic>
        <p:nvPicPr>
          <p:cNvPr id="3" name="Picture 2">
            <a:extLst>
              <a:ext uri="{FF2B5EF4-FFF2-40B4-BE49-F238E27FC236}">
                <a16:creationId xmlns:a16="http://schemas.microsoft.com/office/drawing/2014/main" id="{6309142C-51E7-3022-3700-46096993FB0D}"/>
              </a:ext>
            </a:extLst>
          </p:cNvPr>
          <p:cNvPicPr/>
          <p:nvPr/>
        </p:nvPicPr>
        <p:blipFill>
          <a:blip r:embed="rId2" cstate="print"/>
          <a:stretch/>
        </p:blipFill>
        <p:spPr>
          <a:xfrm>
            <a:off x="11503320" y="20605"/>
            <a:ext cx="688680" cy="689040"/>
          </a:xfrm>
          <a:prstGeom prst="rect">
            <a:avLst/>
          </a:prstGeom>
          <a:ln w="0">
            <a:noFill/>
          </a:ln>
        </p:spPr>
      </p:pic>
      <p:sp>
        <p:nvSpPr>
          <p:cNvPr id="5" name="TextBox 4">
            <a:extLst>
              <a:ext uri="{FF2B5EF4-FFF2-40B4-BE49-F238E27FC236}">
                <a16:creationId xmlns:a16="http://schemas.microsoft.com/office/drawing/2014/main" id="{ECEFEC73-5A12-74DE-9093-41AF1AA450EB}"/>
              </a:ext>
            </a:extLst>
          </p:cNvPr>
          <p:cNvSpPr txBox="1"/>
          <p:nvPr/>
        </p:nvSpPr>
        <p:spPr>
          <a:xfrm>
            <a:off x="1179872" y="2113936"/>
            <a:ext cx="9311148" cy="2246769"/>
          </a:xfrm>
          <a:prstGeom prst="rect">
            <a:avLst/>
          </a:prstGeom>
          <a:noFill/>
        </p:spPr>
        <p:txBody>
          <a:bodyPr wrap="square" rtlCol="0">
            <a:spAutoFit/>
          </a:bodyPr>
          <a:lstStyle/>
          <a:p>
            <a:pPr marL="342900" indent="-342900">
              <a:buFont typeface="Arial" panose="020B0604020202020204" pitchFamily="34" charset="0"/>
              <a:buChar char="•"/>
            </a:pPr>
            <a:r>
              <a:rPr lang="en-IN" sz="2000" b="1" dirty="0"/>
              <a:t>Arithmetic Operators </a:t>
            </a:r>
            <a:r>
              <a:rPr lang="en-IN" sz="2000" b="1" dirty="0">
                <a:sym typeface="Wingdings" panose="05000000000000000000" pitchFamily="2" charset="2"/>
              </a:rPr>
              <a:t> +, -, *, /, %, **, //</a:t>
            </a:r>
          </a:p>
          <a:p>
            <a:pPr marL="342900" indent="-342900">
              <a:buFont typeface="Arial" panose="020B0604020202020204" pitchFamily="34" charset="0"/>
              <a:buChar char="•"/>
            </a:pPr>
            <a:r>
              <a:rPr lang="en-IN" sz="2000" b="1" dirty="0">
                <a:sym typeface="Wingdings" panose="05000000000000000000" pitchFamily="2" charset="2"/>
              </a:rPr>
              <a:t>Comparison Operators  &lt;, &gt;, &lt;=, &gt;=, !=, ==</a:t>
            </a:r>
          </a:p>
          <a:p>
            <a:pPr marL="342900" indent="-342900">
              <a:buFont typeface="Arial" panose="020B0604020202020204" pitchFamily="34" charset="0"/>
              <a:buChar char="•"/>
            </a:pPr>
            <a:r>
              <a:rPr lang="en-IN" sz="2000" b="1" dirty="0">
                <a:sym typeface="Wingdings" panose="05000000000000000000" pitchFamily="2" charset="2"/>
              </a:rPr>
              <a:t>Assignment Operators  =, +=, -=, *=, %=, **=, //=</a:t>
            </a:r>
          </a:p>
          <a:p>
            <a:pPr marL="342900" indent="-342900">
              <a:buFont typeface="Arial" panose="020B0604020202020204" pitchFamily="34" charset="0"/>
              <a:buChar char="•"/>
            </a:pPr>
            <a:r>
              <a:rPr lang="en-IN" sz="2000" b="1" dirty="0"/>
              <a:t>Logical Operators </a:t>
            </a:r>
            <a:r>
              <a:rPr lang="en-IN" sz="2000" b="1" dirty="0">
                <a:sym typeface="Wingdings" panose="05000000000000000000" pitchFamily="2" charset="2"/>
              </a:rPr>
              <a:t> and, or, not</a:t>
            </a:r>
          </a:p>
          <a:p>
            <a:pPr marL="342900" indent="-342900">
              <a:buFont typeface="Arial" panose="020B0604020202020204" pitchFamily="34" charset="0"/>
              <a:buChar char="•"/>
            </a:pPr>
            <a:r>
              <a:rPr lang="en-IN" sz="2000" b="1" dirty="0">
                <a:sym typeface="Wingdings" panose="05000000000000000000" pitchFamily="2" charset="2"/>
              </a:rPr>
              <a:t>Bitwise Operators  &amp;, |, &gt;&gt;, </a:t>
            </a:r>
            <a:r>
              <a:rPr lang="en-IN" sz="2000" b="1">
                <a:sym typeface="Wingdings" panose="05000000000000000000" pitchFamily="2" charset="2"/>
              </a:rPr>
              <a:t>&lt;&lt;, ~,^</a:t>
            </a:r>
            <a:endParaRPr lang="en-IN" sz="2000" b="1" dirty="0">
              <a:sym typeface="Wingdings" panose="05000000000000000000" pitchFamily="2" charset="2"/>
            </a:endParaRPr>
          </a:p>
          <a:p>
            <a:pPr marL="342900" indent="-342900">
              <a:buFont typeface="Arial" panose="020B0604020202020204" pitchFamily="34" charset="0"/>
              <a:buChar char="•"/>
            </a:pPr>
            <a:r>
              <a:rPr lang="en-IN" sz="2000" b="1" dirty="0">
                <a:sym typeface="Wingdings" panose="05000000000000000000" pitchFamily="2" charset="2"/>
              </a:rPr>
              <a:t>Identity Operators  is, is not</a:t>
            </a:r>
          </a:p>
          <a:p>
            <a:pPr marL="342900" indent="-342900">
              <a:buFont typeface="Arial" panose="020B0604020202020204" pitchFamily="34" charset="0"/>
              <a:buChar char="•"/>
            </a:pPr>
            <a:r>
              <a:rPr lang="en-IN" sz="2000" b="1" dirty="0">
                <a:sym typeface="Wingdings" panose="05000000000000000000" pitchFamily="2" charset="2"/>
              </a:rPr>
              <a:t>Membership Operators  in, not in</a:t>
            </a:r>
            <a:endParaRPr lang="en-IN" sz="2000" b="1" dirty="0"/>
          </a:p>
        </p:txBody>
      </p:sp>
    </p:spTree>
    <p:extLst>
      <p:ext uri="{BB962C8B-B14F-4D97-AF65-F5344CB8AC3E}">
        <p14:creationId xmlns:p14="http://schemas.microsoft.com/office/powerpoint/2010/main" val="250575125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31F52-D381-5A43-E683-797AB320E013}"/>
              </a:ext>
            </a:extLst>
          </p:cNvPr>
          <p:cNvSpPr>
            <a:spLocks noGrp="1"/>
          </p:cNvSpPr>
          <p:nvPr>
            <p:ph type="title"/>
          </p:nvPr>
        </p:nvSpPr>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Arithmetic Operators</a:t>
            </a:r>
          </a:p>
        </p:txBody>
      </p:sp>
      <p:pic>
        <p:nvPicPr>
          <p:cNvPr id="4" name="Picture 3">
            <a:extLst>
              <a:ext uri="{FF2B5EF4-FFF2-40B4-BE49-F238E27FC236}">
                <a16:creationId xmlns:a16="http://schemas.microsoft.com/office/drawing/2014/main" id="{9ED51824-2FAF-B072-AFF0-FA2C407A5722}"/>
              </a:ext>
            </a:extLst>
          </p:cNvPr>
          <p:cNvPicPr/>
          <p:nvPr/>
        </p:nvPicPr>
        <p:blipFill>
          <a:blip r:embed="rId2" cstate="print"/>
          <a:stretch/>
        </p:blipFill>
        <p:spPr>
          <a:xfrm>
            <a:off x="11503320" y="0"/>
            <a:ext cx="688680" cy="689040"/>
          </a:xfrm>
          <a:prstGeom prst="rect">
            <a:avLst/>
          </a:prstGeom>
          <a:ln w="0">
            <a:noFill/>
          </a:ln>
        </p:spPr>
      </p:pic>
      <p:sp>
        <p:nvSpPr>
          <p:cNvPr id="6" name="TextBox 5">
            <a:extLst>
              <a:ext uri="{FF2B5EF4-FFF2-40B4-BE49-F238E27FC236}">
                <a16:creationId xmlns:a16="http://schemas.microsoft.com/office/drawing/2014/main" id="{D2969427-38B1-2BD6-BC30-08FA426DAFCD}"/>
              </a:ext>
            </a:extLst>
          </p:cNvPr>
          <p:cNvSpPr txBox="1"/>
          <p:nvPr/>
        </p:nvSpPr>
        <p:spPr>
          <a:xfrm>
            <a:off x="838201" y="1723298"/>
            <a:ext cx="10515600" cy="4401205"/>
          </a:xfrm>
          <a:prstGeom prst="rect">
            <a:avLst/>
          </a:prstGeom>
          <a:noFill/>
        </p:spPr>
        <p:txBody>
          <a:bodyPr wrap="square">
            <a:spAutoFit/>
          </a:bodyPr>
          <a:lstStyle/>
          <a:p>
            <a:pPr marL="342900" indent="-342900">
              <a:buFont typeface="Arial" panose="020B0604020202020204" pitchFamily="34" charset="0"/>
              <a:buChar char="•"/>
            </a:pPr>
            <a:r>
              <a:rPr lang="en-US" sz="2000" b="0" i="0" dirty="0">
                <a:solidFill>
                  <a:srgbClr val="000000"/>
                </a:solidFill>
                <a:effectLst/>
                <a:cs typeface="Times New Roman" panose="02020603050405020304" pitchFamily="18" charset="0"/>
              </a:rPr>
              <a:t>Arithmetic operators are used with numeric values to perform common mathematical operations.</a:t>
            </a:r>
          </a:p>
          <a:p>
            <a:pPr marL="342900" indent="-342900">
              <a:buFont typeface="Arial" panose="020B0604020202020204" pitchFamily="34" charset="0"/>
              <a:buChar char="•"/>
            </a:pPr>
            <a:r>
              <a:rPr lang="en-US" sz="2000" dirty="0">
                <a:solidFill>
                  <a:srgbClr val="000000"/>
                </a:solidFill>
                <a:cs typeface="Times New Roman" panose="02020603050405020304" pitchFamily="18" charset="0"/>
              </a:rPr>
              <a:t>Operators are +, -, *, /, %, **,//</a:t>
            </a:r>
          </a:p>
          <a:p>
            <a:pPr marL="342900" indent="-342900">
              <a:buFont typeface="Arial" panose="020B0604020202020204" pitchFamily="34" charset="0"/>
              <a:buChar char="•"/>
            </a:pPr>
            <a:endParaRPr lang="en-US" sz="2000" dirty="0">
              <a:solidFill>
                <a:srgbClr val="000000"/>
              </a:solidFill>
              <a:cs typeface="Times New Roman" panose="02020603050405020304" pitchFamily="18" charset="0"/>
            </a:endParaRPr>
          </a:p>
          <a:p>
            <a:r>
              <a:rPr lang="en-US" sz="2000" b="1" dirty="0">
                <a:solidFill>
                  <a:srgbClr val="000000"/>
                </a:solidFill>
                <a:cs typeface="Times New Roman" panose="02020603050405020304" pitchFamily="18" charset="0"/>
              </a:rPr>
              <a:t>Example</a:t>
            </a:r>
          </a:p>
          <a:p>
            <a:pPr marL="0" indent="0">
              <a:buNone/>
            </a:pPr>
            <a:r>
              <a:rPr lang="en-US" sz="2000" dirty="0">
                <a:solidFill>
                  <a:srgbClr val="000000"/>
                </a:solidFill>
                <a:cs typeface="Times New Roman" panose="02020603050405020304" pitchFamily="18" charset="0"/>
              </a:rPr>
              <a:t>	x = 8</a:t>
            </a:r>
          </a:p>
          <a:p>
            <a:pPr marL="0" indent="0">
              <a:buNone/>
            </a:pPr>
            <a:r>
              <a:rPr lang="en-US" sz="2000" dirty="0">
                <a:solidFill>
                  <a:srgbClr val="000000"/>
                </a:solidFill>
                <a:cs typeface="Times New Roman" panose="02020603050405020304" pitchFamily="18" charset="0"/>
              </a:rPr>
              <a:t>	y = 4</a:t>
            </a:r>
          </a:p>
          <a:p>
            <a:pPr marL="0" indent="0">
              <a:buNone/>
            </a:pPr>
            <a:r>
              <a:rPr lang="en-US" sz="2000" dirty="0">
                <a:solidFill>
                  <a:srgbClr val="000000"/>
                </a:solidFill>
                <a:cs typeface="Times New Roman" panose="02020603050405020304" pitchFamily="18" charset="0"/>
              </a:rPr>
              <a:t>	print(x + y)		#12</a:t>
            </a:r>
          </a:p>
          <a:p>
            <a:pPr marL="0" indent="0">
              <a:buNone/>
            </a:pPr>
            <a:r>
              <a:rPr lang="en-US" sz="2000" dirty="0">
                <a:solidFill>
                  <a:srgbClr val="000000"/>
                </a:solidFill>
                <a:cs typeface="Times New Roman" panose="02020603050405020304" pitchFamily="18" charset="0"/>
              </a:rPr>
              <a:t>	print(x – y)		#4</a:t>
            </a:r>
          </a:p>
          <a:p>
            <a:pPr marL="0" indent="0">
              <a:buNone/>
            </a:pPr>
            <a:r>
              <a:rPr lang="en-US" sz="2000" dirty="0">
                <a:solidFill>
                  <a:srgbClr val="000000"/>
                </a:solidFill>
                <a:cs typeface="Times New Roman" panose="02020603050405020304" pitchFamily="18" charset="0"/>
              </a:rPr>
              <a:t>	print(x * y)		#32</a:t>
            </a:r>
          </a:p>
          <a:p>
            <a:pPr marL="0" indent="0">
              <a:buNone/>
            </a:pPr>
            <a:r>
              <a:rPr lang="en-US" sz="2000" dirty="0">
                <a:solidFill>
                  <a:srgbClr val="000000"/>
                </a:solidFill>
                <a:cs typeface="Times New Roman" panose="02020603050405020304" pitchFamily="18" charset="0"/>
              </a:rPr>
              <a:t>	print(x / y)		#2.0</a:t>
            </a:r>
          </a:p>
          <a:p>
            <a:pPr marL="0" indent="0">
              <a:buNone/>
            </a:pPr>
            <a:r>
              <a:rPr lang="en-US" sz="2000" dirty="0">
                <a:solidFill>
                  <a:srgbClr val="000000"/>
                </a:solidFill>
                <a:cs typeface="Times New Roman" panose="02020603050405020304" pitchFamily="18" charset="0"/>
              </a:rPr>
              <a:t>	print(x % y)		#0</a:t>
            </a:r>
          </a:p>
          <a:p>
            <a:pPr marL="0" indent="0">
              <a:buNone/>
            </a:pPr>
            <a:r>
              <a:rPr lang="en-US" sz="2000" dirty="0">
                <a:solidFill>
                  <a:srgbClr val="000000"/>
                </a:solidFill>
                <a:cs typeface="Times New Roman" panose="02020603050405020304" pitchFamily="18" charset="0"/>
              </a:rPr>
              <a:t>	print(x ** y)		#4096</a:t>
            </a:r>
          </a:p>
          <a:p>
            <a:pPr marL="0" indent="0">
              <a:buNone/>
            </a:pPr>
            <a:r>
              <a:rPr lang="en-US" sz="2000" dirty="0">
                <a:solidFill>
                  <a:srgbClr val="000000"/>
                </a:solidFill>
                <a:cs typeface="Times New Roman" panose="02020603050405020304" pitchFamily="18" charset="0"/>
              </a:rPr>
              <a:t>	print(x // y)		#2</a:t>
            </a:r>
          </a:p>
        </p:txBody>
      </p:sp>
    </p:spTree>
    <p:extLst>
      <p:ext uri="{BB962C8B-B14F-4D97-AF65-F5344CB8AC3E}">
        <p14:creationId xmlns:p14="http://schemas.microsoft.com/office/powerpoint/2010/main" val="361229159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F2873-F600-494A-7A6C-9A6E16757F0B}"/>
              </a:ext>
            </a:extLst>
          </p:cNvPr>
          <p:cNvSpPr>
            <a:spLocks noGrp="1"/>
          </p:cNvSpPr>
          <p:nvPr>
            <p:ph type="title"/>
          </p:nvPr>
        </p:nvSpPr>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Comparison Operators</a:t>
            </a:r>
          </a:p>
        </p:txBody>
      </p:sp>
      <p:pic>
        <p:nvPicPr>
          <p:cNvPr id="4" name="Picture 3">
            <a:extLst>
              <a:ext uri="{FF2B5EF4-FFF2-40B4-BE49-F238E27FC236}">
                <a16:creationId xmlns:a16="http://schemas.microsoft.com/office/drawing/2014/main" id="{A98DE40A-B4D1-0E9F-D99D-4E0BEEA1EB4C}"/>
              </a:ext>
            </a:extLst>
          </p:cNvPr>
          <p:cNvPicPr/>
          <p:nvPr/>
        </p:nvPicPr>
        <p:blipFill>
          <a:blip r:embed="rId2" cstate="print"/>
          <a:stretch/>
        </p:blipFill>
        <p:spPr>
          <a:xfrm>
            <a:off x="11503320" y="0"/>
            <a:ext cx="688680" cy="689040"/>
          </a:xfrm>
          <a:prstGeom prst="rect">
            <a:avLst/>
          </a:prstGeom>
          <a:ln w="0">
            <a:noFill/>
          </a:ln>
        </p:spPr>
      </p:pic>
      <p:sp>
        <p:nvSpPr>
          <p:cNvPr id="6" name="TextBox 5">
            <a:extLst>
              <a:ext uri="{FF2B5EF4-FFF2-40B4-BE49-F238E27FC236}">
                <a16:creationId xmlns:a16="http://schemas.microsoft.com/office/drawing/2014/main" id="{E481D9C9-C65C-0CE1-414D-DBADF316AF16}"/>
              </a:ext>
            </a:extLst>
          </p:cNvPr>
          <p:cNvSpPr txBox="1"/>
          <p:nvPr/>
        </p:nvSpPr>
        <p:spPr>
          <a:xfrm>
            <a:off x="943897" y="2000297"/>
            <a:ext cx="10409903" cy="3785652"/>
          </a:xfrm>
          <a:prstGeom prst="rect">
            <a:avLst/>
          </a:prstGeom>
          <a:noFill/>
        </p:spPr>
        <p:txBody>
          <a:bodyPr wrap="square">
            <a:spAutoFit/>
          </a:bodyPr>
          <a:lstStyle/>
          <a:p>
            <a:pPr marL="342900" indent="-342900">
              <a:buFont typeface="Arial" panose="020B0604020202020204" pitchFamily="34" charset="0"/>
              <a:buChar char="•"/>
            </a:pPr>
            <a:r>
              <a:rPr lang="en-IN" sz="2000" dirty="0">
                <a:cs typeface="Times New Roman" panose="02020603050405020304" pitchFamily="18" charset="0"/>
              </a:rPr>
              <a:t>Comparison operators are used to compare two values.</a:t>
            </a:r>
          </a:p>
          <a:p>
            <a:pPr marL="342900" indent="-342900">
              <a:buFont typeface="Arial" panose="020B0604020202020204" pitchFamily="34" charset="0"/>
              <a:buChar char="•"/>
            </a:pPr>
            <a:r>
              <a:rPr lang="en-IN" sz="2000" dirty="0">
                <a:cs typeface="Times New Roman" panose="02020603050405020304" pitchFamily="18" charset="0"/>
              </a:rPr>
              <a:t>Operators are ==, !=, &gt;, &lt;, &gt;=, &lt;=</a:t>
            </a:r>
          </a:p>
          <a:p>
            <a:pPr marL="342900" indent="-342900">
              <a:buFont typeface="Arial" panose="020B0604020202020204" pitchFamily="34" charset="0"/>
              <a:buChar char="•"/>
            </a:pPr>
            <a:endParaRPr lang="en-IN" sz="2000" dirty="0">
              <a:cs typeface="Times New Roman" panose="02020603050405020304" pitchFamily="18" charset="0"/>
            </a:endParaRPr>
          </a:p>
          <a:p>
            <a:r>
              <a:rPr lang="en-IN" sz="2000" b="1" dirty="0">
                <a:cs typeface="Times New Roman" panose="02020603050405020304" pitchFamily="18" charset="0"/>
              </a:rPr>
              <a:t>Example</a:t>
            </a:r>
          </a:p>
          <a:p>
            <a:pPr marL="0" indent="0">
              <a:buNone/>
            </a:pPr>
            <a:r>
              <a:rPr lang="en-IN" sz="2000" dirty="0">
                <a:cs typeface="Times New Roman" panose="02020603050405020304" pitchFamily="18" charset="0"/>
              </a:rPr>
              <a:t>	x = 5</a:t>
            </a:r>
          </a:p>
          <a:p>
            <a:pPr marL="0" indent="0">
              <a:buNone/>
            </a:pPr>
            <a:r>
              <a:rPr lang="en-IN" sz="2000" dirty="0">
                <a:cs typeface="Times New Roman" panose="02020603050405020304" pitchFamily="18" charset="0"/>
              </a:rPr>
              <a:t>	y = 13</a:t>
            </a:r>
          </a:p>
          <a:p>
            <a:pPr marL="0" indent="0">
              <a:buNone/>
            </a:pPr>
            <a:r>
              <a:rPr lang="en-IN" sz="2000" dirty="0">
                <a:cs typeface="Times New Roman" panose="02020603050405020304" pitchFamily="18" charset="0"/>
              </a:rPr>
              <a:t>	print(x == y)				#False</a:t>
            </a:r>
          </a:p>
          <a:p>
            <a:pPr marL="0" indent="0">
              <a:buNone/>
            </a:pPr>
            <a:r>
              <a:rPr lang="en-IN" sz="2000" dirty="0">
                <a:cs typeface="Times New Roman" panose="02020603050405020304" pitchFamily="18" charset="0"/>
              </a:rPr>
              <a:t>	print(x != y)				#True</a:t>
            </a:r>
          </a:p>
          <a:p>
            <a:pPr marL="0" indent="0">
              <a:buNone/>
            </a:pPr>
            <a:r>
              <a:rPr lang="en-IN" sz="2000" dirty="0">
                <a:cs typeface="Times New Roman" panose="02020603050405020304" pitchFamily="18" charset="0"/>
              </a:rPr>
              <a:t>	print(x &gt; y)				#False</a:t>
            </a:r>
          </a:p>
          <a:p>
            <a:pPr marL="0" indent="0">
              <a:buNone/>
            </a:pPr>
            <a:r>
              <a:rPr lang="en-IN" sz="2000" dirty="0">
                <a:cs typeface="Times New Roman" panose="02020603050405020304" pitchFamily="18" charset="0"/>
              </a:rPr>
              <a:t>	print(x &lt; y)				#True</a:t>
            </a:r>
          </a:p>
          <a:p>
            <a:pPr marL="0" indent="0">
              <a:buNone/>
            </a:pPr>
            <a:r>
              <a:rPr lang="en-IN" sz="2000" dirty="0">
                <a:cs typeface="Times New Roman" panose="02020603050405020304" pitchFamily="18" charset="0"/>
              </a:rPr>
              <a:t>	print(x &gt;= y)				#False</a:t>
            </a:r>
          </a:p>
          <a:p>
            <a:pPr marL="0" indent="0">
              <a:buNone/>
            </a:pPr>
            <a:r>
              <a:rPr lang="en-IN" sz="2000" dirty="0">
                <a:cs typeface="Times New Roman" panose="02020603050405020304" pitchFamily="18" charset="0"/>
              </a:rPr>
              <a:t>	print(x &lt;= y)				#True</a:t>
            </a:r>
          </a:p>
        </p:txBody>
      </p:sp>
    </p:spTree>
    <p:extLst>
      <p:ext uri="{BB962C8B-B14F-4D97-AF65-F5344CB8AC3E}">
        <p14:creationId xmlns:p14="http://schemas.microsoft.com/office/powerpoint/2010/main" val="122541477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5504E-DCA6-59B8-9DC8-4259F4F98D26}"/>
              </a:ext>
            </a:extLst>
          </p:cNvPr>
          <p:cNvSpPr>
            <a:spLocks noGrp="1"/>
          </p:cNvSpPr>
          <p:nvPr>
            <p:ph type="title"/>
          </p:nvPr>
        </p:nvSpPr>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Assignment Operator</a:t>
            </a:r>
          </a:p>
        </p:txBody>
      </p:sp>
      <p:pic>
        <p:nvPicPr>
          <p:cNvPr id="4" name="Picture 3">
            <a:extLst>
              <a:ext uri="{FF2B5EF4-FFF2-40B4-BE49-F238E27FC236}">
                <a16:creationId xmlns:a16="http://schemas.microsoft.com/office/drawing/2014/main" id="{EB0243FC-5A72-C671-6EC6-BE4C944319F9}"/>
              </a:ext>
            </a:extLst>
          </p:cNvPr>
          <p:cNvPicPr/>
          <p:nvPr/>
        </p:nvPicPr>
        <p:blipFill>
          <a:blip r:embed="rId2" cstate="print"/>
          <a:stretch/>
        </p:blipFill>
        <p:spPr>
          <a:xfrm>
            <a:off x="11503320" y="20605"/>
            <a:ext cx="688680" cy="689040"/>
          </a:xfrm>
          <a:prstGeom prst="rect">
            <a:avLst/>
          </a:prstGeom>
          <a:ln w="0">
            <a:noFill/>
          </a:ln>
        </p:spPr>
      </p:pic>
      <p:cxnSp>
        <p:nvCxnSpPr>
          <p:cNvPr id="7" name="Straight Connector 6">
            <a:extLst>
              <a:ext uri="{FF2B5EF4-FFF2-40B4-BE49-F238E27FC236}">
                <a16:creationId xmlns:a16="http://schemas.microsoft.com/office/drawing/2014/main" id="{349668EE-D910-20F6-C29E-E46AEC01416A}"/>
              </a:ext>
            </a:extLst>
          </p:cNvPr>
          <p:cNvCxnSpPr>
            <a:cxnSpLocks/>
          </p:cNvCxnSpPr>
          <p:nvPr/>
        </p:nvCxnSpPr>
        <p:spPr>
          <a:xfrm>
            <a:off x="4975123" y="2222090"/>
            <a:ext cx="0" cy="2576052"/>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DBBE547E-FC65-DF2C-4841-3AE14DF67612}"/>
              </a:ext>
            </a:extLst>
          </p:cNvPr>
          <p:cNvSpPr txBox="1"/>
          <p:nvPr/>
        </p:nvSpPr>
        <p:spPr>
          <a:xfrm>
            <a:off x="1248697" y="1484671"/>
            <a:ext cx="9586451" cy="3477875"/>
          </a:xfrm>
          <a:prstGeom prst="rect">
            <a:avLst/>
          </a:prstGeom>
          <a:noFill/>
        </p:spPr>
        <p:txBody>
          <a:bodyPr wrap="square">
            <a:spAutoFit/>
          </a:bodyPr>
          <a:lstStyle/>
          <a:p>
            <a:pPr marL="342900" indent="-342900">
              <a:buFont typeface="Arial" panose="020B0604020202020204" pitchFamily="34" charset="0"/>
              <a:buChar char="•"/>
            </a:pPr>
            <a:r>
              <a:rPr lang="en-IN" sz="2000" dirty="0">
                <a:cs typeface="Times New Roman" panose="02020603050405020304" pitchFamily="18" charset="0"/>
              </a:rPr>
              <a:t>Assignment operators are used to assign values to variables.</a:t>
            </a:r>
          </a:p>
          <a:p>
            <a:pPr marL="342900" indent="-342900">
              <a:buFont typeface="Arial" panose="020B0604020202020204" pitchFamily="34" charset="0"/>
              <a:buChar char="•"/>
            </a:pPr>
            <a:r>
              <a:rPr lang="en-IN" sz="2000" dirty="0">
                <a:cs typeface="Times New Roman" panose="02020603050405020304" pitchFamily="18" charset="0"/>
              </a:rPr>
              <a:t>Operators are </a:t>
            </a:r>
            <a:r>
              <a:rPr lang="en-IN" sz="2000" kern="100" dirty="0">
                <a:effectLst/>
                <a:ea typeface="Calibri" panose="020F0502020204030204" pitchFamily="34" charset="0"/>
                <a:cs typeface="Times New Roman" panose="02020603050405020304" pitchFamily="18" charset="0"/>
              </a:rPr>
              <a:t>=, +=, -=, *=, /=, %= ,**=, //=</a:t>
            </a:r>
          </a:p>
          <a:p>
            <a:pPr marL="0" indent="0">
              <a:buNone/>
            </a:pPr>
            <a:r>
              <a:rPr lang="en-IN" sz="2000" kern="100" dirty="0">
                <a:effectLst/>
                <a:ea typeface="Calibri" panose="020F0502020204030204" pitchFamily="34" charset="0"/>
                <a:cs typeface="Times New Roman" panose="02020603050405020304" pitchFamily="18" charset="0"/>
              </a:rPr>
              <a:t>	x = 10</a:t>
            </a:r>
          </a:p>
          <a:p>
            <a:pPr marL="0" indent="0">
              <a:buNone/>
            </a:pPr>
            <a:r>
              <a:rPr lang="en-IN" sz="2000" kern="100" dirty="0">
                <a:effectLst/>
                <a:ea typeface="Calibri" panose="020F0502020204030204" pitchFamily="34" charset="0"/>
                <a:cs typeface="Times New Roman" panose="02020603050405020304" pitchFamily="18" charset="0"/>
              </a:rPr>
              <a:t>	x += 2	x = x+2						x //= 2		x = x//2</a:t>
            </a:r>
          </a:p>
          <a:p>
            <a:pPr marL="0" indent="0">
              <a:buNone/>
            </a:pPr>
            <a:r>
              <a:rPr lang="en-IN" sz="2000" kern="100" dirty="0">
                <a:effectLst/>
                <a:ea typeface="Calibri" panose="020F0502020204030204" pitchFamily="34" charset="0"/>
                <a:cs typeface="Times New Roman" panose="02020603050405020304" pitchFamily="18" charset="0"/>
              </a:rPr>
              <a:t>	print(x)	#12						print(x)	#5</a:t>
            </a:r>
          </a:p>
          <a:p>
            <a:pPr marL="0" indent="0">
              <a:buNone/>
            </a:pPr>
            <a:r>
              <a:rPr lang="en-IN" sz="2000" kern="100" dirty="0">
                <a:effectLst/>
                <a:ea typeface="Calibri" panose="020F0502020204030204" pitchFamily="34" charset="0"/>
                <a:cs typeface="Times New Roman" panose="02020603050405020304" pitchFamily="18" charset="0"/>
              </a:rPr>
              <a:t>	x -= 2	x = x-2						x %= 3</a:t>
            </a:r>
          </a:p>
          <a:p>
            <a:pPr marL="0" indent="0">
              <a:buNone/>
            </a:pPr>
            <a:r>
              <a:rPr lang="en-IN" sz="2000" kern="100" dirty="0">
                <a:effectLst/>
                <a:ea typeface="Calibri" panose="020F0502020204030204" pitchFamily="34" charset="0"/>
                <a:cs typeface="Times New Roman" panose="02020603050405020304" pitchFamily="18" charset="0"/>
              </a:rPr>
              <a:t>	print(x)	#10						print(x)	#2.0</a:t>
            </a:r>
          </a:p>
          <a:p>
            <a:pPr marL="0" indent="0">
              <a:buNone/>
            </a:pPr>
            <a:r>
              <a:rPr lang="en-IN" sz="2000" kern="100" dirty="0">
                <a:ea typeface="Calibri" panose="020F0502020204030204" pitchFamily="34" charset="0"/>
                <a:cs typeface="Times New Roman" panose="02020603050405020304" pitchFamily="18" charset="0"/>
              </a:rPr>
              <a:t>	x *= 2	x = x*2						x **= 3</a:t>
            </a:r>
          </a:p>
          <a:p>
            <a:pPr marL="0" indent="0">
              <a:buNone/>
            </a:pPr>
            <a:r>
              <a:rPr lang="en-IN" sz="2000" kern="100" dirty="0">
                <a:effectLst/>
                <a:ea typeface="Calibri" panose="020F0502020204030204" pitchFamily="34" charset="0"/>
                <a:cs typeface="Times New Roman" panose="02020603050405020304" pitchFamily="18" charset="0"/>
              </a:rPr>
              <a:t>	print(x)	#20						print(x)	#8.0</a:t>
            </a:r>
            <a:endParaRPr lang="en-IN" sz="2000" kern="100" dirty="0">
              <a:ea typeface="Calibri" panose="020F0502020204030204" pitchFamily="34" charset="0"/>
              <a:cs typeface="Times New Roman" panose="02020603050405020304" pitchFamily="18" charset="0"/>
            </a:endParaRPr>
          </a:p>
          <a:p>
            <a:pPr marL="0" indent="0">
              <a:buNone/>
            </a:pPr>
            <a:r>
              <a:rPr lang="en-IN" sz="2000" kern="100" dirty="0">
                <a:ea typeface="Calibri" panose="020F0502020204030204" pitchFamily="34" charset="0"/>
                <a:cs typeface="Times New Roman" panose="02020603050405020304" pitchFamily="18" charset="0"/>
              </a:rPr>
              <a:t>	x /= 2	x= x/2</a:t>
            </a:r>
          </a:p>
          <a:p>
            <a:pPr marL="0" indent="0">
              <a:buNone/>
            </a:pPr>
            <a:r>
              <a:rPr lang="en-IN" sz="2000" kern="100" dirty="0">
                <a:effectLst/>
                <a:ea typeface="Calibri" panose="020F0502020204030204" pitchFamily="34" charset="0"/>
                <a:cs typeface="Times New Roman" panose="02020603050405020304" pitchFamily="18" charset="0"/>
              </a:rPr>
              <a:t>	print(x)	#10.0</a:t>
            </a:r>
            <a:endParaRPr lang="en-IN" sz="2000" kern="1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9207716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EAE99-9D5A-5D72-5BF8-76F9968680A1}"/>
              </a:ext>
            </a:extLst>
          </p:cNvPr>
          <p:cNvSpPr>
            <a:spLocks noGrp="1"/>
          </p:cNvSpPr>
          <p:nvPr>
            <p:ph type="title"/>
          </p:nvPr>
        </p:nvSpPr>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Logical Operators</a:t>
            </a:r>
          </a:p>
        </p:txBody>
      </p:sp>
      <p:pic>
        <p:nvPicPr>
          <p:cNvPr id="4" name="Picture 3">
            <a:extLst>
              <a:ext uri="{FF2B5EF4-FFF2-40B4-BE49-F238E27FC236}">
                <a16:creationId xmlns:a16="http://schemas.microsoft.com/office/drawing/2014/main" id="{19411EC5-69FF-5DCD-C0C2-9EA624CFD054}"/>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3BFDEF7E-58CA-653F-1D01-12353B37B501}"/>
              </a:ext>
            </a:extLst>
          </p:cNvPr>
          <p:cNvSpPr txBox="1"/>
          <p:nvPr/>
        </p:nvSpPr>
        <p:spPr>
          <a:xfrm>
            <a:off x="1081547" y="2138797"/>
            <a:ext cx="8947355" cy="3477875"/>
          </a:xfrm>
          <a:prstGeom prst="rect">
            <a:avLst/>
          </a:prstGeom>
          <a:noFill/>
        </p:spPr>
        <p:txBody>
          <a:bodyPr wrap="square">
            <a:spAutoFit/>
          </a:bodyPr>
          <a:lstStyle/>
          <a:p>
            <a:pPr marL="342900" indent="-342900">
              <a:buFont typeface="Arial" panose="020B0604020202020204" pitchFamily="34" charset="0"/>
              <a:buChar char="•"/>
            </a:pPr>
            <a:r>
              <a:rPr lang="en-IN" sz="2000" dirty="0">
                <a:cs typeface="Times New Roman" panose="02020603050405020304" pitchFamily="18" charset="0"/>
              </a:rPr>
              <a:t>Logical operators are used to combine conditional statements.</a:t>
            </a:r>
          </a:p>
          <a:p>
            <a:pPr marL="342900" indent="-342900">
              <a:buFont typeface="Arial" panose="020B0604020202020204" pitchFamily="34" charset="0"/>
              <a:buChar char="•"/>
            </a:pPr>
            <a:r>
              <a:rPr lang="en-IN" sz="2000" dirty="0">
                <a:cs typeface="Times New Roman" panose="02020603050405020304" pitchFamily="18" charset="0"/>
              </a:rPr>
              <a:t>Operators are: and, or, not.</a:t>
            </a:r>
          </a:p>
          <a:p>
            <a:pPr marL="342900" indent="-342900">
              <a:buFont typeface="Arial" panose="020B0604020202020204" pitchFamily="34" charset="0"/>
              <a:buChar char="•"/>
            </a:pPr>
            <a:endParaRPr lang="en-IN" sz="2000" dirty="0">
              <a:cs typeface="Times New Roman" panose="02020603050405020304" pitchFamily="18" charset="0"/>
            </a:endParaRPr>
          </a:p>
          <a:p>
            <a:r>
              <a:rPr lang="en-IN" sz="2000" b="1" dirty="0">
                <a:cs typeface="Times New Roman" panose="02020603050405020304" pitchFamily="18" charset="0"/>
              </a:rPr>
              <a:t>Example </a:t>
            </a:r>
          </a:p>
          <a:p>
            <a:pPr marL="0" indent="0">
              <a:buNone/>
            </a:pPr>
            <a:r>
              <a:rPr lang="en-IN" sz="2000" dirty="0">
                <a:cs typeface="Times New Roman" panose="02020603050405020304" pitchFamily="18" charset="0"/>
              </a:rPr>
              <a:t>	x = 6</a:t>
            </a:r>
          </a:p>
          <a:p>
            <a:pPr marL="0" indent="0">
              <a:buNone/>
            </a:pPr>
            <a:r>
              <a:rPr lang="en-IN" sz="2000" dirty="0">
                <a:cs typeface="Times New Roman" panose="02020603050405020304" pitchFamily="18" charset="0"/>
              </a:rPr>
              <a:t>	print(x &gt; 1 and x &lt; 9)			#True</a:t>
            </a:r>
          </a:p>
          <a:p>
            <a:pPr marL="0" indent="0">
              <a:buNone/>
            </a:pPr>
            <a:r>
              <a:rPr lang="en-IN" sz="2000" dirty="0">
                <a:cs typeface="Times New Roman" panose="02020603050405020304" pitchFamily="18" charset="0"/>
              </a:rPr>
              <a:t>	print(x &gt; 10 and x &lt; 7)			#False</a:t>
            </a:r>
          </a:p>
          <a:p>
            <a:pPr marL="0" indent="0">
              <a:buNone/>
            </a:pPr>
            <a:r>
              <a:rPr lang="en-IN" sz="2000" dirty="0">
                <a:cs typeface="Times New Roman" panose="02020603050405020304" pitchFamily="18" charset="0"/>
              </a:rPr>
              <a:t>	print(x &gt; 2 or x &lt; 5)				#True</a:t>
            </a:r>
          </a:p>
          <a:p>
            <a:pPr marL="0" indent="0">
              <a:buNone/>
            </a:pPr>
            <a:r>
              <a:rPr lang="en-IN" sz="2000" dirty="0">
                <a:cs typeface="Times New Roman" panose="02020603050405020304" pitchFamily="18" charset="0"/>
              </a:rPr>
              <a:t>	print(x &gt; 7 or x &lt; 1)				#False</a:t>
            </a:r>
          </a:p>
          <a:p>
            <a:pPr marL="0" indent="0">
              <a:buNone/>
            </a:pPr>
            <a:r>
              <a:rPr lang="en-IN" sz="2000" dirty="0">
                <a:cs typeface="Times New Roman" panose="02020603050405020304" pitchFamily="18" charset="0"/>
              </a:rPr>
              <a:t>	print(not(x &gt; 3 and x &lt; 10))		#False</a:t>
            </a:r>
          </a:p>
          <a:p>
            <a:pPr marL="0" indent="0">
              <a:buNone/>
            </a:pPr>
            <a:r>
              <a:rPr lang="en-IN" sz="2000" dirty="0">
                <a:cs typeface="Times New Roman" panose="02020603050405020304" pitchFamily="18" charset="0"/>
              </a:rPr>
              <a:t>	print(not(x &gt; 8 or x == 5))		#True</a:t>
            </a:r>
          </a:p>
        </p:txBody>
      </p:sp>
    </p:spTree>
    <p:extLst>
      <p:ext uri="{BB962C8B-B14F-4D97-AF65-F5344CB8AC3E}">
        <p14:creationId xmlns:p14="http://schemas.microsoft.com/office/powerpoint/2010/main" val="178118026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B90A0-EA8A-7E00-948A-76EB22A72427}"/>
              </a:ext>
            </a:extLst>
          </p:cNvPr>
          <p:cNvSpPr>
            <a:spLocks noGrp="1"/>
          </p:cNvSpPr>
          <p:nvPr>
            <p:ph type="title"/>
          </p:nvPr>
        </p:nvSpPr>
        <p:spPr>
          <a:xfrm>
            <a:off x="838200" y="149629"/>
            <a:ext cx="10515600" cy="1064029"/>
          </a:xfrm>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Bitwise Operator</a:t>
            </a:r>
          </a:p>
        </p:txBody>
      </p:sp>
      <p:pic>
        <p:nvPicPr>
          <p:cNvPr id="4" name="Picture 3">
            <a:extLst>
              <a:ext uri="{FF2B5EF4-FFF2-40B4-BE49-F238E27FC236}">
                <a16:creationId xmlns:a16="http://schemas.microsoft.com/office/drawing/2014/main" id="{292BF88E-C3F3-F894-F75C-946CCABA0F74}"/>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6389A18A-741E-0A63-5612-0388FCD91C5A}"/>
              </a:ext>
            </a:extLst>
          </p:cNvPr>
          <p:cNvSpPr txBox="1"/>
          <p:nvPr/>
        </p:nvSpPr>
        <p:spPr>
          <a:xfrm>
            <a:off x="730466" y="1213658"/>
            <a:ext cx="10515601" cy="5632311"/>
          </a:xfrm>
          <a:prstGeom prst="rect">
            <a:avLst/>
          </a:prstGeom>
          <a:noFill/>
        </p:spPr>
        <p:txBody>
          <a:bodyPr wrap="square">
            <a:spAutoFit/>
          </a:bodyPr>
          <a:lstStyle/>
          <a:p>
            <a:pPr marL="342900" indent="-342900">
              <a:buFont typeface="Arial" panose="020B0604020202020204" pitchFamily="34" charset="0"/>
              <a:buChar char="•"/>
            </a:pPr>
            <a:r>
              <a:rPr lang="en-IN" sz="2000" dirty="0">
                <a:cs typeface="Times New Roman" panose="02020603050405020304" pitchFamily="18" charset="0"/>
              </a:rPr>
              <a:t>Bitwise operators are used to compare binary numbers that is 0 and 1.</a:t>
            </a:r>
          </a:p>
          <a:p>
            <a:pPr marL="342900" indent="-342900">
              <a:buFont typeface="Arial" panose="020B0604020202020204" pitchFamily="34" charset="0"/>
              <a:buChar char="•"/>
            </a:pPr>
            <a:r>
              <a:rPr lang="en-IN" sz="2000" dirty="0">
                <a:cs typeface="Times New Roman" panose="02020603050405020304" pitchFamily="18" charset="0"/>
              </a:rPr>
              <a:t>Operators are &amp;, |, ^, ~, &lt;&lt;, &gt;&gt;</a:t>
            </a:r>
          </a:p>
          <a:p>
            <a:pPr marL="342900" indent="-342900">
              <a:buFont typeface="Arial" panose="020B0604020202020204" pitchFamily="34" charset="0"/>
              <a:buChar char="•"/>
            </a:pPr>
            <a:endParaRPr lang="en-IN" sz="2000" dirty="0">
              <a:cs typeface="Times New Roman" panose="02020603050405020304" pitchFamily="18" charset="0"/>
            </a:endParaRPr>
          </a:p>
          <a:p>
            <a:pPr marL="0" indent="0">
              <a:buNone/>
            </a:pPr>
            <a:r>
              <a:rPr lang="en-IN" sz="2000" dirty="0">
                <a:cs typeface="Times New Roman" panose="02020603050405020304" pitchFamily="18" charset="0"/>
              </a:rPr>
              <a:t>	print (5 &amp; 3)			#1</a:t>
            </a:r>
          </a:p>
          <a:p>
            <a:pPr marL="0" indent="0">
              <a:buNone/>
            </a:pPr>
            <a:r>
              <a:rPr lang="en-IN" sz="2000" b="1" dirty="0">
                <a:cs typeface="Times New Roman" panose="02020603050405020304" pitchFamily="18" charset="0"/>
              </a:rPr>
              <a:t>The &amp; operator compares each bit and set it to 1 if both are 1, otherwise it is set to 0</a:t>
            </a:r>
          </a:p>
          <a:p>
            <a:pPr marL="0" indent="0">
              <a:buNone/>
            </a:pPr>
            <a:r>
              <a:rPr lang="en-IN" sz="2000" dirty="0">
                <a:cs typeface="Times New Roman" panose="02020603050405020304" pitchFamily="18" charset="0"/>
              </a:rPr>
              <a:t>5 = 0000000000000101</a:t>
            </a:r>
          </a:p>
          <a:p>
            <a:pPr marL="0" indent="0">
              <a:buNone/>
            </a:pPr>
            <a:r>
              <a:rPr lang="en-IN" sz="2000" dirty="0">
                <a:cs typeface="Times New Roman" panose="02020603050405020304" pitchFamily="18" charset="0"/>
              </a:rPr>
              <a:t>3 = 0000000000000011</a:t>
            </a:r>
          </a:p>
          <a:p>
            <a:pPr marL="0" indent="0">
              <a:buNone/>
            </a:pPr>
            <a:r>
              <a:rPr lang="en-IN" sz="2000" dirty="0">
                <a:cs typeface="Times New Roman" panose="02020603050405020304" pitchFamily="18" charset="0"/>
              </a:rPr>
              <a:t>-----------------------------</a:t>
            </a:r>
          </a:p>
          <a:p>
            <a:pPr marL="0" indent="0">
              <a:buNone/>
            </a:pPr>
            <a:r>
              <a:rPr lang="en-IN" sz="2000" dirty="0">
                <a:cs typeface="Times New Roman" panose="02020603050405020304" pitchFamily="18" charset="0"/>
              </a:rPr>
              <a:t>1 = 0000000000000001</a:t>
            </a:r>
          </a:p>
          <a:p>
            <a:pPr marL="0" indent="0">
              <a:buNone/>
            </a:pPr>
            <a:r>
              <a:rPr lang="en-IN" sz="2000" dirty="0">
                <a:cs typeface="Times New Roman" panose="02020603050405020304" pitchFamily="18" charset="0"/>
              </a:rPr>
              <a:t> </a:t>
            </a:r>
          </a:p>
          <a:p>
            <a:pPr marL="0" indent="0">
              <a:buNone/>
            </a:pPr>
            <a:endParaRPr lang="en-IN" sz="2000" dirty="0">
              <a:cs typeface="Times New Roman" panose="02020603050405020304" pitchFamily="18" charset="0"/>
            </a:endParaRPr>
          </a:p>
          <a:p>
            <a:pPr marL="0" indent="0">
              <a:buNone/>
            </a:pPr>
            <a:r>
              <a:rPr lang="en-IN" sz="2000" dirty="0">
                <a:cs typeface="Times New Roman" panose="02020603050405020304" pitchFamily="18" charset="0"/>
              </a:rPr>
              <a:t>	print(5 | 3)			#7</a:t>
            </a:r>
          </a:p>
          <a:p>
            <a:pPr marL="0" indent="0">
              <a:buNone/>
            </a:pPr>
            <a:r>
              <a:rPr lang="en-IN" sz="2000" b="1" dirty="0">
                <a:cs typeface="Times New Roman" panose="02020603050405020304" pitchFamily="18" charset="0"/>
              </a:rPr>
              <a:t>The | operator compares each bit and set it to 1 if one or both is 1, otherwise it is set to 0</a:t>
            </a:r>
          </a:p>
          <a:p>
            <a:pPr marL="0" indent="0">
              <a:buNone/>
            </a:pPr>
            <a:r>
              <a:rPr lang="en-IN" sz="2000" dirty="0">
                <a:cs typeface="Times New Roman" panose="02020603050405020304" pitchFamily="18" charset="0"/>
              </a:rPr>
              <a:t>5 = 0000000000000101</a:t>
            </a:r>
          </a:p>
          <a:p>
            <a:pPr marL="0" indent="0">
              <a:buNone/>
            </a:pPr>
            <a:r>
              <a:rPr lang="en-IN" sz="2000" dirty="0">
                <a:cs typeface="Times New Roman" panose="02020603050405020304" pitchFamily="18" charset="0"/>
              </a:rPr>
              <a:t>3 = 0000000000000011</a:t>
            </a:r>
          </a:p>
          <a:p>
            <a:pPr marL="0" indent="0">
              <a:buNone/>
            </a:pPr>
            <a:r>
              <a:rPr lang="en-IN" sz="2000" dirty="0">
                <a:cs typeface="Times New Roman" panose="02020603050405020304" pitchFamily="18" charset="0"/>
              </a:rPr>
              <a:t>-----------------------------</a:t>
            </a:r>
          </a:p>
          <a:p>
            <a:pPr marL="0" indent="0">
              <a:buNone/>
            </a:pPr>
            <a:r>
              <a:rPr lang="en-IN" sz="2000" dirty="0">
                <a:cs typeface="Times New Roman" panose="02020603050405020304" pitchFamily="18" charset="0"/>
              </a:rPr>
              <a:t>7 = 0000000000000111</a:t>
            </a:r>
          </a:p>
          <a:p>
            <a:pPr marL="0" indent="0">
              <a:buNone/>
            </a:pPr>
            <a:endParaRPr lang="en-IN" sz="2000" dirty="0">
              <a:cs typeface="Times New Roman" panose="02020603050405020304" pitchFamily="18" charset="0"/>
            </a:endParaRPr>
          </a:p>
        </p:txBody>
      </p:sp>
    </p:spTree>
    <p:extLst>
      <p:ext uri="{BB962C8B-B14F-4D97-AF65-F5344CB8AC3E}">
        <p14:creationId xmlns:p14="http://schemas.microsoft.com/office/powerpoint/2010/main" val="72001060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1BC6C8E-7DE1-6190-BB19-790D3DEDFC73}"/>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D30F84F1-EDC5-CE15-2BE9-EC4E5221A61E}"/>
              </a:ext>
            </a:extLst>
          </p:cNvPr>
          <p:cNvSpPr txBox="1"/>
          <p:nvPr/>
        </p:nvSpPr>
        <p:spPr>
          <a:xfrm>
            <a:off x="589935" y="689040"/>
            <a:ext cx="10913385" cy="4708981"/>
          </a:xfrm>
          <a:prstGeom prst="rect">
            <a:avLst/>
          </a:prstGeom>
          <a:noFill/>
        </p:spPr>
        <p:txBody>
          <a:bodyPr wrap="square">
            <a:spAutoFit/>
          </a:bodyPr>
          <a:lstStyle/>
          <a:p>
            <a:pPr marL="0" indent="0">
              <a:buNone/>
            </a:pPr>
            <a:r>
              <a:rPr lang="en-IN" sz="2000" dirty="0">
                <a:cs typeface="Times New Roman" panose="02020603050405020304" pitchFamily="18" charset="0"/>
              </a:rPr>
              <a:t>	print(5 ^ 3)</a:t>
            </a:r>
          </a:p>
          <a:p>
            <a:pPr marL="0" indent="0">
              <a:buNone/>
            </a:pPr>
            <a:r>
              <a:rPr lang="en-IN" sz="2000" b="1" dirty="0">
                <a:cs typeface="Times New Roman" panose="02020603050405020304" pitchFamily="18" charset="0"/>
              </a:rPr>
              <a:t>The XOR(^) operator compares each bit and set it to 1 if only one bit is 1, otherwise if both are one or both are zero it is set to 0.</a:t>
            </a:r>
          </a:p>
          <a:p>
            <a:pPr marL="0" indent="0">
              <a:buNone/>
            </a:pPr>
            <a:r>
              <a:rPr lang="en-IN" sz="2000" dirty="0">
                <a:cs typeface="Times New Roman" panose="02020603050405020304" pitchFamily="18" charset="0"/>
              </a:rPr>
              <a:t>5 = 0000000000000101</a:t>
            </a:r>
          </a:p>
          <a:p>
            <a:pPr marL="0" indent="0">
              <a:buNone/>
            </a:pPr>
            <a:r>
              <a:rPr lang="en-IN" sz="2000" dirty="0">
                <a:cs typeface="Times New Roman" panose="02020603050405020304" pitchFamily="18" charset="0"/>
              </a:rPr>
              <a:t>3 = 0000000000000011</a:t>
            </a:r>
          </a:p>
          <a:p>
            <a:pPr marL="0" indent="0">
              <a:buNone/>
            </a:pPr>
            <a:r>
              <a:rPr lang="en-IN" sz="2000" dirty="0">
                <a:cs typeface="Times New Roman" panose="02020603050405020304" pitchFamily="18" charset="0"/>
              </a:rPr>
              <a:t>-----------------------------</a:t>
            </a:r>
          </a:p>
          <a:p>
            <a:pPr marL="0" indent="0">
              <a:buNone/>
            </a:pPr>
            <a:r>
              <a:rPr lang="en-IN" sz="2000" dirty="0">
                <a:cs typeface="Times New Roman" panose="02020603050405020304" pitchFamily="18" charset="0"/>
              </a:rPr>
              <a:t>6 = 0000000000000110</a:t>
            </a:r>
          </a:p>
          <a:p>
            <a:pPr marL="0" indent="0">
              <a:buNone/>
            </a:pPr>
            <a:endParaRPr lang="en-IN" sz="2000" dirty="0">
              <a:cs typeface="Times New Roman" panose="02020603050405020304" pitchFamily="18" charset="0"/>
            </a:endParaRPr>
          </a:p>
          <a:p>
            <a:pPr marL="0" indent="0">
              <a:buNone/>
            </a:pPr>
            <a:endParaRPr lang="en-IN" sz="2000" dirty="0">
              <a:cs typeface="Times New Roman" panose="02020603050405020304" pitchFamily="18" charset="0"/>
            </a:endParaRPr>
          </a:p>
          <a:p>
            <a:pPr marL="0" indent="0">
              <a:buNone/>
            </a:pPr>
            <a:r>
              <a:rPr lang="en-IN" sz="2000" dirty="0">
                <a:cs typeface="Times New Roman" panose="02020603050405020304" pitchFamily="18" charset="0"/>
              </a:rPr>
              <a:t>	print(~1)		#-2</a:t>
            </a:r>
          </a:p>
          <a:p>
            <a:pPr marL="0" indent="0">
              <a:buNone/>
            </a:pPr>
            <a:r>
              <a:rPr lang="en-IN" sz="2000" b="1" dirty="0">
                <a:cs typeface="Times New Roman" panose="02020603050405020304" pitchFamily="18" charset="0"/>
              </a:rPr>
              <a:t>The NOT(~) operator inverts each bit that is 0 becomes 1 and 1 becomes 0.</a:t>
            </a:r>
          </a:p>
          <a:p>
            <a:pPr marL="0" indent="0">
              <a:buNone/>
            </a:pPr>
            <a:r>
              <a:rPr lang="en-IN" sz="2000" dirty="0">
                <a:cs typeface="Times New Roman" panose="02020603050405020304" pitchFamily="18" charset="0"/>
              </a:rPr>
              <a:t> 1 = 0000000000000001</a:t>
            </a:r>
          </a:p>
          <a:p>
            <a:pPr marL="0" indent="0">
              <a:buNone/>
            </a:pPr>
            <a:r>
              <a:rPr lang="en-IN" sz="2000" dirty="0">
                <a:cs typeface="Times New Roman" panose="02020603050405020304" pitchFamily="18" charset="0"/>
              </a:rPr>
              <a:t>------------------------------</a:t>
            </a:r>
          </a:p>
          <a:p>
            <a:pPr marL="0" indent="0">
              <a:buNone/>
            </a:pPr>
            <a:r>
              <a:rPr lang="en-IN" sz="2000" dirty="0">
                <a:cs typeface="Times New Roman" panose="02020603050405020304" pitchFamily="18" charset="0"/>
              </a:rPr>
              <a:t>-2  = 1111111111111110</a:t>
            </a:r>
          </a:p>
          <a:p>
            <a:pPr marL="0" indent="0">
              <a:buNone/>
            </a:pPr>
            <a:endParaRPr lang="en-IN" sz="2000" dirty="0">
              <a:cs typeface="Times New Roman" panose="02020603050405020304" pitchFamily="18" charset="0"/>
            </a:endParaRPr>
          </a:p>
        </p:txBody>
      </p:sp>
    </p:spTree>
    <p:extLst>
      <p:ext uri="{BB962C8B-B14F-4D97-AF65-F5344CB8AC3E}">
        <p14:creationId xmlns:p14="http://schemas.microsoft.com/office/powerpoint/2010/main" val="69177221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89A3EE5-3413-26D3-4102-C98DF3B2F069}"/>
              </a:ext>
            </a:extLst>
          </p:cNvPr>
          <p:cNvPicPr/>
          <p:nvPr/>
        </p:nvPicPr>
        <p:blipFill>
          <a:blip r:embed="rId2" cstate="print"/>
          <a:stretch/>
        </p:blipFill>
        <p:spPr>
          <a:xfrm>
            <a:off x="11503320" y="14947"/>
            <a:ext cx="688680" cy="689040"/>
          </a:xfrm>
          <a:prstGeom prst="rect">
            <a:avLst/>
          </a:prstGeom>
          <a:ln w="0">
            <a:noFill/>
          </a:ln>
        </p:spPr>
      </p:pic>
      <p:sp>
        <p:nvSpPr>
          <p:cNvPr id="5" name="TextBox 4">
            <a:extLst>
              <a:ext uri="{FF2B5EF4-FFF2-40B4-BE49-F238E27FC236}">
                <a16:creationId xmlns:a16="http://schemas.microsoft.com/office/drawing/2014/main" id="{9165E0E6-76AB-6E50-886E-D8AA7D24B0F4}"/>
              </a:ext>
            </a:extLst>
          </p:cNvPr>
          <p:cNvSpPr txBox="1"/>
          <p:nvPr/>
        </p:nvSpPr>
        <p:spPr>
          <a:xfrm>
            <a:off x="865239" y="786581"/>
            <a:ext cx="10540180" cy="4401205"/>
          </a:xfrm>
          <a:prstGeom prst="rect">
            <a:avLst/>
          </a:prstGeom>
          <a:noFill/>
        </p:spPr>
        <p:txBody>
          <a:bodyPr wrap="square">
            <a:spAutoFit/>
          </a:bodyPr>
          <a:lstStyle/>
          <a:p>
            <a:pPr marL="0" indent="0">
              <a:buNone/>
            </a:pPr>
            <a:r>
              <a:rPr lang="en-IN" sz="2000" dirty="0">
                <a:cs typeface="Times New Roman" panose="02020603050405020304" pitchFamily="18" charset="0"/>
              </a:rPr>
              <a:t>	print(5 &lt;&lt; 3)		#40</a:t>
            </a:r>
          </a:p>
          <a:p>
            <a:pPr marL="0" indent="0">
              <a:buNone/>
            </a:pPr>
            <a:r>
              <a:rPr lang="en-IN" sz="2000" b="1" dirty="0">
                <a:cs typeface="Times New Roman" panose="02020603050405020304" pitchFamily="18" charset="0"/>
              </a:rPr>
              <a:t>The left shift (&lt;&lt;) operator inserts the specified number of 0’s in this case 3 from the right and let the same amount of leftmost bits to fall off.</a:t>
            </a:r>
          </a:p>
          <a:p>
            <a:pPr marL="0" indent="0">
              <a:buNone/>
            </a:pPr>
            <a:r>
              <a:rPr lang="en-IN" sz="2000" dirty="0">
                <a:cs typeface="Times New Roman" panose="02020603050405020304" pitchFamily="18" charset="0"/>
              </a:rPr>
              <a:t>5 = 0000000000000101</a:t>
            </a:r>
          </a:p>
          <a:p>
            <a:pPr marL="0" indent="0">
              <a:buNone/>
            </a:pPr>
            <a:r>
              <a:rPr lang="en-IN" sz="2000" dirty="0">
                <a:cs typeface="Times New Roman" panose="02020603050405020304" pitchFamily="18" charset="0"/>
              </a:rPr>
              <a:t>-----------------------------</a:t>
            </a:r>
          </a:p>
          <a:p>
            <a:pPr marL="0" indent="0">
              <a:buNone/>
            </a:pPr>
            <a:r>
              <a:rPr lang="en-IN" sz="2000" dirty="0">
                <a:cs typeface="Times New Roman" panose="02020603050405020304" pitchFamily="18" charset="0"/>
              </a:rPr>
              <a:t>40= 0000000000101000</a:t>
            </a:r>
          </a:p>
          <a:p>
            <a:pPr marL="0" indent="0">
              <a:buNone/>
            </a:pPr>
            <a:endParaRPr lang="en-IN" sz="2000" dirty="0">
              <a:cs typeface="Times New Roman" panose="02020603050405020304" pitchFamily="18" charset="0"/>
            </a:endParaRPr>
          </a:p>
          <a:p>
            <a:pPr marL="0" indent="0">
              <a:buNone/>
            </a:pPr>
            <a:r>
              <a:rPr lang="en-IN" sz="2000" dirty="0">
                <a:cs typeface="Times New Roman" panose="02020603050405020304" pitchFamily="18" charset="0"/>
              </a:rPr>
              <a:t>	print(9&gt;&gt; 3)		#1</a:t>
            </a:r>
          </a:p>
          <a:p>
            <a:pPr marL="0" indent="0">
              <a:buNone/>
            </a:pPr>
            <a:r>
              <a:rPr lang="en-IN" sz="2000" b="1" dirty="0">
                <a:cs typeface="Times New Roman" panose="02020603050405020304" pitchFamily="18" charset="0"/>
              </a:rPr>
              <a:t>The right shift (&gt;&gt;) operator moves each bit the specified number of times to the right. Empty holes at the left are filled with 0’s.</a:t>
            </a:r>
          </a:p>
          <a:p>
            <a:pPr marL="0" indent="0">
              <a:buNone/>
            </a:pPr>
            <a:endParaRPr lang="en-IN" sz="2000" dirty="0">
              <a:cs typeface="Times New Roman" panose="02020603050405020304" pitchFamily="18" charset="0"/>
            </a:endParaRPr>
          </a:p>
          <a:p>
            <a:pPr marL="0" indent="0">
              <a:buNone/>
            </a:pPr>
            <a:r>
              <a:rPr lang="en-IN" sz="2000" dirty="0">
                <a:cs typeface="Times New Roman" panose="02020603050405020304" pitchFamily="18" charset="0"/>
              </a:rPr>
              <a:t>9 = 0000000000001001</a:t>
            </a:r>
          </a:p>
          <a:p>
            <a:pPr marL="0" indent="0">
              <a:buNone/>
            </a:pPr>
            <a:r>
              <a:rPr lang="en-IN" sz="2000" dirty="0">
                <a:cs typeface="Times New Roman" panose="02020603050405020304" pitchFamily="18" charset="0"/>
              </a:rPr>
              <a:t>-----------------------------</a:t>
            </a:r>
          </a:p>
          <a:p>
            <a:pPr marL="0" indent="0">
              <a:buNone/>
            </a:pPr>
            <a:r>
              <a:rPr lang="en-IN" sz="2000" dirty="0">
                <a:cs typeface="Times New Roman" panose="02020603050405020304" pitchFamily="18" charset="0"/>
              </a:rPr>
              <a:t>1 = 0000000000000001</a:t>
            </a:r>
          </a:p>
        </p:txBody>
      </p:sp>
    </p:spTree>
    <p:extLst>
      <p:ext uri="{BB962C8B-B14F-4D97-AF65-F5344CB8AC3E}">
        <p14:creationId xmlns:p14="http://schemas.microsoft.com/office/powerpoint/2010/main" val="61793530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CCE3E-F5F5-7CC3-694C-31DD022B1AFA}"/>
              </a:ext>
            </a:extLst>
          </p:cNvPr>
          <p:cNvSpPr>
            <a:spLocks noGrp="1"/>
          </p:cNvSpPr>
          <p:nvPr>
            <p:ph type="title"/>
          </p:nvPr>
        </p:nvSpPr>
        <p:spPr/>
        <p:txBody>
          <a:bodyPr/>
          <a:lstStyle/>
          <a:p>
            <a:pPr algn="ctr"/>
            <a:r>
              <a:rPr lang="en-US"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Identity Operator</a:t>
            </a:r>
            <a:endPar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endParaRPr>
          </a:p>
        </p:txBody>
      </p:sp>
      <p:pic>
        <p:nvPicPr>
          <p:cNvPr id="4" name="Picture 3">
            <a:extLst>
              <a:ext uri="{FF2B5EF4-FFF2-40B4-BE49-F238E27FC236}">
                <a16:creationId xmlns:a16="http://schemas.microsoft.com/office/drawing/2014/main" id="{E76CB7A4-26E7-E198-257A-83AE89BD3104}"/>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BC334E83-A204-5AE3-90F3-1FF46259CAEF}"/>
              </a:ext>
            </a:extLst>
          </p:cNvPr>
          <p:cNvSpPr txBox="1"/>
          <p:nvPr/>
        </p:nvSpPr>
        <p:spPr>
          <a:xfrm>
            <a:off x="1268361" y="2277296"/>
            <a:ext cx="10234959" cy="1631216"/>
          </a:xfrm>
          <a:prstGeom prst="rect">
            <a:avLst/>
          </a:prstGeom>
          <a:noFill/>
        </p:spPr>
        <p:txBody>
          <a:bodyPr wrap="square">
            <a:spAutoFit/>
          </a:bodyPr>
          <a:lstStyle/>
          <a:p>
            <a:pPr marL="342900" indent="-342900">
              <a:buFont typeface="Arial" panose="020B0604020202020204" pitchFamily="34" charset="0"/>
              <a:buChar char="•"/>
            </a:pPr>
            <a:r>
              <a:rPr lang="en-US" sz="2000" dirty="0">
                <a:cs typeface="Times New Roman" panose="02020603050405020304" pitchFamily="18" charset="0"/>
              </a:rPr>
              <a:t>The identity operator is used to check if two variables refer to the same object in memory. </a:t>
            </a:r>
          </a:p>
          <a:p>
            <a:pPr marL="342900" indent="-342900">
              <a:buFont typeface="Arial" panose="020B0604020202020204" pitchFamily="34" charset="0"/>
              <a:buChar char="•"/>
            </a:pPr>
            <a:r>
              <a:rPr lang="en-US" sz="2000" dirty="0">
                <a:cs typeface="Times New Roman" panose="02020603050405020304" pitchFamily="18" charset="0"/>
              </a:rPr>
              <a:t>There are 2 identity operators. They are:</a:t>
            </a:r>
          </a:p>
          <a:p>
            <a:pPr marL="0" indent="0">
              <a:buNone/>
            </a:pPr>
            <a:r>
              <a:rPr lang="en-US" sz="2000" dirty="0">
                <a:cs typeface="Times New Roman" panose="02020603050405020304" pitchFamily="18" charset="0"/>
              </a:rPr>
              <a:t>      	</a:t>
            </a:r>
            <a:r>
              <a:rPr lang="en-US" sz="2000" b="1" dirty="0">
                <a:cs typeface="Times New Roman" panose="02020603050405020304" pitchFamily="18" charset="0"/>
              </a:rPr>
              <a:t>is</a:t>
            </a:r>
            <a:r>
              <a:rPr lang="en-US" sz="2000" dirty="0">
                <a:cs typeface="Times New Roman" panose="02020603050405020304" pitchFamily="18" charset="0"/>
              </a:rPr>
              <a:t>: Returns True if both variables refer to the same object in memory.</a:t>
            </a:r>
          </a:p>
          <a:p>
            <a:pPr marL="0" indent="0">
              <a:buNone/>
            </a:pPr>
            <a:r>
              <a:rPr lang="en-US" sz="2000" dirty="0">
                <a:cs typeface="Times New Roman" panose="02020603050405020304" pitchFamily="18" charset="0"/>
              </a:rPr>
              <a:t>      	</a:t>
            </a:r>
            <a:r>
              <a:rPr lang="en-US" sz="2000" b="1" dirty="0">
                <a:cs typeface="Times New Roman" panose="02020603050405020304" pitchFamily="18" charset="0"/>
              </a:rPr>
              <a:t>is not</a:t>
            </a:r>
            <a:r>
              <a:rPr lang="en-US" sz="2000" dirty="0">
                <a:cs typeface="Times New Roman" panose="02020603050405020304" pitchFamily="18" charset="0"/>
              </a:rPr>
              <a:t>: Returns True if both variables do not refer to the same object in memory.</a:t>
            </a:r>
          </a:p>
          <a:p>
            <a:pPr marL="0" indent="0">
              <a:buNone/>
            </a:pPr>
            <a:r>
              <a:rPr lang="en-US" sz="2000" dirty="0">
                <a:cs typeface="Times New Roman" panose="02020603050405020304" pitchFamily="18" charset="0"/>
              </a:rPr>
              <a:t>	</a:t>
            </a:r>
            <a:endParaRPr lang="en-IN" sz="2000" dirty="0">
              <a:cs typeface="Times New Roman" panose="02020603050405020304" pitchFamily="18" charset="0"/>
            </a:endParaRPr>
          </a:p>
        </p:txBody>
      </p:sp>
    </p:spTree>
    <p:extLst>
      <p:ext uri="{BB962C8B-B14F-4D97-AF65-F5344CB8AC3E}">
        <p14:creationId xmlns:p14="http://schemas.microsoft.com/office/powerpoint/2010/main" val="154565884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997BDB4-E375-6B8C-ED48-90A9884655AF}"/>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DCDDD17C-2A48-9209-9536-E820B534E0BB}"/>
              </a:ext>
            </a:extLst>
          </p:cNvPr>
          <p:cNvSpPr txBox="1"/>
          <p:nvPr/>
        </p:nvSpPr>
        <p:spPr>
          <a:xfrm>
            <a:off x="1297857" y="875071"/>
            <a:ext cx="8947355" cy="3785652"/>
          </a:xfrm>
          <a:prstGeom prst="rect">
            <a:avLst/>
          </a:prstGeom>
          <a:noFill/>
        </p:spPr>
        <p:txBody>
          <a:bodyPr wrap="square">
            <a:spAutoFit/>
          </a:bodyPr>
          <a:lstStyle/>
          <a:p>
            <a:pPr marL="0" indent="0">
              <a:buNone/>
            </a:pPr>
            <a:r>
              <a:rPr lang="en-US" sz="2000" b="1" dirty="0">
                <a:cs typeface="Times New Roman" panose="02020603050405020304" pitchFamily="18" charset="0"/>
              </a:rPr>
              <a:t>Example </a:t>
            </a:r>
            <a:r>
              <a:rPr lang="en-US" sz="2000" dirty="0">
                <a:cs typeface="Times New Roman" panose="02020603050405020304" pitchFamily="18" charset="0"/>
              </a:rPr>
              <a:t>	</a:t>
            </a:r>
          </a:p>
          <a:p>
            <a:pPr marL="0" indent="0">
              <a:buNone/>
            </a:pPr>
            <a:endParaRPr lang="en-US" sz="2000" dirty="0">
              <a:cs typeface="Times New Roman" panose="02020603050405020304" pitchFamily="18" charset="0"/>
            </a:endParaRPr>
          </a:p>
          <a:p>
            <a:pPr marL="0" indent="0">
              <a:buNone/>
            </a:pPr>
            <a:r>
              <a:rPr lang="en-US" sz="2000" dirty="0">
                <a:cs typeface="Times New Roman" panose="02020603050405020304" pitchFamily="18" charset="0"/>
              </a:rPr>
              <a:t>	x = [“apple”, “banana”]</a:t>
            </a:r>
          </a:p>
          <a:p>
            <a:pPr marL="0" indent="0">
              <a:buNone/>
            </a:pPr>
            <a:r>
              <a:rPr lang="en-US" sz="2000" dirty="0">
                <a:cs typeface="Times New Roman" panose="02020603050405020304" pitchFamily="18" charset="0"/>
              </a:rPr>
              <a:t>	y = [“apple”, “banana”]</a:t>
            </a:r>
          </a:p>
          <a:p>
            <a:pPr marL="0" indent="0">
              <a:buNone/>
            </a:pPr>
            <a:r>
              <a:rPr lang="en-US" sz="2000" dirty="0">
                <a:cs typeface="Times New Roman" panose="02020603050405020304" pitchFamily="18" charset="0"/>
              </a:rPr>
              <a:t>	z = x</a:t>
            </a:r>
          </a:p>
          <a:p>
            <a:pPr marL="0" indent="0">
              <a:buNone/>
            </a:pPr>
            <a:r>
              <a:rPr lang="en-US" sz="2000" dirty="0">
                <a:cs typeface="Times New Roman" panose="02020603050405020304" pitchFamily="18" charset="0"/>
              </a:rPr>
              <a:t>	print(x is z)		#True</a:t>
            </a:r>
          </a:p>
          <a:p>
            <a:pPr marL="0" indent="0">
              <a:buNone/>
            </a:pPr>
            <a:r>
              <a:rPr lang="en-US" sz="2000" dirty="0">
                <a:cs typeface="Times New Roman" panose="02020603050405020304" pitchFamily="18" charset="0"/>
              </a:rPr>
              <a:t>	print(x is y)		#False</a:t>
            </a:r>
          </a:p>
          <a:p>
            <a:pPr marL="0" indent="0">
              <a:buNone/>
            </a:pPr>
            <a:r>
              <a:rPr lang="en-US" sz="2000" dirty="0">
                <a:cs typeface="Times New Roman" panose="02020603050405020304" pitchFamily="18" charset="0"/>
              </a:rPr>
              <a:t>	print(x == y)		#True</a:t>
            </a:r>
          </a:p>
          <a:p>
            <a:pPr marL="0" indent="0">
              <a:buNone/>
            </a:pPr>
            <a:r>
              <a:rPr lang="en-US" sz="2000" dirty="0">
                <a:cs typeface="Times New Roman" panose="02020603050405020304" pitchFamily="18" charset="0"/>
              </a:rPr>
              <a:t>	print(x is not z)	#False</a:t>
            </a:r>
          </a:p>
          <a:p>
            <a:pPr marL="0" indent="0">
              <a:buNone/>
            </a:pPr>
            <a:r>
              <a:rPr lang="en-US" sz="2000" dirty="0">
                <a:cs typeface="Times New Roman" panose="02020603050405020304" pitchFamily="18" charset="0"/>
              </a:rPr>
              <a:t>	print(x is not y)	#True</a:t>
            </a:r>
          </a:p>
          <a:p>
            <a:pPr marL="0" indent="0">
              <a:buNone/>
            </a:pPr>
            <a:r>
              <a:rPr lang="en-US" sz="2000" dirty="0">
                <a:cs typeface="Times New Roman" panose="02020603050405020304" pitchFamily="18" charset="0"/>
              </a:rPr>
              <a:t>	print(x != y)		#False</a:t>
            </a:r>
            <a:endParaRPr lang="en-IN" sz="2000" dirty="0">
              <a:cs typeface="Times New Roman" panose="02020603050405020304" pitchFamily="18" charset="0"/>
            </a:endParaRPr>
          </a:p>
          <a:p>
            <a:endParaRPr lang="en-IN" sz="2000" dirty="0"/>
          </a:p>
        </p:txBody>
      </p:sp>
    </p:spTree>
    <p:extLst>
      <p:ext uri="{BB962C8B-B14F-4D97-AF65-F5344CB8AC3E}">
        <p14:creationId xmlns:p14="http://schemas.microsoft.com/office/powerpoint/2010/main" val="61298945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5A20E-7719-2917-0720-0DB6EBE2F4F1}"/>
              </a:ext>
            </a:extLst>
          </p:cNvPr>
          <p:cNvSpPr>
            <a:spLocks noGrp="1"/>
          </p:cNvSpPr>
          <p:nvPr>
            <p:ph type="title"/>
          </p:nvPr>
        </p:nvSpPr>
        <p:spPr/>
        <p:txBody>
          <a:bodyPr/>
          <a:lstStyle/>
          <a:p>
            <a:pPr algn="ctr"/>
            <a:r>
              <a:rPr lang="en-US"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Membership Operators</a:t>
            </a:r>
            <a:endPar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endParaRPr>
          </a:p>
        </p:txBody>
      </p:sp>
      <p:pic>
        <p:nvPicPr>
          <p:cNvPr id="4" name="Picture 3">
            <a:extLst>
              <a:ext uri="{FF2B5EF4-FFF2-40B4-BE49-F238E27FC236}">
                <a16:creationId xmlns:a16="http://schemas.microsoft.com/office/drawing/2014/main" id="{DCC24BE3-B8CB-19FB-5B38-0603E84706AE}"/>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00706170-6C35-33D5-956C-E056854F1F5F}"/>
              </a:ext>
            </a:extLst>
          </p:cNvPr>
          <p:cNvSpPr txBox="1"/>
          <p:nvPr/>
        </p:nvSpPr>
        <p:spPr>
          <a:xfrm>
            <a:off x="838200" y="2277296"/>
            <a:ext cx="9515168" cy="2862322"/>
          </a:xfrm>
          <a:prstGeom prst="rect">
            <a:avLst/>
          </a:prstGeom>
          <a:noFill/>
        </p:spPr>
        <p:txBody>
          <a:bodyPr wrap="square">
            <a:spAutoFit/>
          </a:bodyPr>
          <a:lstStyle/>
          <a:p>
            <a:pPr marL="342900" indent="-342900">
              <a:buFont typeface="Arial" panose="020B0604020202020204" pitchFamily="34" charset="0"/>
              <a:buChar char="•"/>
            </a:pPr>
            <a:r>
              <a:rPr lang="en-US" sz="2000" dirty="0">
                <a:cs typeface="Times New Roman" panose="02020603050405020304" pitchFamily="18" charset="0"/>
              </a:rPr>
              <a:t>Membership operators are used to test if a sequence is presented in an object.</a:t>
            </a:r>
          </a:p>
          <a:p>
            <a:pPr marL="342900" indent="-342900">
              <a:buFont typeface="Arial" panose="020B0604020202020204" pitchFamily="34" charset="0"/>
              <a:buChar char="•"/>
            </a:pPr>
            <a:r>
              <a:rPr lang="en-US" sz="2000" dirty="0">
                <a:cs typeface="Times New Roman" panose="02020603050405020304" pitchFamily="18" charset="0"/>
              </a:rPr>
              <a:t>Operators are: in, not in</a:t>
            </a:r>
          </a:p>
          <a:p>
            <a:pPr marL="342900" indent="-342900">
              <a:buFont typeface="Arial" panose="020B0604020202020204" pitchFamily="34" charset="0"/>
              <a:buChar char="•"/>
            </a:pPr>
            <a:endParaRPr lang="en-US" sz="2000" dirty="0">
              <a:cs typeface="Times New Roman" panose="02020603050405020304" pitchFamily="18" charset="0"/>
            </a:endParaRPr>
          </a:p>
          <a:p>
            <a:r>
              <a:rPr lang="en-US" sz="2000" b="1" dirty="0">
                <a:cs typeface="Times New Roman" panose="02020603050405020304" pitchFamily="18" charset="0"/>
              </a:rPr>
              <a:t>Example</a:t>
            </a:r>
          </a:p>
          <a:p>
            <a:pPr marL="0" indent="0">
              <a:buNone/>
            </a:pPr>
            <a:r>
              <a:rPr lang="en-US" sz="2000" dirty="0">
                <a:cs typeface="Times New Roman" panose="02020603050405020304" pitchFamily="18" charset="0"/>
              </a:rPr>
              <a:t>	x = [“apple”, “banana”]</a:t>
            </a:r>
          </a:p>
          <a:p>
            <a:pPr marL="0" indent="0">
              <a:buNone/>
            </a:pPr>
            <a:r>
              <a:rPr lang="en-US" sz="2000" dirty="0">
                <a:cs typeface="Times New Roman" panose="02020603050405020304" pitchFamily="18" charset="0"/>
              </a:rPr>
              <a:t>	print(“banana” in x)		#True</a:t>
            </a:r>
          </a:p>
          <a:p>
            <a:pPr marL="0" indent="0">
              <a:buNone/>
            </a:pPr>
            <a:r>
              <a:rPr lang="en-US" sz="2000" dirty="0">
                <a:cs typeface="Times New Roman" panose="02020603050405020304" pitchFamily="18" charset="0"/>
              </a:rPr>
              <a:t>	print(“grapes” in x)			#False</a:t>
            </a:r>
          </a:p>
          <a:p>
            <a:pPr marL="0" indent="0">
              <a:buNone/>
            </a:pPr>
            <a:r>
              <a:rPr lang="en-US" sz="2000" dirty="0">
                <a:cs typeface="Times New Roman" panose="02020603050405020304" pitchFamily="18" charset="0"/>
              </a:rPr>
              <a:t>	print(“apple” not in x)		#False</a:t>
            </a:r>
          </a:p>
          <a:p>
            <a:pPr marL="0" indent="0">
              <a:buNone/>
            </a:pPr>
            <a:r>
              <a:rPr lang="en-US" sz="2000" dirty="0">
                <a:cs typeface="Times New Roman" panose="02020603050405020304" pitchFamily="18" charset="0"/>
              </a:rPr>
              <a:t>	print(“grapes” not in x)		#True</a:t>
            </a:r>
            <a:endParaRPr lang="en-IN" sz="2000" dirty="0">
              <a:cs typeface="Times New Roman" panose="02020603050405020304" pitchFamily="18" charset="0"/>
            </a:endParaRPr>
          </a:p>
        </p:txBody>
      </p:sp>
    </p:spTree>
    <p:extLst>
      <p:ext uri="{BB962C8B-B14F-4D97-AF65-F5344CB8AC3E}">
        <p14:creationId xmlns:p14="http://schemas.microsoft.com/office/powerpoint/2010/main" val="350907535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54038-7035-0AAA-2347-F190E9532857}"/>
              </a:ext>
            </a:extLst>
          </p:cNvPr>
          <p:cNvSpPr>
            <a:spLocks noGrp="1"/>
          </p:cNvSpPr>
          <p:nvPr>
            <p:ph type="title"/>
          </p:nvPr>
        </p:nvSpPr>
        <p:spPr/>
        <p:txBody>
          <a:bodyPr/>
          <a:lstStyle/>
          <a:p>
            <a:pPr algn="ctr"/>
            <a:r>
              <a:rPr lang="en-US"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Operator Precedence</a:t>
            </a:r>
            <a:endPar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endParaRPr>
          </a:p>
        </p:txBody>
      </p:sp>
      <p:pic>
        <p:nvPicPr>
          <p:cNvPr id="4" name="Picture 3">
            <a:extLst>
              <a:ext uri="{FF2B5EF4-FFF2-40B4-BE49-F238E27FC236}">
                <a16:creationId xmlns:a16="http://schemas.microsoft.com/office/drawing/2014/main" id="{0FE3DF0B-8701-59C2-A83F-0B72F0F2389F}"/>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D1BEC083-BB35-C342-B801-F2D84ACEBE67}"/>
              </a:ext>
            </a:extLst>
          </p:cNvPr>
          <p:cNvSpPr txBox="1"/>
          <p:nvPr/>
        </p:nvSpPr>
        <p:spPr>
          <a:xfrm>
            <a:off x="838200" y="1690688"/>
            <a:ext cx="10515600" cy="1631216"/>
          </a:xfrm>
          <a:prstGeom prst="rect">
            <a:avLst/>
          </a:prstGeom>
          <a:noFill/>
        </p:spPr>
        <p:txBody>
          <a:bodyPr wrap="square">
            <a:spAutoFit/>
          </a:bodyPr>
          <a:lstStyle/>
          <a:p>
            <a:pPr marL="342900" indent="-342900">
              <a:buFont typeface="Arial" panose="020B0604020202020204" pitchFamily="34" charset="0"/>
              <a:buChar char="•"/>
            </a:pPr>
            <a:r>
              <a:rPr lang="en-US" sz="2000" dirty="0">
                <a:cs typeface="Times New Roman" panose="02020603050405020304" pitchFamily="18" charset="0"/>
              </a:rPr>
              <a:t>Operator precedence describes the order in which operations are performed.</a:t>
            </a:r>
          </a:p>
          <a:p>
            <a:pPr marL="342900" indent="-342900">
              <a:buFont typeface="Arial" panose="020B0604020202020204" pitchFamily="34" charset="0"/>
              <a:buChar char="•"/>
            </a:pPr>
            <a:r>
              <a:rPr lang="en-US" sz="2000" dirty="0">
                <a:cs typeface="Times New Roman" panose="02020603050405020304" pitchFamily="18" charset="0"/>
              </a:rPr>
              <a:t>Parentheses has the highest precedence, meaning that expressions inside parentheses must be evaluated first.</a:t>
            </a:r>
          </a:p>
          <a:p>
            <a:pPr marL="342900" indent="-342900">
              <a:buFont typeface="Arial" panose="020B0604020202020204" pitchFamily="34" charset="0"/>
              <a:buChar char="•"/>
            </a:pPr>
            <a:r>
              <a:rPr lang="en-US" sz="2000" dirty="0">
                <a:cs typeface="Times New Roman" panose="02020603050405020304" pitchFamily="18" charset="0"/>
              </a:rPr>
              <a:t>Multiplication * has higher precedence than addition +, therefore multiplications are evaluated before additions.</a:t>
            </a:r>
            <a:endParaRPr lang="en-IN" sz="2000" dirty="0">
              <a:cs typeface="Times New Roman" panose="02020603050405020304" pitchFamily="18" charset="0"/>
            </a:endParaRPr>
          </a:p>
        </p:txBody>
      </p:sp>
    </p:spTree>
    <p:extLst>
      <p:ext uri="{BB962C8B-B14F-4D97-AF65-F5344CB8AC3E}">
        <p14:creationId xmlns:p14="http://schemas.microsoft.com/office/powerpoint/2010/main" val="125692963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31510784-C84D-4935-4227-EFA07FA0F2BA}"/>
              </a:ext>
            </a:extLst>
          </p:cNvPr>
          <p:cNvGraphicFramePr>
            <a:graphicFrameLocks noGrp="1"/>
          </p:cNvGraphicFramePr>
          <p:nvPr>
            <p:ph idx="1"/>
          </p:nvPr>
        </p:nvGraphicFramePr>
        <p:xfrm>
          <a:off x="1219200" y="344557"/>
          <a:ext cx="8771282" cy="6217920"/>
        </p:xfrm>
        <a:graphic>
          <a:graphicData uri="http://schemas.openxmlformats.org/drawingml/2006/table">
            <a:tbl>
              <a:tblPr firstRow="1" bandRow="1">
                <a:tableStyleId>{616DA210-FB5B-4158-B5E0-FEB733F419BA}</a:tableStyleId>
              </a:tblPr>
              <a:tblGrid>
                <a:gridCol w="3220278">
                  <a:extLst>
                    <a:ext uri="{9D8B030D-6E8A-4147-A177-3AD203B41FA5}">
                      <a16:colId xmlns:a16="http://schemas.microsoft.com/office/drawing/2014/main" val="3118172395"/>
                    </a:ext>
                  </a:extLst>
                </a:gridCol>
                <a:gridCol w="5551004">
                  <a:extLst>
                    <a:ext uri="{9D8B030D-6E8A-4147-A177-3AD203B41FA5}">
                      <a16:colId xmlns:a16="http://schemas.microsoft.com/office/drawing/2014/main" val="560994125"/>
                    </a:ext>
                  </a:extLst>
                </a:gridCol>
              </a:tblGrid>
              <a:tr h="360187">
                <a:tc>
                  <a:txBody>
                    <a:bodyPr/>
                    <a:lstStyle/>
                    <a:p>
                      <a:pPr algn="ctr"/>
                      <a:r>
                        <a:rPr lang="en-US" sz="2400" b="1" dirty="0">
                          <a:latin typeface="+mn-lt"/>
                          <a:cs typeface="Times New Roman" panose="02020603050405020304" pitchFamily="18" charset="0"/>
                        </a:rPr>
                        <a:t>Operators</a:t>
                      </a:r>
                      <a:endParaRPr lang="en-IN" sz="2400" b="1" dirty="0">
                        <a:latin typeface="+mn-lt"/>
                        <a:cs typeface="Times New Roman" panose="02020603050405020304" pitchFamily="18" charset="0"/>
                      </a:endParaRPr>
                    </a:p>
                  </a:txBody>
                  <a:tcPr/>
                </a:tc>
                <a:tc>
                  <a:txBody>
                    <a:bodyPr/>
                    <a:lstStyle/>
                    <a:p>
                      <a:pPr algn="ctr"/>
                      <a:r>
                        <a:rPr lang="en-US" sz="2400" b="1" dirty="0">
                          <a:latin typeface="+mn-lt"/>
                          <a:cs typeface="Times New Roman" panose="02020603050405020304" pitchFamily="18" charset="0"/>
                        </a:rPr>
                        <a:t>Description</a:t>
                      </a:r>
                      <a:endParaRPr lang="en-IN" sz="2400" b="1" dirty="0">
                        <a:latin typeface="+mn-lt"/>
                        <a:cs typeface="Times New Roman" panose="02020603050405020304" pitchFamily="18" charset="0"/>
                      </a:endParaRPr>
                    </a:p>
                  </a:txBody>
                  <a:tcPr/>
                </a:tc>
                <a:extLst>
                  <a:ext uri="{0D108BD9-81ED-4DB2-BD59-A6C34878D82A}">
                    <a16:rowId xmlns:a16="http://schemas.microsoft.com/office/drawing/2014/main" val="4116327785"/>
                  </a:ext>
                </a:extLst>
              </a:tr>
              <a:tr h="360187">
                <a:tc>
                  <a:txBody>
                    <a:bodyPr/>
                    <a:lstStyle/>
                    <a:p>
                      <a:pPr algn="l"/>
                      <a:r>
                        <a:rPr lang="en-US" sz="2000" b="1" dirty="0">
                          <a:solidFill>
                            <a:srgbClr val="FF0000"/>
                          </a:solidFill>
                          <a:latin typeface="+mn-lt"/>
                          <a:cs typeface="Times New Roman" panose="02020603050405020304" pitchFamily="18" charset="0"/>
                        </a:rPr>
                        <a:t>( )</a:t>
                      </a:r>
                      <a:endParaRPr lang="en-IN" sz="2000" b="1" dirty="0">
                        <a:solidFill>
                          <a:srgbClr val="FF0000"/>
                        </a:solidFill>
                        <a:latin typeface="+mn-lt"/>
                        <a:cs typeface="Times New Roman" panose="02020603050405020304" pitchFamily="18" charset="0"/>
                      </a:endParaRPr>
                    </a:p>
                  </a:txBody>
                  <a:tcPr/>
                </a:tc>
                <a:tc>
                  <a:txBody>
                    <a:bodyPr/>
                    <a:lstStyle/>
                    <a:p>
                      <a:pPr algn="l"/>
                      <a:r>
                        <a:rPr lang="en-US" b="1" dirty="0">
                          <a:latin typeface="+mn-lt"/>
                          <a:cs typeface="Times New Roman" panose="02020603050405020304" pitchFamily="18" charset="0"/>
                        </a:rPr>
                        <a:t>Parentheses</a:t>
                      </a:r>
                      <a:endParaRPr lang="en-IN" b="1" dirty="0">
                        <a:latin typeface="+mn-lt"/>
                        <a:cs typeface="Times New Roman" panose="02020603050405020304" pitchFamily="18" charset="0"/>
                      </a:endParaRPr>
                    </a:p>
                  </a:txBody>
                  <a:tcPr/>
                </a:tc>
                <a:extLst>
                  <a:ext uri="{0D108BD9-81ED-4DB2-BD59-A6C34878D82A}">
                    <a16:rowId xmlns:a16="http://schemas.microsoft.com/office/drawing/2014/main" val="2607245464"/>
                  </a:ext>
                </a:extLst>
              </a:tr>
              <a:tr h="360187">
                <a:tc>
                  <a:txBody>
                    <a:bodyPr/>
                    <a:lstStyle/>
                    <a:p>
                      <a:pPr algn="l"/>
                      <a:r>
                        <a:rPr lang="en-US" sz="2000" b="1" dirty="0">
                          <a:solidFill>
                            <a:srgbClr val="FF0000"/>
                          </a:solidFill>
                          <a:latin typeface="+mn-lt"/>
                          <a:cs typeface="Times New Roman" panose="02020603050405020304" pitchFamily="18" charset="0"/>
                        </a:rPr>
                        <a:t>**</a:t>
                      </a:r>
                      <a:endParaRPr lang="en-IN" sz="2000" b="1" dirty="0">
                        <a:solidFill>
                          <a:srgbClr val="FF0000"/>
                        </a:solidFill>
                        <a:latin typeface="+mn-lt"/>
                        <a:cs typeface="Times New Roman" panose="02020603050405020304" pitchFamily="18" charset="0"/>
                      </a:endParaRPr>
                    </a:p>
                  </a:txBody>
                  <a:tcPr/>
                </a:tc>
                <a:tc>
                  <a:txBody>
                    <a:bodyPr/>
                    <a:lstStyle/>
                    <a:p>
                      <a:pPr algn="l"/>
                      <a:r>
                        <a:rPr lang="en-US" b="1" dirty="0">
                          <a:latin typeface="+mn-lt"/>
                          <a:cs typeface="Times New Roman" panose="02020603050405020304" pitchFamily="18" charset="0"/>
                        </a:rPr>
                        <a:t>Exponentiation</a:t>
                      </a:r>
                      <a:endParaRPr lang="en-IN" b="1" dirty="0">
                        <a:latin typeface="+mn-lt"/>
                        <a:cs typeface="Times New Roman" panose="02020603050405020304" pitchFamily="18" charset="0"/>
                      </a:endParaRPr>
                    </a:p>
                  </a:txBody>
                  <a:tcPr/>
                </a:tc>
                <a:extLst>
                  <a:ext uri="{0D108BD9-81ED-4DB2-BD59-A6C34878D82A}">
                    <a16:rowId xmlns:a16="http://schemas.microsoft.com/office/drawing/2014/main" val="1839326869"/>
                  </a:ext>
                </a:extLst>
              </a:tr>
              <a:tr h="360187">
                <a:tc>
                  <a:txBody>
                    <a:bodyPr/>
                    <a:lstStyle/>
                    <a:p>
                      <a:pPr algn="l"/>
                      <a:r>
                        <a:rPr lang="en-US" sz="2000" b="1" dirty="0">
                          <a:solidFill>
                            <a:srgbClr val="FF0000"/>
                          </a:solidFill>
                          <a:latin typeface="+mn-lt"/>
                          <a:cs typeface="Times New Roman" panose="02020603050405020304" pitchFamily="18" charset="0"/>
                        </a:rPr>
                        <a:t>+x,  -x,  ~x</a:t>
                      </a:r>
                      <a:endParaRPr lang="en-IN" sz="2000" b="1" dirty="0">
                        <a:solidFill>
                          <a:srgbClr val="FF0000"/>
                        </a:solidFill>
                        <a:latin typeface="+mn-lt"/>
                        <a:cs typeface="Times New Roman" panose="02020603050405020304" pitchFamily="18" charset="0"/>
                      </a:endParaRPr>
                    </a:p>
                  </a:txBody>
                  <a:tcPr/>
                </a:tc>
                <a:tc>
                  <a:txBody>
                    <a:bodyPr/>
                    <a:lstStyle/>
                    <a:p>
                      <a:pPr algn="l"/>
                      <a:r>
                        <a:rPr lang="en-US" b="1" dirty="0">
                          <a:latin typeface="+mn-lt"/>
                          <a:cs typeface="Times New Roman" panose="02020603050405020304" pitchFamily="18" charset="0"/>
                        </a:rPr>
                        <a:t>Unary plus, unary minus, and bitwise NOT</a:t>
                      </a:r>
                      <a:endParaRPr lang="en-IN" b="1" dirty="0">
                        <a:latin typeface="+mn-lt"/>
                        <a:cs typeface="Times New Roman" panose="02020603050405020304" pitchFamily="18" charset="0"/>
                      </a:endParaRPr>
                    </a:p>
                  </a:txBody>
                  <a:tcPr/>
                </a:tc>
                <a:extLst>
                  <a:ext uri="{0D108BD9-81ED-4DB2-BD59-A6C34878D82A}">
                    <a16:rowId xmlns:a16="http://schemas.microsoft.com/office/drawing/2014/main" val="1572590999"/>
                  </a:ext>
                </a:extLst>
              </a:tr>
              <a:tr h="360187">
                <a:tc>
                  <a:txBody>
                    <a:bodyPr/>
                    <a:lstStyle/>
                    <a:p>
                      <a:pPr algn="l"/>
                      <a:r>
                        <a:rPr lang="en-US" sz="2000" b="1" dirty="0">
                          <a:solidFill>
                            <a:srgbClr val="FF0000"/>
                          </a:solidFill>
                          <a:latin typeface="+mn-lt"/>
                          <a:cs typeface="Times New Roman" panose="02020603050405020304" pitchFamily="18" charset="0"/>
                        </a:rPr>
                        <a:t>*,  /,  //,  %</a:t>
                      </a:r>
                      <a:endParaRPr lang="en-IN" sz="2000" b="1" dirty="0">
                        <a:solidFill>
                          <a:srgbClr val="FF0000"/>
                        </a:solidFill>
                        <a:latin typeface="+mn-lt"/>
                        <a:cs typeface="Times New Roman" panose="02020603050405020304" pitchFamily="18" charset="0"/>
                      </a:endParaRPr>
                    </a:p>
                  </a:txBody>
                  <a:tcPr/>
                </a:tc>
                <a:tc>
                  <a:txBody>
                    <a:bodyPr/>
                    <a:lstStyle/>
                    <a:p>
                      <a:pPr algn="l"/>
                      <a:r>
                        <a:rPr lang="en-US" b="1" dirty="0">
                          <a:latin typeface="+mn-lt"/>
                          <a:cs typeface="Times New Roman" panose="02020603050405020304" pitchFamily="18" charset="0"/>
                        </a:rPr>
                        <a:t>Multiplication, division, floor division, and modulus</a:t>
                      </a:r>
                      <a:endParaRPr lang="en-IN" b="1" dirty="0">
                        <a:latin typeface="+mn-lt"/>
                        <a:cs typeface="Times New Roman" panose="02020603050405020304" pitchFamily="18" charset="0"/>
                      </a:endParaRPr>
                    </a:p>
                  </a:txBody>
                  <a:tcPr/>
                </a:tc>
                <a:extLst>
                  <a:ext uri="{0D108BD9-81ED-4DB2-BD59-A6C34878D82A}">
                    <a16:rowId xmlns:a16="http://schemas.microsoft.com/office/drawing/2014/main" val="1517810812"/>
                  </a:ext>
                </a:extLst>
              </a:tr>
              <a:tr h="360187">
                <a:tc>
                  <a:txBody>
                    <a:bodyPr/>
                    <a:lstStyle/>
                    <a:p>
                      <a:pPr algn="l"/>
                      <a:r>
                        <a:rPr lang="en-US" sz="2000" b="1" dirty="0">
                          <a:solidFill>
                            <a:srgbClr val="FF0000"/>
                          </a:solidFill>
                          <a:latin typeface="+mn-lt"/>
                          <a:cs typeface="Times New Roman" panose="02020603050405020304" pitchFamily="18" charset="0"/>
                        </a:rPr>
                        <a:t>+,    -</a:t>
                      </a:r>
                    </a:p>
                  </a:txBody>
                  <a:tcPr/>
                </a:tc>
                <a:tc>
                  <a:txBody>
                    <a:bodyPr/>
                    <a:lstStyle/>
                    <a:p>
                      <a:pPr algn="l"/>
                      <a:r>
                        <a:rPr lang="en-US" b="1" dirty="0">
                          <a:latin typeface="+mn-lt"/>
                          <a:cs typeface="Times New Roman" panose="02020603050405020304" pitchFamily="18" charset="0"/>
                        </a:rPr>
                        <a:t>Addition and subtraction</a:t>
                      </a:r>
                      <a:endParaRPr lang="en-IN" b="1" dirty="0">
                        <a:latin typeface="+mn-lt"/>
                        <a:cs typeface="Times New Roman" panose="02020603050405020304" pitchFamily="18" charset="0"/>
                      </a:endParaRPr>
                    </a:p>
                  </a:txBody>
                  <a:tcPr/>
                </a:tc>
                <a:extLst>
                  <a:ext uri="{0D108BD9-81ED-4DB2-BD59-A6C34878D82A}">
                    <a16:rowId xmlns:a16="http://schemas.microsoft.com/office/drawing/2014/main" val="3872232270"/>
                  </a:ext>
                </a:extLst>
              </a:tr>
              <a:tr h="360187">
                <a:tc>
                  <a:txBody>
                    <a:bodyPr/>
                    <a:lstStyle/>
                    <a:p>
                      <a:pPr algn="l"/>
                      <a:r>
                        <a:rPr lang="en-US" sz="2000" b="1" dirty="0">
                          <a:solidFill>
                            <a:srgbClr val="FF0000"/>
                          </a:solidFill>
                          <a:latin typeface="+mn-lt"/>
                          <a:cs typeface="Times New Roman" panose="02020603050405020304" pitchFamily="18" charset="0"/>
                        </a:rPr>
                        <a:t>&lt;&lt;,   &gt;&gt;</a:t>
                      </a:r>
                      <a:endParaRPr lang="en-IN" sz="2000" b="1" dirty="0">
                        <a:solidFill>
                          <a:srgbClr val="FF0000"/>
                        </a:solidFill>
                        <a:latin typeface="+mn-lt"/>
                        <a:cs typeface="Times New Roman" panose="02020603050405020304" pitchFamily="18" charset="0"/>
                      </a:endParaRPr>
                    </a:p>
                  </a:txBody>
                  <a:tcPr/>
                </a:tc>
                <a:tc>
                  <a:txBody>
                    <a:bodyPr/>
                    <a:lstStyle/>
                    <a:p>
                      <a:pPr algn="l"/>
                      <a:r>
                        <a:rPr lang="en-US" b="1" dirty="0">
                          <a:latin typeface="+mn-lt"/>
                          <a:cs typeface="Times New Roman" panose="02020603050405020304" pitchFamily="18" charset="0"/>
                        </a:rPr>
                        <a:t>Bitwise left and right shifts</a:t>
                      </a:r>
                      <a:endParaRPr lang="en-IN" b="1" dirty="0">
                        <a:latin typeface="+mn-lt"/>
                        <a:cs typeface="Times New Roman" panose="02020603050405020304" pitchFamily="18" charset="0"/>
                      </a:endParaRPr>
                    </a:p>
                  </a:txBody>
                  <a:tcPr/>
                </a:tc>
                <a:extLst>
                  <a:ext uri="{0D108BD9-81ED-4DB2-BD59-A6C34878D82A}">
                    <a16:rowId xmlns:a16="http://schemas.microsoft.com/office/drawing/2014/main" val="1180363264"/>
                  </a:ext>
                </a:extLst>
              </a:tr>
              <a:tr h="360187">
                <a:tc>
                  <a:txBody>
                    <a:bodyPr/>
                    <a:lstStyle/>
                    <a:p>
                      <a:pPr algn="l"/>
                      <a:r>
                        <a:rPr lang="en-US" sz="2000" b="1" dirty="0">
                          <a:solidFill>
                            <a:srgbClr val="FF0000"/>
                          </a:solidFill>
                          <a:latin typeface="+mn-lt"/>
                          <a:cs typeface="Times New Roman" panose="02020603050405020304" pitchFamily="18" charset="0"/>
                        </a:rPr>
                        <a:t>&amp;</a:t>
                      </a:r>
                      <a:endParaRPr lang="en-IN" sz="2000" b="1" dirty="0">
                        <a:solidFill>
                          <a:srgbClr val="FF0000"/>
                        </a:solidFill>
                        <a:latin typeface="+mn-lt"/>
                        <a:cs typeface="Times New Roman" panose="02020603050405020304" pitchFamily="18" charset="0"/>
                      </a:endParaRPr>
                    </a:p>
                  </a:txBody>
                  <a:tcPr/>
                </a:tc>
                <a:tc>
                  <a:txBody>
                    <a:bodyPr/>
                    <a:lstStyle/>
                    <a:p>
                      <a:pPr algn="l"/>
                      <a:r>
                        <a:rPr lang="en-US" b="1" dirty="0">
                          <a:latin typeface="+mn-lt"/>
                          <a:cs typeface="Times New Roman" panose="02020603050405020304" pitchFamily="18" charset="0"/>
                        </a:rPr>
                        <a:t>Bitwise AND</a:t>
                      </a:r>
                      <a:endParaRPr lang="en-IN" b="1" dirty="0">
                        <a:latin typeface="+mn-lt"/>
                        <a:cs typeface="Times New Roman" panose="02020603050405020304" pitchFamily="18" charset="0"/>
                      </a:endParaRPr>
                    </a:p>
                  </a:txBody>
                  <a:tcPr/>
                </a:tc>
                <a:extLst>
                  <a:ext uri="{0D108BD9-81ED-4DB2-BD59-A6C34878D82A}">
                    <a16:rowId xmlns:a16="http://schemas.microsoft.com/office/drawing/2014/main" val="97950476"/>
                  </a:ext>
                </a:extLst>
              </a:tr>
              <a:tr h="360187">
                <a:tc>
                  <a:txBody>
                    <a:bodyPr/>
                    <a:lstStyle/>
                    <a:p>
                      <a:pPr algn="l"/>
                      <a:r>
                        <a:rPr lang="en-US" sz="2000" b="1" dirty="0">
                          <a:solidFill>
                            <a:srgbClr val="FF0000"/>
                          </a:solidFill>
                          <a:latin typeface="+mn-lt"/>
                          <a:cs typeface="Times New Roman" panose="02020603050405020304" pitchFamily="18" charset="0"/>
                        </a:rPr>
                        <a:t>^</a:t>
                      </a:r>
                      <a:endParaRPr lang="en-IN" sz="2000" b="1" dirty="0">
                        <a:solidFill>
                          <a:srgbClr val="FF0000"/>
                        </a:solidFill>
                        <a:latin typeface="+mn-lt"/>
                        <a:cs typeface="Times New Roman" panose="02020603050405020304" pitchFamily="18" charset="0"/>
                      </a:endParaRPr>
                    </a:p>
                  </a:txBody>
                  <a:tcPr/>
                </a:tc>
                <a:tc>
                  <a:txBody>
                    <a:bodyPr/>
                    <a:lstStyle/>
                    <a:p>
                      <a:pPr algn="l"/>
                      <a:r>
                        <a:rPr lang="en-US" b="1" dirty="0">
                          <a:latin typeface="+mn-lt"/>
                          <a:cs typeface="Times New Roman" panose="02020603050405020304" pitchFamily="18" charset="0"/>
                        </a:rPr>
                        <a:t>Bitwise XOR</a:t>
                      </a:r>
                      <a:endParaRPr lang="en-IN" b="1" dirty="0">
                        <a:latin typeface="+mn-lt"/>
                        <a:cs typeface="Times New Roman" panose="02020603050405020304" pitchFamily="18" charset="0"/>
                      </a:endParaRPr>
                    </a:p>
                  </a:txBody>
                  <a:tcPr/>
                </a:tc>
                <a:extLst>
                  <a:ext uri="{0D108BD9-81ED-4DB2-BD59-A6C34878D82A}">
                    <a16:rowId xmlns:a16="http://schemas.microsoft.com/office/drawing/2014/main" val="4040882146"/>
                  </a:ext>
                </a:extLst>
              </a:tr>
              <a:tr h="360187">
                <a:tc>
                  <a:txBody>
                    <a:bodyPr/>
                    <a:lstStyle/>
                    <a:p>
                      <a:pPr algn="l"/>
                      <a:r>
                        <a:rPr lang="en-US" sz="2000" b="1" dirty="0">
                          <a:solidFill>
                            <a:srgbClr val="FF0000"/>
                          </a:solidFill>
                          <a:latin typeface="+mn-lt"/>
                          <a:cs typeface="Times New Roman" panose="02020603050405020304" pitchFamily="18" charset="0"/>
                        </a:rPr>
                        <a:t>|</a:t>
                      </a:r>
                      <a:endParaRPr lang="en-IN" sz="2000" b="1" dirty="0">
                        <a:solidFill>
                          <a:srgbClr val="FF0000"/>
                        </a:solidFill>
                        <a:latin typeface="+mn-lt"/>
                        <a:cs typeface="Times New Roman" panose="02020603050405020304" pitchFamily="18" charset="0"/>
                      </a:endParaRPr>
                    </a:p>
                  </a:txBody>
                  <a:tcPr/>
                </a:tc>
                <a:tc>
                  <a:txBody>
                    <a:bodyPr/>
                    <a:lstStyle/>
                    <a:p>
                      <a:pPr algn="l"/>
                      <a:r>
                        <a:rPr lang="en-US" b="1" dirty="0">
                          <a:latin typeface="+mn-lt"/>
                          <a:cs typeface="Times New Roman" panose="02020603050405020304" pitchFamily="18" charset="0"/>
                        </a:rPr>
                        <a:t>Bitwise OR</a:t>
                      </a:r>
                      <a:endParaRPr lang="en-IN" b="1" dirty="0">
                        <a:latin typeface="+mn-lt"/>
                        <a:cs typeface="Times New Roman" panose="02020603050405020304" pitchFamily="18" charset="0"/>
                      </a:endParaRPr>
                    </a:p>
                  </a:txBody>
                  <a:tcPr/>
                </a:tc>
                <a:extLst>
                  <a:ext uri="{0D108BD9-81ED-4DB2-BD59-A6C34878D82A}">
                    <a16:rowId xmlns:a16="http://schemas.microsoft.com/office/drawing/2014/main" val="3959554594"/>
                  </a:ext>
                </a:extLst>
              </a:tr>
              <a:tr h="936487">
                <a:tc>
                  <a:txBody>
                    <a:bodyPr/>
                    <a:lstStyle/>
                    <a:p>
                      <a:pPr algn="l"/>
                      <a:r>
                        <a:rPr lang="en-US" sz="2000" b="1" dirty="0">
                          <a:solidFill>
                            <a:srgbClr val="FF0000"/>
                          </a:solidFill>
                          <a:latin typeface="+mn-lt"/>
                          <a:cs typeface="Times New Roman" panose="02020603050405020304" pitchFamily="18" charset="0"/>
                        </a:rPr>
                        <a:t>==,  !=,  &gt;,  &gt;=,  &lt;,  &lt;=</a:t>
                      </a:r>
                    </a:p>
                    <a:p>
                      <a:pPr algn="l"/>
                      <a:r>
                        <a:rPr lang="en-US" sz="2000" b="1" dirty="0">
                          <a:solidFill>
                            <a:srgbClr val="FF0000"/>
                          </a:solidFill>
                          <a:latin typeface="+mn-lt"/>
                          <a:cs typeface="Times New Roman" panose="02020603050405020304" pitchFamily="18" charset="0"/>
                        </a:rPr>
                        <a:t> is, is not</a:t>
                      </a:r>
                    </a:p>
                    <a:p>
                      <a:pPr algn="l"/>
                      <a:r>
                        <a:rPr lang="en-US" sz="2000" b="1" dirty="0">
                          <a:solidFill>
                            <a:srgbClr val="FF0000"/>
                          </a:solidFill>
                          <a:latin typeface="+mn-lt"/>
                          <a:cs typeface="Times New Roman" panose="02020603050405020304" pitchFamily="18" charset="0"/>
                        </a:rPr>
                        <a:t> in, not in</a:t>
                      </a:r>
                      <a:endParaRPr lang="en-IN" sz="2000" b="1" dirty="0">
                        <a:solidFill>
                          <a:srgbClr val="FF0000"/>
                        </a:solidFill>
                        <a:latin typeface="+mn-lt"/>
                        <a:cs typeface="Times New Roman" panose="02020603050405020304" pitchFamily="18" charset="0"/>
                      </a:endParaRPr>
                    </a:p>
                  </a:txBody>
                  <a:tcPr/>
                </a:tc>
                <a:tc>
                  <a:txBody>
                    <a:bodyPr/>
                    <a:lstStyle/>
                    <a:p>
                      <a:pPr algn="l"/>
                      <a:r>
                        <a:rPr lang="en-US" b="1" dirty="0">
                          <a:latin typeface="+mn-lt"/>
                          <a:cs typeface="Times New Roman" panose="02020603050405020304" pitchFamily="18" charset="0"/>
                        </a:rPr>
                        <a:t>Comparisons, identity and membership operators</a:t>
                      </a:r>
                      <a:endParaRPr lang="en-IN" b="1" dirty="0">
                        <a:latin typeface="+mn-lt"/>
                        <a:cs typeface="Times New Roman" panose="02020603050405020304" pitchFamily="18" charset="0"/>
                      </a:endParaRPr>
                    </a:p>
                  </a:txBody>
                  <a:tcPr/>
                </a:tc>
                <a:extLst>
                  <a:ext uri="{0D108BD9-81ED-4DB2-BD59-A6C34878D82A}">
                    <a16:rowId xmlns:a16="http://schemas.microsoft.com/office/drawing/2014/main" val="2453458761"/>
                  </a:ext>
                </a:extLst>
              </a:tr>
              <a:tr h="360187">
                <a:tc>
                  <a:txBody>
                    <a:bodyPr/>
                    <a:lstStyle/>
                    <a:p>
                      <a:pPr algn="l"/>
                      <a:r>
                        <a:rPr lang="en-US" sz="2000" b="1" dirty="0">
                          <a:solidFill>
                            <a:srgbClr val="FF0000"/>
                          </a:solidFill>
                          <a:latin typeface="+mn-lt"/>
                          <a:cs typeface="Times New Roman" panose="02020603050405020304" pitchFamily="18" charset="0"/>
                        </a:rPr>
                        <a:t> not</a:t>
                      </a:r>
                      <a:endParaRPr lang="en-IN" sz="2000" b="1" dirty="0">
                        <a:solidFill>
                          <a:srgbClr val="FF0000"/>
                        </a:solidFill>
                        <a:latin typeface="+mn-lt"/>
                        <a:cs typeface="Times New Roman" panose="02020603050405020304" pitchFamily="18" charset="0"/>
                      </a:endParaRPr>
                    </a:p>
                  </a:txBody>
                  <a:tcPr/>
                </a:tc>
                <a:tc>
                  <a:txBody>
                    <a:bodyPr/>
                    <a:lstStyle/>
                    <a:p>
                      <a:pPr algn="l"/>
                      <a:r>
                        <a:rPr lang="en-US" b="1" dirty="0">
                          <a:latin typeface="+mn-lt"/>
                          <a:cs typeface="Times New Roman" panose="02020603050405020304" pitchFamily="18" charset="0"/>
                        </a:rPr>
                        <a:t>Logical NOT</a:t>
                      </a:r>
                      <a:endParaRPr lang="en-IN" b="1" dirty="0">
                        <a:latin typeface="+mn-lt"/>
                        <a:cs typeface="Times New Roman" panose="02020603050405020304" pitchFamily="18" charset="0"/>
                      </a:endParaRPr>
                    </a:p>
                  </a:txBody>
                  <a:tcPr/>
                </a:tc>
                <a:extLst>
                  <a:ext uri="{0D108BD9-81ED-4DB2-BD59-A6C34878D82A}">
                    <a16:rowId xmlns:a16="http://schemas.microsoft.com/office/drawing/2014/main" val="829906190"/>
                  </a:ext>
                </a:extLst>
              </a:tr>
              <a:tr h="360187">
                <a:tc>
                  <a:txBody>
                    <a:bodyPr/>
                    <a:lstStyle/>
                    <a:p>
                      <a:pPr algn="l"/>
                      <a:r>
                        <a:rPr lang="en-US" sz="2000" b="1" dirty="0">
                          <a:solidFill>
                            <a:srgbClr val="FF0000"/>
                          </a:solidFill>
                          <a:latin typeface="+mn-lt"/>
                          <a:cs typeface="Times New Roman" panose="02020603050405020304" pitchFamily="18" charset="0"/>
                        </a:rPr>
                        <a:t> and</a:t>
                      </a:r>
                      <a:endParaRPr lang="en-IN" sz="2000" b="1" dirty="0">
                        <a:solidFill>
                          <a:srgbClr val="FF0000"/>
                        </a:solidFill>
                        <a:latin typeface="+mn-lt"/>
                        <a:cs typeface="Times New Roman" panose="02020603050405020304" pitchFamily="18" charset="0"/>
                      </a:endParaRPr>
                    </a:p>
                  </a:txBody>
                  <a:tcPr/>
                </a:tc>
                <a:tc>
                  <a:txBody>
                    <a:bodyPr/>
                    <a:lstStyle/>
                    <a:p>
                      <a:pPr algn="l"/>
                      <a:r>
                        <a:rPr lang="en-US" b="1" dirty="0">
                          <a:latin typeface="+mn-lt"/>
                          <a:cs typeface="Times New Roman" panose="02020603050405020304" pitchFamily="18" charset="0"/>
                        </a:rPr>
                        <a:t>Logical AND</a:t>
                      </a:r>
                      <a:endParaRPr lang="en-IN" b="1" dirty="0">
                        <a:latin typeface="+mn-lt"/>
                        <a:cs typeface="Times New Roman" panose="02020603050405020304" pitchFamily="18" charset="0"/>
                      </a:endParaRPr>
                    </a:p>
                  </a:txBody>
                  <a:tcPr/>
                </a:tc>
                <a:extLst>
                  <a:ext uri="{0D108BD9-81ED-4DB2-BD59-A6C34878D82A}">
                    <a16:rowId xmlns:a16="http://schemas.microsoft.com/office/drawing/2014/main" val="2611590729"/>
                  </a:ext>
                </a:extLst>
              </a:tr>
              <a:tr h="331032">
                <a:tc>
                  <a:txBody>
                    <a:bodyPr/>
                    <a:lstStyle/>
                    <a:p>
                      <a:pPr algn="l"/>
                      <a:r>
                        <a:rPr lang="en-US" sz="2000" b="1" dirty="0">
                          <a:solidFill>
                            <a:srgbClr val="FF0000"/>
                          </a:solidFill>
                          <a:latin typeface="+mn-lt"/>
                          <a:cs typeface="Times New Roman" panose="02020603050405020304" pitchFamily="18" charset="0"/>
                        </a:rPr>
                        <a:t> or</a:t>
                      </a:r>
                      <a:endParaRPr lang="en-IN" sz="2000" b="1" dirty="0">
                        <a:solidFill>
                          <a:srgbClr val="FF0000"/>
                        </a:solidFill>
                        <a:latin typeface="+mn-lt"/>
                        <a:cs typeface="Times New Roman" panose="02020603050405020304" pitchFamily="18" charset="0"/>
                      </a:endParaRPr>
                    </a:p>
                  </a:txBody>
                  <a:tcPr/>
                </a:tc>
                <a:tc>
                  <a:txBody>
                    <a:bodyPr/>
                    <a:lstStyle/>
                    <a:p>
                      <a:pPr algn="l"/>
                      <a:r>
                        <a:rPr lang="en-US" b="1" dirty="0">
                          <a:latin typeface="+mn-lt"/>
                          <a:cs typeface="Times New Roman" panose="02020603050405020304" pitchFamily="18" charset="0"/>
                        </a:rPr>
                        <a:t>Logical OR</a:t>
                      </a:r>
                      <a:endParaRPr lang="en-IN" b="1" dirty="0">
                        <a:latin typeface="+mn-lt"/>
                        <a:cs typeface="Times New Roman" panose="02020603050405020304" pitchFamily="18" charset="0"/>
                      </a:endParaRPr>
                    </a:p>
                  </a:txBody>
                  <a:tcPr/>
                </a:tc>
                <a:extLst>
                  <a:ext uri="{0D108BD9-81ED-4DB2-BD59-A6C34878D82A}">
                    <a16:rowId xmlns:a16="http://schemas.microsoft.com/office/drawing/2014/main" val="3058905680"/>
                  </a:ext>
                </a:extLst>
              </a:tr>
            </a:tbl>
          </a:graphicData>
        </a:graphic>
      </p:graphicFrame>
      <p:pic>
        <p:nvPicPr>
          <p:cNvPr id="2" name="Picture 1">
            <a:extLst>
              <a:ext uri="{FF2B5EF4-FFF2-40B4-BE49-F238E27FC236}">
                <a16:creationId xmlns:a16="http://schemas.microsoft.com/office/drawing/2014/main" id="{AB13CF28-654C-B5D0-2347-BA53523A93EC}"/>
              </a:ext>
            </a:extLst>
          </p:cNvPr>
          <p:cNvPicPr/>
          <p:nvPr/>
        </p:nvPicPr>
        <p:blipFill>
          <a:blip r:embed="rId2" cstate="print"/>
          <a:stretch/>
        </p:blipFill>
        <p:spPr>
          <a:xfrm>
            <a:off x="11503320" y="37"/>
            <a:ext cx="688680" cy="689040"/>
          </a:xfrm>
          <a:prstGeom prst="rect">
            <a:avLst/>
          </a:prstGeom>
          <a:ln w="0">
            <a:noFill/>
          </a:ln>
        </p:spPr>
      </p:pic>
    </p:spTree>
    <p:extLst>
      <p:ext uri="{BB962C8B-B14F-4D97-AF65-F5344CB8AC3E}">
        <p14:creationId xmlns:p14="http://schemas.microsoft.com/office/powerpoint/2010/main" val="108678170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FDE655C-021D-D9D4-9B40-AA44570C7F6D}"/>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2E6480C6-5391-455A-B59C-5B3B5B2C424F}"/>
              </a:ext>
            </a:extLst>
          </p:cNvPr>
          <p:cNvSpPr txBox="1"/>
          <p:nvPr/>
        </p:nvSpPr>
        <p:spPr>
          <a:xfrm>
            <a:off x="511277" y="1179872"/>
            <a:ext cx="8632723" cy="1323439"/>
          </a:xfrm>
          <a:prstGeom prst="rect">
            <a:avLst/>
          </a:prstGeom>
          <a:noFill/>
        </p:spPr>
        <p:txBody>
          <a:bodyPr wrap="square">
            <a:spAutoFit/>
          </a:bodyPr>
          <a:lstStyle/>
          <a:p>
            <a:pPr marL="0" indent="0">
              <a:buNone/>
            </a:pPr>
            <a:r>
              <a:rPr lang="en-US" sz="2000" b="1" dirty="0">
                <a:cs typeface="Times New Roman" panose="02020603050405020304" pitchFamily="18" charset="0"/>
              </a:rPr>
              <a:t>Example</a:t>
            </a:r>
          </a:p>
          <a:p>
            <a:pPr marL="0" indent="0">
              <a:buNone/>
            </a:pPr>
            <a:r>
              <a:rPr lang="en-US" sz="2000" dirty="0">
                <a:cs typeface="Times New Roman" panose="02020603050405020304" pitchFamily="18" charset="0"/>
              </a:rPr>
              <a:t>	print((5+3) – (7+9))					#-8</a:t>
            </a:r>
          </a:p>
          <a:p>
            <a:pPr marL="0" indent="0">
              <a:buNone/>
            </a:pPr>
            <a:r>
              <a:rPr lang="en-US" sz="2000" dirty="0">
                <a:cs typeface="Times New Roman" panose="02020603050405020304" pitchFamily="18" charset="0"/>
              </a:rPr>
              <a:t>	print(100 * (5+3) + 9 – (10 / 2))		#804.0</a:t>
            </a:r>
          </a:p>
          <a:p>
            <a:pPr marL="0" indent="0">
              <a:buNone/>
            </a:pPr>
            <a:r>
              <a:rPr lang="en-US" sz="2000" dirty="0">
                <a:cs typeface="Times New Roman" panose="02020603050405020304" pitchFamily="18" charset="0"/>
              </a:rPr>
              <a:t>	print(7 + 8 – 10 * 3 / 5)				#9.0</a:t>
            </a:r>
            <a:endParaRPr lang="en-IN" sz="2000" dirty="0">
              <a:cs typeface="Times New Roman" panose="02020603050405020304" pitchFamily="18" charset="0"/>
            </a:endParaRPr>
          </a:p>
        </p:txBody>
      </p:sp>
    </p:spTree>
    <p:extLst>
      <p:ext uri="{BB962C8B-B14F-4D97-AF65-F5344CB8AC3E}">
        <p14:creationId xmlns:p14="http://schemas.microsoft.com/office/powerpoint/2010/main" val="245492061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02064-9373-BD53-1F00-ACE3FD37090A}"/>
              </a:ext>
            </a:extLst>
          </p:cNvPr>
          <p:cNvSpPr>
            <a:spLocks noGrp="1"/>
          </p:cNvSpPr>
          <p:nvPr>
            <p:ph type="title"/>
          </p:nvPr>
        </p:nvSpPr>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Conditional Statements</a:t>
            </a:r>
          </a:p>
        </p:txBody>
      </p:sp>
      <p:pic>
        <p:nvPicPr>
          <p:cNvPr id="4" name="Picture 3">
            <a:extLst>
              <a:ext uri="{FF2B5EF4-FFF2-40B4-BE49-F238E27FC236}">
                <a16:creationId xmlns:a16="http://schemas.microsoft.com/office/drawing/2014/main" id="{C03FE384-CDB6-86DA-F709-D64BF8344414}"/>
              </a:ext>
            </a:extLst>
          </p:cNvPr>
          <p:cNvPicPr/>
          <p:nvPr/>
        </p:nvPicPr>
        <p:blipFill>
          <a:blip r:embed="rId2" cstate="print"/>
          <a:stretch/>
        </p:blipFill>
        <p:spPr>
          <a:xfrm>
            <a:off x="11503320" y="0"/>
            <a:ext cx="688680" cy="689040"/>
          </a:xfrm>
          <a:prstGeom prst="rect">
            <a:avLst/>
          </a:prstGeom>
          <a:ln w="0">
            <a:noFill/>
          </a:ln>
        </p:spPr>
      </p:pic>
      <p:sp>
        <p:nvSpPr>
          <p:cNvPr id="6" name="TextBox 5">
            <a:extLst>
              <a:ext uri="{FF2B5EF4-FFF2-40B4-BE49-F238E27FC236}">
                <a16:creationId xmlns:a16="http://schemas.microsoft.com/office/drawing/2014/main" id="{41971CFF-A844-3845-5D4C-F58E1D1669C9}"/>
              </a:ext>
            </a:extLst>
          </p:cNvPr>
          <p:cNvSpPr txBox="1"/>
          <p:nvPr/>
        </p:nvSpPr>
        <p:spPr>
          <a:xfrm>
            <a:off x="580103" y="1602658"/>
            <a:ext cx="11169445" cy="4888261"/>
          </a:xfrm>
          <a:prstGeom prst="rect">
            <a:avLst/>
          </a:prstGeom>
          <a:noFill/>
        </p:spPr>
        <p:txBody>
          <a:bodyPr wrap="square">
            <a:spAutoFit/>
          </a:bodyPr>
          <a:lstStyle/>
          <a:p>
            <a:pPr marL="342900" indent="-342900">
              <a:lnSpc>
                <a:spcPct val="114999"/>
              </a:lnSpc>
              <a:spcBef>
                <a:spcPts val="11"/>
              </a:spcBef>
              <a:spcAft>
                <a:spcPts val="814"/>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spc="-1" dirty="0">
                <a:solidFill>
                  <a:srgbClr val="000000"/>
                </a:solidFill>
                <a:ea typeface="Calibri"/>
                <a:cs typeface="Times New Roman" panose="02020603050405020304" pitchFamily="18" charset="0"/>
              </a:rPr>
              <a:t>Conditional statements, also known as decision-making statements, allow you to execute certain pieces of code based on whether a specified condition or set of conditions is true or false. </a:t>
            </a:r>
          </a:p>
          <a:p>
            <a:pPr marL="0" indent="0">
              <a:lnSpc>
                <a:spcPct val="114999"/>
              </a:lnSpc>
              <a:spcBef>
                <a:spcPts val="11"/>
              </a:spcBef>
              <a:spcAft>
                <a:spcPts val="814"/>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000" b="1" u="sng" spc="-1" dirty="0">
              <a:solidFill>
                <a:srgbClr val="000000"/>
              </a:solidFill>
              <a:ea typeface="Times New Roman"/>
              <a:cs typeface="Times New Roman" panose="02020603050405020304" pitchFamily="18" charset="0"/>
            </a:endParaRPr>
          </a:p>
          <a:p>
            <a:pPr marL="0" indent="0">
              <a:lnSpc>
                <a:spcPct val="114999"/>
              </a:lnSpc>
              <a:spcBef>
                <a:spcPts val="11"/>
              </a:spcBef>
              <a:spcAft>
                <a:spcPts val="814"/>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sng" strike="noStrike" spc="-1" dirty="0">
                <a:solidFill>
                  <a:srgbClr val="000000"/>
                </a:solidFill>
                <a:uFillTx/>
                <a:ea typeface="Times New Roman"/>
                <a:cs typeface="Times New Roman" panose="02020603050405020304" pitchFamily="18" charset="0"/>
              </a:rPr>
              <a:t>‘if’ Statement</a:t>
            </a:r>
            <a:r>
              <a:rPr lang="en-US" sz="2000" u="sng" spc="-1" dirty="0">
                <a:solidFill>
                  <a:srgbClr val="000000"/>
                </a:solidFill>
                <a:uFillTx/>
                <a:cs typeface="Times New Roman" panose="02020603050405020304" pitchFamily="18" charset="0"/>
              </a:rPr>
              <a:t>:</a:t>
            </a:r>
            <a:r>
              <a:rPr lang="en-US" sz="2000" b="1" spc="-1" dirty="0">
                <a:solidFill>
                  <a:srgbClr val="000000"/>
                </a:solidFill>
                <a:cs typeface="Times New Roman" panose="02020603050405020304" pitchFamily="18" charset="0"/>
              </a:rPr>
              <a:t> </a:t>
            </a:r>
            <a:r>
              <a:rPr lang="en-US" sz="2000" b="0" strike="noStrike" spc="-1" dirty="0">
                <a:solidFill>
                  <a:srgbClr val="000000"/>
                </a:solidFill>
                <a:ea typeface="Times New Roman"/>
                <a:cs typeface="Times New Roman" panose="02020603050405020304" pitchFamily="18" charset="0"/>
              </a:rPr>
              <a:t>Executes a block of code if a specified condition is true.</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814"/>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sng" strike="noStrike" spc="-1" dirty="0">
                <a:solidFill>
                  <a:srgbClr val="000000"/>
                </a:solidFill>
                <a:uFillTx/>
                <a:ea typeface="Times New Roman"/>
                <a:cs typeface="Times New Roman" panose="02020603050405020304" pitchFamily="18" charset="0"/>
              </a:rPr>
              <a:t>Syntax:</a:t>
            </a:r>
            <a:endParaRPr lang="en-US" sz="2000" b="1" strike="noStrike" spc="-1" dirty="0">
              <a:solidFill>
                <a:srgbClr val="000000"/>
              </a:solidFill>
              <a:cs typeface="Times New Roman" panose="02020603050405020304" pitchFamily="18" charset="0"/>
            </a:endParaRPr>
          </a:p>
          <a:p>
            <a:pPr marL="0" indent="0">
              <a:lnSpc>
                <a:spcPct val="115000"/>
              </a:lnSpc>
              <a:spcBef>
                <a:spcPts val="11"/>
              </a:spcBef>
              <a:spcAft>
                <a:spcPts val="814"/>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if condition:</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814"/>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 code to execute if condition is true</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814"/>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strike="noStrike" spc="-1" dirty="0">
                <a:solidFill>
                  <a:srgbClr val="000000"/>
                </a:solidFill>
                <a:uFillTx/>
                <a:ea typeface="Times New Roman"/>
                <a:cs typeface="Times New Roman" panose="02020603050405020304" pitchFamily="18" charset="0"/>
              </a:rPr>
              <a:t>Example:</a:t>
            </a:r>
            <a:endParaRPr lang="en-US" sz="2000" b="1" strike="noStrike" spc="-1" dirty="0">
              <a:solidFill>
                <a:srgbClr val="000000"/>
              </a:solidFill>
              <a:cs typeface="Times New Roman" panose="02020603050405020304" pitchFamily="18" charset="0"/>
            </a:endParaRPr>
          </a:p>
          <a:p>
            <a:pPr marL="0" indent="0">
              <a:lnSpc>
                <a:spcPct val="115000"/>
              </a:lnSpc>
              <a:spcBef>
                <a:spcPts val="11"/>
              </a:spcBef>
              <a:spcAft>
                <a:spcPts val="814"/>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x = 100</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814"/>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if x &gt; 50:</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814"/>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print("x is greater than 50")		#x is greater than 50</a:t>
            </a:r>
            <a:endParaRPr lang="en-IN" sz="2000" dirty="0">
              <a:cs typeface="Times New Roman" panose="02020603050405020304" pitchFamily="18" charset="0"/>
            </a:endParaRPr>
          </a:p>
        </p:txBody>
      </p:sp>
    </p:spTree>
    <p:extLst>
      <p:ext uri="{BB962C8B-B14F-4D97-AF65-F5344CB8AC3E}">
        <p14:creationId xmlns:p14="http://schemas.microsoft.com/office/powerpoint/2010/main" val="334125448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58658E8-9558-E676-E965-C00C1D463DB6}"/>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04D995B3-659E-81BA-01DA-9BF99B3ADF33}"/>
              </a:ext>
            </a:extLst>
          </p:cNvPr>
          <p:cNvSpPr txBox="1"/>
          <p:nvPr/>
        </p:nvSpPr>
        <p:spPr>
          <a:xfrm>
            <a:off x="442451" y="689040"/>
            <a:ext cx="11346425" cy="5457904"/>
          </a:xfrm>
          <a:prstGeom prst="rect">
            <a:avLst/>
          </a:prstGeom>
          <a:noFill/>
        </p:spPr>
        <p:txBody>
          <a:bodyPr wrap="square">
            <a:spAutoFit/>
          </a:bodyPr>
          <a:lstStyle/>
          <a:p>
            <a:pPr marL="0" indent="0">
              <a:lnSpc>
                <a:spcPct val="115000"/>
              </a:lnSpc>
              <a:spcBef>
                <a:spcPts val="11"/>
              </a:spcBef>
              <a:spcAft>
                <a:spcPts val="814"/>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sng" strike="noStrike" spc="-1" dirty="0">
                <a:solidFill>
                  <a:srgbClr val="000000"/>
                </a:solidFill>
                <a:uFillTx/>
                <a:ea typeface="Times New Roman"/>
                <a:cs typeface="Times New Roman" panose="02020603050405020304" pitchFamily="18" charset="0"/>
              </a:rPr>
              <a:t>‘else’ Statement</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The if-else statement allows you to execute one block of code if the condition is true, and another block of code if the condition is false.</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sng" strike="noStrike" spc="-1" dirty="0">
                <a:solidFill>
                  <a:srgbClr val="000000"/>
                </a:solidFill>
                <a:uFillTx/>
                <a:ea typeface="Times New Roman"/>
                <a:cs typeface="Times New Roman" panose="02020603050405020304" pitchFamily="18" charset="0"/>
              </a:rPr>
              <a:t>Syntax:</a:t>
            </a:r>
            <a:endParaRPr lang="en-US" sz="2000" b="1"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if condition1:</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 code to execute if condition1 is true</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else:</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 code to execute if condition1 is false</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strike="noStrike" spc="-1" dirty="0">
                <a:solidFill>
                  <a:srgbClr val="000000"/>
                </a:solidFill>
                <a:uFillTx/>
                <a:ea typeface="Times New Roman"/>
                <a:cs typeface="Times New Roman" panose="02020603050405020304" pitchFamily="18" charset="0"/>
              </a:rPr>
              <a:t>Example</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x = 3</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if x &gt; 5:</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print("x is greater than 5")</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else:</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print("x is not greater than 5")	#x is not greater than 5</a:t>
            </a:r>
            <a:endParaRPr lang="en-US" sz="2000" b="0" strike="noStrike" spc="-1" dirty="0">
              <a:solidFill>
                <a:srgbClr val="000000"/>
              </a:solidFill>
              <a:cs typeface="Times New Roman" panose="02020603050405020304" pitchFamily="18" charset="0"/>
            </a:endParaRPr>
          </a:p>
          <a:p>
            <a:endParaRPr lang="en-IN" sz="2000" dirty="0"/>
          </a:p>
        </p:txBody>
      </p:sp>
    </p:spTree>
    <p:extLst>
      <p:ext uri="{BB962C8B-B14F-4D97-AF65-F5344CB8AC3E}">
        <p14:creationId xmlns:p14="http://schemas.microsoft.com/office/powerpoint/2010/main" val="89546777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33DF61D-FB4C-645B-89A6-CEDE42E50F93}"/>
              </a:ext>
            </a:extLst>
          </p:cNvPr>
          <p:cNvSpPr txBox="1"/>
          <p:nvPr/>
        </p:nvSpPr>
        <p:spPr>
          <a:xfrm>
            <a:off x="415637" y="133004"/>
            <a:ext cx="11373240" cy="6840452"/>
          </a:xfrm>
          <a:prstGeom prst="rect">
            <a:avLst/>
          </a:prstGeom>
          <a:noFill/>
        </p:spPr>
        <p:txBody>
          <a:bodyPr wrap="square">
            <a:spAutoFit/>
          </a:bodyPr>
          <a:lstStyle/>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sng" strike="noStrike" spc="-1" dirty="0">
                <a:solidFill>
                  <a:srgbClr val="000000"/>
                </a:solidFill>
                <a:uFillTx/>
                <a:ea typeface="Times New Roman"/>
                <a:cs typeface="Times New Roman" panose="02020603050405020304" pitchFamily="18" charset="0"/>
              </a:rPr>
              <a:t>‘if-elif-else’ Statement</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The if-elif-else statement is used to check multiple conditions. It allows you to execute different code blocks based on which condition is true.</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sng" strike="noStrike" spc="-1" dirty="0">
                <a:solidFill>
                  <a:srgbClr val="000000"/>
                </a:solidFill>
                <a:uFillTx/>
                <a:ea typeface="Times New Roman"/>
                <a:cs typeface="Times New Roman" panose="02020603050405020304" pitchFamily="18" charset="0"/>
              </a:rPr>
              <a:t>Syntax:</a:t>
            </a:r>
            <a:endParaRPr lang="en-US" sz="2000" b="1"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if condition1:</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 code to execute if condition1 is true</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elif condition2:</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 code to execute if condition1 is false and condition2 is true</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else:</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 code to execute if condition1 and condition2 are both false</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strike="noStrike" spc="-1" dirty="0">
                <a:solidFill>
                  <a:srgbClr val="000000"/>
                </a:solidFill>
                <a:uFillTx/>
                <a:ea typeface="Times New Roman"/>
                <a:cs typeface="Times New Roman" panose="02020603050405020304" pitchFamily="18" charset="0"/>
              </a:rPr>
              <a:t>Example</a:t>
            </a:r>
            <a:endParaRPr lang="en-US" sz="2000" b="1"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x = 7</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if x &gt; 10:</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print("x is greater than 10")</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elif x &gt; 5:</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print("x is greater than 5 but less than or equal to 10")</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else:</a:t>
            </a:r>
            <a:endParaRPr lang="en-US" sz="2000" b="0" strike="noStrike" spc="-1" dirty="0">
              <a:solidFill>
                <a:srgbClr val="000000"/>
              </a:solidFill>
              <a:cs typeface="Times New Roman" panose="02020603050405020304" pitchFamily="18" charset="0"/>
            </a:endParaRP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Times New Roman"/>
                <a:cs typeface="Times New Roman" panose="02020603050405020304" pitchFamily="18" charset="0"/>
              </a:rPr>
              <a:t>    		print("x is 5 or less")			</a:t>
            </a:r>
          </a:p>
          <a:p>
            <a:pPr marL="0" indent="0">
              <a:lnSpc>
                <a:spcPct val="115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spc="-1" dirty="0">
                <a:solidFill>
                  <a:srgbClr val="000000"/>
                </a:solidFill>
                <a:ea typeface="Times New Roman"/>
                <a:cs typeface="Times New Roman" panose="02020603050405020304" pitchFamily="18" charset="0"/>
              </a:rPr>
              <a:t>		</a:t>
            </a:r>
            <a:r>
              <a:rPr lang="en-US" sz="2000" b="0" strike="noStrike" spc="-1" dirty="0">
                <a:solidFill>
                  <a:srgbClr val="000000"/>
                </a:solidFill>
                <a:ea typeface="Times New Roman"/>
                <a:cs typeface="Times New Roman" panose="02020603050405020304" pitchFamily="18" charset="0"/>
              </a:rPr>
              <a:t>#x is greater than 5 but less than or equal to 10</a:t>
            </a:r>
            <a:endParaRPr lang="en-US" sz="2000" b="0" strike="noStrike" spc="-1" dirty="0">
              <a:solidFill>
                <a:srgbClr val="000000"/>
              </a:solidFill>
              <a:cs typeface="Times New Roman" panose="02020603050405020304" pitchFamily="18" charset="0"/>
            </a:endParaRPr>
          </a:p>
        </p:txBody>
      </p:sp>
      <p:pic>
        <p:nvPicPr>
          <p:cNvPr id="2" name="Picture 1">
            <a:extLst>
              <a:ext uri="{FF2B5EF4-FFF2-40B4-BE49-F238E27FC236}">
                <a16:creationId xmlns:a16="http://schemas.microsoft.com/office/drawing/2014/main" id="{C527AFFF-887B-8E4E-64C5-A1B2009787AA}"/>
              </a:ext>
            </a:extLst>
          </p:cNvPr>
          <p:cNvPicPr/>
          <p:nvPr/>
        </p:nvPicPr>
        <p:blipFill>
          <a:blip r:embed="rId2" cstate="print"/>
          <a:stretch/>
        </p:blipFill>
        <p:spPr>
          <a:xfrm>
            <a:off x="11503320" y="0"/>
            <a:ext cx="688680" cy="689040"/>
          </a:xfrm>
          <a:prstGeom prst="rect">
            <a:avLst/>
          </a:prstGeom>
          <a:ln w="0">
            <a:noFill/>
          </a:ln>
        </p:spPr>
      </p:pic>
    </p:spTree>
    <p:extLst>
      <p:ext uri="{BB962C8B-B14F-4D97-AF65-F5344CB8AC3E}">
        <p14:creationId xmlns:p14="http://schemas.microsoft.com/office/powerpoint/2010/main" val="54196642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49343-0E76-FADD-9B42-BE284581D05B}"/>
              </a:ext>
            </a:extLst>
          </p:cNvPr>
          <p:cNvSpPr>
            <a:spLocks noGrp="1"/>
          </p:cNvSpPr>
          <p:nvPr>
            <p:ph type="title"/>
          </p:nvPr>
        </p:nvSpPr>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Python Loops</a:t>
            </a:r>
          </a:p>
        </p:txBody>
      </p:sp>
      <p:pic>
        <p:nvPicPr>
          <p:cNvPr id="4" name="Picture 3">
            <a:extLst>
              <a:ext uri="{FF2B5EF4-FFF2-40B4-BE49-F238E27FC236}">
                <a16:creationId xmlns:a16="http://schemas.microsoft.com/office/drawing/2014/main" id="{DCA32DCF-A698-520B-6A1D-749FDD3DD27C}"/>
              </a:ext>
            </a:extLst>
          </p:cNvPr>
          <p:cNvPicPr/>
          <p:nvPr/>
        </p:nvPicPr>
        <p:blipFill>
          <a:blip r:embed="rId2" cstate="print"/>
          <a:stretch/>
        </p:blipFill>
        <p:spPr>
          <a:xfrm>
            <a:off x="11441886" y="20605"/>
            <a:ext cx="688680" cy="689040"/>
          </a:xfrm>
          <a:prstGeom prst="rect">
            <a:avLst/>
          </a:prstGeom>
          <a:ln w="0">
            <a:noFill/>
          </a:ln>
        </p:spPr>
      </p:pic>
      <p:sp>
        <p:nvSpPr>
          <p:cNvPr id="6" name="TextBox 5">
            <a:extLst>
              <a:ext uri="{FF2B5EF4-FFF2-40B4-BE49-F238E27FC236}">
                <a16:creationId xmlns:a16="http://schemas.microsoft.com/office/drawing/2014/main" id="{4B8BA95C-6B54-F4DF-12A2-75585C0FE0DF}"/>
              </a:ext>
            </a:extLst>
          </p:cNvPr>
          <p:cNvSpPr txBox="1"/>
          <p:nvPr/>
        </p:nvSpPr>
        <p:spPr>
          <a:xfrm>
            <a:off x="1366684" y="2192594"/>
            <a:ext cx="7777316" cy="1015663"/>
          </a:xfrm>
          <a:prstGeom prst="rect">
            <a:avLst/>
          </a:prstGeom>
          <a:noFill/>
        </p:spPr>
        <p:txBody>
          <a:bodyPr wrap="square">
            <a:spAutoFit/>
          </a:bodyPr>
          <a:lstStyle/>
          <a:p>
            <a:pPr marL="0" indent="0">
              <a:buNone/>
            </a:pPr>
            <a:r>
              <a:rPr lang="en-IN" sz="2000" dirty="0">
                <a:cs typeface="Times New Roman" panose="02020603050405020304" pitchFamily="18" charset="0"/>
              </a:rPr>
              <a:t>Python has two primitive loop commands.</a:t>
            </a:r>
          </a:p>
          <a:p>
            <a:pPr marL="514350" indent="-514350">
              <a:buFont typeface="+mj-lt"/>
              <a:buAutoNum type="arabicPeriod"/>
            </a:pPr>
            <a:r>
              <a:rPr lang="en-IN" sz="2000" dirty="0">
                <a:cs typeface="Times New Roman" panose="02020603050405020304" pitchFamily="18" charset="0"/>
              </a:rPr>
              <a:t>For loop</a:t>
            </a:r>
          </a:p>
          <a:p>
            <a:pPr marL="514350" indent="-514350">
              <a:buFont typeface="+mj-lt"/>
              <a:buAutoNum type="arabicPeriod"/>
            </a:pPr>
            <a:r>
              <a:rPr lang="en-IN" sz="2000" dirty="0">
                <a:cs typeface="Times New Roman" panose="02020603050405020304" pitchFamily="18" charset="0"/>
              </a:rPr>
              <a:t>While loop</a:t>
            </a:r>
          </a:p>
        </p:txBody>
      </p:sp>
    </p:spTree>
    <p:extLst>
      <p:ext uri="{BB962C8B-B14F-4D97-AF65-F5344CB8AC3E}">
        <p14:creationId xmlns:p14="http://schemas.microsoft.com/office/powerpoint/2010/main" val="170788898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FD9D3-A4A9-A6D1-DD58-D8A2722030E2}"/>
              </a:ext>
            </a:extLst>
          </p:cNvPr>
          <p:cNvSpPr>
            <a:spLocks noGrp="1"/>
          </p:cNvSpPr>
          <p:nvPr>
            <p:ph type="title"/>
          </p:nvPr>
        </p:nvSpPr>
        <p:spPr>
          <a:xfrm>
            <a:off x="318314" y="365125"/>
            <a:ext cx="11035486" cy="1325563"/>
          </a:xfrm>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For Loop</a:t>
            </a:r>
          </a:p>
        </p:txBody>
      </p:sp>
      <p:pic>
        <p:nvPicPr>
          <p:cNvPr id="4" name="Picture 3">
            <a:extLst>
              <a:ext uri="{FF2B5EF4-FFF2-40B4-BE49-F238E27FC236}">
                <a16:creationId xmlns:a16="http://schemas.microsoft.com/office/drawing/2014/main" id="{D5104627-64F8-39AE-2EC8-F4BCA794A913}"/>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1A513D26-15A5-6720-E878-635B8771537F}"/>
              </a:ext>
            </a:extLst>
          </p:cNvPr>
          <p:cNvSpPr txBox="1"/>
          <p:nvPr/>
        </p:nvSpPr>
        <p:spPr>
          <a:xfrm>
            <a:off x="737419" y="1809134"/>
            <a:ext cx="11035486" cy="3785652"/>
          </a:xfrm>
          <a:prstGeom prst="rect">
            <a:avLst/>
          </a:prstGeom>
          <a:noFill/>
        </p:spPr>
        <p:txBody>
          <a:bodyPr wrap="square">
            <a:spAutoFit/>
          </a:bodyPr>
          <a:lstStyle/>
          <a:p>
            <a:pPr marL="342900" indent="-342900" algn="just">
              <a:buFont typeface="Arial" panose="020B0604020202020204" pitchFamily="34" charset="0"/>
              <a:buChar char="•"/>
            </a:pPr>
            <a:r>
              <a:rPr lang="en-US" sz="2000" b="0" strike="noStrike" spc="-1" dirty="0">
                <a:solidFill>
                  <a:srgbClr val="000000"/>
                </a:solidFill>
                <a:ea typeface="Times New Roman"/>
                <a:cs typeface="Times New Roman" panose="02020603050405020304" pitchFamily="18" charset="0"/>
              </a:rPr>
              <a:t>A for loop in Python is used to iterate over a sequence (such as a list, tuple, dictionary, or string) or any iterable object.</a:t>
            </a:r>
          </a:p>
          <a:p>
            <a:pPr marL="342900" indent="-342900" algn="just">
              <a:buFont typeface="Arial" panose="020B0604020202020204" pitchFamily="34" charset="0"/>
              <a:buChar char="•"/>
            </a:pPr>
            <a:r>
              <a:rPr lang="en-US" sz="2000" b="0" strike="noStrike" spc="-1" dirty="0">
                <a:solidFill>
                  <a:srgbClr val="000000"/>
                </a:solidFill>
                <a:ea typeface="Times New Roman"/>
                <a:cs typeface="Times New Roman" panose="02020603050405020304" pitchFamily="18" charset="0"/>
              </a:rPr>
              <a:t> It executes a block of code repeatedly for each item in the sequence.</a:t>
            </a:r>
          </a:p>
          <a:p>
            <a:pPr marL="0" indent="0" algn="just">
              <a:buNone/>
            </a:pPr>
            <a:endParaRPr lang="en-US" sz="2000" b="1" spc="-1" dirty="0">
              <a:solidFill>
                <a:srgbClr val="000000"/>
              </a:solidFill>
              <a:cs typeface="Times New Roman" panose="02020603050405020304" pitchFamily="18" charset="0"/>
            </a:endParaRPr>
          </a:p>
          <a:p>
            <a:pPr marL="0" indent="0" algn="just">
              <a:buNone/>
            </a:pPr>
            <a:r>
              <a:rPr lang="en-US" sz="2000" b="1" spc="-1" dirty="0">
                <a:solidFill>
                  <a:srgbClr val="000000"/>
                </a:solidFill>
                <a:cs typeface="Times New Roman" panose="02020603050405020304" pitchFamily="18" charset="0"/>
              </a:rPr>
              <a:t>Syntax</a:t>
            </a:r>
          </a:p>
          <a:p>
            <a:pPr marL="0" indent="0" algn="just">
              <a:buNone/>
            </a:pPr>
            <a:r>
              <a:rPr lang="en-US" sz="2000" strike="noStrike" spc="-1" dirty="0">
                <a:solidFill>
                  <a:srgbClr val="000000"/>
                </a:solidFill>
                <a:cs typeface="Times New Roman" panose="02020603050405020304" pitchFamily="18" charset="0"/>
              </a:rPr>
              <a:t>	for item in sequence:</a:t>
            </a:r>
          </a:p>
          <a:p>
            <a:pPr marL="0" indent="0" algn="just">
              <a:buNone/>
            </a:pPr>
            <a:r>
              <a:rPr lang="en-US" sz="2000" spc="-1" dirty="0">
                <a:solidFill>
                  <a:srgbClr val="000000"/>
                </a:solidFill>
                <a:cs typeface="Times New Roman" panose="02020603050405020304" pitchFamily="18" charset="0"/>
              </a:rPr>
              <a:t>		#code block to be executed</a:t>
            </a:r>
          </a:p>
          <a:p>
            <a:pPr marL="0" indent="0" algn="just">
              <a:buNone/>
            </a:pPr>
            <a:endParaRPr lang="en-US" sz="2000" spc="-1" dirty="0">
              <a:solidFill>
                <a:srgbClr val="000000"/>
              </a:solidFill>
              <a:cs typeface="Times New Roman" panose="02020603050405020304" pitchFamily="18" charset="0"/>
            </a:endParaRPr>
          </a:p>
          <a:p>
            <a:pPr marL="0" indent="0" algn="just">
              <a:buNone/>
            </a:pPr>
            <a:r>
              <a:rPr lang="en-US" sz="2000" strike="noStrike" spc="-1" dirty="0">
                <a:solidFill>
                  <a:srgbClr val="000000"/>
                </a:solidFill>
                <a:cs typeface="Times New Roman" panose="02020603050405020304" pitchFamily="18" charset="0"/>
              </a:rPr>
              <a:t>In this syntax,</a:t>
            </a:r>
          </a:p>
          <a:p>
            <a:pPr marL="0" indent="0" algn="just">
              <a:buNone/>
            </a:pPr>
            <a:r>
              <a:rPr lang="en-US" sz="2000" spc="-1" dirty="0">
                <a:solidFill>
                  <a:srgbClr val="000000"/>
                </a:solidFill>
                <a:cs typeface="Times New Roman" panose="02020603050405020304" pitchFamily="18" charset="0"/>
              </a:rPr>
              <a:t>‘item’: </a:t>
            </a:r>
            <a:r>
              <a:rPr lang="en-US" sz="2000" b="0" strike="noStrike" spc="-1" dirty="0">
                <a:solidFill>
                  <a:srgbClr val="000000"/>
                </a:solidFill>
                <a:ea typeface="Times New Roman"/>
                <a:cs typeface="Times New Roman" panose="02020603050405020304" pitchFamily="18" charset="0"/>
              </a:rPr>
              <a:t>A variable that represents each item in the sequence during each iteration.</a:t>
            </a:r>
          </a:p>
          <a:p>
            <a:pPr marL="0" indent="0" algn="just">
              <a:buNone/>
            </a:pPr>
            <a:r>
              <a:rPr lang="en-US" sz="2000" spc="-1" dirty="0">
                <a:solidFill>
                  <a:srgbClr val="000000"/>
                </a:solidFill>
                <a:cs typeface="Times New Roman" panose="02020603050405020304" pitchFamily="18" charset="0"/>
              </a:rPr>
              <a:t>‘sequence’: the sequence of items over which the loop iterates.</a:t>
            </a:r>
            <a:endParaRPr lang="en-US" sz="2000" strike="noStrike" spc="-1" dirty="0">
              <a:solidFill>
                <a:srgbClr val="000000"/>
              </a:solidFill>
              <a:cs typeface="Times New Roman" panose="02020603050405020304" pitchFamily="18" charset="0"/>
            </a:endParaRPr>
          </a:p>
          <a:p>
            <a:pPr marL="0" indent="0">
              <a:buNone/>
            </a:pPr>
            <a:endParaRPr lang="en-IN" sz="2000" dirty="0">
              <a:cs typeface="Times New Roman" panose="02020603050405020304" pitchFamily="18" charset="0"/>
            </a:endParaRPr>
          </a:p>
        </p:txBody>
      </p:sp>
    </p:spTree>
    <p:extLst>
      <p:ext uri="{BB962C8B-B14F-4D97-AF65-F5344CB8AC3E}">
        <p14:creationId xmlns:p14="http://schemas.microsoft.com/office/powerpoint/2010/main" val="48885422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74E490A-60B4-A296-13B7-08943B90AC7C}"/>
              </a:ext>
            </a:extLst>
          </p:cNvPr>
          <p:cNvPicPr/>
          <p:nvPr/>
        </p:nvPicPr>
        <p:blipFill>
          <a:blip r:embed="rId2" cstate="print"/>
          <a:stretch/>
        </p:blipFill>
        <p:spPr>
          <a:xfrm>
            <a:off x="11492434" y="0"/>
            <a:ext cx="688680" cy="689040"/>
          </a:xfrm>
          <a:prstGeom prst="rect">
            <a:avLst/>
          </a:prstGeom>
          <a:ln w="0">
            <a:noFill/>
          </a:ln>
        </p:spPr>
      </p:pic>
      <p:sp>
        <p:nvSpPr>
          <p:cNvPr id="5" name="TextBox 4">
            <a:extLst>
              <a:ext uri="{FF2B5EF4-FFF2-40B4-BE49-F238E27FC236}">
                <a16:creationId xmlns:a16="http://schemas.microsoft.com/office/drawing/2014/main" id="{E2B3F60B-CD60-7E9B-3784-EEE41BA8247D}"/>
              </a:ext>
            </a:extLst>
          </p:cNvPr>
          <p:cNvSpPr txBox="1"/>
          <p:nvPr/>
        </p:nvSpPr>
        <p:spPr>
          <a:xfrm>
            <a:off x="415636" y="689040"/>
            <a:ext cx="11373242" cy="5324535"/>
          </a:xfrm>
          <a:prstGeom prst="rect">
            <a:avLst/>
          </a:prstGeom>
          <a:noFill/>
        </p:spPr>
        <p:txBody>
          <a:bodyPr wrap="square">
            <a:spAutoFit/>
          </a:bodyPr>
          <a:lstStyle/>
          <a:p>
            <a:pPr marL="0" indent="0">
              <a:buNone/>
            </a:pPr>
            <a:r>
              <a:rPr lang="en-IN" sz="2000" b="1" dirty="0">
                <a:cs typeface="Times New Roman" panose="02020603050405020304" pitchFamily="18" charset="0"/>
              </a:rPr>
              <a:t>Examples</a:t>
            </a:r>
          </a:p>
          <a:p>
            <a:pPr marL="0" indent="0">
              <a:buNone/>
            </a:pPr>
            <a:r>
              <a:rPr lang="en-IN" sz="2000" dirty="0">
                <a:cs typeface="Times New Roman" panose="02020603050405020304" pitchFamily="18" charset="0"/>
              </a:rPr>
              <a:t>	a = [‘a’, ‘b’, ‘c’]</a:t>
            </a:r>
          </a:p>
          <a:p>
            <a:pPr marL="0" indent="0">
              <a:buNone/>
            </a:pPr>
            <a:r>
              <a:rPr lang="en-IN" sz="2000" dirty="0">
                <a:cs typeface="Times New Roman" panose="02020603050405020304" pitchFamily="18" charset="0"/>
              </a:rPr>
              <a:t>	for i in a:</a:t>
            </a:r>
          </a:p>
          <a:p>
            <a:pPr marL="0" indent="0">
              <a:buNone/>
            </a:pPr>
            <a:r>
              <a:rPr lang="en-IN" sz="2000" dirty="0">
                <a:cs typeface="Times New Roman" panose="02020603050405020304" pitchFamily="18" charset="0"/>
              </a:rPr>
              <a:t>		print(i)			#a	b	c</a:t>
            </a:r>
          </a:p>
          <a:p>
            <a:pPr marL="0" indent="0">
              <a:buNone/>
            </a:pPr>
            <a:endParaRPr lang="en-IN" sz="2000" dirty="0">
              <a:cs typeface="Times New Roman" panose="02020603050405020304" pitchFamily="18" charset="0"/>
            </a:endParaRPr>
          </a:p>
          <a:p>
            <a:pPr marL="0" indent="0">
              <a:buNone/>
            </a:pPr>
            <a:r>
              <a:rPr lang="en-IN" sz="2000" dirty="0">
                <a:cs typeface="Times New Roman" panose="02020603050405020304" pitchFamily="18" charset="0"/>
              </a:rPr>
              <a:t>	for x in range(3):</a:t>
            </a:r>
          </a:p>
          <a:p>
            <a:pPr marL="0" indent="0">
              <a:buNone/>
            </a:pPr>
            <a:r>
              <a:rPr lang="en-IN" sz="2000" dirty="0">
                <a:cs typeface="Times New Roman" panose="02020603050405020304" pitchFamily="18" charset="0"/>
              </a:rPr>
              <a:t>		print(x)			#0	1	2</a:t>
            </a:r>
          </a:p>
          <a:p>
            <a:pPr marL="0" indent="0">
              <a:buNone/>
            </a:pPr>
            <a:endParaRPr lang="en-IN" sz="2000" dirty="0">
              <a:cs typeface="Times New Roman" panose="02020603050405020304" pitchFamily="18" charset="0"/>
            </a:endParaRPr>
          </a:p>
          <a:p>
            <a:pPr marL="0" indent="0">
              <a:buNone/>
            </a:pPr>
            <a:r>
              <a:rPr lang="en-IN" sz="2000" dirty="0">
                <a:cs typeface="Times New Roman" panose="02020603050405020304" pitchFamily="18" charset="0"/>
              </a:rPr>
              <a:t>	for x in “Mangalore”</a:t>
            </a:r>
          </a:p>
          <a:p>
            <a:pPr marL="0" indent="0">
              <a:buNone/>
            </a:pPr>
            <a:r>
              <a:rPr lang="en-IN" sz="2000" dirty="0">
                <a:cs typeface="Times New Roman" panose="02020603050405020304" pitchFamily="18" charset="0"/>
              </a:rPr>
              <a:t>		print(x)			#M   	a    		n   		 g 	  	 a   		 l  	 	 o 	  	 r  	  	e</a:t>
            </a:r>
          </a:p>
          <a:p>
            <a:pPr marL="0" indent="0">
              <a:buNone/>
            </a:pPr>
            <a:endParaRPr lang="en-IN" sz="2000" dirty="0">
              <a:cs typeface="Times New Roman" panose="02020603050405020304" pitchFamily="18" charset="0"/>
            </a:endParaRPr>
          </a:p>
          <a:p>
            <a:pPr marL="0" indent="0">
              <a:buNone/>
            </a:pPr>
            <a:r>
              <a:rPr lang="en-IN" sz="2000" dirty="0">
                <a:cs typeface="Times New Roman" panose="02020603050405020304" pitchFamily="18" charset="0"/>
              </a:rPr>
              <a:t>To calculate the sum</a:t>
            </a:r>
          </a:p>
          <a:p>
            <a:pPr marL="0" indent="0">
              <a:buNone/>
            </a:pPr>
            <a:r>
              <a:rPr lang="en-IN" sz="2000" dirty="0">
                <a:cs typeface="Times New Roman" panose="02020603050405020304" pitchFamily="18" charset="0"/>
              </a:rPr>
              <a:t>	numbers = [2, 4, 6, 8, 10]</a:t>
            </a:r>
          </a:p>
          <a:p>
            <a:pPr marL="0" indent="0">
              <a:buNone/>
            </a:pPr>
            <a:r>
              <a:rPr lang="en-IN" sz="2000" dirty="0">
                <a:cs typeface="Times New Roman" panose="02020603050405020304" pitchFamily="18" charset="0"/>
              </a:rPr>
              <a:t>	sum = 0</a:t>
            </a:r>
          </a:p>
          <a:p>
            <a:pPr marL="0" indent="0">
              <a:buNone/>
            </a:pPr>
            <a:r>
              <a:rPr lang="en-IN" sz="2000" dirty="0">
                <a:cs typeface="Times New Roman" panose="02020603050405020304" pitchFamily="18" charset="0"/>
              </a:rPr>
              <a:t>	for number in numbers:</a:t>
            </a:r>
          </a:p>
          <a:p>
            <a:pPr marL="0" indent="0">
              <a:buNone/>
            </a:pPr>
            <a:r>
              <a:rPr lang="en-IN" sz="2000" dirty="0">
                <a:cs typeface="Times New Roman" panose="02020603050405020304" pitchFamily="18" charset="0"/>
              </a:rPr>
              <a:t>		sum += number </a:t>
            </a:r>
          </a:p>
          <a:p>
            <a:pPr marL="0" indent="0">
              <a:buNone/>
            </a:pPr>
            <a:r>
              <a:rPr lang="en-IN" sz="2000" dirty="0">
                <a:cs typeface="Times New Roman" panose="02020603050405020304" pitchFamily="18" charset="0"/>
              </a:rPr>
              <a:t>	print(“The total sum is: ”, sum)	#The total sum is: 30</a:t>
            </a:r>
          </a:p>
        </p:txBody>
      </p:sp>
    </p:spTree>
    <p:extLst>
      <p:ext uri="{BB962C8B-B14F-4D97-AF65-F5344CB8AC3E}">
        <p14:creationId xmlns:p14="http://schemas.microsoft.com/office/powerpoint/2010/main" val="182937682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F7EE55A-591D-02CE-A04B-F3BA0D01AF99}"/>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657F9B6D-DEBC-77CF-D913-374F54EF8A4E}"/>
              </a:ext>
            </a:extLst>
          </p:cNvPr>
          <p:cNvSpPr txBox="1"/>
          <p:nvPr/>
        </p:nvSpPr>
        <p:spPr>
          <a:xfrm>
            <a:off x="631767" y="689040"/>
            <a:ext cx="11107949" cy="5840489"/>
          </a:xfrm>
          <a:prstGeom prst="rect">
            <a:avLst/>
          </a:prstGeom>
          <a:noFill/>
        </p:spPr>
        <p:txBody>
          <a:bodyPr wrap="square">
            <a:spAutoFit/>
          </a:bodyPr>
          <a:lstStyle/>
          <a:p>
            <a:pPr marL="0" indent="0">
              <a:buNone/>
            </a:pPr>
            <a:r>
              <a:rPr lang="en-IN" sz="2000" b="1" dirty="0">
                <a:cs typeface="Times New Roman" panose="02020603050405020304" pitchFamily="18" charset="0"/>
              </a:rPr>
              <a:t>The break Statement: -</a:t>
            </a:r>
            <a:r>
              <a:rPr lang="en-IN" sz="2000" dirty="0">
                <a:cs typeface="Times New Roman" panose="02020603050405020304" pitchFamily="18" charset="0"/>
              </a:rPr>
              <a:t> With the break statement we can stop the loop before it has looped through all the items.</a:t>
            </a:r>
          </a:p>
          <a:p>
            <a:pPr marL="0" indent="0">
              <a:buNone/>
            </a:pPr>
            <a:r>
              <a:rPr lang="en-IN" sz="2000" b="1" dirty="0">
                <a:cs typeface="Times New Roman" panose="02020603050405020304" pitchFamily="18" charset="0"/>
              </a:rPr>
              <a:t>Example 1</a:t>
            </a:r>
          </a:p>
          <a:p>
            <a:pPr marL="0" indent="0">
              <a:buNone/>
            </a:pPr>
            <a:r>
              <a:rPr lang="en-IN" sz="2000" dirty="0">
                <a:cs typeface="Times New Roman" panose="02020603050405020304" pitchFamily="18" charset="0"/>
              </a:rPr>
              <a:t>	f = [‘a’, ‘b’, ‘c’]</a:t>
            </a:r>
          </a:p>
          <a:p>
            <a:pPr marL="0" indent="0">
              <a:buNone/>
            </a:pPr>
            <a:r>
              <a:rPr lang="en-IN" sz="2000" dirty="0">
                <a:cs typeface="Times New Roman" panose="02020603050405020304" pitchFamily="18" charset="0"/>
              </a:rPr>
              <a:t>	for x in f:</a:t>
            </a:r>
          </a:p>
          <a:p>
            <a:pPr marL="0" indent="0">
              <a:buNone/>
            </a:pPr>
            <a:r>
              <a:rPr lang="en-IN" sz="2000" dirty="0">
                <a:cs typeface="Times New Roman" panose="02020603050405020304" pitchFamily="18" charset="0"/>
              </a:rPr>
              <a:t>		print(x)</a:t>
            </a:r>
          </a:p>
          <a:p>
            <a:pPr marL="0" indent="0">
              <a:buNone/>
            </a:pPr>
            <a:r>
              <a:rPr lang="en-IN" sz="2000" dirty="0">
                <a:cs typeface="Times New Roman" panose="02020603050405020304" pitchFamily="18" charset="0"/>
              </a:rPr>
              <a:t>		if x==‘b’:</a:t>
            </a:r>
          </a:p>
          <a:p>
            <a:pPr marL="0" indent="0">
              <a:buNone/>
            </a:pPr>
            <a:r>
              <a:rPr lang="en-IN" sz="2000" dirty="0">
                <a:cs typeface="Times New Roman" panose="02020603050405020304" pitchFamily="18" charset="0"/>
              </a:rPr>
              <a:t>			break</a:t>
            </a:r>
          </a:p>
          <a:p>
            <a:pPr marL="0" indent="0">
              <a:buNone/>
            </a:pPr>
            <a:r>
              <a:rPr lang="en-IN" sz="2000" b="1" dirty="0">
                <a:cs typeface="Times New Roman" panose="02020603050405020304" pitchFamily="18" charset="0"/>
              </a:rPr>
              <a:t>Output</a:t>
            </a:r>
          </a:p>
          <a:p>
            <a:pPr marL="0" indent="0">
              <a:buNone/>
            </a:pPr>
            <a:r>
              <a:rPr lang="en-IN" sz="2000" dirty="0">
                <a:cs typeface="Times New Roman" panose="02020603050405020304" pitchFamily="18" charset="0"/>
              </a:rPr>
              <a:t>a</a:t>
            </a:r>
          </a:p>
          <a:p>
            <a:pPr marL="0" indent="0">
              <a:buNone/>
            </a:pPr>
            <a:r>
              <a:rPr lang="en-IN" sz="2000" dirty="0">
                <a:cs typeface="Times New Roman" panose="02020603050405020304" pitchFamily="18" charset="0"/>
              </a:rPr>
              <a:t>b</a:t>
            </a:r>
          </a:p>
          <a:p>
            <a:pPr marL="0" indent="0">
              <a:buNone/>
            </a:pPr>
            <a:r>
              <a:rPr lang="en-IN" sz="2000" b="1" dirty="0">
                <a:cs typeface="Times New Roman" panose="02020603050405020304" pitchFamily="18" charset="0"/>
              </a:rPr>
              <a:t>Example 2</a:t>
            </a:r>
          </a:p>
          <a:p>
            <a:pPr marL="0" indent="0">
              <a:buNone/>
            </a:pPr>
            <a:r>
              <a:rPr lang="en-IN" sz="2000" b="1" dirty="0">
                <a:cs typeface="Times New Roman" panose="02020603050405020304" pitchFamily="18" charset="0"/>
              </a:rPr>
              <a:t>	</a:t>
            </a:r>
            <a:r>
              <a:rPr lang="en-IN" sz="2000" dirty="0">
                <a:cs typeface="Times New Roman" panose="02020603050405020304" pitchFamily="18" charset="0"/>
              </a:rPr>
              <a:t>f = [‘a’, ‘b’, ‘c’]</a:t>
            </a:r>
          </a:p>
          <a:p>
            <a:pPr marL="0" indent="0">
              <a:buNone/>
            </a:pPr>
            <a:r>
              <a:rPr lang="en-IN" sz="2000" dirty="0">
                <a:cs typeface="Times New Roman" panose="02020603050405020304" pitchFamily="18" charset="0"/>
              </a:rPr>
              <a:t>	for x in f:</a:t>
            </a:r>
          </a:p>
          <a:p>
            <a:pPr marL="0" indent="0">
              <a:buNone/>
            </a:pPr>
            <a:r>
              <a:rPr lang="en-IN" sz="2000" dirty="0">
                <a:cs typeface="Times New Roman" panose="02020603050405020304" pitchFamily="18" charset="0"/>
              </a:rPr>
              <a:t>		if x==‘b’:</a:t>
            </a:r>
          </a:p>
          <a:p>
            <a:pPr marL="0" indent="0">
              <a:buNone/>
            </a:pPr>
            <a:r>
              <a:rPr lang="en-IN" sz="2000" dirty="0">
                <a:cs typeface="Times New Roman" panose="02020603050405020304" pitchFamily="18" charset="0"/>
              </a:rPr>
              <a:t>			break</a:t>
            </a:r>
          </a:p>
          <a:p>
            <a:pPr marL="0" indent="0">
              <a:buNone/>
            </a:pPr>
            <a:r>
              <a:rPr lang="en-IN" sz="2000" dirty="0">
                <a:cs typeface="Times New Roman" panose="02020603050405020304" pitchFamily="18" charset="0"/>
              </a:rPr>
              <a:t>		print(x)			#a</a:t>
            </a:r>
          </a:p>
          <a:p>
            <a:pPr marL="0" indent="0">
              <a:buNone/>
            </a:pPr>
            <a:endParaRPr lang="en-IN" sz="2000" b="1" dirty="0">
              <a:cs typeface="Times New Roman" panose="02020603050405020304" pitchFamily="18" charset="0"/>
            </a:endParaRPr>
          </a:p>
        </p:txBody>
      </p:sp>
    </p:spTree>
    <p:extLst>
      <p:ext uri="{BB962C8B-B14F-4D97-AF65-F5344CB8AC3E}">
        <p14:creationId xmlns:p14="http://schemas.microsoft.com/office/powerpoint/2010/main" val="314668639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997FA8B-BDBC-4E4D-7E11-0FE581A85F81}"/>
              </a:ext>
            </a:extLst>
          </p:cNvPr>
          <p:cNvPicPr/>
          <p:nvPr/>
        </p:nvPicPr>
        <p:blipFill>
          <a:blip r:embed="rId2" cstate="print"/>
          <a:stretch/>
        </p:blipFill>
        <p:spPr>
          <a:xfrm>
            <a:off x="11503320" y="0"/>
            <a:ext cx="688680" cy="689040"/>
          </a:xfrm>
          <a:prstGeom prst="rect">
            <a:avLst/>
          </a:prstGeom>
          <a:ln w="0">
            <a:noFill/>
          </a:ln>
        </p:spPr>
      </p:pic>
      <p:sp>
        <p:nvSpPr>
          <p:cNvPr id="3" name="TextBox 2">
            <a:extLst>
              <a:ext uri="{FF2B5EF4-FFF2-40B4-BE49-F238E27FC236}">
                <a16:creationId xmlns:a16="http://schemas.microsoft.com/office/drawing/2014/main" id="{6DEE57DA-A983-E183-3D2F-32C1E888E249}"/>
              </a:ext>
            </a:extLst>
          </p:cNvPr>
          <p:cNvSpPr txBox="1"/>
          <p:nvPr/>
        </p:nvSpPr>
        <p:spPr>
          <a:xfrm>
            <a:off x="511277" y="1347019"/>
            <a:ext cx="11228439" cy="2554545"/>
          </a:xfrm>
          <a:prstGeom prst="rect">
            <a:avLst/>
          </a:prstGeom>
          <a:noFill/>
        </p:spPr>
        <p:txBody>
          <a:bodyPr wrap="square">
            <a:spAutoFit/>
          </a:bodyPr>
          <a:lstStyle/>
          <a:p>
            <a:pPr marL="0" indent="0">
              <a:buNone/>
            </a:pPr>
            <a:r>
              <a:rPr lang="en-IN" sz="2000" b="1" dirty="0">
                <a:cs typeface="Times New Roman" panose="02020603050405020304" pitchFamily="18" charset="0"/>
              </a:rPr>
              <a:t>The continue statement: - </a:t>
            </a:r>
            <a:r>
              <a:rPr lang="en-IN" sz="2000" dirty="0">
                <a:cs typeface="Times New Roman" panose="02020603050405020304" pitchFamily="18" charset="0"/>
              </a:rPr>
              <a:t>With the </a:t>
            </a:r>
            <a:r>
              <a:rPr lang="en-US" sz="2000" dirty="0">
                <a:ea typeface="Calibri"/>
                <a:cs typeface="Times New Roman" panose="02020603050405020304" pitchFamily="18" charset="0"/>
              </a:rPr>
              <a:t>continue statement we can stop the current iteration of the loop, and continue with the next.</a:t>
            </a:r>
          </a:p>
          <a:p>
            <a:pPr marL="0" indent="0">
              <a:buNone/>
            </a:pPr>
            <a:r>
              <a:rPr lang="en-US" sz="2000" b="1" dirty="0">
                <a:ea typeface="Calibri"/>
                <a:cs typeface="Times New Roman" panose="02020603050405020304" pitchFamily="18" charset="0"/>
              </a:rPr>
              <a:t>Example </a:t>
            </a:r>
          </a:p>
          <a:p>
            <a:pPr marL="0" indent="0">
              <a:buNone/>
            </a:pPr>
            <a:r>
              <a:rPr lang="en-US" sz="2000" dirty="0">
                <a:ea typeface="Calibri"/>
                <a:cs typeface="Times New Roman" panose="02020603050405020304" pitchFamily="18" charset="0"/>
              </a:rPr>
              <a:t>	</a:t>
            </a:r>
            <a:r>
              <a:rPr lang="en-IN" sz="2000" dirty="0">
                <a:cs typeface="Times New Roman" panose="02020603050405020304" pitchFamily="18" charset="0"/>
              </a:rPr>
              <a:t>f = [‘a’, ‘b’, ‘c’]</a:t>
            </a:r>
          </a:p>
          <a:p>
            <a:pPr marL="0" indent="0">
              <a:buNone/>
            </a:pPr>
            <a:r>
              <a:rPr lang="en-IN" sz="2000" dirty="0">
                <a:cs typeface="Times New Roman" panose="02020603050405020304" pitchFamily="18" charset="0"/>
              </a:rPr>
              <a:t>	for x in f:</a:t>
            </a:r>
          </a:p>
          <a:p>
            <a:pPr marL="0" indent="0">
              <a:buNone/>
            </a:pPr>
            <a:r>
              <a:rPr lang="en-IN" sz="2000" dirty="0">
                <a:cs typeface="Times New Roman" panose="02020603050405020304" pitchFamily="18" charset="0"/>
              </a:rPr>
              <a:t>		if x==‘b’:</a:t>
            </a:r>
          </a:p>
          <a:p>
            <a:pPr marL="0" indent="0">
              <a:buNone/>
            </a:pPr>
            <a:r>
              <a:rPr lang="en-IN" sz="2000" dirty="0">
                <a:cs typeface="Times New Roman" panose="02020603050405020304" pitchFamily="18" charset="0"/>
              </a:rPr>
              <a:t>			continue</a:t>
            </a:r>
          </a:p>
          <a:p>
            <a:pPr marL="0" indent="0">
              <a:buNone/>
            </a:pPr>
            <a:r>
              <a:rPr lang="en-IN" sz="2000" dirty="0">
                <a:cs typeface="Times New Roman" panose="02020603050405020304" pitchFamily="18" charset="0"/>
              </a:rPr>
              <a:t>		print(x)			#a	c</a:t>
            </a:r>
            <a:endParaRPr lang="en-US" sz="2000" dirty="0">
              <a:cs typeface="Times New Roman" panose="02020603050405020304" pitchFamily="18" charset="0"/>
            </a:endParaRPr>
          </a:p>
        </p:txBody>
      </p:sp>
    </p:spTree>
    <p:extLst>
      <p:ext uri="{BB962C8B-B14F-4D97-AF65-F5344CB8AC3E}">
        <p14:creationId xmlns:p14="http://schemas.microsoft.com/office/powerpoint/2010/main" val="173769155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5DF767-1555-73C6-494F-1CB3DBF297EE}"/>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799D1FAC-2134-C068-3374-823BBD619EBC}"/>
              </a:ext>
            </a:extLst>
          </p:cNvPr>
          <p:cNvSpPr txBox="1"/>
          <p:nvPr/>
        </p:nvSpPr>
        <p:spPr>
          <a:xfrm>
            <a:off x="521109" y="521110"/>
            <a:ext cx="10805651" cy="4093428"/>
          </a:xfrm>
          <a:prstGeom prst="rect">
            <a:avLst/>
          </a:prstGeom>
          <a:noFill/>
        </p:spPr>
        <p:txBody>
          <a:bodyPr wrap="square">
            <a:spAutoFit/>
          </a:bodyPr>
          <a:lstStyle/>
          <a:p>
            <a:pPr marL="0" indent="0">
              <a:buNone/>
            </a:pPr>
            <a:r>
              <a:rPr lang="en-IN" sz="2000" b="1" dirty="0">
                <a:cs typeface="Times New Roman" panose="02020603050405020304" pitchFamily="18" charset="0"/>
              </a:rPr>
              <a:t>Nested Loops: -</a:t>
            </a:r>
            <a:r>
              <a:rPr lang="en-IN" sz="2000" dirty="0">
                <a:cs typeface="Times New Roman" panose="02020603050405020304" pitchFamily="18" charset="0"/>
              </a:rPr>
              <a:t> A nested loop is a loop inside a loop. The ‘inner loop’ will be executed one full time for each iteration of the ‘outer loop’.</a:t>
            </a:r>
          </a:p>
          <a:p>
            <a:pPr marL="0" indent="0">
              <a:buNone/>
            </a:pPr>
            <a:r>
              <a:rPr lang="en-IN" sz="2000" b="1" dirty="0">
                <a:cs typeface="Times New Roman" panose="02020603050405020304" pitchFamily="18" charset="0"/>
              </a:rPr>
              <a:t>Example:</a:t>
            </a:r>
          </a:p>
          <a:p>
            <a:pPr marL="0" indent="0">
              <a:buNone/>
            </a:pPr>
            <a:r>
              <a:rPr lang="en-IN" sz="2000" dirty="0">
                <a:cs typeface="Times New Roman" panose="02020603050405020304" pitchFamily="18" charset="0"/>
              </a:rPr>
              <a:t>	colors = [“red”, “yellow”]</a:t>
            </a:r>
          </a:p>
          <a:p>
            <a:pPr marL="0" indent="0">
              <a:buNone/>
            </a:pPr>
            <a:r>
              <a:rPr lang="en-IN" sz="2000" dirty="0">
                <a:cs typeface="Times New Roman" panose="02020603050405020304" pitchFamily="18" charset="0"/>
              </a:rPr>
              <a:t>	fruits = [“apple”, “banana”]</a:t>
            </a:r>
          </a:p>
          <a:p>
            <a:pPr marL="0" indent="0">
              <a:buNone/>
            </a:pPr>
            <a:r>
              <a:rPr lang="en-IN" sz="2000" dirty="0">
                <a:cs typeface="Times New Roman" panose="02020603050405020304" pitchFamily="18" charset="0"/>
              </a:rPr>
              <a:t>	for color in colors:</a:t>
            </a:r>
          </a:p>
          <a:p>
            <a:pPr marL="0" indent="0">
              <a:buNone/>
            </a:pPr>
            <a:r>
              <a:rPr lang="en-IN" sz="2000" dirty="0">
                <a:cs typeface="Times New Roman" panose="02020603050405020304" pitchFamily="18" charset="0"/>
              </a:rPr>
              <a:t>		for fruit in fruits:</a:t>
            </a:r>
          </a:p>
          <a:p>
            <a:pPr marL="0" indent="0">
              <a:buNone/>
            </a:pPr>
            <a:r>
              <a:rPr lang="en-IN" sz="2000" dirty="0">
                <a:cs typeface="Times New Roman" panose="02020603050405020304" pitchFamily="18" charset="0"/>
              </a:rPr>
              <a:t>			print(color, fruit)</a:t>
            </a:r>
          </a:p>
          <a:p>
            <a:pPr marL="0" indent="0">
              <a:buNone/>
            </a:pPr>
            <a:r>
              <a:rPr lang="en-IN" sz="2000" b="1" dirty="0">
                <a:cs typeface="Times New Roman" panose="02020603050405020304" pitchFamily="18" charset="0"/>
              </a:rPr>
              <a:t>Output</a:t>
            </a:r>
          </a:p>
          <a:p>
            <a:pPr marL="0" indent="0">
              <a:buNone/>
            </a:pPr>
            <a:r>
              <a:rPr lang="en-IN" sz="2000" dirty="0">
                <a:cs typeface="Times New Roman" panose="02020603050405020304" pitchFamily="18" charset="0"/>
              </a:rPr>
              <a:t> red apple</a:t>
            </a:r>
          </a:p>
          <a:p>
            <a:pPr marL="0" indent="0">
              <a:buNone/>
            </a:pPr>
            <a:r>
              <a:rPr lang="en-IN" sz="2000" dirty="0">
                <a:cs typeface="Times New Roman" panose="02020603050405020304" pitchFamily="18" charset="0"/>
              </a:rPr>
              <a:t> red banana</a:t>
            </a:r>
          </a:p>
          <a:p>
            <a:pPr marL="0" indent="0">
              <a:buNone/>
            </a:pPr>
            <a:r>
              <a:rPr lang="en-IN" sz="2000" dirty="0">
                <a:cs typeface="Times New Roman" panose="02020603050405020304" pitchFamily="18" charset="0"/>
              </a:rPr>
              <a:t> yellow apple</a:t>
            </a:r>
          </a:p>
          <a:p>
            <a:pPr marL="0" indent="0">
              <a:buNone/>
            </a:pPr>
            <a:r>
              <a:rPr lang="en-IN" sz="2000" dirty="0">
                <a:cs typeface="Times New Roman" panose="02020603050405020304" pitchFamily="18" charset="0"/>
              </a:rPr>
              <a:t> yellow banana</a:t>
            </a:r>
          </a:p>
        </p:txBody>
      </p:sp>
      <p:sp>
        <p:nvSpPr>
          <p:cNvPr id="7" name="TextBox 6">
            <a:extLst>
              <a:ext uri="{FF2B5EF4-FFF2-40B4-BE49-F238E27FC236}">
                <a16:creationId xmlns:a16="http://schemas.microsoft.com/office/drawing/2014/main" id="{C6FFE50F-EA6F-5687-0C43-E5122360DC22}"/>
              </a:ext>
            </a:extLst>
          </p:cNvPr>
          <p:cNvSpPr txBox="1"/>
          <p:nvPr/>
        </p:nvSpPr>
        <p:spPr>
          <a:xfrm>
            <a:off x="521109" y="4987635"/>
            <a:ext cx="10982212" cy="1631215"/>
          </a:xfrm>
          <a:prstGeom prst="rect">
            <a:avLst/>
          </a:prstGeom>
          <a:noFill/>
        </p:spPr>
        <p:txBody>
          <a:bodyPr wrap="square">
            <a:spAutoFit/>
          </a:bodyPr>
          <a:lstStyle/>
          <a:p>
            <a:pPr marL="0" indent="0">
              <a:buNone/>
            </a:pPr>
            <a:r>
              <a:rPr lang="en-IN" sz="2000" b="1" dirty="0">
                <a:cs typeface="Times New Roman" panose="02020603050405020304" pitchFamily="18" charset="0"/>
              </a:rPr>
              <a:t>The pass statement: - </a:t>
            </a:r>
            <a:r>
              <a:rPr lang="en-IN" sz="2000" dirty="0">
                <a:cs typeface="Times New Roman" panose="02020603050405020304" pitchFamily="18" charset="0"/>
              </a:rPr>
              <a:t>for loops cannot be empty, but if for some reason have a for loop with no content, put in the pass statement to avoid getting an error.</a:t>
            </a:r>
          </a:p>
          <a:p>
            <a:pPr marL="0" indent="0">
              <a:buNone/>
            </a:pPr>
            <a:r>
              <a:rPr lang="en-IN" sz="2000" b="1" dirty="0">
                <a:cs typeface="Times New Roman" panose="02020603050405020304" pitchFamily="18" charset="0"/>
              </a:rPr>
              <a:t>Example</a:t>
            </a:r>
          </a:p>
          <a:p>
            <a:pPr marL="0" indent="0">
              <a:buNone/>
            </a:pPr>
            <a:r>
              <a:rPr lang="en-IN" sz="2000" dirty="0">
                <a:cs typeface="Times New Roman" panose="02020603050405020304" pitchFamily="18" charset="0"/>
              </a:rPr>
              <a:t>	for x in range(5):</a:t>
            </a:r>
          </a:p>
          <a:p>
            <a:pPr marL="0" indent="0">
              <a:buNone/>
            </a:pPr>
            <a:r>
              <a:rPr lang="en-IN" sz="2000" dirty="0">
                <a:cs typeface="Times New Roman" panose="02020603050405020304" pitchFamily="18" charset="0"/>
              </a:rPr>
              <a:t>		pass</a:t>
            </a:r>
          </a:p>
        </p:txBody>
      </p:sp>
    </p:spTree>
    <p:extLst>
      <p:ext uri="{BB962C8B-B14F-4D97-AF65-F5344CB8AC3E}">
        <p14:creationId xmlns:p14="http://schemas.microsoft.com/office/powerpoint/2010/main" val="133577395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8E2EC-AB69-1357-C9DC-A69DD983F397}"/>
              </a:ext>
            </a:extLst>
          </p:cNvPr>
          <p:cNvSpPr>
            <a:spLocks noGrp="1"/>
          </p:cNvSpPr>
          <p:nvPr>
            <p:ph type="title"/>
          </p:nvPr>
        </p:nvSpPr>
        <p:spPr/>
        <p:txBody>
          <a:bodyPr/>
          <a:lstStyle/>
          <a:p>
            <a:pPr algn="ctr"/>
            <a:r>
              <a:rPr lang="en-IN" b="1" i="1">
                <a:solidFill>
                  <a:srgbClr val="FF0000"/>
                </a:solidFill>
                <a:effectLst>
                  <a:outerShdw blurRad="38100" dist="38100" dir="2700000" algn="tl">
                    <a:srgbClr val="000000">
                      <a:alpha val="43137"/>
                    </a:srgbClr>
                  </a:outerShdw>
                </a:effectLst>
                <a:latin typeface="+mn-lt"/>
                <a:cs typeface="Times New Roman" panose="02020603050405020304" pitchFamily="18" charset="0"/>
              </a:rPr>
              <a:t>While Loop</a:t>
            </a:r>
            <a:endPar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endParaRPr>
          </a:p>
        </p:txBody>
      </p:sp>
      <p:pic>
        <p:nvPicPr>
          <p:cNvPr id="4" name="Picture 3">
            <a:extLst>
              <a:ext uri="{FF2B5EF4-FFF2-40B4-BE49-F238E27FC236}">
                <a16:creationId xmlns:a16="http://schemas.microsoft.com/office/drawing/2014/main" id="{C60ECEED-CF91-2E4D-D185-0E9393564043}"/>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D17CDF84-8919-1701-588F-A1B684F88C52}"/>
              </a:ext>
            </a:extLst>
          </p:cNvPr>
          <p:cNvSpPr txBox="1"/>
          <p:nvPr/>
        </p:nvSpPr>
        <p:spPr>
          <a:xfrm>
            <a:off x="983227" y="2202426"/>
            <a:ext cx="10370574" cy="4401205"/>
          </a:xfrm>
          <a:prstGeom prst="rect">
            <a:avLst/>
          </a:prstGeom>
          <a:noFill/>
        </p:spPr>
        <p:txBody>
          <a:bodyPr wrap="square">
            <a:spAutoFit/>
          </a:bodyPr>
          <a:lstStyle/>
          <a:p>
            <a:pPr marL="342900" indent="-342900">
              <a:buFont typeface="Arial" panose="020B0604020202020204" pitchFamily="34" charset="0"/>
              <a:buChar char="•"/>
            </a:pPr>
            <a:r>
              <a:rPr lang="en-IN" sz="2000" dirty="0">
                <a:cs typeface="Times New Roman" panose="02020603050405020304" pitchFamily="18" charset="0"/>
              </a:rPr>
              <a:t>With the while loop we can execute a set of statements as long as a condition is true.</a:t>
            </a:r>
          </a:p>
          <a:p>
            <a:pPr marL="0" indent="0">
              <a:buNone/>
            </a:pPr>
            <a:endParaRPr lang="en-IN" sz="2000" b="1" dirty="0">
              <a:cs typeface="Times New Roman" panose="02020603050405020304" pitchFamily="18" charset="0"/>
            </a:endParaRPr>
          </a:p>
          <a:p>
            <a:pPr marL="0" indent="0">
              <a:buNone/>
            </a:pPr>
            <a:r>
              <a:rPr lang="en-IN" sz="2000" b="1" dirty="0">
                <a:cs typeface="Times New Roman" panose="02020603050405020304" pitchFamily="18" charset="0"/>
              </a:rPr>
              <a:t>Syntax</a:t>
            </a:r>
          </a:p>
          <a:p>
            <a:pPr marL="0" indent="0">
              <a:buNone/>
            </a:pPr>
            <a:r>
              <a:rPr lang="en-IN" sz="2000" dirty="0">
                <a:cs typeface="Times New Roman" panose="02020603050405020304" pitchFamily="18" charset="0"/>
              </a:rPr>
              <a:t>	while condition:	</a:t>
            </a:r>
          </a:p>
          <a:p>
            <a:pPr marL="0" indent="0">
              <a:buNone/>
            </a:pPr>
            <a:r>
              <a:rPr lang="en-IN" sz="2000" dirty="0">
                <a:cs typeface="Times New Roman" panose="02020603050405020304" pitchFamily="18" charset="0"/>
              </a:rPr>
              <a:t>		#code block to be executed</a:t>
            </a:r>
          </a:p>
          <a:p>
            <a:pPr marL="0" indent="0">
              <a:buNone/>
            </a:pPr>
            <a:endParaRPr lang="en-IN" sz="2000" b="1" dirty="0">
              <a:cs typeface="Times New Roman" panose="02020603050405020304" pitchFamily="18" charset="0"/>
            </a:endParaRPr>
          </a:p>
          <a:p>
            <a:pPr marL="0" indent="0">
              <a:buNone/>
            </a:pPr>
            <a:r>
              <a:rPr lang="en-IN" sz="2000" b="1" dirty="0">
                <a:cs typeface="Times New Roman" panose="02020603050405020304" pitchFamily="18" charset="0"/>
              </a:rPr>
              <a:t>Example</a:t>
            </a:r>
          </a:p>
          <a:p>
            <a:pPr marL="0" indent="0">
              <a:buNone/>
            </a:pPr>
            <a:r>
              <a:rPr lang="en-IN" sz="2000" dirty="0">
                <a:cs typeface="Times New Roman" panose="02020603050405020304" pitchFamily="18" charset="0"/>
              </a:rPr>
              <a:t>	x = 0</a:t>
            </a:r>
          </a:p>
          <a:p>
            <a:pPr marL="0" indent="0">
              <a:buNone/>
            </a:pPr>
            <a:r>
              <a:rPr lang="en-IN" sz="2000" dirty="0">
                <a:cs typeface="Times New Roman" panose="02020603050405020304" pitchFamily="18" charset="0"/>
              </a:rPr>
              <a:t>	while x &lt; 5:</a:t>
            </a:r>
          </a:p>
          <a:p>
            <a:pPr marL="0" indent="0">
              <a:buNone/>
            </a:pPr>
            <a:r>
              <a:rPr lang="en-IN" sz="2000" dirty="0">
                <a:cs typeface="Times New Roman" panose="02020603050405020304" pitchFamily="18" charset="0"/>
              </a:rPr>
              <a:t>		print(x)</a:t>
            </a:r>
          </a:p>
          <a:p>
            <a:pPr marL="0" indent="0">
              <a:buNone/>
            </a:pPr>
            <a:r>
              <a:rPr lang="en-IN" sz="2000" dirty="0">
                <a:cs typeface="Times New Roman" panose="02020603050405020304" pitchFamily="18" charset="0"/>
              </a:rPr>
              <a:t>		x += 1</a:t>
            </a:r>
          </a:p>
          <a:p>
            <a:pPr marL="0" indent="0">
              <a:buNone/>
            </a:pPr>
            <a:endParaRPr lang="en-IN" sz="2000" b="1" dirty="0">
              <a:cs typeface="Times New Roman" panose="02020603050405020304" pitchFamily="18" charset="0"/>
            </a:endParaRPr>
          </a:p>
          <a:p>
            <a:pPr marL="0" indent="0">
              <a:buNone/>
            </a:pPr>
            <a:r>
              <a:rPr lang="en-IN" sz="2000" b="1" dirty="0">
                <a:cs typeface="Times New Roman" panose="02020603050405020304" pitchFamily="18" charset="0"/>
              </a:rPr>
              <a:t>Output</a:t>
            </a:r>
          </a:p>
          <a:p>
            <a:pPr marL="0" indent="0">
              <a:buNone/>
            </a:pPr>
            <a:r>
              <a:rPr lang="en-IN" sz="2000" dirty="0">
                <a:cs typeface="Times New Roman" panose="02020603050405020304" pitchFamily="18" charset="0"/>
              </a:rPr>
              <a:t>0	1	2	3	4</a:t>
            </a:r>
          </a:p>
        </p:txBody>
      </p:sp>
    </p:spTree>
    <p:extLst>
      <p:ext uri="{BB962C8B-B14F-4D97-AF65-F5344CB8AC3E}">
        <p14:creationId xmlns:p14="http://schemas.microsoft.com/office/powerpoint/2010/main" val="179829691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025ABC-FDD4-8C57-DF2C-2C6A9478E72D}"/>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96C917A7-1C12-F9A6-CF21-04ADB3C7923F}"/>
              </a:ext>
            </a:extLst>
          </p:cNvPr>
          <p:cNvSpPr txBox="1"/>
          <p:nvPr/>
        </p:nvSpPr>
        <p:spPr>
          <a:xfrm>
            <a:off x="688257" y="689040"/>
            <a:ext cx="10628671" cy="2862322"/>
          </a:xfrm>
          <a:prstGeom prst="rect">
            <a:avLst/>
          </a:prstGeom>
          <a:noFill/>
        </p:spPr>
        <p:txBody>
          <a:bodyPr wrap="square">
            <a:spAutoFit/>
          </a:bodyPr>
          <a:lstStyle/>
          <a:p>
            <a:pPr marL="0" indent="0">
              <a:buNone/>
            </a:pPr>
            <a:r>
              <a:rPr lang="en-IN" sz="2000" b="1" dirty="0">
                <a:cs typeface="Times New Roman" panose="02020603050405020304" pitchFamily="18" charset="0"/>
              </a:rPr>
              <a:t>The break Statement: - </a:t>
            </a:r>
            <a:r>
              <a:rPr lang="en-IN" sz="2000" dirty="0">
                <a:cs typeface="Times New Roman" panose="02020603050405020304" pitchFamily="18" charset="0"/>
              </a:rPr>
              <a:t>With the break statement we can stop the loop even if the while condition is true.</a:t>
            </a:r>
          </a:p>
          <a:p>
            <a:pPr marL="0" indent="0">
              <a:buNone/>
            </a:pPr>
            <a:r>
              <a:rPr lang="en-IN" sz="2000" b="1" dirty="0">
                <a:cs typeface="Times New Roman" panose="02020603050405020304" pitchFamily="18" charset="0"/>
              </a:rPr>
              <a:t>Example </a:t>
            </a:r>
          </a:p>
          <a:p>
            <a:pPr marL="0" indent="0">
              <a:buNone/>
            </a:pPr>
            <a:r>
              <a:rPr lang="en-IN" sz="2000" dirty="0">
                <a:cs typeface="Times New Roman" panose="02020603050405020304" pitchFamily="18" charset="0"/>
              </a:rPr>
              <a:t>	i = 0</a:t>
            </a:r>
          </a:p>
          <a:p>
            <a:pPr marL="0" indent="0">
              <a:buNone/>
            </a:pPr>
            <a:r>
              <a:rPr lang="en-IN" sz="2000" dirty="0">
                <a:cs typeface="Times New Roman" panose="02020603050405020304" pitchFamily="18" charset="0"/>
              </a:rPr>
              <a:t>	while i &lt; 5:</a:t>
            </a:r>
          </a:p>
          <a:p>
            <a:pPr marL="0" indent="0">
              <a:buNone/>
            </a:pPr>
            <a:r>
              <a:rPr lang="en-IN" sz="2000" dirty="0">
                <a:cs typeface="Times New Roman" panose="02020603050405020304" pitchFamily="18" charset="0"/>
              </a:rPr>
              <a:t>		print(i)</a:t>
            </a:r>
          </a:p>
          <a:p>
            <a:pPr marL="0" indent="0">
              <a:buNone/>
            </a:pPr>
            <a:r>
              <a:rPr lang="en-IN" sz="2000" dirty="0">
                <a:cs typeface="Times New Roman" panose="02020603050405020304" pitchFamily="18" charset="0"/>
              </a:rPr>
              <a:t>		if i==2:</a:t>
            </a:r>
          </a:p>
          <a:p>
            <a:pPr marL="0" indent="0">
              <a:buNone/>
            </a:pPr>
            <a:r>
              <a:rPr lang="en-IN" sz="2000" dirty="0">
                <a:cs typeface="Times New Roman" panose="02020603050405020304" pitchFamily="18" charset="0"/>
              </a:rPr>
              <a:t>			break</a:t>
            </a:r>
          </a:p>
          <a:p>
            <a:pPr marL="0" indent="0">
              <a:buNone/>
            </a:pPr>
            <a:r>
              <a:rPr lang="en-IN" sz="2000" dirty="0">
                <a:cs typeface="Times New Roman" panose="02020603050405020304" pitchFamily="18" charset="0"/>
              </a:rPr>
              <a:t>		i+=1</a:t>
            </a:r>
          </a:p>
        </p:txBody>
      </p:sp>
      <p:sp>
        <p:nvSpPr>
          <p:cNvPr id="7" name="TextBox 6">
            <a:extLst>
              <a:ext uri="{FF2B5EF4-FFF2-40B4-BE49-F238E27FC236}">
                <a16:creationId xmlns:a16="http://schemas.microsoft.com/office/drawing/2014/main" id="{45200A97-9BEA-986C-19A9-D4AE7FA2336F}"/>
              </a:ext>
            </a:extLst>
          </p:cNvPr>
          <p:cNvSpPr txBox="1"/>
          <p:nvPr/>
        </p:nvSpPr>
        <p:spPr>
          <a:xfrm>
            <a:off x="688257" y="3765755"/>
            <a:ext cx="10815063" cy="2862322"/>
          </a:xfrm>
          <a:prstGeom prst="rect">
            <a:avLst/>
          </a:prstGeom>
          <a:noFill/>
        </p:spPr>
        <p:txBody>
          <a:bodyPr wrap="square">
            <a:spAutoFit/>
          </a:bodyPr>
          <a:lstStyle/>
          <a:p>
            <a:pPr marL="0" indent="0">
              <a:buNone/>
            </a:pPr>
            <a:r>
              <a:rPr lang="en-IN" sz="2000" b="1" dirty="0">
                <a:cs typeface="Times New Roman" panose="02020603050405020304" pitchFamily="18" charset="0"/>
              </a:rPr>
              <a:t>The continue statement: -</a:t>
            </a:r>
            <a:r>
              <a:rPr lang="en-IN" sz="2000" dirty="0">
                <a:cs typeface="Times New Roman" panose="02020603050405020304" pitchFamily="18" charset="0"/>
              </a:rPr>
              <a:t> With the continue statement we can stop the current iteration, and continue with the next iteration.</a:t>
            </a:r>
          </a:p>
          <a:p>
            <a:pPr marL="0" indent="0">
              <a:buNone/>
            </a:pPr>
            <a:r>
              <a:rPr lang="en-IN" sz="2000" b="1" dirty="0">
                <a:cs typeface="Times New Roman" panose="02020603050405020304" pitchFamily="18" charset="0"/>
              </a:rPr>
              <a:t>Example</a:t>
            </a:r>
          </a:p>
          <a:p>
            <a:pPr marL="0" indent="0">
              <a:buNone/>
            </a:pPr>
            <a:r>
              <a:rPr lang="en-IN" sz="2000" dirty="0">
                <a:cs typeface="Times New Roman" panose="02020603050405020304" pitchFamily="18" charset="0"/>
              </a:rPr>
              <a:t>	x = 1</a:t>
            </a:r>
          </a:p>
          <a:p>
            <a:pPr marL="0" indent="0">
              <a:buNone/>
            </a:pPr>
            <a:r>
              <a:rPr lang="en-IN" sz="2000" dirty="0">
                <a:cs typeface="Times New Roman" panose="02020603050405020304" pitchFamily="18" charset="0"/>
              </a:rPr>
              <a:t>	while x &lt; 6:</a:t>
            </a:r>
          </a:p>
          <a:p>
            <a:pPr marL="0" indent="0">
              <a:buNone/>
            </a:pPr>
            <a:r>
              <a:rPr lang="en-IN" sz="2000" dirty="0">
                <a:cs typeface="Times New Roman" panose="02020603050405020304" pitchFamily="18" charset="0"/>
              </a:rPr>
              <a:t>		x += 1</a:t>
            </a:r>
          </a:p>
          <a:p>
            <a:pPr marL="0" indent="0">
              <a:buNone/>
            </a:pPr>
            <a:r>
              <a:rPr lang="en-IN" sz="2000" dirty="0">
                <a:cs typeface="Times New Roman" panose="02020603050405020304" pitchFamily="18" charset="0"/>
              </a:rPr>
              <a:t>		if x ==3:</a:t>
            </a:r>
          </a:p>
          <a:p>
            <a:pPr marL="0" indent="0">
              <a:buNone/>
            </a:pPr>
            <a:r>
              <a:rPr lang="en-IN" sz="2000" dirty="0">
                <a:cs typeface="Times New Roman" panose="02020603050405020304" pitchFamily="18" charset="0"/>
              </a:rPr>
              <a:t>			continue</a:t>
            </a:r>
          </a:p>
          <a:p>
            <a:pPr marL="0" indent="0">
              <a:buNone/>
            </a:pPr>
            <a:r>
              <a:rPr lang="en-IN" sz="2000" dirty="0">
                <a:cs typeface="Times New Roman" panose="02020603050405020304" pitchFamily="18" charset="0"/>
              </a:rPr>
              <a:t>		print(x)</a:t>
            </a:r>
          </a:p>
        </p:txBody>
      </p:sp>
    </p:spTree>
    <p:extLst>
      <p:ext uri="{BB962C8B-B14F-4D97-AF65-F5344CB8AC3E}">
        <p14:creationId xmlns:p14="http://schemas.microsoft.com/office/powerpoint/2010/main" val="40388354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11A5A-FDFA-471D-CDE0-C56FB67E2E83}"/>
              </a:ext>
            </a:extLst>
          </p:cNvPr>
          <p:cNvSpPr>
            <a:spLocks noGrp="1"/>
          </p:cNvSpPr>
          <p:nvPr>
            <p:ph type="title"/>
          </p:nvPr>
        </p:nvSpPr>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Functions</a:t>
            </a:r>
          </a:p>
        </p:txBody>
      </p:sp>
      <p:pic>
        <p:nvPicPr>
          <p:cNvPr id="4" name="Picture 3">
            <a:extLst>
              <a:ext uri="{FF2B5EF4-FFF2-40B4-BE49-F238E27FC236}">
                <a16:creationId xmlns:a16="http://schemas.microsoft.com/office/drawing/2014/main" id="{40C4BA85-AA50-922E-025D-C6153C42CFD5}"/>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D70CE485-17C9-515D-1A62-E71B87015F67}"/>
              </a:ext>
            </a:extLst>
          </p:cNvPr>
          <p:cNvSpPr txBox="1"/>
          <p:nvPr/>
        </p:nvSpPr>
        <p:spPr>
          <a:xfrm>
            <a:off x="688680" y="1494503"/>
            <a:ext cx="9595862" cy="1323439"/>
          </a:xfrm>
          <a:prstGeom prst="rect">
            <a:avLst/>
          </a:prstGeom>
          <a:noFill/>
        </p:spPr>
        <p:txBody>
          <a:bodyPr wrap="square">
            <a:spAutoFit/>
          </a:bodyPr>
          <a:lstStyle/>
          <a:p>
            <a:pPr marL="342900" indent="-342900">
              <a:buFont typeface="Arial" panose="020B0604020202020204" pitchFamily="34" charset="0"/>
              <a:buChar char="•"/>
            </a:pPr>
            <a:r>
              <a:rPr lang="en-IN" sz="2000" dirty="0">
                <a:cs typeface="Times New Roman" panose="02020603050405020304" pitchFamily="18" charset="0"/>
              </a:rPr>
              <a:t>A function is a block of code which only runs when it is called.</a:t>
            </a:r>
          </a:p>
          <a:p>
            <a:pPr marL="342900" indent="-342900">
              <a:buFont typeface="Arial" panose="020B0604020202020204" pitchFamily="34" charset="0"/>
              <a:buChar char="•"/>
            </a:pPr>
            <a:r>
              <a:rPr lang="en-IN" sz="2000" dirty="0">
                <a:cs typeface="Times New Roman" panose="02020603050405020304" pitchFamily="18" charset="0"/>
              </a:rPr>
              <a:t>You can pass data, know as parameters or arguments, into a function.</a:t>
            </a:r>
          </a:p>
          <a:p>
            <a:pPr marL="342900" indent="-342900">
              <a:buFont typeface="Arial" panose="020B0604020202020204" pitchFamily="34" charset="0"/>
              <a:buChar char="•"/>
            </a:pPr>
            <a:r>
              <a:rPr lang="en-IN" sz="2000" dirty="0">
                <a:cs typeface="Times New Roman" panose="02020603050405020304" pitchFamily="18" charset="0"/>
              </a:rPr>
              <a:t>A function can return data as a result.</a:t>
            </a:r>
          </a:p>
          <a:p>
            <a:pPr marL="0" indent="0">
              <a:buNone/>
            </a:pPr>
            <a:endParaRPr lang="en-IN" sz="2000" dirty="0">
              <a:cs typeface="Times New Roman" panose="02020603050405020304" pitchFamily="18" charset="0"/>
            </a:endParaRPr>
          </a:p>
        </p:txBody>
      </p:sp>
      <p:sp>
        <p:nvSpPr>
          <p:cNvPr id="8" name="TextBox 7">
            <a:extLst>
              <a:ext uri="{FF2B5EF4-FFF2-40B4-BE49-F238E27FC236}">
                <a16:creationId xmlns:a16="http://schemas.microsoft.com/office/drawing/2014/main" id="{E520C23F-15B5-4900-77F3-CE2884AE5333}"/>
              </a:ext>
            </a:extLst>
          </p:cNvPr>
          <p:cNvSpPr txBox="1"/>
          <p:nvPr/>
        </p:nvSpPr>
        <p:spPr>
          <a:xfrm>
            <a:off x="838200" y="2820065"/>
            <a:ext cx="10665120" cy="3785652"/>
          </a:xfrm>
          <a:prstGeom prst="rect">
            <a:avLst/>
          </a:prstGeom>
          <a:noFill/>
        </p:spPr>
        <p:txBody>
          <a:bodyPr wrap="square">
            <a:spAutoFit/>
          </a:bodyPr>
          <a:lstStyle/>
          <a:p>
            <a:pPr marL="0" indent="0">
              <a:buNone/>
            </a:pPr>
            <a:r>
              <a:rPr lang="en-IN" sz="2000" b="1" dirty="0">
                <a:cs typeface="Times New Roman" panose="02020603050405020304" pitchFamily="18" charset="0"/>
              </a:rPr>
              <a:t>Creating a Function: - </a:t>
            </a:r>
            <a:r>
              <a:rPr lang="en-IN" sz="2000" dirty="0">
                <a:cs typeface="Times New Roman" panose="02020603050405020304" pitchFamily="18" charset="0"/>
              </a:rPr>
              <a:t>In Python a function is defined using the </a:t>
            </a:r>
            <a:r>
              <a:rPr lang="en-IN" sz="2000" b="1" dirty="0">
                <a:cs typeface="Times New Roman" panose="02020603050405020304" pitchFamily="18" charset="0"/>
              </a:rPr>
              <a:t>def </a:t>
            </a:r>
            <a:r>
              <a:rPr lang="en-IN" sz="2000" dirty="0">
                <a:cs typeface="Times New Roman" panose="02020603050405020304" pitchFamily="18" charset="0"/>
              </a:rPr>
              <a:t>keyword.</a:t>
            </a:r>
          </a:p>
          <a:p>
            <a:pPr marL="0" indent="0">
              <a:buNone/>
            </a:pPr>
            <a:r>
              <a:rPr lang="en-IN" sz="2000" b="1" dirty="0">
                <a:cs typeface="Times New Roman" panose="02020603050405020304" pitchFamily="18" charset="0"/>
              </a:rPr>
              <a:t>Example</a:t>
            </a:r>
          </a:p>
          <a:p>
            <a:pPr marL="0" indent="0">
              <a:buNone/>
            </a:pPr>
            <a:r>
              <a:rPr lang="en-IN" sz="2000" dirty="0">
                <a:cs typeface="Times New Roman" panose="02020603050405020304" pitchFamily="18" charset="0"/>
              </a:rPr>
              <a:t>	def </a:t>
            </a:r>
            <a:r>
              <a:rPr lang="en-IN" sz="2000" dirty="0" err="1">
                <a:cs typeface="Times New Roman" panose="02020603050405020304" pitchFamily="18" charset="0"/>
              </a:rPr>
              <a:t>my_function</a:t>
            </a:r>
            <a:r>
              <a:rPr lang="en-IN" sz="2000" dirty="0">
                <a:cs typeface="Times New Roman" panose="02020603050405020304" pitchFamily="18" charset="0"/>
              </a:rPr>
              <a:t>():</a:t>
            </a:r>
          </a:p>
          <a:p>
            <a:pPr marL="0" indent="0">
              <a:buNone/>
            </a:pPr>
            <a:r>
              <a:rPr lang="en-IN" sz="2000" dirty="0">
                <a:cs typeface="Times New Roman" panose="02020603050405020304" pitchFamily="18" charset="0"/>
              </a:rPr>
              <a:t>		print(“Hello from a function”)</a:t>
            </a:r>
          </a:p>
          <a:p>
            <a:pPr marL="0" indent="0">
              <a:buNone/>
            </a:pPr>
            <a:endParaRPr lang="en-IN" sz="2000" dirty="0">
              <a:cs typeface="Times New Roman" panose="02020603050405020304" pitchFamily="18" charset="0"/>
            </a:endParaRPr>
          </a:p>
          <a:p>
            <a:pPr marL="0" indent="0">
              <a:buNone/>
            </a:pPr>
            <a:r>
              <a:rPr lang="en-IN" sz="2000" b="1" dirty="0">
                <a:cs typeface="Times New Roman" panose="02020603050405020304" pitchFamily="18" charset="0"/>
              </a:rPr>
              <a:t>Calling a Function: - </a:t>
            </a:r>
            <a:r>
              <a:rPr lang="en-IN" sz="2000" dirty="0">
                <a:cs typeface="Times New Roman" panose="02020603050405020304" pitchFamily="18" charset="0"/>
              </a:rPr>
              <a:t>To call a function, use the function name followed by parenthesis.</a:t>
            </a:r>
          </a:p>
          <a:p>
            <a:pPr marL="0" indent="0">
              <a:buNone/>
            </a:pPr>
            <a:r>
              <a:rPr lang="en-IN" sz="2000" b="1" dirty="0">
                <a:cs typeface="Times New Roman" panose="02020603050405020304" pitchFamily="18" charset="0"/>
              </a:rPr>
              <a:t>Example</a:t>
            </a:r>
          </a:p>
          <a:p>
            <a:pPr marL="0" indent="0">
              <a:buNone/>
            </a:pPr>
            <a:r>
              <a:rPr lang="en-IN" sz="2000" dirty="0">
                <a:cs typeface="Times New Roman" panose="02020603050405020304" pitchFamily="18" charset="0"/>
              </a:rPr>
              <a:t>	def </a:t>
            </a:r>
            <a:r>
              <a:rPr lang="en-IN" sz="2000" dirty="0" err="1">
                <a:cs typeface="Times New Roman" panose="02020603050405020304" pitchFamily="18" charset="0"/>
              </a:rPr>
              <a:t>my_function</a:t>
            </a:r>
            <a:r>
              <a:rPr lang="en-IN" sz="2000" dirty="0">
                <a:cs typeface="Times New Roman" panose="02020603050405020304" pitchFamily="18" charset="0"/>
              </a:rPr>
              <a:t>():</a:t>
            </a:r>
          </a:p>
          <a:p>
            <a:pPr marL="0" indent="0">
              <a:buNone/>
            </a:pPr>
            <a:r>
              <a:rPr lang="en-IN" sz="2000" dirty="0">
                <a:cs typeface="Times New Roman" panose="02020603050405020304" pitchFamily="18" charset="0"/>
              </a:rPr>
              <a:t>		print(“Hello from a function”)</a:t>
            </a:r>
          </a:p>
          <a:p>
            <a:pPr marL="0" indent="0">
              <a:buNone/>
            </a:pPr>
            <a:r>
              <a:rPr lang="en-IN" sz="2000" dirty="0">
                <a:cs typeface="Times New Roman" panose="02020603050405020304" pitchFamily="18" charset="0"/>
              </a:rPr>
              <a:t>	</a:t>
            </a:r>
            <a:r>
              <a:rPr lang="en-IN" sz="2000" dirty="0" err="1">
                <a:cs typeface="Times New Roman" panose="02020603050405020304" pitchFamily="18" charset="0"/>
              </a:rPr>
              <a:t>my_function</a:t>
            </a:r>
            <a:r>
              <a:rPr lang="en-IN" sz="2000" dirty="0">
                <a:cs typeface="Times New Roman" panose="02020603050405020304" pitchFamily="18" charset="0"/>
              </a:rPr>
              <a:t>()</a:t>
            </a:r>
          </a:p>
          <a:p>
            <a:pPr marL="0" indent="0">
              <a:buNone/>
            </a:pPr>
            <a:r>
              <a:rPr lang="en-IN" sz="2000" b="1" dirty="0">
                <a:cs typeface="Times New Roman" panose="02020603050405020304" pitchFamily="18" charset="0"/>
              </a:rPr>
              <a:t>Output</a:t>
            </a:r>
          </a:p>
          <a:p>
            <a:pPr marL="0" indent="0">
              <a:buNone/>
            </a:pPr>
            <a:r>
              <a:rPr lang="en-IN" sz="2000" dirty="0">
                <a:cs typeface="Times New Roman" panose="02020603050405020304" pitchFamily="18" charset="0"/>
              </a:rPr>
              <a:t>Hello from a function</a:t>
            </a:r>
          </a:p>
        </p:txBody>
      </p:sp>
    </p:spTree>
    <p:extLst>
      <p:ext uri="{BB962C8B-B14F-4D97-AF65-F5344CB8AC3E}">
        <p14:creationId xmlns:p14="http://schemas.microsoft.com/office/powerpoint/2010/main" val="318225946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AED169F-5E89-91F4-1EB4-98E9C757DEAD}"/>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7CAAE74E-4A1D-70A7-20AB-D02BAE403BA9}"/>
              </a:ext>
            </a:extLst>
          </p:cNvPr>
          <p:cNvSpPr txBox="1"/>
          <p:nvPr/>
        </p:nvSpPr>
        <p:spPr>
          <a:xfrm>
            <a:off x="599769" y="1543664"/>
            <a:ext cx="11139948" cy="4401205"/>
          </a:xfrm>
          <a:prstGeom prst="rect">
            <a:avLst/>
          </a:prstGeom>
          <a:noFill/>
        </p:spPr>
        <p:txBody>
          <a:bodyPr wrap="square">
            <a:spAutoFit/>
          </a:bodyPr>
          <a:lstStyle/>
          <a:p>
            <a:pPr marL="0" indent="0">
              <a:buNone/>
            </a:pPr>
            <a:r>
              <a:rPr lang="en-IN" sz="2000" b="1" dirty="0">
                <a:cs typeface="Times New Roman" panose="02020603050405020304" pitchFamily="18" charset="0"/>
              </a:rPr>
              <a:t>Arguments: - </a:t>
            </a:r>
            <a:r>
              <a:rPr lang="en-IN" sz="2000" dirty="0">
                <a:cs typeface="Times New Roman" panose="02020603050405020304" pitchFamily="18" charset="0"/>
              </a:rPr>
              <a:t>In Python, arguments refer to the values that are passed to a function when it is called. Functions can accept zero or more arguments, which are used as inputs to perform some computation or task within the function.</a:t>
            </a:r>
          </a:p>
          <a:p>
            <a:pPr marL="0" indent="0">
              <a:buNone/>
            </a:pPr>
            <a:r>
              <a:rPr lang="en-IN" sz="2000" b="1" dirty="0">
                <a:cs typeface="Times New Roman" panose="02020603050405020304" pitchFamily="18" charset="0"/>
              </a:rPr>
              <a:t>Syntax</a:t>
            </a:r>
          </a:p>
          <a:p>
            <a:pPr marL="0" indent="0">
              <a:buNone/>
            </a:pPr>
            <a:r>
              <a:rPr lang="en-IN" sz="2000" dirty="0">
                <a:cs typeface="Times New Roman" panose="02020603050405020304" pitchFamily="18" charset="0"/>
              </a:rPr>
              <a:t>	def </a:t>
            </a:r>
            <a:r>
              <a:rPr lang="en-IN" sz="2000" dirty="0" err="1">
                <a:cs typeface="Times New Roman" panose="02020603050405020304" pitchFamily="18" charset="0"/>
              </a:rPr>
              <a:t>function_name</a:t>
            </a:r>
            <a:r>
              <a:rPr lang="en-IN" sz="2000" dirty="0">
                <a:cs typeface="Times New Roman" panose="02020603050405020304" pitchFamily="18" charset="0"/>
              </a:rPr>
              <a:t>(arg1, arg2,……., </a:t>
            </a:r>
            <a:r>
              <a:rPr lang="en-IN" sz="2000" dirty="0" err="1">
                <a:cs typeface="Times New Roman" panose="02020603050405020304" pitchFamily="18" charset="0"/>
              </a:rPr>
              <a:t>argN</a:t>
            </a:r>
            <a:r>
              <a:rPr lang="en-IN" sz="2000" dirty="0">
                <a:cs typeface="Times New Roman" panose="02020603050405020304" pitchFamily="18" charset="0"/>
              </a:rPr>
              <a:t>):</a:t>
            </a:r>
          </a:p>
          <a:p>
            <a:pPr marL="0" indent="0">
              <a:buNone/>
            </a:pPr>
            <a:r>
              <a:rPr lang="en-IN" sz="2000" dirty="0">
                <a:cs typeface="Times New Roman" panose="02020603050405020304" pitchFamily="18" charset="0"/>
              </a:rPr>
              <a:t>		#Function body</a:t>
            </a:r>
          </a:p>
          <a:p>
            <a:pPr marL="0" indent="0">
              <a:buNone/>
            </a:pPr>
            <a:r>
              <a:rPr lang="en-IN" sz="2000" b="1" dirty="0">
                <a:cs typeface="Times New Roman" panose="02020603050405020304" pitchFamily="18" charset="0"/>
              </a:rPr>
              <a:t>Example</a:t>
            </a:r>
          </a:p>
          <a:p>
            <a:pPr marL="0" indent="0">
              <a:buNone/>
            </a:pPr>
            <a:r>
              <a:rPr lang="en-IN" sz="2000" dirty="0">
                <a:cs typeface="Times New Roman" panose="02020603050405020304" pitchFamily="18" charset="0"/>
              </a:rPr>
              <a:t>	def </a:t>
            </a:r>
            <a:r>
              <a:rPr lang="en-IN" sz="2000" dirty="0" err="1">
                <a:cs typeface="Times New Roman" panose="02020603050405020304" pitchFamily="18" charset="0"/>
              </a:rPr>
              <a:t>my_age</a:t>
            </a:r>
            <a:r>
              <a:rPr lang="en-IN" sz="2000" dirty="0">
                <a:cs typeface="Times New Roman" panose="02020603050405020304" pitchFamily="18" charset="0"/>
              </a:rPr>
              <a:t>(age):</a:t>
            </a:r>
          </a:p>
          <a:p>
            <a:pPr marL="0" indent="0">
              <a:buNone/>
            </a:pPr>
            <a:r>
              <a:rPr lang="en-IN" sz="2000" dirty="0">
                <a:cs typeface="Times New Roman" panose="02020603050405020304" pitchFamily="18" charset="0"/>
              </a:rPr>
              <a:t>		print(“I am” , age)</a:t>
            </a:r>
          </a:p>
          <a:p>
            <a:pPr marL="0" indent="0">
              <a:buNone/>
            </a:pPr>
            <a:r>
              <a:rPr lang="en-IN" sz="2000" dirty="0">
                <a:cs typeface="Times New Roman" panose="02020603050405020304" pitchFamily="18" charset="0"/>
              </a:rPr>
              <a:t>	</a:t>
            </a:r>
            <a:r>
              <a:rPr lang="en-IN" sz="2000" dirty="0" err="1">
                <a:cs typeface="Times New Roman" panose="02020603050405020304" pitchFamily="18" charset="0"/>
              </a:rPr>
              <a:t>my_age</a:t>
            </a:r>
            <a:r>
              <a:rPr lang="en-IN" sz="2000" dirty="0">
                <a:cs typeface="Times New Roman" panose="02020603050405020304" pitchFamily="18" charset="0"/>
              </a:rPr>
              <a:t>(20)</a:t>
            </a:r>
          </a:p>
          <a:p>
            <a:pPr marL="0" indent="0">
              <a:buNone/>
            </a:pPr>
            <a:r>
              <a:rPr lang="en-IN" sz="2000" dirty="0">
                <a:cs typeface="Times New Roman" panose="02020603050405020304" pitchFamily="18" charset="0"/>
              </a:rPr>
              <a:t>	</a:t>
            </a:r>
            <a:r>
              <a:rPr lang="en-IN" sz="2000" dirty="0" err="1">
                <a:cs typeface="Times New Roman" panose="02020603050405020304" pitchFamily="18" charset="0"/>
              </a:rPr>
              <a:t>my_age</a:t>
            </a:r>
            <a:r>
              <a:rPr lang="en-IN" sz="2000" dirty="0">
                <a:cs typeface="Times New Roman" panose="02020603050405020304" pitchFamily="18" charset="0"/>
              </a:rPr>
              <a:t>(25)</a:t>
            </a:r>
          </a:p>
          <a:p>
            <a:pPr marL="0" indent="0">
              <a:buNone/>
            </a:pPr>
            <a:r>
              <a:rPr lang="en-IN" sz="2000" b="1" dirty="0">
                <a:cs typeface="Times New Roman" panose="02020603050405020304" pitchFamily="18" charset="0"/>
              </a:rPr>
              <a:t>Output</a:t>
            </a:r>
          </a:p>
          <a:p>
            <a:pPr marL="0" indent="0">
              <a:buNone/>
            </a:pPr>
            <a:r>
              <a:rPr lang="en-IN" sz="2000" dirty="0">
                <a:cs typeface="Times New Roman" panose="02020603050405020304" pitchFamily="18" charset="0"/>
              </a:rPr>
              <a:t>I am 20</a:t>
            </a:r>
          </a:p>
          <a:p>
            <a:pPr marL="0" indent="0">
              <a:buNone/>
            </a:pPr>
            <a:r>
              <a:rPr lang="en-IN" sz="2000" dirty="0">
                <a:cs typeface="Times New Roman" panose="02020603050405020304" pitchFamily="18" charset="0"/>
              </a:rPr>
              <a:t>I am 25</a:t>
            </a:r>
          </a:p>
        </p:txBody>
      </p:sp>
    </p:spTree>
    <p:extLst>
      <p:ext uri="{BB962C8B-B14F-4D97-AF65-F5344CB8AC3E}">
        <p14:creationId xmlns:p14="http://schemas.microsoft.com/office/powerpoint/2010/main" val="311930062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A013E2C-C2D1-883B-57C3-0AD00FAE8416}"/>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A32323F8-D416-52CA-E2AB-80E42702EEA7}"/>
              </a:ext>
            </a:extLst>
          </p:cNvPr>
          <p:cNvSpPr txBox="1"/>
          <p:nvPr/>
        </p:nvSpPr>
        <p:spPr>
          <a:xfrm>
            <a:off x="448887" y="689041"/>
            <a:ext cx="11054433" cy="5324535"/>
          </a:xfrm>
          <a:prstGeom prst="rect">
            <a:avLst/>
          </a:prstGeom>
          <a:noFill/>
        </p:spPr>
        <p:txBody>
          <a:bodyPr wrap="square">
            <a:spAutoFit/>
          </a:bodyPr>
          <a:lstStyle/>
          <a:p>
            <a:pPr marL="0" indent="0">
              <a:buNone/>
            </a:pPr>
            <a:r>
              <a:rPr lang="en-US" sz="2000" b="1" dirty="0">
                <a:cs typeface="Times New Roman" panose="02020603050405020304" pitchFamily="18" charset="0"/>
              </a:rPr>
              <a:t>Number of Arguments</a:t>
            </a:r>
          </a:p>
          <a:p>
            <a:pPr marL="0" indent="0">
              <a:buNone/>
            </a:pPr>
            <a:r>
              <a:rPr lang="en-US" sz="2000" dirty="0">
                <a:ea typeface="Verdana"/>
                <a:cs typeface="Times New Roman" panose="02020603050405020304" pitchFamily="18" charset="0"/>
              </a:rPr>
              <a:t>By default, a function must be called with the correct number of arguments. Meaning that if your function expects 2 arguments, you have to call the function with 2 arguments, not more, and not less.</a:t>
            </a:r>
          </a:p>
          <a:p>
            <a:pPr marL="0" indent="0">
              <a:buNone/>
            </a:pPr>
            <a:r>
              <a:rPr lang="en-US" sz="2000" b="1" dirty="0">
                <a:cs typeface="Times New Roman" panose="02020603050405020304" pitchFamily="18" charset="0"/>
              </a:rPr>
              <a:t>Example:</a:t>
            </a:r>
            <a:r>
              <a:rPr lang="en-US" sz="2000" b="1" dirty="0">
                <a:ea typeface="Verdana"/>
                <a:cs typeface="Times New Roman" panose="02020603050405020304" pitchFamily="18" charset="0"/>
              </a:rPr>
              <a:t>  </a:t>
            </a:r>
            <a:r>
              <a:rPr lang="en-US" sz="2000" dirty="0">
                <a:ea typeface="Verdana"/>
                <a:cs typeface="Times New Roman" panose="02020603050405020304" pitchFamily="18" charset="0"/>
              </a:rPr>
              <a:t>This function expects 2 arguments, and gets 2 arguments:</a:t>
            </a:r>
          </a:p>
          <a:p>
            <a:pPr marL="0" indent="0">
              <a:buNone/>
            </a:pPr>
            <a:r>
              <a:rPr lang="en-US" sz="2000" dirty="0">
                <a:ea typeface="Verdana"/>
                <a:cs typeface="Times New Roman" panose="02020603050405020304" pitchFamily="18" charset="0"/>
              </a:rPr>
              <a:t>	def </a:t>
            </a:r>
            <a:r>
              <a:rPr lang="en-US" sz="2000" dirty="0" err="1">
                <a:ea typeface="Verdana"/>
                <a:cs typeface="Times New Roman" panose="02020603050405020304" pitchFamily="18" charset="0"/>
              </a:rPr>
              <a:t>my_function</a:t>
            </a:r>
            <a:r>
              <a:rPr lang="en-US" sz="2000" dirty="0">
                <a:ea typeface="Verdana"/>
                <a:cs typeface="Times New Roman" panose="02020603050405020304" pitchFamily="18" charset="0"/>
              </a:rPr>
              <a:t>(</a:t>
            </a:r>
            <a:r>
              <a:rPr lang="en-US" sz="2000" dirty="0" err="1">
                <a:ea typeface="Verdana"/>
                <a:cs typeface="Times New Roman" panose="02020603050405020304" pitchFamily="18" charset="0"/>
              </a:rPr>
              <a:t>fname</a:t>
            </a:r>
            <a:r>
              <a:rPr lang="en-US" sz="2000" dirty="0">
                <a:ea typeface="Verdana"/>
                <a:cs typeface="Times New Roman" panose="02020603050405020304" pitchFamily="18" charset="0"/>
              </a:rPr>
              <a:t>, </a:t>
            </a:r>
            <a:r>
              <a:rPr lang="en-US" sz="2000" dirty="0" err="1">
                <a:ea typeface="Verdana"/>
                <a:cs typeface="Times New Roman" panose="02020603050405020304" pitchFamily="18" charset="0"/>
              </a:rPr>
              <a:t>lname</a:t>
            </a:r>
            <a:r>
              <a:rPr lang="en-US" sz="2000" dirty="0">
                <a:ea typeface="Verdana"/>
                <a:cs typeface="Times New Roman" panose="02020603050405020304" pitchFamily="18" charset="0"/>
              </a:rPr>
              <a:t>):</a:t>
            </a:r>
            <a:endParaRPr lang="en-US" sz="2000" dirty="0">
              <a:cs typeface="Times New Roman" panose="02020603050405020304" pitchFamily="18" charset="0"/>
            </a:endParaRPr>
          </a:p>
          <a:p>
            <a:pPr marL="0" indent="0">
              <a:buNone/>
            </a:pPr>
            <a:r>
              <a:rPr lang="en-US" sz="2000" dirty="0">
                <a:ea typeface="Verdana"/>
                <a:cs typeface="Times New Roman" panose="02020603050405020304" pitchFamily="18" charset="0"/>
              </a:rPr>
              <a:t>  		print(</a:t>
            </a:r>
            <a:r>
              <a:rPr lang="en-US" sz="2000" dirty="0" err="1">
                <a:ea typeface="Verdana"/>
                <a:cs typeface="Times New Roman" panose="02020603050405020304" pitchFamily="18" charset="0"/>
              </a:rPr>
              <a:t>fname</a:t>
            </a:r>
            <a:r>
              <a:rPr lang="en-US" sz="2000" dirty="0">
                <a:ea typeface="Verdana"/>
                <a:cs typeface="Times New Roman" panose="02020603050405020304" pitchFamily="18" charset="0"/>
              </a:rPr>
              <a:t> + " " + </a:t>
            </a:r>
            <a:r>
              <a:rPr lang="en-US" sz="2000" dirty="0" err="1">
                <a:ea typeface="Verdana"/>
                <a:cs typeface="Times New Roman" panose="02020603050405020304" pitchFamily="18" charset="0"/>
              </a:rPr>
              <a:t>lname</a:t>
            </a:r>
            <a:r>
              <a:rPr lang="en-US" sz="2000" dirty="0">
                <a:ea typeface="Verdana"/>
                <a:cs typeface="Times New Roman" panose="02020603050405020304" pitchFamily="18" charset="0"/>
              </a:rPr>
              <a:t>)</a:t>
            </a:r>
            <a:endParaRPr lang="en-US" sz="2000" dirty="0">
              <a:cs typeface="Times New Roman" panose="02020603050405020304" pitchFamily="18" charset="0"/>
            </a:endParaRPr>
          </a:p>
          <a:p>
            <a:pPr marL="0" indent="0">
              <a:buNone/>
            </a:pPr>
            <a:r>
              <a:rPr lang="en-US" sz="2000" dirty="0">
                <a:ea typeface="Verdana"/>
                <a:cs typeface="Times New Roman" panose="02020603050405020304" pitchFamily="18" charset="0"/>
              </a:rPr>
              <a:t>	</a:t>
            </a:r>
            <a:r>
              <a:rPr lang="en-US" sz="2000" dirty="0" err="1">
                <a:ea typeface="Verdana"/>
                <a:cs typeface="Times New Roman" panose="02020603050405020304" pitchFamily="18" charset="0"/>
              </a:rPr>
              <a:t>my_function</a:t>
            </a:r>
            <a:r>
              <a:rPr lang="en-US" sz="2000" dirty="0">
                <a:ea typeface="Verdana"/>
                <a:cs typeface="Times New Roman" panose="02020603050405020304" pitchFamily="18" charset="0"/>
              </a:rPr>
              <a:t>("Emil", "</a:t>
            </a:r>
            <a:r>
              <a:rPr lang="en-US" sz="2000" dirty="0" err="1">
                <a:ea typeface="Verdana"/>
                <a:cs typeface="Times New Roman" panose="02020603050405020304" pitchFamily="18" charset="0"/>
              </a:rPr>
              <a:t>Refsnes</a:t>
            </a:r>
            <a:r>
              <a:rPr lang="en-US" sz="2000" dirty="0">
                <a:ea typeface="Verdana"/>
                <a:cs typeface="Times New Roman" panose="02020603050405020304" pitchFamily="18" charset="0"/>
              </a:rPr>
              <a:t>")    #Emil </a:t>
            </a:r>
            <a:r>
              <a:rPr lang="en-US" sz="2000" dirty="0" err="1">
                <a:ea typeface="Verdana"/>
                <a:cs typeface="Times New Roman" panose="02020603050405020304" pitchFamily="18" charset="0"/>
              </a:rPr>
              <a:t>Refsnes</a:t>
            </a:r>
            <a:endParaRPr lang="en-US" sz="2000" dirty="0">
              <a:ea typeface="Verdana"/>
              <a:cs typeface="Times New Roman" panose="02020603050405020304" pitchFamily="18" charset="0"/>
            </a:endParaRPr>
          </a:p>
          <a:p>
            <a:pPr marL="0" indent="0">
              <a:buNone/>
            </a:pPr>
            <a:endParaRPr lang="en-US" sz="2000" dirty="0">
              <a:ea typeface="Verdana"/>
              <a:cs typeface="Times New Roman" panose="02020603050405020304" pitchFamily="18" charset="0"/>
            </a:endParaRPr>
          </a:p>
          <a:p>
            <a:pPr marL="0" indent="0">
              <a:buNone/>
            </a:pPr>
            <a:r>
              <a:rPr lang="en-US" sz="2000" b="1" dirty="0">
                <a:ea typeface="Verdana"/>
                <a:cs typeface="Times New Roman" panose="02020603050405020304" pitchFamily="18" charset="0"/>
              </a:rPr>
              <a:t>Arbitrary Arguments, *</a:t>
            </a:r>
            <a:r>
              <a:rPr lang="en-US" sz="2000" b="1" dirty="0" err="1">
                <a:ea typeface="Verdana"/>
                <a:cs typeface="Times New Roman" panose="02020603050405020304" pitchFamily="18" charset="0"/>
              </a:rPr>
              <a:t>args</a:t>
            </a:r>
            <a:endParaRPr lang="en-US" sz="2000" b="1" dirty="0">
              <a:cs typeface="Times New Roman" panose="02020603050405020304" pitchFamily="18" charset="0"/>
            </a:endParaRPr>
          </a:p>
          <a:p>
            <a:pPr marL="0" indent="0">
              <a:buNone/>
            </a:pPr>
            <a:r>
              <a:rPr lang="en-US" sz="2000" dirty="0">
                <a:ea typeface="Verdana"/>
                <a:cs typeface="Times New Roman" panose="02020603050405020304" pitchFamily="18" charset="0"/>
              </a:rPr>
              <a:t>If you do not know how many arguments that will be passed into your function, add a * before the parameter name in the function definition.</a:t>
            </a:r>
            <a:endParaRPr lang="en-US" sz="2000" dirty="0">
              <a:cs typeface="Times New Roman" panose="02020603050405020304" pitchFamily="18" charset="0"/>
            </a:endParaRPr>
          </a:p>
          <a:p>
            <a:pPr marL="0" indent="0">
              <a:buNone/>
            </a:pPr>
            <a:r>
              <a:rPr lang="en-US" sz="2000" dirty="0">
                <a:ea typeface="Verdana"/>
                <a:cs typeface="Times New Roman" panose="02020603050405020304" pitchFamily="18" charset="0"/>
              </a:rPr>
              <a:t>This way the function will receive a tuple of arguments, and can access the items accordingly:</a:t>
            </a:r>
            <a:endParaRPr lang="en-US" sz="2000" dirty="0">
              <a:cs typeface="Times New Roman" panose="02020603050405020304" pitchFamily="18" charset="0"/>
            </a:endParaRPr>
          </a:p>
          <a:p>
            <a:pPr marL="0" indent="0">
              <a:buNone/>
            </a:pPr>
            <a:r>
              <a:rPr lang="en-US" sz="2000" b="1" dirty="0">
                <a:ea typeface="Verdana"/>
                <a:cs typeface="Times New Roman" panose="02020603050405020304" pitchFamily="18" charset="0"/>
              </a:rPr>
              <a:t>Example:  </a:t>
            </a:r>
            <a:r>
              <a:rPr lang="en-US" sz="2000" dirty="0">
                <a:ea typeface="Verdana"/>
                <a:cs typeface="Times New Roman" panose="02020603050405020304" pitchFamily="18" charset="0"/>
              </a:rPr>
              <a:t>If the number of arguments is unknown, add a * before the parameter name:</a:t>
            </a:r>
            <a:endParaRPr lang="en-US" sz="2000" dirty="0">
              <a:cs typeface="Times New Roman" panose="02020603050405020304" pitchFamily="18" charset="0"/>
            </a:endParaRPr>
          </a:p>
          <a:p>
            <a:pPr marL="0" indent="0">
              <a:buNone/>
            </a:pPr>
            <a:r>
              <a:rPr lang="en-US" sz="2000" dirty="0">
                <a:ea typeface="+mn-lt"/>
                <a:cs typeface="Times New Roman" panose="02020603050405020304" pitchFamily="18" charset="0"/>
              </a:rPr>
              <a:t>	def </a:t>
            </a:r>
            <a:r>
              <a:rPr lang="en-US" sz="2000" dirty="0" err="1">
                <a:ea typeface="+mn-lt"/>
                <a:cs typeface="Times New Roman" panose="02020603050405020304" pitchFamily="18" charset="0"/>
              </a:rPr>
              <a:t>my_function</a:t>
            </a:r>
            <a:r>
              <a:rPr lang="en-US" sz="2000" dirty="0">
                <a:ea typeface="+mn-lt"/>
                <a:cs typeface="Times New Roman" panose="02020603050405020304" pitchFamily="18" charset="0"/>
              </a:rPr>
              <a:t>(*kids):</a:t>
            </a:r>
            <a:endParaRPr lang="en-US" sz="2000" dirty="0">
              <a:cs typeface="Times New Roman" panose="02020603050405020304" pitchFamily="18" charset="0"/>
            </a:endParaRPr>
          </a:p>
          <a:p>
            <a:pPr marL="0" indent="0">
              <a:buNone/>
            </a:pPr>
            <a:r>
              <a:rPr lang="en-US" sz="2000" dirty="0">
                <a:ea typeface="+mn-lt"/>
                <a:cs typeface="Times New Roman" panose="02020603050405020304" pitchFamily="18" charset="0"/>
              </a:rPr>
              <a:t> 		print("The youngest child is " + kids[2])</a:t>
            </a:r>
            <a:endParaRPr lang="en-US" sz="2000" dirty="0">
              <a:cs typeface="Times New Roman" panose="02020603050405020304" pitchFamily="18" charset="0"/>
            </a:endParaRPr>
          </a:p>
          <a:p>
            <a:pPr marL="0" indent="0">
              <a:buNone/>
            </a:pPr>
            <a:r>
              <a:rPr lang="en-US" sz="2000" dirty="0">
                <a:ea typeface="+mn-lt"/>
                <a:cs typeface="Times New Roman" panose="02020603050405020304" pitchFamily="18" charset="0"/>
              </a:rPr>
              <a:t>	</a:t>
            </a:r>
            <a:r>
              <a:rPr lang="en-US" sz="2000" dirty="0" err="1">
                <a:ea typeface="+mn-lt"/>
                <a:cs typeface="Times New Roman" panose="02020603050405020304" pitchFamily="18" charset="0"/>
              </a:rPr>
              <a:t>my_function</a:t>
            </a:r>
            <a:r>
              <a:rPr lang="en-US" sz="2000" dirty="0">
                <a:ea typeface="+mn-lt"/>
                <a:cs typeface="Times New Roman" panose="02020603050405020304" pitchFamily="18" charset="0"/>
              </a:rPr>
              <a:t>("Emil", "Tobias", "Linus")    #The youngest child is Linus</a:t>
            </a:r>
            <a:endParaRPr lang="en-US" sz="2000" dirty="0">
              <a:cs typeface="Times New Roman" panose="02020603050405020304" pitchFamily="18" charset="0"/>
            </a:endParaRPr>
          </a:p>
          <a:p>
            <a:pPr marL="0" indent="0">
              <a:buNone/>
            </a:pPr>
            <a:endParaRPr lang="en-IN" sz="2000" dirty="0">
              <a:cs typeface="Times New Roman" panose="02020603050405020304" pitchFamily="18" charset="0"/>
            </a:endParaRPr>
          </a:p>
        </p:txBody>
      </p:sp>
    </p:spTree>
    <p:extLst>
      <p:ext uri="{BB962C8B-B14F-4D97-AF65-F5344CB8AC3E}">
        <p14:creationId xmlns:p14="http://schemas.microsoft.com/office/powerpoint/2010/main" val="43634580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479DE4C-9C8F-B64D-4083-338DC4310AF0}"/>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A178CAEE-F282-2FA7-64C0-E95131BE1494}"/>
              </a:ext>
            </a:extLst>
          </p:cNvPr>
          <p:cNvSpPr txBox="1"/>
          <p:nvPr/>
        </p:nvSpPr>
        <p:spPr>
          <a:xfrm>
            <a:off x="422787" y="689041"/>
            <a:ext cx="11395588" cy="5632311"/>
          </a:xfrm>
          <a:prstGeom prst="rect">
            <a:avLst/>
          </a:prstGeom>
          <a:noFill/>
        </p:spPr>
        <p:txBody>
          <a:bodyPr wrap="square">
            <a:spAutoFit/>
          </a:bodyPr>
          <a:lstStyle/>
          <a:p>
            <a:pPr marL="0" indent="0">
              <a:buNone/>
            </a:pPr>
            <a:r>
              <a:rPr lang="en-US" sz="2000" b="1" dirty="0">
                <a:ea typeface="Verdana"/>
                <a:cs typeface="Times New Roman" panose="02020603050405020304" pitchFamily="18" charset="0"/>
              </a:rPr>
              <a:t>Keyword Arguments</a:t>
            </a:r>
            <a:endParaRPr lang="en-US" sz="2000" b="1" dirty="0">
              <a:cs typeface="Times New Roman" panose="02020603050405020304" pitchFamily="18" charset="0"/>
            </a:endParaRPr>
          </a:p>
          <a:p>
            <a:pPr marL="0" indent="0">
              <a:buNone/>
            </a:pPr>
            <a:r>
              <a:rPr lang="en-US" sz="2000" dirty="0">
                <a:ea typeface="Verdana"/>
                <a:cs typeface="Times New Roman" panose="02020603050405020304" pitchFamily="18" charset="0"/>
              </a:rPr>
              <a:t>You can also send arguments with the key = value syntax. This way the order of the arguments does not matter.</a:t>
            </a:r>
            <a:endParaRPr lang="en-US" sz="2000" dirty="0">
              <a:cs typeface="Times New Roman" panose="02020603050405020304" pitchFamily="18" charset="0"/>
            </a:endParaRPr>
          </a:p>
          <a:p>
            <a:pPr marL="0" indent="0">
              <a:buNone/>
            </a:pPr>
            <a:r>
              <a:rPr lang="en-US" sz="2000" b="1" dirty="0">
                <a:ea typeface="+mn-lt"/>
                <a:cs typeface="Times New Roman" panose="02020603050405020304" pitchFamily="18" charset="0"/>
              </a:rPr>
              <a:t>Example:</a:t>
            </a:r>
          </a:p>
          <a:p>
            <a:pPr marL="0" indent="0">
              <a:buNone/>
            </a:pPr>
            <a:r>
              <a:rPr lang="en-US" sz="2000" dirty="0">
                <a:ea typeface="+mn-lt"/>
                <a:cs typeface="Times New Roman" panose="02020603050405020304" pitchFamily="18" charset="0"/>
              </a:rPr>
              <a:t>	def </a:t>
            </a:r>
            <a:r>
              <a:rPr lang="en-US" sz="2000" dirty="0" err="1">
                <a:ea typeface="+mn-lt"/>
                <a:cs typeface="Times New Roman" panose="02020603050405020304" pitchFamily="18" charset="0"/>
              </a:rPr>
              <a:t>my_function</a:t>
            </a:r>
            <a:r>
              <a:rPr lang="en-US" sz="2000" dirty="0">
                <a:ea typeface="+mn-lt"/>
                <a:cs typeface="Times New Roman" panose="02020603050405020304" pitchFamily="18" charset="0"/>
              </a:rPr>
              <a:t>(child3, child2, child1):</a:t>
            </a:r>
            <a:endParaRPr lang="en-US" sz="2000" dirty="0">
              <a:cs typeface="Times New Roman" panose="02020603050405020304" pitchFamily="18" charset="0"/>
            </a:endParaRPr>
          </a:p>
          <a:p>
            <a:pPr marL="0" indent="0">
              <a:buNone/>
            </a:pPr>
            <a:r>
              <a:rPr lang="en-US" sz="2000" dirty="0">
                <a:ea typeface="+mn-lt"/>
                <a:cs typeface="Times New Roman" panose="02020603050405020304" pitchFamily="18" charset="0"/>
              </a:rPr>
              <a:t>  		print("The youngest child is " + child3)</a:t>
            </a:r>
            <a:endParaRPr lang="en-US" sz="2000" dirty="0">
              <a:cs typeface="Times New Roman" panose="02020603050405020304" pitchFamily="18" charset="0"/>
            </a:endParaRPr>
          </a:p>
          <a:p>
            <a:pPr marL="0" indent="0">
              <a:buNone/>
            </a:pPr>
            <a:r>
              <a:rPr lang="en-US" sz="2000" dirty="0">
                <a:ea typeface="+mn-lt"/>
                <a:cs typeface="Times New Roman" panose="02020603050405020304" pitchFamily="18" charset="0"/>
              </a:rPr>
              <a:t>	</a:t>
            </a:r>
            <a:r>
              <a:rPr lang="en-US" sz="2000" dirty="0" err="1">
                <a:ea typeface="+mn-lt"/>
                <a:cs typeface="Times New Roman" panose="02020603050405020304" pitchFamily="18" charset="0"/>
              </a:rPr>
              <a:t>my_function</a:t>
            </a:r>
            <a:r>
              <a:rPr lang="en-US" sz="2000" dirty="0">
                <a:ea typeface="+mn-lt"/>
                <a:cs typeface="Times New Roman" panose="02020603050405020304" pitchFamily="18" charset="0"/>
              </a:rPr>
              <a:t>(child1 = "Emil", child2 = "Tobias", child3 = "Linus")</a:t>
            </a:r>
          </a:p>
          <a:p>
            <a:pPr marL="0" indent="0">
              <a:buNone/>
            </a:pPr>
            <a:r>
              <a:rPr lang="en-US" sz="2000" b="1" dirty="0">
                <a:ea typeface="+mn-lt"/>
                <a:cs typeface="Times New Roman" panose="02020603050405020304" pitchFamily="18" charset="0"/>
              </a:rPr>
              <a:t>Output: - </a:t>
            </a:r>
            <a:r>
              <a:rPr lang="en-US" sz="2000" dirty="0">
                <a:ea typeface="+mn-lt"/>
                <a:cs typeface="Times New Roman" panose="02020603050405020304" pitchFamily="18" charset="0"/>
              </a:rPr>
              <a:t>The youngest child is Linus</a:t>
            </a:r>
          </a:p>
          <a:p>
            <a:pPr marL="0" indent="0">
              <a:buNone/>
            </a:pPr>
            <a:endParaRPr lang="en-US" sz="2000" dirty="0">
              <a:ea typeface="+mn-lt"/>
              <a:cs typeface="Times New Roman" panose="02020603050405020304" pitchFamily="18" charset="0"/>
            </a:endParaRPr>
          </a:p>
          <a:p>
            <a:pPr marL="0" indent="0">
              <a:buNone/>
            </a:pPr>
            <a:r>
              <a:rPr lang="en-US" sz="2000" b="1" dirty="0">
                <a:cs typeface="Times New Roman" panose="02020603050405020304" pitchFamily="18" charset="0"/>
              </a:rPr>
              <a:t>Arbitrary Keyword Arguments, **</a:t>
            </a:r>
            <a:r>
              <a:rPr lang="en-US" sz="2000" b="1" dirty="0" err="1">
                <a:cs typeface="Times New Roman" panose="02020603050405020304" pitchFamily="18" charset="0"/>
              </a:rPr>
              <a:t>kwargs</a:t>
            </a:r>
            <a:endParaRPr lang="en-US" sz="2000" b="1" dirty="0">
              <a:cs typeface="Times New Roman" panose="02020603050405020304" pitchFamily="18" charset="0"/>
            </a:endParaRPr>
          </a:p>
          <a:p>
            <a:pPr marL="0" indent="0">
              <a:buNone/>
            </a:pPr>
            <a:r>
              <a:rPr lang="en-US" sz="2000" dirty="0">
                <a:ea typeface="Verdana"/>
                <a:cs typeface="Times New Roman" panose="02020603050405020304" pitchFamily="18" charset="0"/>
              </a:rPr>
              <a:t>If you do not know how many keyword arguments that will be passed into your function, add two asterisk: ** before the parameter name in the function definition.</a:t>
            </a:r>
            <a:endParaRPr lang="en-US" sz="2000" dirty="0">
              <a:cs typeface="Times New Roman" panose="02020603050405020304" pitchFamily="18" charset="0"/>
            </a:endParaRPr>
          </a:p>
          <a:p>
            <a:pPr marL="0" indent="0">
              <a:buNone/>
            </a:pPr>
            <a:r>
              <a:rPr lang="en-US" sz="2000" dirty="0">
                <a:ea typeface="Verdana"/>
                <a:cs typeface="Times New Roman" panose="02020603050405020304" pitchFamily="18" charset="0"/>
              </a:rPr>
              <a:t>This way the function will receive a </a:t>
            </a:r>
            <a:r>
              <a:rPr lang="en-US" sz="2000" i="1" dirty="0">
                <a:ea typeface="Verdana"/>
                <a:cs typeface="Times New Roman" panose="02020603050405020304" pitchFamily="18" charset="0"/>
              </a:rPr>
              <a:t>dictionary</a:t>
            </a:r>
            <a:r>
              <a:rPr lang="en-US" sz="2000" dirty="0">
                <a:ea typeface="Verdana"/>
                <a:cs typeface="Times New Roman" panose="02020603050405020304" pitchFamily="18" charset="0"/>
              </a:rPr>
              <a:t> of arguments, and can access the items accordingly:</a:t>
            </a:r>
          </a:p>
          <a:p>
            <a:pPr marL="0" indent="0">
              <a:buNone/>
            </a:pPr>
            <a:r>
              <a:rPr lang="en-US" sz="2000" b="1" dirty="0">
                <a:cs typeface="Times New Roman" panose="02020603050405020304" pitchFamily="18" charset="0"/>
              </a:rPr>
              <a:t>Example: </a:t>
            </a:r>
            <a:r>
              <a:rPr lang="en-US" sz="2000" dirty="0">
                <a:ea typeface="Verdana"/>
                <a:cs typeface="Times New Roman" panose="02020603050405020304" pitchFamily="18" charset="0"/>
              </a:rPr>
              <a:t>If the number of keyword arguments is unknown, add a double ** before the parameter name:</a:t>
            </a:r>
          </a:p>
          <a:p>
            <a:pPr marL="0" indent="0">
              <a:buNone/>
            </a:pPr>
            <a:r>
              <a:rPr lang="en-US" sz="2000" dirty="0">
                <a:ea typeface="Verdana"/>
                <a:cs typeface="Times New Roman" panose="02020603050405020304" pitchFamily="18" charset="0"/>
              </a:rPr>
              <a:t>	def </a:t>
            </a:r>
            <a:r>
              <a:rPr lang="en-US" sz="2000" dirty="0" err="1">
                <a:ea typeface="Verdana"/>
                <a:cs typeface="Times New Roman" panose="02020603050405020304" pitchFamily="18" charset="0"/>
              </a:rPr>
              <a:t>my_function</a:t>
            </a:r>
            <a:r>
              <a:rPr lang="en-US" sz="2000" dirty="0">
                <a:ea typeface="Verdana"/>
                <a:cs typeface="Times New Roman" panose="02020603050405020304" pitchFamily="18" charset="0"/>
              </a:rPr>
              <a:t>(**kid):</a:t>
            </a:r>
            <a:endParaRPr lang="en-US" sz="2000" dirty="0">
              <a:cs typeface="Times New Roman" panose="02020603050405020304" pitchFamily="18" charset="0"/>
            </a:endParaRPr>
          </a:p>
          <a:p>
            <a:pPr marL="0" indent="0">
              <a:buNone/>
            </a:pPr>
            <a:r>
              <a:rPr lang="en-US" sz="2000" dirty="0">
                <a:ea typeface="Verdana"/>
                <a:cs typeface="Times New Roman" panose="02020603050405020304" pitchFamily="18" charset="0"/>
              </a:rPr>
              <a:t>  		print("His last name is " + kid["</a:t>
            </a:r>
            <a:r>
              <a:rPr lang="en-US" sz="2000" dirty="0" err="1">
                <a:ea typeface="Verdana"/>
                <a:cs typeface="Times New Roman" panose="02020603050405020304" pitchFamily="18" charset="0"/>
              </a:rPr>
              <a:t>lname</a:t>
            </a:r>
            <a:r>
              <a:rPr lang="en-US" sz="2000" dirty="0">
                <a:ea typeface="Verdana"/>
                <a:cs typeface="Times New Roman" panose="02020603050405020304" pitchFamily="18" charset="0"/>
              </a:rPr>
              <a:t>"])</a:t>
            </a:r>
            <a:endParaRPr lang="en-US" sz="2000" dirty="0">
              <a:cs typeface="Times New Roman" panose="02020603050405020304" pitchFamily="18" charset="0"/>
            </a:endParaRPr>
          </a:p>
          <a:p>
            <a:pPr marL="0" indent="0">
              <a:buNone/>
            </a:pPr>
            <a:r>
              <a:rPr lang="en-US" sz="2000" dirty="0">
                <a:ea typeface="Verdana"/>
                <a:cs typeface="Times New Roman" panose="02020603050405020304" pitchFamily="18" charset="0"/>
              </a:rPr>
              <a:t>	</a:t>
            </a:r>
            <a:r>
              <a:rPr lang="en-US" sz="2000" dirty="0" err="1">
                <a:ea typeface="Verdana"/>
                <a:cs typeface="Times New Roman" panose="02020603050405020304" pitchFamily="18" charset="0"/>
              </a:rPr>
              <a:t>my_function</a:t>
            </a:r>
            <a:r>
              <a:rPr lang="en-US" sz="2000" dirty="0">
                <a:ea typeface="Verdana"/>
                <a:cs typeface="Times New Roman" panose="02020603050405020304" pitchFamily="18" charset="0"/>
              </a:rPr>
              <a:t>(</a:t>
            </a:r>
            <a:r>
              <a:rPr lang="en-US" sz="2000" dirty="0" err="1">
                <a:ea typeface="Verdana"/>
                <a:cs typeface="Times New Roman" panose="02020603050405020304" pitchFamily="18" charset="0"/>
              </a:rPr>
              <a:t>fname</a:t>
            </a:r>
            <a:r>
              <a:rPr lang="en-US" sz="2000" dirty="0">
                <a:ea typeface="Verdana"/>
                <a:cs typeface="Times New Roman" panose="02020603050405020304" pitchFamily="18" charset="0"/>
              </a:rPr>
              <a:t> = "Tobias", </a:t>
            </a:r>
            <a:r>
              <a:rPr lang="en-US" sz="2000" dirty="0" err="1">
                <a:ea typeface="Verdana"/>
                <a:cs typeface="Times New Roman" panose="02020603050405020304" pitchFamily="18" charset="0"/>
              </a:rPr>
              <a:t>lname</a:t>
            </a:r>
            <a:r>
              <a:rPr lang="en-US" sz="2000" dirty="0">
                <a:ea typeface="Verdana"/>
                <a:cs typeface="Times New Roman" panose="02020603050405020304" pitchFamily="18" charset="0"/>
              </a:rPr>
              <a:t> = "</a:t>
            </a:r>
            <a:r>
              <a:rPr lang="en-US" sz="2000" dirty="0" err="1">
                <a:ea typeface="Verdana"/>
                <a:cs typeface="Times New Roman" panose="02020603050405020304" pitchFamily="18" charset="0"/>
              </a:rPr>
              <a:t>Refsnes</a:t>
            </a:r>
            <a:r>
              <a:rPr lang="en-US" sz="2000" dirty="0">
                <a:ea typeface="Verdana"/>
                <a:cs typeface="Times New Roman" panose="02020603050405020304" pitchFamily="18" charset="0"/>
              </a:rPr>
              <a:t>")    </a:t>
            </a:r>
          </a:p>
          <a:p>
            <a:pPr marL="0" indent="0">
              <a:buNone/>
            </a:pPr>
            <a:r>
              <a:rPr lang="en-US" sz="2000" b="1" dirty="0">
                <a:ea typeface="Verdana"/>
                <a:cs typeface="Times New Roman" panose="02020603050405020304" pitchFamily="18" charset="0"/>
              </a:rPr>
              <a:t>Output: - </a:t>
            </a:r>
            <a:r>
              <a:rPr lang="en-US" sz="2000" dirty="0">
                <a:solidFill>
                  <a:srgbClr val="000000"/>
                </a:solidFill>
                <a:ea typeface="Verdana"/>
                <a:cs typeface="Times New Roman" panose="02020603050405020304" pitchFamily="18" charset="0"/>
              </a:rPr>
              <a:t>His last name is </a:t>
            </a:r>
            <a:r>
              <a:rPr lang="en-US" sz="2000" dirty="0" err="1">
                <a:solidFill>
                  <a:srgbClr val="000000"/>
                </a:solidFill>
                <a:ea typeface="Verdana"/>
                <a:cs typeface="Times New Roman" panose="02020603050405020304" pitchFamily="18" charset="0"/>
              </a:rPr>
              <a:t>Refsnes</a:t>
            </a:r>
            <a:endParaRPr lang="en-US" sz="2000" dirty="0">
              <a:solidFill>
                <a:srgbClr val="000000"/>
              </a:solidFill>
              <a:ea typeface="Verdana"/>
              <a:cs typeface="Times New Roman" panose="02020603050405020304" pitchFamily="18" charset="0"/>
            </a:endParaRPr>
          </a:p>
        </p:txBody>
      </p:sp>
    </p:spTree>
    <p:extLst>
      <p:ext uri="{BB962C8B-B14F-4D97-AF65-F5344CB8AC3E}">
        <p14:creationId xmlns:p14="http://schemas.microsoft.com/office/powerpoint/2010/main" val="338967617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DCBB265-B4B4-DDD7-B8F9-FF7F6C0933A9}"/>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DF2AA7C8-3C58-D872-CC81-222E0CBC3FB0}"/>
              </a:ext>
            </a:extLst>
          </p:cNvPr>
          <p:cNvSpPr txBox="1"/>
          <p:nvPr/>
        </p:nvSpPr>
        <p:spPr>
          <a:xfrm>
            <a:off x="1061884" y="1169301"/>
            <a:ext cx="10441436" cy="4401205"/>
          </a:xfrm>
          <a:prstGeom prst="rect">
            <a:avLst/>
          </a:prstGeom>
          <a:noFill/>
        </p:spPr>
        <p:txBody>
          <a:bodyPr wrap="square">
            <a:spAutoFit/>
          </a:bodyPr>
          <a:lstStyle/>
          <a:p>
            <a:pPr marL="0" indent="0">
              <a:buNone/>
            </a:pPr>
            <a:r>
              <a:rPr lang="en-US" sz="2000" b="1" dirty="0">
                <a:solidFill>
                  <a:srgbClr val="000000"/>
                </a:solidFill>
                <a:ea typeface="Verdana"/>
                <a:cs typeface="Times New Roman" panose="02020603050405020304" pitchFamily="18" charset="0"/>
              </a:rPr>
              <a:t>Default Parameter Value</a:t>
            </a:r>
            <a:endParaRPr lang="en-US" sz="2000" b="1" dirty="0">
              <a:cs typeface="Times New Roman" panose="02020603050405020304" pitchFamily="18" charset="0"/>
            </a:endParaRPr>
          </a:p>
          <a:p>
            <a:pPr marL="0" indent="0">
              <a:buNone/>
            </a:pPr>
            <a:r>
              <a:rPr lang="en-US" sz="2000" dirty="0">
                <a:solidFill>
                  <a:srgbClr val="000000"/>
                </a:solidFill>
                <a:ea typeface="Verdana"/>
                <a:cs typeface="Times New Roman" panose="02020603050405020304" pitchFamily="18" charset="0"/>
              </a:rPr>
              <a:t>If we call the function without argument, it uses the default value:</a:t>
            </a:r>
            <a:endParaRPr lang="en-US" sz="2000" dirty="0">
              <a:cs typeface="Times New Roman" panose="02020603050405020304" pitchFamily="18" charset="0"/>
            </a:endParaRPr>
          </a:p>
          <a:p>
            <a:pPr marL="0" indent="0">
              <a:buNone/>
            </a:pPr>
            <a:r>
              <a:rPr lang="en-US" sz="2000" b="1" dirty="0">
                <a:solidFill>
                  <a:srgbClr val="000000"/>
                </a:solidFill>
                <a:ea typeface="Verdana"/>
                <a:cs typeface="Times New Roman" panose="02020603050405020304" pitchFamily="18" charset="0"/>
              </a:rPr>
              <a:t>Example:</a:t>
            </a:r>
            <a:endParaRPr lang="en-US" sz="2000" b="1" dirty="0">
              <a:cs typeface="Times New Roman" panose="02020603050405020304" pitchFamily="18" charset="0"/>
            </a:endParaRPr>
          </a:p>
          <a:p>
            <a:pPr marL="0" indent="0">
              <a:buNone/>
            </a:pPr>
            <a:r>
              <a:rPr lang="en-US" sz="2000" dirty="0">
                <a:solidFill>
                  <a:srgbClr val="000000"/>
                </a:solidFill>
                <a:ea typeface="Verdana"/>
                <a:cs typeface="Times New Roman" panose="02020603050405020304" pitchFamily="18" charset="0"/>
              </a:rPr>
              <a:t>	def </a:t>
            </a:r>
            <a:r>
              <a:rPr lang="en-US" sz="2000" dirty="0" err="1">
                <a:solidFill>
                  <a:srgbClr val="000000"/>
                </a:solidFill>
                <a:ea typeface="Verdana"/>
                <a:cs typeface="Times New Roman" panose="02020603050405020304" pitchFamily="18" charset="0"/>
              </a:rPr>
              <a:t>my_function</a:t>
            </a:r>
            <a:r>
              <a:rPr lang="en-US" sz="2000" dirty="0">
                <a:solidFill>
                  <a:srgbClr val="000000"/>
                </a:solidFill>
                <a:ea typeface="Verdana"/>
                <a:cs typeface="Times New Roman" panose="02020603050405020304" pitchFamily="18" charset="0"/>
              </a:rPr>
              <a:t>(country = "Norway"):</a:t>
            </a:r>
            <a:br>
              <a:rPr lang="en-US" sz="2000" dirty="0">
                <a:solidFill>
                  <a:srgbClr val="000000"/>
                </a:solidFill>
                <a:ea typeface="Verdana"/>
                <a:cs typeface="Times New Roman" panose="02020603050405020304" pitchFamily="18" charset="0"/>
              </a:rPr>
            </a:br>
            <a:r>
              <a:rPr lang="en-US" sz="2000" dirty="0">
                <a:solidFill>
                  <a:srgbClr val="000000"/>
                </a:solidFill>
                <a:ea typeface="Verdana"/>
                <a:cs typeface="Times New Roman" panose="02020603050405020304" pitchFamily="18" charset="0"/>
              </a:rPr>
              <a:t>  		print("I am from " + country)</a:t>
            </a:r>
            <a:br>
              <a:rPr lang="en-US" sz="2000" dirty="0">
                <a:solidFill>
                  <a:srgbClr val="000000"/>
                </a:solidFill>
                <a:ea typeface="Verdana"/>
                <a:cs typeface="Times New Roman" panose="02020603050405020304" pitchFamily="18" charset="0"/>
              </a:rPr>
            </a:br>
            <a:r>
              <a:rPr lang="en-US" sz="2000" dirty="0">
                <a:solidFill>
                  <a:srgbClr val="000000"/>
                </a:solidFill>
                <a:ea typeface="Verdana"/>
                <a:cs typeface="Times New Roman" panose="02020603050405020304" pitchFamily="18" charset="0"/>
              </a:rPr>
              <a:t>	</a:t>
            </a:r>
            <a:r>
              <a:rPr lang="en-US" sz="2000" dirty="0" err="1">
                <a:solidFill>
                  <a:srgbClr val="000000"/>
                </a:solidFill>
                <a:ea typeface="Verdana"/>
                <a:cs typeface="Times New Roman" panose="02020603050405020304" pitchFamily="18" charset="0"/>
              </a:rPr>
              <a:t>my_function</a:t>
            </a:r>
            <a:r>
              <a:rPr lang="en-US" sz="2000" dirty="0">
                <a:solidFill>
                  <a:srgbClr val="000000"/>
                </a:solidFill>
                <a:ea typeface="Verdana"/>
                <a:cs typeface="Times New Roman" panose="02020603050405020304" pitchFamily="18" charset="0"/>
              </a:rPr>
              <a:t>("Sweden")</a:t>
            </a:r>
            <a:br>
              <a:rPr lang="en-US" sz="2000" dirty="0">
                <a:solidFill>
                  <a:srgbClr val="000000"/>
                </a:solidFill>
                <a:ea typeface="Verdana"/>
                <a:cs typeface="Times New Roman" panose="02020603050405020304" pitchFamily="18" charset="0"/>
              </a:rPr>
            </a:br>
            <a:r>
              <a:rPr lang="en-US" sz="2000" dirty="0">
                <a:solidFill>
                  <a:srgbClr val="000000"/>
                </a:solidFill>
                <a:ea typeface="Verdana"/>
                <a:cs typeface="Times New Roman" panose="02020603050405020304" pitchFamily="18" charset="0"/>
              </a:rPr>
              <a:t>	</a:t>
            </a:r>
            <a:r>
              <a:rPr lang="en-US" sz="2000" dirty="0" err="1">
                <a:solidFill>
                  <a:srgbClr val="000000"/>
                </a:solidFill>
                <a:ea typeface="Verdana"/>
                <a:cs typeface="Times New Roman" panose="02020603050405020304" pitchFamily="18" charset="0"/>
              </a:rPr>
              <a:t>my_function</a:t>
            </a:r>
            <a:r>
              <a:rPr lang="en-US" sz="2000" dirty="0">
                <a:solidFill>
                  <a:srgbClr val="000000"/>
                </a:solidFill>
                <a:ea typeface="Verdana"/>
                <a:cs typeface="Times New Roman" panose="02020603050405020304" pitchFamily="18" charset="0"/>
              </a:rPr>
              <a:t>("India")</a:t>
            </a:r>
            <a:br>
              <a:rPr lang="en-US" sz="2000" dirty="0">
                <a:solidFill>
                  <a:srgbClr val="000000"/>
                </a:solidFill>
                <a:ea typeface="Verdana"/>
                <a:cs typeface="Times New Roman" panose="02020603050405020304" pitchFamily="18" charset="0"/>
              </a:rPr>
            </a:br>
            <a:r>
              <a:rPr lang="en-US" sz="2000" dirty="0">
                <a:solidFill>
                  <a:srgbClr val="000000"/>
                </a:solidFill>
                <a:ea typeface="Verdana"/>
                <a:cs typeface="Times New Roman" panose="02020603050405020304" pitchFamily="18" charset="0"/>
              </a:rPr>
              <a:t>	</a:t>
            </a:r>
            <a:r>
              <a:rPr lang="en-US" sz="2000" dirty="0" err="1">
                <a:solidFill>
                  <a:srgbClr val="000000"/>
                </a:solidFill>
                <a:ea typeface="Verdana"/>
                <a:cs typeface="Times New Roman" panose="02020603050405020304" pitchFamily="18" charset="0"/>
              </a:rPr>
              <a:t>my_function</a:t>
            </a:r>
            <a:r>
              <a:rPr lang="en-US" sz="2000" dirty="0">
                <a:solidFill>
                  <a:srgbClr val="000000"/>
                </a:solidFill>
                <a:ea typeface="Verdana"/>
                <a:cs typeface="Times New Roman" panose="02020603050405020304" pitchFamily="18" charset="0"/>
              </a:rPr>
              <a:t>()</a:t>
            </a:r>
            <a:br>
              <a:rPr lang="en-US" sz="2000" dirty="0">
                <a:solidFill>
                  <a:srgbClr val="000000"/>
                </a:solidFill>
                <a:ea typeface="Verdana"/>
                <a:cs typeface="Times New Roman" panose="02020603050405020304" pitchFamily="18" charset="0"/>
              </a:rPr>
            </a:br>
            <a:r>
              <a:rPr lang="en-US" sz="2000" dirty="0">
                <a:solidFill>
                  <a:srgbClr val="000000"/>
                </a:solidFill>
                <a:ea typeface="Verdana"/>
                <a:cs typeface="Times New Roman" panose="02020603050405020304" pitchFamily="18" charset="0"/>
              </a:rPr>
              <a:t>	</a:t>
            </a:r>
            <a:r>
              <a:rPr lang="en-US" sz="2000" dirty="0" err="1">
                <a:solidFill>
                  <a:srgbClr val="000000"/>
                </a:solidFill>
                <a:ea typeface="Verdana"/>
                <a:cs typeface="Times New Roman" panose="02020603050405020304" pitchFamily="18" charset="0"/>
              </a:rPr>
              <a:t>my_function</a:t>
            </a:r>
            <a:r>
              <a:rPr lang="en-US" sz="2000" dirty="0">
                <a:solidFill>
                  <a:srgbClr val="000000"/>
                </a:solidFill>
                <a:ea typeface="Verdana"/>
                <a:cs typeface="Times New Roman" panose="02020603050405020304" pitchFamily="18" charset="0"/>
              </a:rPr>
              <a:t>("Brazil")</a:t>
            </a:r>
            <a:endParaRPr lang="en-US" sz="2000" dirty="0">
              <a:cs typeface="Times New Roman" panose="02020603050405020304" pitchFamily="18" charset="0"/>
            </a:endParaRPr>
          </a:p>
          <a:p>
            <a:pPr marL="0" indent="0">
              <a:buNone/>
            </a:pPr>
            <a:r>
              <a:rPr lang="en-US" sz="2000" b="1" dirty="0">
                <a:solidFill>
                  <a:srgbClr val="000000"/>
                </a:solidFill>
                <a:ea typeface="Calibri"/>
                <a:cs typeface="Times New Roman" panose="02020603050405020304" pitchFamily="18" charset="0"/>
              </a:rPr>
              <a:t>Output:</a:t>
            </a:r>
          </a:p>
          <a:p>
            <a:pPr marL="0" indent="0">
              <a:buNone/>
            </a:pPr>
            <a:r>
              <a:rPr lang="en-US" sz="2000" dirty="0">
                <a:ea typeface="Calibri"/>
                <a:cs typeface="Times New Roman" panose="02020603050405020304" pitchFamily="18" charset="0"/>
              </a:rPr>
              <a:t>I am from Sweden</a:t>
            </a:r>
            <a:br>
              <a:rPr lang="en-US" sz="2000" dirty="0">
                <a:ea typeface="Calibri"/>
                <a:cs typeface="Times New Roman" panose="02020603050405020304" pitchFamily="18" charset="0"/>
              </a:rPr>
            </a:br>
            <a:r>
              <a:rPr lang="en-US" sz="2000" dirty="0">
                <a:ea typeface="Calibri"/>
                <a:cs typeface="Times New Roman" panose="02020603050405020304" pitchFamily="18" charset="0"/>
              </a:rPr>
              <a:t>I am from India</a:t>
            </a:r>
            <a:br>
              <a:rPr lang="en-US" sz="2000" dirty="0">
                <a:ea typeface="Calibri"/>
                <a:cs typeface="Times New Roman" panose="02020603050405020304" pitchFamily="18" charset="0"/>
              </a:rPr>
            </a:br>
            <a:r>
              <a:rPr lang="en-US" sz="2000" dirty="0">
                <a:ea typeface="Calibri"/>
                <a:cs typeface="Times New Roman" panose="02020603050405020304" pitchFamily="18" charset="0"/>
              </a:rPr>
              <a:t>I am from Norway</a:t>
            </a:r>
            <a:br>
              <a:rPr lang="en-US" sz="2000" dirty="0">
                <a:ea typeface="Calibri"/>
                <a:cs typeface="Times New Roman" panose="02020603050405020304" pitchFamily="18" charset="0"/>
              </a:rPr>
            </a:br>
            <a:r>
              <a:rPr lang="en-US" sz="2000" dirty="0">
                <a:ea typeface="Calibri"/>
                <a:cs typeface="Times New Roman" panose="02020603050405020304" pitchFamily="18" charset="0"/>
              </a:rPr>
              <a:t>I am from Brazil</a:t>
            </a:r>
            <a:endParaRPr lang="en-US" sz="2000" dirty="0">
              <a:cs typeface="Times New Roman" panose="02020603050405020304" pitchFamily="18" charset="0"/>
            </a:endParaRPr>
          </a:p>
        </p:txBody>
      </p:sp>
    </p:spTree>
    <p:extLst>
      <p:ext uri="{BB962C8B-B14F-4D97-AF65-F5344CB8AC3E}">
        <p14:creationId xmlns:p14="http://schemas.microsoft.com/office/powerpoint/2010/main" val="391910030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2DFA6CB-4C43-284B-686D-87009C350159}"/>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8172E4BF-42B8-8AA5-8187-16A8055E181B}"/>
              </a:ext>
            </a:extLst>
          </p:cNvPr>
          <p:cNvSpPr txBox="1"/>
          <p:nvPr/>
        </p:nvSpPr>
        <p:spPr>
          <a:xfrm>
            <a:off x="570271" y="689041"/>
            <a:ext cx="10933049" cy="3477875"/>
          </a:xfrm>
          <a:prstGeom prst="rect">
            <a:avLst/>
          </a:prstGeom>
          <a:noFill/>
        </p:spPr>
        <p:txBody>
          <a:bodyPr wrap="square">
            <a:spAutoFit/>
          </a:bodyPr>
          <a:lstStyle/>
          <a:p>
            <a:pPr marL="0" indent="0">
              <a:buNone/>
            </a:pPr>
            <a:r>
              <a:rPr lang="en-US" sz="2000" b="1" dirty="0">
                <a:cs typeface="Times New Roman" panose="02020603050405020304" pitchFamily="18" charset="0"/>
              </a:rPr>
              <a:t>Passing a List as an Argument</a:t>
            </a:r>
          </a:p>
          <a:p>
            <a:pPr marL="0" indent="0">
              <a:buNone/>
            </a:pPr>
            <a:r>
              <a:rPr lang="en-US" sz="2000" dirty="0">
                <a:ea typeface="Verdana"/>
                <a:cs typeface="Times New Roman" panose="02020603050405020304" pitchFamily="18" charset="0"/>
              </a:rPr>
              <a:t>You can send any data types of argument to a function (string, number, list, dictionary etc.), and it will be treated as the same data type inside the function.</a:t>
            </a:r>
          </a:p>
          <a:p>
            <a:pPr marL="0" indent="0">
              <a:buNone/>
            </a:pPr>
            <a:r>
              <a:rPr lang="en-US" sz="2000" dirty="0">
                <a:ea typeface="Verdana"/>
                <a:cs typeface="Times New Roman" panose="02020603050405020304" pitchFamily="18" charset="0"/>
              </a:rPr>
              <a:t>E.g. if you send a List as an argument, it will still be a List when it reaches the function:</a:t>
            </a:r>
          </a:p>
          <a:p>
            <a:pPr marL="0" indent="0">
              <a:buNone/>
            </a:pPr>
            <a:r>
              <a:rPr lang="en-US" sz="2000" b="1" dirty="0">
                <a:cs typeface="Times New Roman" panose="02020603050405020304" pitchFamily="18" charset="0"/>
              </a:rPr>
              <a:t>Example:</a:t>
            </a:r>
          </a:p>
          <a:p>
            <a:pPr marL="0" indent="0">
              <a:buNone/>
            </a:pPr>
            <a:r>
              <a:rPr lang="en-US" sz="2000" dirty="0">
                <a:cs typeface="Times New Roman" panose="02020603050405020304" pitchFamily="18" charset="0"/>
              </a:rPr>
              <a:t>	def </a:t>
            </a:r>
            <a:r>
              <a:rPr lang="en-US" sz="2000" dirty="0" err="1">
                <a:cs typeface="Times New Roman" panose="02020603050405020304" pitchFamily="18" charset="0"/>
              </a:rPr>
              <a:t>my_function</a:t>
            </a:r>
            <a:r>
              <a:rPr lang="en-US" sz="2000" dirty="0">
                <a:cs typeface="Times New Roman" panose="02020603050405020304" pitchFamily="18" charset="0"/>
              </a:rPr>
              <a:t>(food):</a:t>
            </a:r>
            <a:br>
              <a:rPr lang="en-US" sz="2000" dirty="0">
                <a:cs typeface="Times New Roman" panose="02020603050405020304" pitchFamily="18" charset="0"/>
              </a:rPr>
            </a:br>
            <a:r>
              <a:rPr lang="en-US" sz="2000" dirty="0">
                <a:cs typeface="Times New Roman" panose="02020603050405020304" pitchFamily="18" charset="0"/>
              </a:rPr>
              <a:t>  		for x in food:</a:t>
            </a:r>
            <a:br>
              <a:rPr lang="en-US" sz="2000" dirty="0">
                <a:cs typeface="Times New Roman" panose="02020603050405020304" pitchFamily="18" charset="0"/>
              </a:rPr>
            </a:br>
            <a:r>
              <a:rPr lang="en-US" sz="2000" dirty="0">
                <a:cs typeface="Times New Roman" panose="02020603050405020304" pitchFamily="18" charset="0"/>
              </a:rPr>
              <a:t>    			print(x)</a:t>
            </a:r>
            <a:br>
              <a:rPr lang="en-US" sz="2000" dirty="0">
                <a:cs typeface="Times New Roman" panose="02020603050405020304" pitchFamily="18" charset="0"/>
              </a:rPr>
            </a:br>
            <a:r>
              <a:rPr lang="en-US" sz="2000" dirty="0">
                <a:cs typeface="Times New Roman" panose="02020603050405020304" pitchFamily="18" charset="0"/>
              </a:rPr>
              <a:t>	fruits = ["apple", "banana", "cherry"]</a:t>
            </a:r>
            <a:br>
              <a:rPr lang="en-US" sz="2000" dirty="0">
                <a:cs typeface="Times New Roman" panose="02020603050405020304" pitchFamily="18" charset="0"/>
              </a:rPr>
            </a:br>
            <a:r>
              <a:rPr lang="en-US" sz="2000" dirty="0">
                <a:cs typeface="Times New Roman" panose="02020603050405020304" pitchFamily="18" charset="0"/>
              </a:rPr>
              <a:t>	</a:t>
            </a:r>
            <a:r>
              <a:rPr lang="en-US" sz="2000" dirty="0" err="1">
                <a:cs typeface="Times New Roman" panose="02020603050405020304" pitchFamily="18" charset="0"/>
              </a:rPr>
              <a:t>my_function</a:t>
            </a:r>
            <a:r>
              <a:rPr lang="en-US" sz="2000" dirty="0">
                <a:cs typeface="Times New Roman" panose="02020603050405020304" pitchFamily="18" charset="0"/>
              </a:rPr>
              <a:t>(fruits)   #apple  	banana  	cherry</a:t>
            </a:r>
          </a:p>
          <a:p>
            <a:endParaRPr lang="en-IN" sz="2000" dirty="0"/>
          </a:p>
        </p:txBody>
      </p:sp>
    </p:spTree>
    <p:extLst>
      <p:ext uri="{BB962C8B-B14F-4D97-AF65-F5344CB8AC3E}">
        <p14:creationId xmlns:p14="http://schemas.microsoft.com/office/powerpoint/2010/main" val="335376563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52B998F-9369-12D8-627C-E66C01E65354}"/>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131A992A-AC82-FA58-3A9A-00A989E45DCF}"/>
              </a:ext>
            </a:extLst>
          </p:cNvPr>
          <p:cNvSpPr txBox="1"/>
          <p:nvPr/>
        </p:nvSpPr>
        <p:spPr>
          <a:xfrm>
            <a:off x="796413" y="689041"/>
            <a:ext cx="10176387" cy="2862322"/>
          </a:xfrm>
          <a:prstGeom prst="rect">
            <a:avLst/>
          </a:prstGeom>
          <a:noFill/>
        </p:spPr>
        <p:txBody>
          <a:bodyPr wrap="square">
            <a:spAutoFit/>
          </a:bodyPr>
          <a:lstStyle/>
          <a:p>
            <a:pPr marL="0" indent="0">
              <a:buNone/>
            </a:pPr>
            <a:r>
              <a:rPr lang="en-US" sz="2000" b="1" dirty="0">
                <a:ea typeface="Verdana"/>
                <a:cs typeface="Times New Roman" panose="02020603050405020304" pitchFamily="18" charset="0"/>
              </a:rPr>
              <a:t>Return Values</a:t>
            </a:r>
            <a:endParaRPr lang="en-US" sz="2000" b="1" dirty="0">
              <a:cs typeface="Times New Roman" panose="02020603050405020304" pitchFamily="18" charset="0"/>
            </a:endParaRPr>
          </a:p>
          <a:p>
            <a:pPr marL="0" indent="0">
              <a:buNone/>
            </a:pPr>
            <a:r>
              <a:rPr lang="en-US" sz="2000" dirty="0">
                <a:ea typeface="Verdana"/>
                <a:cs typeface="Times New Roman" panose="02020603050405020304" pitchFamily="18" charset="0"/>
              </a:rPr>
              <a:t>To let a function return a value, use the </a:t>
            </a:r>
            <a:r>
              <a:rPr lang="en-US" sz="2000" b="1" dirty="0">
                <a:ea typeface="Verdana"/>
                <a:cs typeface="Times New Roman" panose="02020603050405020304" pitchFamily="18" charset="0"/>
              </a:rPr>
              <a:t>return</a:t>
            </a:r>
            <a:r>
              <a:rPr lang="en-US" sz="2000" dirty="0">
                <a:ea typeface="Verdana"/>
                <a:cs typeface="Times New Roman" panose="02020603050405020304" pitchFamily="18" charset="0"/>
              </a:rPr>
              <a:t> statement.</a:t>
            </a:r>
            <a:endParaRPr lang="en-US" sz="2000" dirty="0">
              <a:cs typeface="Times New Roman" panose="02020603050405020304" pitchFamily="18" charset="0"/>
            </a:endParaRPr>
          </a:p>
          <a:p>
            <a:pPr marL="0" indent="0">
              <a:buNone/>
            </a:pPr>
            <a:r>
              <a:rPr lang="en-US" sz="2000" b="1" dirty="0">
                <a:ea typeface="Verdana"/>
                <a:cs typeface="Times New Roman" panose="02020603050405020304" pitchFamily="18" charset="0"/>
              </a:rPr>
              <a:t>Example</a:t>
            </a:r>
            <a:endParaRPr lang="en-US" sz="2000" b="1" dirty="0">
              <a:cs typeface="Times New Roman" panose="02020603050405020304" pitchFamily="18" charset="0"/>
            </a:endParaRPr>
          </a:p>
          <a:p>
            <a:pPr marL="0" indent="0">
              <a:buNone/>
            </a:pPr>
            <a:r>
              <a:rPr lang="en-US" sz="2000" dirty="0">
                <a:ea typeface="Verdana"/>
                <a:cs typeface="Times New Roman" panose="02020603050405020304" pitchFamily="18" charset="0"/>
              </a:rPr>
              <a:t>	def </a:t>
            </a:r>
            <a:r>
              <a:rPr lang="en-US" sz="2000" dirty="0" err="1">
                <a:ea typeface="Verdana"/>
                <a:cs typeface="Times New Roman" panose="02020603050405020304" pitchFamily="18" charset="0"/>
              </a:rPr>
              <a:t>my_function</a:t>
            </a:r>
            <a:r>
              <a:rPr lang="en-US" sz="2000" dirty="0">
                <a:ea typeface="Verdana"/>
                <a:cs typeface="Times New Roman" panose="02020603050405020304" pitchFamily="18" charset="0"/>
              </a:rPr>
              <a:t>(x):</a:t>
            </a:r>
            <a:br>
              <a:rPr lang="en-US" sz="2000" dirty="0">
                <a:ea typeface="Verdana"/>
                <a:cs typeface="Times New Roman" panose="02020603050405020304" pitchFamily="18" charset="0"/>
              </a:rPr>
            </a:br>
            <a:r>
              <a:rPr lang="en-US" sz="2000" dirty="0">
                <a:ea typeface="Verdana"/>
                <a:cs typeface="Times New Roman" panose="02020603050405020304" pitchFamily="18" charset="0"/>
              </a:rPr>
              <a:t>  		return 5 * x</a:t>
            </a:r>
            <a:br>
              <a:rPr lang="en-US" sz="2000" dirty="0">
                <a:ea typeface="Verdana"/>
                <a:cs typeface="Times New Roman" panose="02020603050405020304" pitchFamily="18" charset="0"/>
              </a:rPr>
            </a:br>
            <a:r>
              <a:rPr lang="en-US" sz="2000" dirty="0">
                <a:ea typeface="Verdana"/>
                <a:cs typeface="Times New Roman" panose="02020603050405020304" pitchFamily="18" charset="0"/>
              </a:rPr>
              <a:t>	print(</a:t>
            </a:r>
            <a:r>
              <a:rPr lang="en-US" sz="2000" dirty="0" err="1">
                <a:ea typeface="Verdana"/>
                <a:cs typeface="Times New Roman" panose="02020603050405020304" pitchFamily="18" charset="0"/>
              </a:rPr>
              <a:t>my_function</a:t>
            </a:r>
            <a:r>
              <a:rPr lang="en-US" sz="2000" dirty="0">
                <a:ea typeface="Verdana"/>
                <a:cs typeface="Times New Roman" panose="02020603050405020304" pitchFamily="18" charset="0"/>
              </a:rPr>
              <a:t>(3))</a:t>
            </a:r>
            <a:br>
              <a:rPr lang="en-US" sz="2000" dirty="0">
                <a:ea typeface="Verdana"/>
                <a:cs typeface="Times New Roman" panose="02020603050405020304" pitchFamily="18" charset="0"/>
              </a:rPr>
            </a:br>
            <a:r>
              <a:rPr lang="en-US" sz="2000" dirty="0">
                <a:ea typeface="Verdana"/>
                <a:cs typeface="Times New Roman" panose="02020603050405020304" pitchFamily="18" charset="0"/>
              </a:rPr>
              <a:t>	print(</a:t>
            </a:r>
            <a:r>
              <a:rPr lang="en-US" sz="2000" dirty="0" err="1">
                <a:ea typeface="Verdana"/>
                <a:cs typeface="Times New Roman" panose="02020603050405020304" pitchFamily="18" charset="0"/>
              </a:rPr>
              <a:t>my_function</a:t>
            </a:r>
            <a:r>
              <a:rPr lang="en-US" sz="2000" dirty="0">
                <a:ea typeface="Verdana"/>
                <a:cs typeface="Times New Roman" panose="02020603050405020304" pitchFamily="18" charset="0"/>
              </a:rPr>
              <a:t>(5))</a:t>
            </a:r>
            <a:br>
              <a:rPr lang="en-US" sz="2000" dirty="0">
                <a:ea typeface="Verdana"/>
                <a:cs typeface="Times New Roman" panose="02020603050405020304" pitchFamily="18" charset="0"/>
              </a:rPr>
            </a:br>
            <a:r>
              <a:rPr lang="en-US" sz="2000" dirty="0">
                <a:ea typeface="Verdana"/>
                <a:cs typeface="Times New Roman" panose="02020603050405020304" pitchFamily="18" charset="0"/>
              </a:rPr>
              <a:t>	print(</a:t>
            </a:r>
            <a:r>
              <a:rPr lang="en-US" sz="2000" dirty="0" err="1">
                <a:ea typeface="Verdana"/>
                <a:cs typeface="Times New Roman" panose="02020603050405020304" pitchFamily="18" charset="0"/>
              </a:rPr>
              <a:t>my_function</a:t>
            </a:r>
            <a:r>
              <a:rPr lang="en-US" sz="2000" dirty="0">
                <a:ea typeface="Verdana"/>
                <a:cs typeface="Times New Roman" panose="02020603050405020304" pitchFamily="18" charset="0"/>
              </a:rPr>
              <a:t>(9))    </a:t>
            </a:r>
            <a:r>
              <a:rPr lang="en-US" sz="2000" dirty="0">
                <a:ea typeface="Calibri"/>
                <a:cs typeface="Times New Roman" panose="02020603050405020304" pitchFamily="18" charset="0"/>
              </a:rPr>
              <a:t>#15  	25  	45</a:t>
            </a:r>
          </a:p>
          <a:p>
            <a:pPr marL="0" indent="0">
              <a:buNone/>
            </a:pPr>
            <a:endParaRPr lang="en-IN" sz="2000" dirty="0"/>
          </a:p>
        </p:txBody>
      </p:sp>
    </p:spTree>
    <p:extLst>
      <p:ext uri="{BB962C8B-B14F-4D97-AF65-F5344CB8AC3E}">
        <p14:creationId xmlns:p14="http://schemas.microsoft.com/office/powerpoint/2010/main" val="408939246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E7D0EA6-F67C-7564-48F2-8B4EE0F53AA8}"/>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11C7E9B5-96AC-E70B-9671-785F604FEE1F}"/>
              </a:ext>
            </a:extLst>
          </p:cNvPr>
          <p:cNvSpPr txBox="1"/>
          <p:nvPr/>
        </p:nvSpPr>
        <p:spPr>
          <a:xfrm>
            <a:off x="658761" y="689040"/>
            <a:ext cx="10844559" cy="5940088"/>
          </a:xfrm>
          <a:prstGeom prst="rect">
            <a:avLst/>
          </a:prstGeom>
          <a:noFill/>
        </p:spPr>
        <p:txBody>
          <a:bodyPr wrap="square">
            <a:spAutoFit/>
          </a:bodyPr>
          <a:lstStyle/>
          <a:p>
            <a:pPr marL="0" indent="0">
              <a:buNone/>
            </a:pPr>
            <a:r>
              <a:rPr lang="en-US" sz="2000" b="1" dirty="0">
                <a:cs typeface="Times New Roman" panose="02020603050405020304" pitchFamily="18" charset="0"/>
              </a:rPr>
              <a:t>Positional-Only Arguments</a:t>
            </a:r>
          </a:p>
          <a:p>
            <a:pPr marL="0" indent="0">
              <a:buNone/>
            </a:pPr>
            <a:r>
              <a:rPr lang="en-US" sz="2000" dirty="0">
                <a:ea typeface="Verdana"/>
                <a:cs typeface="Times New Roman" panose="02020603050405020304" pitchFamily="18" charset="0"/>
              </a:rPr>
              <a:t>You can specify that a function can have ONLY positional arguments, or ONLY keyword arguments.</a:t>
            </a:r>
          </a:p>
          <a:p>
            <a:pPr marL="0" indent="0">
              <a:buNone/>
            </a:pPr>
            <a:r>
              <a:rPr lang="en-US" sz="2000" dirty="0">
                <a:ea typeface="Verdana"/>
                <a:cs typeface="Times New Roman" panose="02020603050405020304" pitchFamily="18" charset="0"/>
              </a:rPr>
              <a:t>To specify that a function can have only positional arguments, add </a:t>
            </a:r>
            <a:r>
              <a:rPr lang="en-US" sz="2000" b="1" dirty="0">
                <a:ea typeface="Verdana"/>
                <a:cs typeface="Times New Roman" panose="02020603050405020304" pitchFamily="18" charset="0"/>
              </a:rPr>
              <a:t>, / </a:t>
            </a:r>
            <a:r>
              <a:rPr lang="en-US" sz="2000" dirty="0">
                <a:ea typeface="Verdana"/>
                <a:cs typeface="Times New Roman" panose="02020603050405020304" pitchFamily="18" charset="0"/>
              </a:rPr>
              <a:t>after the arguments:</a:t>
            </a:r>
          </a:p>
          <a:p>
            <a:pPr marL="0" indent="0">
              <a:buNone/>
            </a:pPr>
            <a:r>
              <a:rPr lang="en-US" sz="2000" b="1" dirty="0">
                <a:ea typeface="Verdana"/>
                <a:cs typeface="Times New Roman" panose="02020603050405020304" pitchFamily="18" charset="0"/>
              </a:rPr>
              <a:t>Example 1</a:t>
            </a:r>
          </a:p>
          <a:p>
            <a:pPr marL="0" indent="0">
              <a:buNone/>
            </a:pPr>
            <a:r>
              <a:rPr lang="en-US" sz="2000" dirty="0">
                <a:ea typeface="+mn-lt"/>
                <a:cs typeface="Times New Roman" panose="02020603050405020304" pitchFamily="18" charset="0"/>
              </a:rPr>
              <a:t>	def </a:t>
            </a:r>
            <a:r>
              <a:rPr lang="en-US" sz="2000" dirty="0" err="1">
                <a:ea typeface="+mn-lt"/>
                <a:cs typeface="Times New Roman" panose="02020603050405020304" pitchFamily="18" charset="0"/>
              </a:rPr>
              <a:t>my_function</a:t>
            </a:r>
            <a:r>
              <a:rPr lang="en-US" sz="2000" dirty="0">
                <a:ea typeface="+mn-lt"/>
                <a:cs typeface="Times New Roman" panose="02020603050405020304" pitchFamily="18" charset="0"/>
              </a:rPr>
              <a:t>(x, /):</a:t>
            </a:r>
            <a:endParaRPr lang="en-US" sz="2000" dirty="0">
              <a:cs typeface="Times New Roman" panose="02020603050405020304" pitchFamily="18" charset="0"/>
            </a:endParaRPr>
          </a:p>
          <a:p>
            <a:pPr marL="0" indent="0">
              <a:buNone/>
            </a:pPr>
            <a:r>
              <a:rPr lang="en-US" sz="2000" dirty="0">
                <a:ea typeface="+mn-lt"/>
                <a:cs typeface="Times New Roman" panose="02020603050405020304" pitchFamily="18" charset="0"/>
              </a:rPr>
              <a:t>  		print(x)</a:t>
            </a:r>
            <a:endParaRPr lang="en-US" sz="2000" dirty="0">
              <a:cs typeface="Times New Roman" panose="02020603050405020304" pitchFamily="18" charset="0"/>
            </a:endParaRPr>
          </a:p>
          <a:p>
            <a:pPr marL="0" indent="0">
              <a:buNone/>
            </a:pPr>
            <a:r>
              <a:rPr lang="en-US" sz="2000" dirty="0">
                <a:ea typeface="+mn-lt"/>
                <a:cs typeface="Times New Roman" panose="02020603050405020304" pitchFamily="18" charset="0"/>
              </a:rPr>
              <a:t>	</a:t>
            </a:r>
            <a:r>
              <a:rPr lang="en-US" sz="2000" dirty="0" err="1">
                <a:ea typeface="+mn-lt"/>
                <a:cs typeface="Times New Roman" panose="02020603050405020304" pitchFamily="18" charset="0"/>
              </a:rPr>
              <a:t>my_function</a:t>
            </a:r>
            <a:r>
              <a:rPr lang="en-US" sz="2000" dirty="0">
                <a:ea typeface="+mn-lt"/>
                <a:cs typeface="Times New Roman" panose="02020603050405020304" pitchFamily="18" charset="0"/>
              </a:rPr>
              <a:t>(3)    #3</a:t>
            </a:r>
            <a:endParaRPr lang="en-US" sz="2000" dirty="0">
              <a:cs typeface="Times New Roman" panose="02020603050405020304" pitchFamily="18" charset="0"/>
            </a:endParaRPr>
          </a:p>
          <a:p>
            <a:pPr marL="0" indent="0">
              <a:buNone/>
            </a:pPr>
            <a:endParaRPr lang="en-US" sz="2000" dirty="0">
              <a:ea typeface="Verdana"/>
              <a:cs typeface="Times New Roman" panose="02020603050405020304" pitchFamily="18" charset="0"/>
            </a:endParaRPr>
          </a:p>
          <a:p>
            <a:pPr marL="0" indent="0">
              <a:buNone/>
            </a:pPr>
            <a:r>
              <a:rPr lang="en-US" sz="2000" dirty="0">
                <a:ea typeface="Verdana"/>
                <a:cs typeface="Times New Roman" panose="02020603050405020304" pitchFamily="18" charset="0"/>
              </a:rPr>
              <a:t>Without the</a:t>
            </a:r>
            <a:r>
              <a:rPr lang="en-US" sz="2000" dirty="0">
                <a:solidFill>
                  <a:srgbClr val="FF0000"/>
                </a:solidFill>
                <a:ea typeface="Verdana"/>
                <a:cs typeface="Times New Roman" panose="02020603050405020304" pitchFamily="18" charset="0"/>
              </a:rPr>
              <a:t> , / </a:t>
            </a:r>
            <a:r>
              <a:rPr lang="en-US" sz="2000" dirty="0">
                <a:ea typeface="Verdana"/>
                <a:cs typeface="Times New Roman" panose="02020603050405020304" pitchFamily="18" charset="0"/>
              </a:rPr>
              <a:t>you are actually allowed to use keyword arguments even if the function expects positional arguments:</a:t>
            </a:r>
          </a:p>
          <a:p>
            <a:pPr marL="0" indent="0">
              <a:buNone/>
            </a:pPr>
            <a:r>
              <a:rPr lang="en-US" sz="2000" b="1" dirty="0">
                <a:ea typeface="Verdana"/>
                <a:cs typeface="Times New Roman" panose="02020603050405020304" pitchFamily="18" charset="0"/>
              </a:rPr>
              <a:t>Example 2</a:t>
            </a:r>
            <a:endParaRPr lang="en-US" sz="2000" b="1" dirty="0">
              <a:cs typeface="Times New Roman" panose="02020603050405020304" pitchFamily="18" charset="0"/>
            </a:endParaRPr>
          </a:p>
          <a:p>
            <a:pPr marL="0" indent="0">
              <a:buNone/>
            </a:pPr>
            <a:r>
              <a:rPr lang="en-US" sz="2000" dirty="0">
                <a:ea typeface="+mn-lt"/>
                <a:cs typeface="Times New Roman" panose="02020603050405020304" pitchFamily="18" charset="0"/>
              </a:rPr>
              <a:t>	def </a:t>
            </a:r>
            <a:r>
              <a:rPr lang="en-US" sz="2000" dirty="0" err="1">
                <a:ea typeface="+mn-lt"/>
                <a:cs typeface="Times New Roman" panose="02020603050405020304" pitchFamily="18" charset="0"/>
              </a:rPr>
              <a:t>my_function</a:t>
            </a:r>
            <a:r>
              <a:rPr lang="en-US" sz="2000" dirty="0">
                <a:ea typeface="+mn-lt"/>
                <a:cs typeface="Times New Roman" panose="02020603050405020304" pitchFamily="18" charset="0"/>
              </a:rPr>
              <a:t>(x):</a:t>
            </a:r>
            <a:endParaRPr lang="en-US" sz="2000" dirty="0">
              <a:cs typeface="Times New Roman" panose="02020603050405020304" pitchFamily="18" charset="0"/>
            </a:endParaRPr>
          </a:p>
          <a:p>
            <a:pPr marL="0" indent="0">
              <a:buNone/>
            </a:pPr>
            <a:r>
              <a:rPr lang="en-US" sz="2000" dirty="0">
                <a:ea typeface="+mn-lt"/>
                <a:cs typeface="Times New Roman" panose="02020603050405020304" pitchFamily="18" charset="0"/>
              </a:rPr>
              <a:t> 		 print(x)</a:t>
            </a:r>
            <a:endParaRPr lang="en-US" sz="2000" dirty="0">
              <a:cs typeface="Times New Roman" panose="02020603050405020304" pitchFamily="18" charset="0"/>
            </a:endParaRPr>
          </a:p>
          <a:p>
            <a:pPr marL="0" indent="0">
              <a:buNone/>
            </a:pPr>
            <a:r>
              <a:rPr lang="en-US" sz="2000" dirty="0">
                <a:cs typeface="Times New Roman" panose="02020603050405020304" pitchFamily="18" charset="0"/>
              </a:rPr>
              <a:t>	</a:t>
            </a:r>
            <a:r>
              <a:rPr lang="en-US" sz="2000" dirty="0" err="1">
                <a:ea typeface="+mn-lt"/>
                <a:cs typeface="Times New Roman" panose="02020603050405020304" pitchFamily="18" charset="0"/>
              </a:rPr>
              <a:t>my_function</a:t>
            </a:r>
            <a:r>
              <a:rPr lang="en-US" sz="2000" dirty="0">
                <a:ea typeface="+mn-lt"/>
                <a:cs typeface="Times New Roman" panose="02020603050405020304" pitchFamily="18" charset="0"/>
              </a:rPr>
              <a:t>(x = 3)  #3</a:t>
            </a:r>
          </a:p>
          <a:p>
            <a:pPr marL="0" indent="0">
              <a:buNone/>
            </a:pPr>
            <a:r>
              <a:rPr lang="en-US" sz="2000" b="1" dirty="0">
                <a:cs typeface="Times New Roman" panose="02020603050405020304" pitchFamily="18" charset="0"/>
              </a:rPr>
              <a:t>Note: But when adding the , / you will get an error if you try to send a keyword argument(ex: x=3)</a:t>
            </a:r>
          </a:p>
          <a:p>
            <a:pPr marL="0" indent="0">
              <a:buNone/>
            </a:pPr>
            <a:r>
              <a:rPr lang="en-US" sz="2000" b="1" dirty="0">
                <a:ea typeface="+mn-lt"/>
                <a:cs typeface="Times New Roman" panose="02020603050405020304" pitchFamily="18" charset="0"/>
              </a:rPr>
              <a:t>Error example:</a:t>
            </a:r>
          </a:p>
          <a:p>
            <a:pPr marL="0" indent="0">
              <a:buNone/>
            </a:pPr>
            <a:r>
              <a:rPr lang="en-US" sz="2000" dirty="0">
                <a:ea typeface="+mn-lt"/>
                <a:cs typeface="Times New Roman" panose="02020603050405020304" pitchFamily="18" charset="0"/>
              </a:rPr>
              <a:t>	def </a:t>
            </a:r>
            <a:r>
              <a:rPr lang="en-US" sz="2000" dirty="0" err="1">
                <a:ea typeface="+mn-lt"/>
                <a:cs typeface="Times New Roman" panose="02020603050405020304" pitchFamily="18" charset="0"/>
              </a:rPr>
              <a:t>my_function</a:t>
            </a:r>
            <a:r>
              <a:rPr lang="en-US" sz="2000" dirty="0">
                <a:ea typeface="+mn-lt"/>
                <a:cs typeface="Times New Roman" panose="02020603050405020304" pitchFamily="18" charset="0"/>
              </a:rPr>
              <a:t>(x, /):</a:t>
            </a:r>
            <a:endParaRPr lang="en-US" sz="2000" dirty="0">
              <a:cs typeface="Times New Roman" panose="02020603050405020304" pitchFamily="18" charset="0"/>
            </a:endParaRPr>
          </a:p>
          <a:p>
            <a:pPr marL="0" indent="0">
              <a:buNone/>
            </a:pPr>
            <a:r>
              <a:rPr lang="en-US" sz="2000" dirty="0">
                <a:ea typeface="+mn-lt"/>
                <a:cs typeface="Times New Roman" panose="02020603050405020304" pitchFamily="18" charset="0"/>
              </a:rPr>
              <a:t>  		print(x)</a:t>
            </a:r>
            <a:endParaRPr lang="en-US" sz="2000" dirty="0">
              <a:cs typeface="Times New Roman" panose="02020603050405020304" pitchFamily="18" charset="0"/>
            </a:endParaRPr>
          </a:p>
          <a:p>
            <a:pPr marL="0" indent="0">
              <a:buNone/>
            </a:pPr>
            <a:r>
              <a:rPr lang="en-US" sz="2000" dirty="0">
                <a:ea typeface="+mn-lt"/>
                <a:cs typeface="Times New Roman" panose="02020603050405020304" pitchFamily="18" charset="0"/>
              </a:rPr>
              <a:t>	</a:t>
            </a:r>
            <a:r>
              <a:rPr lang="en-US" sz="2000" dirty="0" err="1">
                <a:ea typeface="+mn-lt"/>
                <a:cs typeface="Times New Roman" panose="02020603050405020304" pitchFamily="18" charset="0"/>
              </a:rPr>
              <a:t>my_function</a:t>
            </a:r>
            <a:r>
              <a:rPr lang="en-US" sz="2000" dirty="0">
                <a:ea typeface="+mn-lt"/>
                <a:cs typeface="Times New Roman" panose="02020603050405020304" pitchFamily="18" charset="0"/>
              </a:rPr>
              <a:t>(x = 3)</a:t>
            </a:r>
            <a:endParaRPr lang="en-IN" sz="2000" dirty="0">
              <a:cs typeface="Times New Roman" panose="02020603050405020304" pitchFamily="18" charset="0"/>
            </a:endParaRPr>
          </a:p>
        </p:txBody>
      </p:sp>
    </p:spTree>
    <p:extLst>
      <p:ext uri="{BB962C8B-B14F-4D97-AF65-F5344CB8AC3E}">
        <p14:creationId xmlns:p14="http://schemas.microsoft.com/office/powerpoint/2010/main" val="306208983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9890381-8651-DAC7-C08D-81A4903CBA15}"/>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615801B2-3F65-DABC-66B2-162D78FFE1C4}"/>
              </a:ext>
            </a:extLst>
          </p:cNvPr>
          <p:cNvSpPr txBox="1"/>
          <p:nvPr/>
        </p:nvSpPr>
        <p:spPr>
          <a:xfrm>
            <a:off x="757084" y="338304"/>
            <a:ext cx="10962968" cy="6247864"/>
          </a:xfrm>
          <a:prstGeom prst="rect">
            <a:avLst/>
          </a:prstGeom>
          <a:noFill/>
        </p:spPr>
        <p:txBody>
          <a:bodyPr wrap="square">
            <a:spAutoFit/>
          </a:bodyPr>
          <a:lstStyle/>
          <a:p>
            <a:pPr marL="0" indent="0">
              <a:buNone/>
            </a:pPr>
            <a:r>
              <a:rPr lang="en-US" sz="2000" b="1" dirty="0">
                <a:cs typeface="Times New Roman" panose="02020603050405020304" pitchFamily="18" charset="0"/>
              </a:rPr>
              <a:t>Keyword-Only Arguments</a:t>
            </a:r>
          </a:p>
          <a:p>
            <a:pPr marL="0" indent="0">
              <a:buNone/>
            </a:pPr>
            <a:r>
              <a:rPr lang="en-US" sz="2000" dirty="0">
                <a:ea typeface="Verdana"/>
                <a:cs typeface="Times New Roman" panose="02020603050405020304" pitchFamily="18" charset="0"/>
              </a:rPr>
              <a:t>To specify that a function can have only keyword arguments, add </a:t>
            </a:r>
            <a:r>
              <a:rPr lang="en-US" sz="2000" b="1" dirty="0">
                <a:ea typeface="Verdana"/>
                <a:cs typeface="Times New Roman" panose="02020603050405020304" pitchFamily="18" charset="0"/>
              </a:rPr>
              <a:t>*,</a:t>
            </a:r>
            <a:r>
              <a:rPr lang="en-US" sz="2000" dirty="0">
                <a:ea typeface="Verdana"/>
                <a:cs typeface="Times New Roman" panose="02020603050405020304" pitchFamily="18" charset="0"/>
              </a:rPr>
              <a:t> </a:t>
            </a:r>
            <a:r>
              <a:rPr lang="en-US" sz="2000" i="1" dirty="0">
                <a:ea typeface="Verdana"/>
                <a:cs typeface="Times New Roman" panose="02020603050405020304" pitchFamily="18" charset="0"/>
              </a:rPr>
              <a:t>before</a:t>
            </a:r>
            <a:r>
              <a:rPr lang="en-US" sz="2000" dirty="0">
                <a:ea typeface="Verdana"/>
                <a:cs typeface="Times New Roman" panose="02020603050405020304" pitchFamily="18" charset="0"/>
              </a:rPr>
              <a:t> the arguments:</a:t>
            </a:r>
          </a:p>
          <a:p>
            <a:pPr marL="0" indent="0">
              <a:buNone/>
            </a:pPr>
            <a:r>
              <a:rPr lang="en-US" sz="2000" b="1" dirty="0">
                <a:cs typeface="Times New Roman" panose="02020603050405020304" pitchFamily="18" charset="0"/>
              </a:rPr>
              <a:t>Example:</a:t>
            </a:r>
          </a:p>
          <a:p>
            <a:pPr marL="0" indent="0">
              <a:buNone/>
            </a:pPr>
            <a:r>
              <a:rPr lang="en-US" sz="2000" dirty="0">
                <a:cs typeface="Times New Roman" panose="02020603050405020304" pitchFamily="18" charset="0"/>
              </a:rPr>
              <a:t>	def </a:t>
            </a:r>
            <a:r>
              <a:rPr lang="en-US" sz="2000" dirty="0" err="1">
                <a:cs typeface="Times New Roman" panose="02020603050405020304" pitchFamily="18" charset="0"/>
              </a:rPr>
              <a:t>my_function</a:t>
            </a:r>
            <a:r>
              <a:rPr lang="en-US" sz="2000" dirty="0">
                <a:cs typeface="Times New Roman" panose="02020603050405020304" pitchFamily="18" charset="0"/>
              </a:rPr>
              <a:t>(*, x):</a:t>
            </a:r>
            <a:br>
              <a:rPr lang="en-US" sz="2000" dirty="0">
                <a:cs typeface="Times New Roman" panose="02020603050405020304" pitchFamily="18" charset="0"/>
              </a:rPr>
            </a:br>
            <a:r>
              <a:rPr lang="en-US" sz="2000" dirty="0">
                <a:cs typeface="Times New Roman" panose="02020603050405020304" pitchFamily="18" charset="0"/>
              </a:rPr>
              <a:t>  		print(x)</a:t>
            </a:r>
            <a:br>
              <a:rPr lang="en-US" sz="2000" dirty="0">
                <a:cs typeface="Times New Roman" panose="02020603050405020304" pitchFamily="18" charset="0"/>
              </a:rPr>
            </a:br>
            <a:r>
              <a:rPr lang="en-US" sz="2000" dirty="0">
                <a:cs typeface="Times New Roman" panose="02020603050405020304" pitchFamily="18" charset="0"/>
              </a:rPr>
              <a:t>	</a:t>
            </a:r>
            <a:r>
              <a:rPr lang="en-US" sz="2000" dirty="0" err="1">
                <a:cs typeface="Times New Roman" panose="02020603050405020304" pitchFamily="18" charset="0"/>
              </a:rPr>
              <a:t>my_function</a:t>
            </a:r>
            <a:r>
              <a:rPr lang="en-US" sz="2000" dirty="0">
                <a:cs typeface="Times New Roman" panose="02020603050405020304" pitchFamily="18" charset="0"/>
              </a:rPr>
              <a:t>(x = 3)</a:t>
            </a:r>
            <a:r>
              <a:rPr lang="en-US" sz="2000" dirty="0">
                <a:ea typeface="Calibri"/>
                <a:cs typeface="Times New Roman" panose="02020603050405020304" pitchFamily="18" charset="0"/>
              </a:rPr>
              <a:t>  #3</a:t>
            </a:r>
          </a:p>
          <a:p>
            <a:pPr marL="0" indent="0">
              <a:buNone/>
            </a:pPr>
            <a:endParaRPr lang="en-US" sz="2000" dirty="0">
              <a:cs typeface="Times New Roman" panose="02020603050405020304" pitchFamily="18" charset="0"/>
            </a:endParaRPr>
          </a:p>
          <a:p>
            <a:pPr marL="0" indent="0">
              <a:buNone/>
            </a:pPr>
            <a:r>
              <a:rPr lang="en-US" sz="2000" dirty="0">
                <a:ea typeface="Verdana"/>
                <a:cs typeface="Times New Roman" panose="02020603050405020304" pitchFamily="18" charset="0"/>
              </a:rPr>
              <a:t>Without the *, you are allowed to use </a:t>
            </a:r>
            <a:r>
              <a:rPr lang="en-US" sz="2000" dirty="0" err="1">
                <a:ea typeface="Verdana"/>
                <a:cs typeface="Times New Roman" panose="02020603050405020304" pitchFamily="18" charset="0"/>
              </a:rPr>
              <a:t>positionale</a:t>
            </a:r>
            <a:r>
              <a:rPr lang="en-US" sz="2000" dirty="0">
                <a:ea typeface="Verdana"/>
                <a:cs typeface="Times New Roman" panose="02020603050405020304" pitchFamily="18" charset="0"/>
              </a:rPr>
              <a:t> arguments even if the function expects keyword arguments:</a:t>
            </a:r>
            <a:endParaRPr lang="en-US" sz="2000" dirty="0">
              <a:cs typeface="Times New Roman" panose="02020603050405020304" pitchFamily="18" charset="0"/>
            </a:endParaRPr>
          </a:p>
          <a:p>
            <a:pPr marL="0" indent="0">
              <a:buNone/>
            </a:pPr>
            <a:r>
              <a:rPr lang="en-US" sz="2000" b="1" dirty="0">
                <a:ea typeface="Verdana"/>
                <a:cs typeface="Times New Roman" panose="02020603050405020304" pitchFamily="18" charset="0"/>
              </a:rPr>
              <a:t>Example:</a:t>
            </a:r>
            <a:endParaRPr lang="en-US" sz="2000" b="1" dirty="0">
              <a:cs typeface="Times New Roman" panose="02020603050405020304" pitchFamily="18" charset="0"/>
            </a:endParaRPr>
          </a:p>
          <a:p>
            <a:pPr marL="0" indent="0">
              <a:buNone/>
            </a:pPr>
            <a:r>
              <a:rPr lang="en-US" sz="2000" dirty="0">
                <a:ea typeface="Verdana"/>
                <a:cs typeface="Times New Roman" panose="02020603050405020304" pitchFamily="18" charset="0"/>
              </a:rPr>
              <a:t>	def </a:t>
            </a:r>
            <a:r>
              <a:rPr lang="en-US" sz="2000" dirty="0" err="1">
                <a:ea typeface="Verdana"/>
                <a:cs typeface="Times New Roman" panose="02020603050405020304" pitchFamily="18" charset="0"/>
              </a:rPr>
              <a:t>my_function</a:t>
            </a:r>
            <a:r>
              <a:rPr lang="en-US" sz="2000" dirty="0">
                <a:ea typeface="Verdana"/>
                <a:cs typeface="Times New Roman" panose="02020603050405020304" pitchFamily="18" charset="0"/>
              </a:rPr>
              <a:t>(x):</a:t>
            </a:r>
            <a:br>
              <a:rPr lang="en-US" sz="2000" dirty="0">
                <a:ea typeface="Verdana"/>
                <a:cs typeface="Times New Roman" panose="02020603050405020304" pitchFamily="18" charset="0"/>
              </a:rPr>
            </a:br>
            <a:r>
              <a:rPr lang="en-US" sz="2000" dirty="0">
                <a:ea typeface="Verdana"/>
                <a:cs typeface="Times New Roman" panose="02020603050405020304" pitchFamily="18" charset="0"/>
              </a:rPr>
              <a:t>  		print(x)</a:t>
            </a:r>
            <a:br>
              <a:rPr lang="en-US" sz="2000" dirty="0">
                <a:ea typeface="Verdana"/>
                <a:cs typeface="Times New Roman" panose="02020603050405020304" pitchFamily="18" charset="0"/>
              </a:rPr>
            </a:br>
            <a:r>
              <a:rPr lang="en-US" sz="2000" dirty="0">
                <a:ea typeface="Verdana"/>
                <a:cs typeface="Times New Roman" panose="02020603050405020304" pitchFamily="18" charset="0"/>
              </a:rPr>
              <a:t>	</a:t>
            </a:r>
            <a:r>
              <a:rPr lang="en-US" sz="2000" dirty="0" err="1">
                <a:ea typeface="Verdana"/>
                <a:cs typeface="Times New Roman" panose="02020603050405020304" pitchFamily="18" charset="0"/>
              </a:rPr>
              <a:t>my_function</a:t>
            </a:r>
            <a:r>
              <a:rPr lang="en-US" sz="2000" dirty="0">
                <a:ea typeface="Verdana"/>
                <a:cs typeface="Times New Roman" panose="02020603050405020304" pitchFamily="18" charset="0"/>
              </a:rPr>
              <a:t>(3)</a:t>
            </a:r>
            <a:r>
              <a:rPr lang="en-US" sz="2000" dirty="0">
                <a:ea typeface="Calibri"/>
                <a:cs typeface="Times New Roman" panose="02020603050405020304" pitchFamily="18" charset="0"/>
              </a:rPr>
              <a:t>  #Output: 3</a:t>
            </a:r>
            <a:endParaRPr lang="en-US" sz="2000" dirty="0">
              <a:cs typeface="Times New Roman" panose="02020603050405020304" pitchFamily="18" charset="0"/>
            </a:endParaRPr>
          </a:p>
          <a:p>
            <a:pPr marL="0" indent="0">
              <a:buNone/>
            </a:pPr>
            <a:endParaRPr lang="en-US" sz="2000" dirty="0">
              <a:ea typeface="Calibri"/>
              <a:cs typeface="Times New Roman" panose="02020603050405020304" pitchFamily="18" charset="0"/>
            </a:endParaRPr>
          </a:p>
          <a:p>
            <a:pPr marL="0" indent="0">
              <a:buNone/>
            </a:pPr>
            <a:r>
              <a:rPr lang="en-US" sz="2000" b="1" dirty="0">
                <a:ea typeface="Calibri"/>
                <a:cs typeface="Times New Roman" panose="02020603050405020304" pitchFamily="18" charset="0"/>
              </a:rPr>
              <a:t>Note: But when adding the *, / you will get an error if you try to send a positional argument:</a:t>
            </a:r>
            <a:endParaRPr lang="en-US" sz="2000" b="1" dirty="0">
              <a:cs typeface="Times New Roman" panose="02020603050405020304" pitchFamily="18" charset="0"/>
            </a:endParaRPr>
          </a:p>
          <a:p>
            <a:pPr marL="0" indent="0">
              <a:buNone/>
            </a:pPr>
            <a:r>
              <a:rPr lang="en-US" sz="2000" b="1" dirty="0">
                <a:ea typeface="Calibri"/>
                <a:cs typeface="Times New Roman" panose="02020603050405020304" pitchFamily="18" charset="0"/>
              </a:rPr>
              <a:t>Error Example:</a:t>
            </a:r>
            <a:endParaRPr lang="en-US" sz="2000" b="1" dirty="0">
              <a:cs typeface="Times New Roman" panose="02020603050405020304" pitchFamily="18" charset="0"/>
            </a:endParaRPr>
          </a:p>
          <a:p>
            <a:pPr marL="0" indent="0">
              <a:buNone/>
            </a:pPr>
            <a:r>
              <a:rPr lang="en-US" sz="2000" dirty="0">
                <a:ea typeface="Calibri"/>
                <a:cs typeface="Times New Roman" panose="02020603050405020304" pitchFamily="18" charset="0"/>
              </a:rPr>
              <a:t>	def </a:t>
            </a:r>
            <a:r>
              <a:rPr lang="en-US" sz="2000" dirty="0" err="1">
                <a:ea typeface="Calibri"/>
                <a:cs typeface="Times New Roman" panose="02020603050405020304" pitchFamily="18" charset="0"/>
              </a:rPr>
              <a:t>my_function</a:t>
            </a:r>
            <a:r>
              <a:rPr lang="en-US" sz="2000" dirty="0">
                <a:ea typeface="Calibri"/>
                <a:cs typeface="Times New Roman" panose="02020603050405020304" pitchFamily="18" charset="0"/>
              </a:rPr>
              <a:t>(*, x):</a:t>
            </a:r>
            <a:br>
              <a:rPr lang="en-US" sz="2000" dirty="0">
                <a:ea typeface="Calibri"/>
                <a:cs typeface="Times New Roman" panose="02020603050405020304" pitchFamily="18" charset="0"/>
              </a:rPr>
            </a:br>
            <a:r>
              <a:rPr lang="en-US" sz="2000" dirty="0">
                <a:ea typeface="Calibri"/>
                <a:cs typeface="Times New Roman" panose="02020603050405020304" pitchFamily="18" charset="0"/>
              </a:rPr>
              <a:t>  		print(x)</a:t>
            </a:r>
            <a:br>
              <a:rPr lang="en-US" sz="2000" dirty="0">
                <a:ea typeface="Calibri"/>
                <a:cs typeface="Times New Roman" panose="02020603050405020304" pitchFamily="18" charset="0"/>
              </a:rPr>
            </a:br>
            <a:r>
              <a:rPr lang="en-US" sz="2000" dirty="0">
                <a:ea typeface="Calibri"/>
                <a:cs typeface="Times New Roman" panose="02020603050405020304" pitchFamily="18" charset="0"/>
              </a:rPr>
              <a:t>	</a:t>
            </a:r>
            <a:r>
              <a:rPr lang="en-US" sz="2000" dirty="0" err="1">
                <a:ea typeface="Calibri"/>
                <a:cs typeface="Times New Roman" panose="02020603050405020304" pitchFamily="18" charset="0"/>
              </a:rPr>
              <a:t>my_function</a:t>
            </a:r>
            <a:r>
              <a:rPr lang="en-US" sz="2000" dirty="0">
                <a:ea typeface="Calibri"/>
                <a:cs typeface="Times New Roman" panose="02020603050405020304" pitchFamily="18" charset="0"/>
              </a:rPr>
              <a:t>(3)</a:t>
            </a:r>
            <a:endParaRPr lang="en-US" sz="2000" dirty="0">
              <a:cs typeface="Times New Roman" panose="02020603050405020304" pitchFamily="18" charset="0"/>
            </a:endParaRPr>
          </a:p>
          <a:p>
            <a:pPr marL="0" indent="0">
              <a:buNone/>
            </a:pPr>
            <a:endParaRPr lang="en-IN" sz="2000" dirty="0"/>
          </a:p>
        </p:txBody>
      </p:sp>
    </p:spTree>
    <p:extLst>
      <p:ext uri="{BB962C8B-B14F-4D97-AF65-F5344CB8AC3E}">
        <p14:creationId xmlns:p14="http://schemas.microsoft.com/office/powerpoint/2010/main" val="231017519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14A9D6-BCD3-0AA1-D151-0BF7D39C4D32}"/>
              </a:ext>
            </a:extLst>
          </p:cNvPr>
          <p:cNvPicPr/>
          <p:nvPr/>
        </p:nvPicPr>
        <p:blipFill>
          <a:blip r:embed="rId2" cstate="print"/>
          <a:stretch/>
        </p:blipFill>
        <p:spPr>
          <a:xfrm>
            <a:off x="11463406" y="0"/>
            <a:ext cx="688680" cy="689040"/>
          </a:xfrm>
          <a:prstGeom prst="rect">
            <a:avLst/>
          </a:prstGeom>
          <a:ln w="0">
            <a:noFill/>
          </a:ln>
        </p:spPr>
      </p:pic>
      <p:sp>
        <p:nvSpPr>
          <p:cNvPr id="5" name="TextBox 4">
            <a:extLst>
              <a:ext uri="{FF2B5EF4-FFF2-40B4-BE49-F238E27FC236}">
                <a16:creationId xmlns:a16="http://schemas.microsoft.com/office/drawing/2014/main" id="{3FF25708-E4AA-C4E5-E03E-84AF91D665BE}"/>
              </a:ext>
            </a:extLst>
          </p:cNvPr>
          <p:cNvSpPr txBox="1"/>
          <p:nvPr/>
        </p:nvSpPr>
        <p:spPr>
          <a:xfrm>
            <a:off x="353961" y="224240"/>
            <a:ext cx="11484078" cy="2554545"/>
          </a:xfrm>
          <a:prstGeom prst="rect">
            <a:avLst/>
          </a:prstGeom>
          <a:noFill/>
        </p:spPr>
        <p:txBody>
          <a:bodyPr wrap="square">
            <a:spAutoFit/>
          </a:bodyPr>
          <a:lstStyle/>
          <a:p>
            <a:pPr marL="0" indent="0">
              <a:buNone/>
            </a:pPr>
            <a:r>
              <a:rPr lang="en-US" sz="2000" b="1" dirty="0">
                <a:cs typeface="Times New Roman" panose="02020603050405020304" pitchFamily="18" charset="0"/>
              </a:rPr>
              <a:t>Combine Positional-Only and Keyword-Only</a:t>
            </a:r>
          </a:p>
          <a:p>
            <a:pPr marL="0" indent="0">
              <a:buNone/>
            </a:pPr>
            <a:r>
              <a:rPr lang="en-US" sz="2000" dirty="0">
                <a:ea typeface="Verdana"/>
                <a:cs typeface="Times New Roman" panose="02020603050405020304" pitchFamily="18" charset="0"/>
              </a:rPr>
              <a:t>You can combine the two argument types in the same function.</a:t>
            </a:r>
          </a:p>
          <a:p>
            <a:pPr marL="0" indent="0">
              <a:buNone/>
            </a:pPr>
            <a:r>
              <a:rPr lang="en-US" sz="2000" dirty="0">
                <a:ea typeface="Verdana"/>
                <a:cs typeface="Times New Roman" panose="02020603050405020304" pitchFamily="18" charset="0"/>
              </a:rPr>
              <a:t>Any argument </a:t>
            </a:r>
            <a:r>
              <a:rPr lang="en-US" sz="2000" i="1" dirty="0">
                <a:ea typeface="Verdana"/>
                <a:cs typeface="Times New Roman" panose="02020603050405020304" pitchFamily="18" charset="0"/>
              </a:rPr>
              <a:t>before</a:t>
            </a:r>
            <a:r>
              <a:rPr lang="en-US" sz="2000" dirty="0">
                <a:ea typeface="Verdana"/>
                <a:cs typeface="Times New Roman" panose="02020603050405020304" pitchFamily="18" charset="0"/>
              </a:rPr>
              <a:t> the / , are positional-only, and any argument </a:t>
            </a:r>
            <a:r>
              <a:rPr lang="en-US" sz="2000" i="1" dirty="0">
                <a:ea typeface="Verdana"/>
                <a:cs typeface="Times New Roman" panose="02020603050405020304" pitchFamily="18" charset="0"/>
              </a:rPr>
              <a:t>after</a:t>
            </a:r>
            <a:r>
              <a:rPr lang="en-US" sz="2000" dirty="0">
                <a:ea typeface="Verdana"/>
                <a:cs typeface="Times New Roman" panose="02020603050405020304" pitchFamily="18" charset="0"/>
              </a:rPr>
              <a:t> the *, are keyword-only.</a:t>
            </a:r>
          </a:p>
          <a:p>
            <a:pPr marL="0" indent="0">
              <a:buNone/>
            </a:pPr>
            <a:r>
              <a:rPr lang="en-US" sz="2000" b="1" dirty="0">
                <a:cs typeface="Times New Roman" panose="02020603050405020304" pitchFamily="18" charset="0"/>
              </a:rPr>
              <a:t>Example:</a:t>
            </a:r>
          </a:p>
          <a:p>
            <a:pPr marL="0" indent="0">
              <a:buNone/>
            </a:pPr>
            <a:r>
              <a:rPr lang="en-US" sz="2000" dirty="0">
                <a:cs typeface="Times New Roman" panose="02020603050405020304" pitchFamily="18" charset="0"/>
              </a:rPr>
              <a:t>	def </a:t>
            </a:r>
            <a:r>
              <a:rPr lang="en-US" sz="2000" dirty="0" err="1">
                <a:cs typeface="Times New Roman" panose="02020603050405020304" pitchFamily="18" charset="0"/>
              </a:rPr>
              <a:t>my_function</a:t>
            </a:r>
            <a:r>
              <a:rPr lang="en-US" sz="2000" dirty="0">
                <a:cs typeface="Times New Roman" panose="02020603050405020304" pitchFamily="18" charset="0"/>
              </a:rPr>
              <a:t>(a, b, /, *, c, d):</a:t>
            </a:r>
            <a:br>
              <a:rPr lang="en-US" sz="2000" dirty="0">
                <a:cs typeface="Times New Roman" panose="02020603050405020304" pitchFamily="18" charset="0"/>
              </a:rPr>
            </a:br>
            <a:r>
              <a:rPr lang="en-US" sz="2000" dirty="0">
                <a:cs typeface="Times New Roman" panose="02020603050405020304" pitchFamily="18" charset="0"/>
              </a:rPr>
              <a:t>  		print(a + b + c + d)</a:t>
            </a:r>
            <a:br>
              <a:rPr lang="en-US" sz="2000" dirty="0">
                <a:cs typeface="Times New Roman" panose="02020603050405020304" pitchFamily="18" charset="0"/>
              </a:rPr>
            </a:br>
            <a:r>
              <a:rPr lang="en-US" sz="2000" dirty="0">
                <a:cs typeface="Times New Roman" panose="02020603050405020304" pitchFamily="18" charset="0"/>
              </a:rPr>
              <a:t>	</a:t>
            </a:r>
            <a:r>
              <a:rPr lang="en-US" sz="2000" dirty="0" err="1">
                <a:cs typeface="Times New Roman" panose="02020603050405020304" pitchFamily="18" charset="0"/>
              </a:rPr>
              <a:t>my_function</a:t>
            </a:r>
            <a:r>
              <a:rPr lang="en-US" sz="2000" dirty="0">
                <a:cs typeface="Times New Roman" panose="02020603050405020304" pitchFamily="18" charset="0"/>
              </a:rPr>
              <a:t>(5, 6, c = 7, d = 8)</a:t>
            </a:r>
            <a:r>
              <a:rPr lang="en-US" sz="2000" dirty="0">
                <a:ea typeface="Calibri"/>
                <a:cs typeface="Times New Roman" panose="02020603050405020304" pitchFamily="18" charset="0"/>
              </a:rPr>
              <a:t>  #26</a:t>
            </a:r>
          </a:p>
          <a:p>
            <a:endParaRPr lang="en-IN" sz="2000" dirty="0"/>
          </a:p>
        </p:txBody>
      </p:sp>
      <p:sp>
        <p:nvSpPr>
          <p:cNvPr id="2" name="TextBox 1">
            <a:extLst>
              <a:ext uri="{FF2B5EF4-FFF2-40B4-BE49-F238E27FC236}">
                <a16:creationId xmlns:a16="http://schemas.microsoft.com/office/drawing/2014/main" id="{61CFEF04-BD7B-6318-7041-924FF7D645AC}"/>
              </a:ext>
            </a:extLst>
          </p:cNvPr>
          <p:cNvSpPr txBox="1"/>
          <p:nvPr/>
        </p:nvSpPr>
        <p:spPr>
          <a:xfrm>
            <a:off x="353961" y="2778785"/>
            <a:ext cx="11109445" cy="3785652"/>
          </a:xfrm>
          <a:prstGeom prst="rect">
            <a:avLst/>
          </a:prstGeom>
          <a:noFill/>
        </p:spPr>
        <p:txBody>
          <a:bodyPr wrap="square" rtlCol="0">
            <a:spAutoFit/>
          </a:bodyPr>
          <a:lstStyle/>
          <a:p>
            <a:r>
              <a:rPr lang="en-IN" sz="2000" b="1" dirty="0"/>
              <a:t>Lambda function</a:t>
            </a:r>
          </a:p>
          <a:p>
            <a:r>
              <a:rPr lang="en-IN" sz="2000" dirty="0"/>
              <a:t>A lambda function is a small anonymous function.</a:t>
            </a:r>
          </a:p>
          <a:p>
            <a:r>
              <a:rPr lang="en-IN" sz="2000" dirty="0"/>
              <a:t>A lambda function can take any number of arguments, but can only have one expression.</a:t>
            </a:r>
          </a:p>
          <a:p>
            <a:endParaRPr lang="en-IN" sz="2000" dirty="0"/>
          </a:p>
          <a:p>
            <a:r>
              <a:rPr lang="en-IN" sz="2000" b="1" dirty="0"/>
              <a:t>Syntax:  </a:t>
            </a:r>
            <a:r>
              <a:rPr lang="en-IN" sz="2000" dirty="0"/>
              <a:t>lambda arguments : expression</a:t>
            </a:r>
          </a:p>
          <a:p>
            <a:endParaRPr lang="en-IN" sz="2000" b="1" dirty="0"/>
          </a:p>
          <a:p>
            <a:r>
              <a:rPr lang="en-IN" sz="2000" b="1" dirty="0"/>
              <a:t>Example </a:t>
            </a:r>
          </a:p>
          <a:p>
            <a:r>
              <a:rPr lang="en-IN" sz="2000" b="1" dirty="0"/>
              <a:t> </a:t>
            </a:r>
            <a:r>
              <a:rPr lang="en-IN" sz="2000" dirty="0"/>
              <a:t>x = lambda a, b, c, d :a +b-c*d</a:t>
            </a:r>
          </a:p>
          <a:p>
            <a:r>
              <a:rPr lang="en-IN" sz="2000" b="1" dirty="0"/>
              <a:t> </a:t>
            </a:r>
            <a:r>
              <a:rPr lang="en-IN" sz="2000" dirty="0"/>
              <a:t>print(x(5))</a:t>
            </a:r>
          </a:p>
          <a:p>
            <a:endParaRPr lang="en-IN" sz="2000" b="1" dirty="0"/>
          </a:p>
          <a:p>
            <a:r>
              <a:rPr lang="en-IN" sz="2000" dirty="0"/>
              <a:t> y = lambda a, b : a * b</a:t>
            </a:r>
          </a:p>
          <a:p>
            <a:r>
              <a:rPr lang="en-IN" sz="2000" dirty="0"/>
              <a:t> print(y(5, 6))</a:t>
            </a:r>
          </a:p>
        </p:txBody>
      </p:sp>
    </p:spTree>
    <p:extLst>
      <p:ext uri="{BB962C8B-B14F-4D97-AF65-F5344CB8AC3E}">
        <p14:creationId xmlns:p14="http://schemas.microsoft.com/office/powerpoint/2010/main" val="216668205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5284202-4F3A-6216-5A78-2C0378B5D19C}"/>
              </a:ext>
            </a:extLst>
          </p:cNvPr>
          <p:cNvPicPr/>
          <p:nvPr/>
        </p:nvPicPr>
        <p:blipFill>
          <a:blip r:embed="rId2" cstate="print"/>
          <a:stretch/>
        </p:blipFill>
        <p:spPr>
          <a:xfrm>
            <a:off x="11503320" y="25485"/>
            <a:ext cx="688680" cy="689040"/>
          </a:xfrm>
          <a:prstGeom prst="rect">
            <a:avLst/>
          </a:prstGeom>
          <a:ln w="0">
            <a:noFill/>
          </a:ln>
        </p:spPr>
      </p:pic>
      <p:sp>
        <p:nvSpPr>
          <p:cNvPr id="5" name="TextBox 4">
            <a:extLst>
              <a:ext uri="{FF2B5EF4-FFF2-40B4-BE49-F238E27FC236}">
                <a16:creationId xmlns:a16="http://schemas.microsoft.com/office/drawing/2014/main" id="{BD5697BA-9138-5176-678E-4099E59D3C1D}"/>
              </a:ext>
            </a:extLst>
          </p:cNvPr>
          <p:cNvSpPr txBox="1"/>
          <p:nvPr/>
        </p:nvSpPr>
        <p:spPr>
          <a:xfrm>
            <a:off x="412956" y="167149"/>
            <a:ext cx="11169444" cy="6524863"/>
          </a:xfrm>
          <a:prstGeom prst="rect">
            <a:avLst/>
          </a:prstGeom>
          <a:noFill/>
        </p:spPr>
        <p:txBody>
          <a:bodyPr wrap="square">
            <a:spAutoFit/>
          </a:bodyPr>
          <a:lstStyle/>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strike="noStrike" spc="-1" dirty="0">
                <a:ea typeface="Calibri"/>
                <a:cs typeface="Times New Roman" panose="02020603050405020304" pitchFamily="18" charset="0"/>
              </a:rPr>
              <a:t>Global and Local Variables:</a:t>
            </a:r>
            <a:endParaRPr lang="en-US" sz="2000" b="0" strike="noStrike" spc="-1" dirty="0">
              <a:cs typeface="Times New Roman" panose="02020603050405020304" pitchFamily="18" charset="0"/>
            </a:endParaRP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000" b="0" strike="noStrike" spc="-1" dirty="0">
              <a:solidFill>
                <a:srgbClr val="000000"/>
              </a:solidFill>
              <a:ea typeface="Calibri"/>
              <a:cs typeface="Times New Roman" panose="02020603050405020304" pitchFamily="18" charset="0"/>
            </a:endParaRP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Calibri"/>
                <a:cs typeface="Times New Roman" panose="02020603050405020304" pitchFamily="18" charset="0"/>
              </a:rPr>
              <a:t>Variables that are created outside of a function are known as global variables.</a:t>
            </a:r>
            <a:endParaRPr lang="en-US" sz="2000" b="0" strike="noStrike" spc="-1" dirty="0">
              <a:solidFill>
                <a:srgbClr val="000000"/>
              </a:solidFill>
              <a:cs typeface="Times New Roman" panose="02020603050405020304" pitchFamily="18" charset="0"/>
            </a:endParaRP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Calibri"/>
                <a:cs typeface="Times New Roman" panose="02020603050405020304" pitchFamily="18" charset="0"/>
              </a:rPr>
              <a:t>Global variables can be used by everyone, both inside of functions and outside.</a:t>
            </a:r>
            <a:endParaRPr lang="en-US" sz="2000" b="0" strike="noStrike" spc="-1" dirty="0">
              <a:solidFill>
                <a:srgbClr val="000000"/>
              </a:solidFill>
              <a:cs typeface="Times New Roman" panose="02020603050405020304" pitchFamily="18" charset="0"/>
            </a:endParaRP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strike="noStrike" spc="-1" dirty="0">
                <a:solidFill>
                  <a:srgbClr val="000000"/>
                </a:solidFill>
                <a:uFillTx/>
                <a:ea typeface="Calibri"/>
                <a:cs typeface="Times New Roman" panose="02020603050405020304" pitchFamily="18" charset="0"/>
              </a:rPr>
              <a:t>Example:</a:t>
            </a:r>
            <a:endParaRPr lang="en-US" sz="2000" b="1" strike="noStrike" spc="-1" dirty="0">
              <a:solidFill>
                <a:srgbClr val="000000"/>
              </a:solidFill>
              <a:cs typeface="Times New Roman" panose="02020603050405020304" pitchFamily="18" charset="0"/>
            </a:endParaRP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Calibri"/>
                <a:cs typeface="Times New Roman" panose="02020603050405020304" pitchFamily="18" charset="0"/>
              </a:rPr>
              <a:t>		x = "awesome"</a:t>
            </a:r>
            <a:br>
              <a:rPr lang="en-US" sz="2000" dirty="0">
                <a:cs typeface="Times New Roman" panose="02020603050405020304" pitchFamily="18" charset="0"/>
              </a:rPr>
            </a:br>
            <a:r>
              <a:rPr lang="en-US" sz="2000" dirty="0">
                <a:cs typeface="Times New Roman" panose="02020603050405020304" pitchFamily="18" charset="0"/>
              </a:rPr>
              <a:t>		</a:t>
            </a:r>
            <a:r>
              <a:rPr lang="en-US" sz="2000" b="0" strike="noStrike" spc="-1" dirty="0">
                <a:solidFill>
                  <a:srgbClr val="000000"/>
                </a:solidFill>
                <a:ea typeface="Calibri"/>
                <a:cs typeface="Times New Roman" panose="02020603050405020304" pitchFamily="18" charset="0"/>
              </a:rPr>
              <a:t>def myfunc():</a:t>
            </a:r>
            <a:endParaRPr lang="en-US" sz="2000" b="0" strike="noStrike" spc="-1" dirty="0">
              <a:solidFill>
                <a:srgbClr val="000000"/>
              </a:solidFill>
              <a:cs typeface="Times New Roman" panose="02020603050405020304" pitchFamily="18" charset="0"/>
            </a:endParaRP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Calibri"/>
                <a:cs typeface="Times New Roman" panose="02020603050405020304" pitchFamily="18" charset="0"/>
              </a:rPr>
              <a:t>			print("Python is " + x)</a:t>
            </a:r>
            <a:br>
              <a:rPr lang="en-US" sz="2000" dirty="0">
                <a:cs typeface="Times New Roman" panose="02020603050405020304" pitchFamily="18" charset="0"/>
              </a:rPr>
            </a:br>
            <a:r>
              <a:rPr lang="en-US" sz="2000" b="0" strike="noStrike" spc="-1" dirty="0">
                <a:solidFill>
                  <a:srgbClr val="000000"/>
                </a:solidFill>
                <a:ea typeface="Calibri"/>
                <a:cs typeface="Times New Roman" panose="02020603050405020304" pitchFamily="18" charset="0"/>
              </a:rPr>
              <a:t> 	myfunc()			#Python is awesome</a:t>
            </a:r>
            <a:endParaRPr lang="en-US" sz="2000" b="0" strike="noStrike" spc="-1" dirty="0">
              <a:solidFill>
                <a:srgbClr val="000000"/>
              </a:solidFill>
              <a:cs typeface="Times New Roman" panose="02020603050405020304" pitchFamily="18" charset="0"/>
            </a:endParaRP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Calibri"/>
                <a:cs typeface="Times New Roman" panose="02020603050405020304" pitchFamily="18" charset="0"/>
              </a:rPr>
              <a:t> </a:t>
            </a:r>
            <a:endParaRPr lang="en-US" sz="2000" b="0" strike="noStrike" spc="-1" dirty="0">
              <a:solidFill>
                <a:srgbClr val="000000"/>
              </a:solidFill>
              <a:cs typeface="Times New Roman" panose="02020603050405020304" pitchFamily="18" charset="0"/>
            </a:endParaRPr>
          </a:p>
          <a:p>
            <a:pPr marL="0" indent="0">
              <a:lnSpc>
                <a:spcPct val="100000"/>
              </a:lnSpc>
              <a:spcBef>
                <a:spcPts val="11"/>
              </a:spcBef>
              <a:spcAft>
                <a:spcPts val="11"/>
              </a:spcAft>
              <a:buClr>
                <a:srgbClr val="000000"/>
              </a:buCl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Calibri"/>
                <a:cs typeface="Times New Roman" panose="02020603050405020304" pitchFamily="18" charset="0"/>
              </a:rPr>
              <a:t>If you create a variable with the same name inside a function, this variable will be local,</a:t>
            </a:r>
            <a:r>
              <a:rPr lang="en-US" sz="2000" spc="-1" dirty="0">
                <a:solidFill>
                  <a:srgbClr val="000000"/>
                </a:solidFill>
                <a:cs typeface="Times New Roman" panose="02020603050405020304" pitchFamily="18" charset="0"/>
              </a:rPr>
              <a:t> </a:t>
            </a:r>
            <a:r>
              <a:rPr lang="en-US" sz="2000" b="0" strike="noStrike" spc="-1" dirty="0">
                <a:solidFill>
                  <a:srgbClr val="000000"/>
                </a:solidFill>
                <a:ea typeface="Calibri"/>
                <a:cs typeface="Times New Roman" panose="02020603050405020304" pitchFamily="18" charset="0"/>
              </a:rPr>
              <a:t>and can only be used inside the function. The global variable with the same name will remain as global and with the original value.</a:t>
            </a:r>
            <a:endParaRPr lang="en-US" sz="2000" b="0" strike="noStrike" spc="-1" dirty="0">
              <a:solidFill>
                <a:srgbClr val="000000"/>
              </a:solidFill>
              <a:cs typeface="Times New Roman" panose="02020603050405020304" pitchFamily="18" charset="0"/>
            </a:endParaRP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strike="noStrike" spc="-1" dirty="0">
                <a:solidFill>
                  <a:srgbClr val="000000"/>
                </a:solidFill>
                <a:uFillTx/>
                <a:ea typeface="Calibri"/>
                <a:cs typeface="Times New Roman" panose="02020603050405020304" pitchFamily="18" charset="0"/>
              </a:rPr>
              <a:t>Example:</a:t>
            </a:r>
            <a:endParaRPr lang="en-US" sz="2000" b="1" strike="noStrike" spc="-1" dirty="0">
              <a:solidFill>
                <a:srgbClr val="000000"/>
              </a:solidFill>
              <a:cs typeface="Times New Roman" panose="02020603050405020304" pitchFamily="18" charset="0"/>
            </a:endParaRP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Calibri"/>
                <a:cs typeface="Times New Roman" panose="02020603050405020304" pitchFamily="18" charset="0"/>
              </a:rPr>
              <a:t>		x = “awesome”</a:t>
            </a:r>
            <a:br>
              <a:rPr lang="en-US" sz="2000" dirty="0">
                <a:cs typeface="Times New Roman" panose="02020603050405020304" pitchFamily="18" charset="0"/>
              </a:rPr>
            </a:br>
            <a:r>
              <a:rPr lang="en-US" sz="2000" dirty="0">
                <a:cs typeface="Times New Roman" panose="02020603050405020304" pitchFamily="18" charset="0"/>
              </a:rPr>
              <a:t>		</a:t>
            </a:r>
            <a:r>
              <a:rPr lang="en-US" sz="2000" b="0" strike="noStrike" spc="-1" dirty="0">
                <a:solidFill>
                  <a:srgbClr val="000000"/>
                </a:solidFill>
                <a:ea typeface="Calibri"/>
                <a:cs typeface="Times New Roman" panose="02020603050405020304" pitchFamily="18" charset="0"/>
              </a:rPr>
              <a:t>def myfunc():</a:t>
            </a:r>
            <a:br>
              <a:rPr lang="en-US" sz="2000" dirty="0">
                <a:cs typeface="Times New Roman" panose="02020603050405020304" pitchFamily="18" charset="0"/>
              </a:rPr>
            </a:br>
            <a:r>
              <a:rPr lang="en-US" sz="2000" b="0" strike="noStrike" spc="-1" dirty="0">
                <a:solidFill>
                  <a:srgbClr val="000000"/>
                </a:solidFill>
                <a:ea typeface="Calibri"/>
                <a:cs typeface="Times New Roman" panose="02020603050405020304" pitchFamily="18" charset="0"/>
              </a:rPr>
              <a:t>			x = “fantastic”</a:t>
            </a:r>
            <a:br>
              <a:rPr lang="en-US" sz="2000" dirty="0">
                <a:cs typeface="Times New Roman" panose="02020603050405020304" pitchFamily="18" charset="0"/>
              </a:rPr>
            </a:br>
            <a:r>
              <a:rPr lang="en-US" sz="2000" dirty="0">
                <a:cs typeface="Times New Roman" panose="02020603050405020304" pitchFamily="18" charset="0"/>
              </a:rPr>
              <a:t>		</a:t>
            </a:r>
            <a:r>
              <a:rPr lang="en-US" sz="2000" b="0" strike="noStrike" spc="-1" dirty="0">
                <a:solidFill>
                  <a:srgbClr val="000000"/>
                </a:solidFill>
                <a:ea typeface="Calibri"/>
                <a:cs typeface="Times New Roman" panose="02020603050405020304" pitchFamily="18" charset="0"/>
              </a:rPr>
              <a:t>	print(“Python is “ + x)		#Python is fantastic</a:t>
            </a:r>
            <a:br>
              <a:rPr lang="en-US" sz="2000" dirty="0">
                <a:cs typeface="Times New Roman" panose="02020603050405020304" pitchFamily="18" charset="0"/>
              </a:rPr>
            </a:br>
            <a:r>
              <a:rPr lang="en-US" sz="2000" dirty="0">
                <a:cs typeface="Times New Roman" panose="02020603050405020304" pitchFamily="18" charset="0"/>
              </a:rPr>
              <a:t>		</a:t>
            </a:r>
            <a:r>
              <a:rPr lang="en-US" sz="2000" b="0" strike="noStrike" spc="-1" dirty="0">
                <a:solidFill>
                  <a:srgbClr val="000000"/>
                </a:solidFill>
                <a:ea typeface="Calibri"/>
                <a:cs typeface="Times New Roman" panose="02020603050405020304" pitchFamily="18" charset="0"/>
              </a:rPr>
              <a:t>myfunc()</a:t>
            </a:r>
            <a:endParaRPr lang="en-US" sz="2000" b="0" strike="noStrike" spc="-1" dirty="0">
              <a:solidFill>
                <a:srgbClr val="000000"/>
              </a:solidFill>
              <a:cs typeface="Times New Roman" panose="02020603050405020304" pitchFamily="18" charset="0"/>
            </a:endParaRPr>
          </a:p>
          <a:p>
            <a:pPr marL="0" indent="0">
              <a:lnSpc>
                <a:spcPct val="100000"/>
              </a:lnSpc>
              <a:spcBef>
                <a:spcPts val="11"/>
              </a:spcBef>
              <a:spcAft>
                <a:spcPts val="11"/>
              </a:spcAft>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strike="noStrike" spc="-1" dirty="0">
                <a:solidFill>
                  <a:srgbClr val="000000"/>
                </a:solidFill>
                <a:ea typeface="Calibri"/>
                <a:cs typeface="Times New Roman" panose="02020603050405020304" pitchFamily="18" charset="0"/>
              </a:rPr>
              <a:t>		print(“Python is “ + x)			#Python is awesome</a:t>
            </a:r>
            <a:endParaRPr lang="en-US" sz="2000" b="0" strike="noStrike" spc="-1" dirty="0">
              <a:solidFill>
                <a:srgbClr val="000000"/>
              </a:solidFill>
              <a:cs typeface="Times New Roman" panose="02020603050405020304" pitchFamily="18" charset="0"/>
            </a:endParaRPr>
          </a:p>
          <a:p>
            <a:endParaRPr lang="en-IN" dirty="0"/>
          </a:p>
        </p:txBody>
      </p:sp>
    </p:spTree>
    <p:extLst>
      <p:ext uri="{BB962C8B-B14F-4D97-AF65-F5344CB8AC3E}">
        <p14:creationId xmlns:p14="http://schemas.microsoft.com/office/powerpoint/2010/main" val="18262730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A7354DC-A376-B8FF-3633-88A84488E5A5}"/>
              </a:ext>
            </a:extLst>
          </p:cNvPr>
          <p:cNvSpPr txBox="1"/>
          <p:nvPr/>
        </p:nvSpPr>
        <p:spPr>
          <a:xfrm>
            <a:off x="1113905" y="714895"/>
            <a:ext cx="10041775" cy="769441"/>
          </a:xfrm>
          <a:prstGeom prst="rect">
            <a:avLst/>
          </a:prstGeom>
          <a:noFill/>
        </p:spPr>
        <p:txBody>
          <a:bodyPr wrap="square" rtlCol="0">
            <a:spAutoFit/>
          </a:bodyPr>
          <a:lstStyle/>
          <a:p>
            <a:pPr algn="ctr"/>
            <a:r>
              <a:rPr lang="en-IN" sz="4400" b="1" i="1" dirty="0">
                <a:solidFill>
                  <a:srgbClr val="FF0000"/>
                </a:solidFill>
                <a:effectLst>
                  <a:outerShdw blurRad="38100" dist="38100" dir="2700000" algn="tl">
                    <a:srgbClr val="000000">
                      <a:alpha val="43137"/>
                    </a:srgbClr>
                  </a:outerShdw>
                </a:effectLst>
              </a:rPr>
              <a:t>PYTHON OOPs CONCEPT</a:t>
            </a:r>
          </a:p>
        </p:txBody>
      </p:sp>
      <p:sp>
        <p:nvSpPr>
          <p:cNvPr id="6" name="TextBox 5">
            <a:extLst>
              <a:ext uri="{FF2B5EF4-FFF2-40B4-BE49-F238E27FC236}">
                <a16:creationId xmlns:a16="http://schemas.microsoft.com/office/drawing/2014/main" id="{6E526E69-33CB-E9D9-E057-C4BDEE7C172E}"/>
              </a:ext>
            </a:extLst>
          </p:cNvPr>
          <p:cNvSpPr txBox="1"/>
          <p:nvPr/>
        </p:nvSpPr>
        <p:spPr>
          <a:xfrm>
            <a:off x="665018" y="1995055"/>
            <a:ext cx="11122429" cy="2862322"/>
          </a:xfrm>
          <a:prstGeom prst="rect">
            <a:avLst/>
          </a:prstGeom>
          <a:noFill/>
        </p:spPr>
        <p:txBody>
          <a:bodyPr wrap="square">
            <a:spAutoFit/>
          </a:bodyPr>
          <a:lstStyle/>
          <a:p>
            <a:pPr marL="342900" indent="-342900" algn="l" rtl="0" fontAlgn="base">
              <a:spcAft>
                <a:spcPts val="750"/>
              </a:spcAft>
              <a:buFont typeface="Arial" panose="020B0604020202020204" pitchFamily="34" charset="0"/>
              <a:buChar char="•"/>
            </a:pPr>
            <a:r>
              <a:rPr lang="en-US" sz="2000" b="0" i="0" dirty="0">
                <a:solidFill>
                  <a:srgbClr val="273239"/>
                </a:solidFill>
                <a:effectLst/>
              </a:rPr>
              <a:t>Object Oriented Programming is a fundamental concept in Python, empowering developers to build modular, maintainable, and scalable applications. </a:t>
            </a:r>
          </a:p>
          <a:p>
            <a:pPr marL="342900" indent="-342900" algn="l" rtl="0" fontAlgn="base">
              <a:spcAft>
                <a:spcPts val="750"/>
              </a:spcAft>
              <a:buFont typeface="Arial" panose="020B0604020202020204" pitchFamily="34" charset="0"/>
              <a:buChar char="•"/>
            </a:pPr>
            <a:r>
              <a:rPr lang="en-US" sz="2000" b="0" i="0" dirty="0">
                <a:solidFill>
                  <a:srgbClr val="273239"/>
                </a:solidFill>
                <a:effectLst/>
              </a:rPr>
              <a:t>By understanding the core OOP principles (classes, objects, inheritance, encapsulation, polymorphism, and abstraction), programmers can leverage the full potential of Python OOP capabilities to design elegant and efficient solutions to complex problems.</a:t>
            </a:r>
          </a:p>
          <a:p>
            <a:pPr marL="342900" indent="-342900" algn="l" rtl="0" fontAlgn="base">
              <a:spcAft>
                <a:spcPts val="750"/>
              </a:spcAft>
              <a:buFont typeface="Arial" panose="020B0604020202020204" pitchFamily="34" charset="0"/>
              <a:buChar char="•"/>
            </a:pPr>
            <a:r>
              <a:rPr lang="en-US" sz="2000" b="0" i="0" dirty="0">
                <a:solidFill>
                  <a:srgbClr val="273239"/>
                </a:solidFill>
                <a:effectLst/>
              </a:rPr>
              <a:t>OOPs is a way of organizing code that uses objects and classes to represent real-world entities and their behavior. </a:t>
            </a:r>
          </a:p>
          <a:p>
            <a:pPr marL="342900" indent="-342900" algn="l" rtl="0" fontAlgn="base">
              <a:spcAft>
                <a:spcPts val="750"/>
              </a:spcAft>
              <a:buFont typeface="Arial" panose="020B0604020202020204" pitchFamily="34" charset="0"/>
              <a:buChar char="•"/>
            </a:pPr>
            <a:r>
              <a:rPr lang="en-US" sz="2000" b="0" i="0" dirty="0">
                <a:solidFill>
                  <a:srgbClr val="273239"/>
                </a:solidFill>
                <a:effectLst/>
              </a:rPr>
              <a:t>In OOPs, object has attributes that has specific data and can perform certain actions using methods.</a:t>
            </a:r>
          </a:p>
        </p:txBody>
      </p:sp>
    </p:spTree>
    <p:extLst>
      <p:ext uri="{BB962C8B-B14F-4D97-AF65-F5344CB8AC3E}">
        <p14:creationId xmlns:p14="http://schemas.microsoft.com/office/powerpoint/2010/main" val="1011627512"/>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4F019B-A720-A6E4-F8F8-0A1E5B3291A3}"/>
              </a:ext>
            </a:extLst>
          </p:cNvPr>
          <p:cNvPicPr>
            <a:picLocks noChangeAspect="1"/>
          </p:cNvPicPr>
          <p:nvPr/>
        </p:nvPicPr>
        <p:blipFill>
          <a:blip r:embed="rId2"/>
          <a:srcRect b="7447"/>
          <a:stretch/>
        </p:blipFill>
        <p:spPr>
          <a:xfrm>
            <a:off x="3036916" y="1643577"/>
            <a:ext cx="4954385" cy="3570846"/>
          </a:xfrm>
          <a:prstGeom prst="rect">
            <a:avLst/>
          </a:prstGeom>
        </p:spPr>
      </p:pic>
      <p:pic>
        <p:nvPicPr>
          <p:cNvPr id="5" name="Picture 4">
            <a:extLst>
              <a:ext uri="{FF2B5EF4-FFF2-40B4-BE49-F238E27FC236}">
                <a16:creationId xmlns:a16="http://schemas.microsoft.com/office/drawing/2014/main" id="{BA06BBB2-1D75-E3DC-49F8-4124B3896A2A}"/>
              </a:ext>
            </a:extLst>
          </p:cNvPr>
          <p:cNvPicPr/>
          <p:nvPr/>
        </p:nvPicPr>
        <p:blipFill>
          <a:blip r:embed="rId3" cstate="print"/>
          <a:stretch/>
        </p:blipFill>
        <p:spPr>
          <a:xfrm>
            <a:off x="11503320" y="20605"/>
            <a:ext cx="688680" cy="689040"/>
          </a:xfrm>
          <a:prstGeom prst="rect">
            <a:avLst/>
          </a:prstGeom>
          <a:ln w="0">
            <a:noFill/>
          </a:ln>
        </p:spPr>
      </p:pic>
    </p:spTree>
    <p:extLst>
      <p:ext uri="{BB962C8B-B14F-4D97-AF65-F5344CB8AC3E}">
        <p14:creationId xmlns:p14="http://schemas.microsoft.com/office/powerpoint/2010/main" val="109601963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BA5D5A4-8A40-718C-E9F6-FB46CCF5B49C}"/>
              </a:ext>
            </a:extLst>
          </p:cNvPr>
          <p:cNvPicPr/>
          <p:nvPr/>
        </p:nvPicPr>
        <p:blipFill>
          <a:blip r:embed="rId2" cstate="print"/>
          <a:stretch/>
        </p:blipFill>
        <p:spPr>
          <a:xfrm>
            <a:off x="11503320" y="20605"/>
            <a:ext cx="688680" cy="689040"/>
          </a:xfrm>
          <a:prstGeom prst="rect">
            <a:avLst/>
          </a:prstGeom>
          <a:ln w="0">
            <a:noFill/>
          </a:ln>
        </p:spPr>
      </p:pic>
      <p:sp>
        <p:nvSpPr>
          <p:cNvPr id="3" name="TextBox 2">
            <a:extLst>
              <a:ext uri="{FF2B5EF4-FFF2-40B4-BE49-F238E27FC236}">
                <a16:creationId xmlns:a16="http://schemas.microsoft.com/office/drawing/2014/main" id="{BE1BA929-BBB4-56B6-4496-576C72676510}"/>
              </a:ext>
            </a:extLst>
          </p:cNvPr>
          <p:cNvSpPr txBox="1"/>
          <p:nvPr/>
        </p:nvSpPr>
        <p:spPr>
          <a:xfrm>
            <a:off x="1014152" y="709645"/>
            <a:ext cx="10489167" cy="4703852"/>
          </a:xfrm>
          <a:prstGeom prst="rect">
            <a:avLst/>
          </a:prstGeom>
          <a:noFill/>
        </p:spPr>
        <p:txBody>
          <a:bodyPr wrap="square" rtlCol="0">
            <a:spAutoFit/>
          </a:bodyPr>
          <a:lstStyle/>
          <a:p>
            <a:r>
              <a:rPr lang="en-IN" sz="2800" b="1" dirty="0">
                <a:solidFill>
                  <a:srgbClr val="FF0000"/>
                </a:solidFill>
              </a:rPr>
              <a:t>PYTHON CLASS</a:t>
            </a:r>
          </a:p>
          <a:p>
            <a:endParaRPr lang="en-IN" sz="2000" b="1" dirty="0">
              <a:solidFill>
                <a:srgbClr val="FF0000"/>
              </a:solidFill>
            </a:endParaRPr>
          </a:p>
          <a:p>
            <a:pPr marL="342900" indent="-342900" algn="l" rtl="0" fontAlgn="base">
              <a:spcAft>
                <a:spcPts val="750"/>
              </a:spcAft>
              <a:buFont typeface="Arial" panose="020B0604020202020204" pitchFamily="34" charset="0"/>
              <a:buChar char="•"/>
            </a:pPr>
            <a:r>
              <a:rPr lang="en-US" sz="2000" b="0" i="0" dirty="0">
                <a:solidFill>
                  <a:srgbClr val="273239"/>
                </a:solidFill>
                <a:effectLst/>
              </a:rPr>
              <a:t>A class is a collection of objects. </a:t>
            </a:r>
          </a:p>
          <a:p>
            <a:pPr marL="342900" indent="-342900" algn="l" rtl="0" fontAlgn="base">
              <a:spcAft>
                <a:spcPts val="750"/>
              </a:spcAft>
              <a:buFont typeface="Arial" panose="020B0604020202020204" pitchFamily="34" charset="0"/>
              <a:buChar char="•"/>
            </a:pPr>
            <a:r>
              <a:rPr lang="en-US" sz="2000" b="0" i="0" dirty="0">
                <a:solidFill>
                  <a:srgbClr val="273239"/>
                </a:solidFill>
                <a:effectLst/>
              </a:rPr>
              <a:t>Classes are blueprints for creating objects. </a:t>
            </a:r>
          </a:p>
          <a:p>
            <a:pPr marL="342900" indent="-342900" algn="l" rtl="0" fontAlgn="base">
              <a:spcAft>
                <a:spcPts val="750"/>
              </a:spcAft>
              <a:buFont typeface="Arial" panose="020B0604020202020204" pitchFamily="34" charset="0"/>
              <a:buChar char="•"/>
            </a:pPr>
            <a:r>
              <a:rPr lang="en-US" sz="2000" b="0" i="0" dirty="0">
                <a:solidFill>
                  <a:srgbClr val="273239"/>
                </a:solidFill>
                <a:effectLst/>
              </a:rPr>
              <a:t>A class defines a set of attributes and methods that the created objects (instances) can have.</a:t>
            </a:r>
          </a:p>
          <a:p>
            <a:pPr algn="l" rtl="0" fontAlgn="base">
              <a:spcAft>
                <a:spcPts val="750"/>
              </a:spcAft>
            </a:pPr>
            <a:r>
              <a:rPr lang="en-US" sz="2000" b="1" i="0" dirty="0">
                <a:solidFill>
                  <a:srgbClr val="273239"/>
                </a:solidFill>
                <a:effectLst/>
              </a:rPr>
              <a:t>Some points on Python class:</a:t>
            </a:r>
            <a:r>
              <a:rPr lang="en-US" sz="2000" b="0" i="0" dirty="0">
                <a:solidFill>
                  <a:srgbClr val="273239"/>
                </a:solidFill>
                <a:effectLst/>
              </a:rPr>
              <a:t>  </a:t>
            </a:r>
          </a:p>
          <a:p>
            <a:pPr marL="342900" indent="-342900" algn="l" fontAlgn="base">
              <a:spcAft>
                <a:spcPts val="1800"/>
              </a:spcAft>
              <a:buFont typeface="Arial" panose="020B0604020202020204" pitchFamily="34" charset="0"/>
              <a:buChar char="•"/>
            </a:pPr>
            <a:r>
              <a:rPr lang="en-US" sz="2000" b="0" i="0" dirty="0">
                <a:solidFill>
                  <a:srgbClr val="273239"/>
                </a:solidFill>
                <a:effectLst/>
              </a:rPr>
              <a:t>Classes are created by keyword </a:t>
            </a:r>
            <a:r>
              <a:rPr lang="en-US" sz="2000" b="1" i="0" dirty="0">
                <a:solidFill>
                  <a:srgbClr val="273239"/>
                </a:solidFill>
                <a:effectLst/>
              </a:rPr>
              <a:t>class</a:t>
            </a:r>
            <a:r>
              <a:rPr lang="en-US" sz="2000" b="0" i="0" dirty="0">
                <a:solidFill>
                  <a:srgbClr val="273239"/>
                </a:solidFill>
                <a:effectLst/>
              </a:rPr>
              <a:t>.</a:t>
            </a:r>
          </a:p>
          <a:p>
            <a:pPr marL="342900" indent="-342900" algn="l" fontAlgn="base">
              <a:spcAft>
                <a:spcPts val="1800"/>
              </a:spcAft>
              <a:buFont typeface="Arial" panose="020B0604020202020204" pitchFamily="34" charset="0"/>
              <a:buChar char="•"/>
            </a:pPr>
            <a:r>
              <a:rPr lang="en-US" sz="2000" b="0" i="0" dirty="0">
                <a:solidFill>
                  <a:srgbClr val="273239"/>
                </a:solidFill>
                <a:effectLst/>
              </a:rPr>
              <a:t>Attributes are the variables that belong to a class.</a:t>
            </a:r>
          </a:p>
          <a:p>
            <a:pPr marL="342900" indent="-342900" algn="l" fontAlgn="base">
              <a:spcAft>
                <a:spcPts val="1800"/>
              </a:spcAft>
              <a:buFont typeface="Arial" panose="020B0604020202020204" pitchFamily="34" charset="0"/>
              <a:buChar char="•"/>
            </a:pPr>
            <a:r>
              <a:rPr lang="en-US" sz="2000" b="0" i="0" dirty="0">
                <a:solidFill>
                  <a:srgbClr val="273239"/>
                </a:solidFill>
                <a:effectLst/>
              </a:rPr>
              <a:t>Attributes are always public and can be accessed using the dot (.) operator. Example: </a:t>
            </a:r>
            <a:r>
              <a:rPr lang="en-US" sz="2000" b="0" i="0" dirty="0" err="1">
                <a:solidFill>
                  <a:srgbClr val="273239"/>
                </a:solidFill>
                <a:effectLst/>
              </a:rPr>
              <a:t>Myclass.Myattribute</a:t>
            </a:r>
            <a:endParaRPr lang="en-US" sz="2000" b="0" i="0" dirty="0">
              <a:solidFill>
                <a:srgbClr val="273239"/>
              </a:solidFill>
              <a:effectLst/>
            </a:endParaRPr>
          </a:p>
          <a:p>
            <a:endParaRPr lang="en-IN" sz="2000" dirty="0"/>
          </a:p>
        </p:txBody>
      </p:sp>
    </p:spTree>
    <p:extLst>
      <p:ext uri="{BB962C8B-B14F-4D97-AF65-F5344CB8AC3E}">
        <p14:creationId xmlns:p14="http://schemas.microsoft.com/office/powerpoint/2010/main" val="117445747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F60930E-4ABE-87ED-9D84-666BAA50BB71}"/>
              </a:ext>
            </a:extLst>
          </p:cNvPr>
          <p:cNvPicPr/>
          <p:nvPr/>
        </p:nvPicPr>
        <p:blipFill>
          <a:blip r:embed="rId2" cstate="print"/>
          <a:stretch/>
        </p:blipFill>
        <p:spPr>
          <a:xfrm>
            <a:off x="11503320" y="20605"/>
            <a:ext cx="688680" cy="689040"/>
          </a:xfrm>
          <a:prstGeom prst="rect">
            <a:avLst/>
          </a:prstGeom>
          <a:ln w="0">
            <a:noFill/>
          </a:ln>
        </p:spPr>
      </p:pic>
      <p:pic>
        <p:nvPicPr>
          <p:cNvPr id="3" name="Picture 2">
            <a:extLst>
              <a:ext uri="{FF2B5EF4-FFF2-40B4-BE49-F238E27FC236}">
                <a16:creationId xmlns:a16="http://schemas.microsoft.com/office/drawing/2014/main" id="{E7E4B9C8-5AAB-241A-20B2-37A881E9596A}"/>
              </a:ext>
            </a:extLst>
          </p:cNvPr>
          <p:cNvPicPr/>
          <p:nvPr/>
        </p:nvPicPr>
        <p:blipFill>
          <a:blip r:embed="rId2" cstate="print"/>
          <a:stretch/>
        </p:blipFill>
        <p:spPr>
          <a:xfrm>
            <a:off x="11655720" y="173005"/>
            <a:ext cx="688680" cy="689040"/>
          </a:xfrm>
          <a:prstGeom prst="rect">
            <a:avLst/>
          </a:prstGeom>
          <a:ln w="0">
            <a:noFill/>
          </a:ln>
        </p:spPr>
      </p:pic>
      <p:sp>
        <p:nvSpPr>
          <p:cNvPr id="4" name="TextBox 3">
            <a:extLst>
              <a:ext uri="{FF2B5EF4-FFF2-40B4-BE49-F238E27FC236}">
                <a16:creationId xmlns:a16="http://schemas.microsoft.com/office/drawing/2014/main" id="{EF65660B-BE7C-FDFC-E31C-2181971C7AEC}"/>
              </a:ext>
            </a:extLst>
          </p:cNvPr>
          <p:cNvSpPr txBox="1"/>
          <p:nvPr/>
        </p:nvSpPr>
        <p:spPr>
          <a:xfrm>
            <a:off x="648392" y="862045"/>
            <a:ext cx="10507288" cy="2554545"/>
          </a:xfrm>
          <a:prstGeom prst="rect">
            <a:avLst/>
          </a:prstGeom>
          <a:noFill/>
        </p:spPr>
        <p:txBody>
          <a:bodyPr wrap="square" rtlCol="0">
            <a:spAutoFit/>
          </a:bodyPr>
          <a:lstStyle/>
          <a:p>
            <a:r>
              <a:rPr lang="en-IN" sz="2000" b="1" dirty="0"/>
              <a:t>CREATING A CLASS</a:t>
            </a:r>
          </a:p>
          <a:p>
            <a:endParaRPr lang="en-IN" sz="2000" b="1" dirty="0"/>
          </a:p>
          <a:p>
            <a:r>
              <a:rPr lang="en-US" sz="2000" dirty="0"/>
              <a:t>class Dog:</a:t>
            </a:r>
          </a:p>
          <a:p>
            <a:r>
              <a:rPr lang="en-US" sz="2000" dirty="0"/>
              <a:t>    species = "Canine"  # Class attribute</a:t>
            </a:r>
          </a:p>
          <a:p>
            <a:endParaRPr lang="en-US" sz="2000" dirty="0"/>
          </a:p>
          <a:p>
            <a:r>
              <a:rPr lang="en-US" sz="2000" dirty="0"/>
              <a:t>    def __init__(self, name, age):</a:t>
            </a:r>
          </a:p>
          <a:p>
            <a:r>
              <a:rPr lang="en-US" sz="2000" dirty="0"/>
              <a:t>        self.name = name  # Instance attribute</a:t>
            </a:r>
          </a:p>
          <a:p>
            <a:r>
              <a:rPr lang="en-US" sz="2000" dirty="0"/>
              <a:t>        </a:t>
            </a:r>
            <a:r>
              <a:rPr lang="en-US" sz="2000" dirty="0" err="1"/>
              <a:t>self.age</a:t>
            </a:r>
            <a:r>
              <a:rPr lang="en-US" sz="2000" dirty="0"/>
              <a:t> = age  # Instance attribute</a:t>
            </a:r>
            <a:endParaRPr lang="en-US" sz="2000" b="1" dirty="0"/>
          </a:p>
        </p:txBody>
      </p:sp>
    </p:spTree>
    <p:extLst>
      <p:ext uri="{BB962C8B-B14F-4D97-AF65-F5344CB8AC3E}">
        <p14:creationId xmlns:p14="http://schemas.microsoft.com/office/powerpoint/2010/main" val="3223352226"/>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2302B7F-2A15-FC12-B1FB-79CCE3F1B5B2}"/>
              </a:ext>
            </a:extLst>
          </p:cNvPr>
          <p:cNvPicPr/>
          <p:nvPr/>
        </p:nvPicPr>
        <p:blipFill>
          <a:blip r:embed="rId2" cstate="print"/>
          <a:stretch/>
        </p:blipFill>
        <p:spPr>
          <a:xfrm>
            <a:off x="11503320" y="20605"/>
            <a:ext cx="688680" cy="689040"/>
          </a:xfrm>
          <a:prstGeom prst="rect">
            <a:avLst/>
          </a:prstGeom>
          <a:ln w="0">
            <a:noFill/>
          </a:ln>
        </p:spPr>
      </p:pic>
      <p:sp>
        <p:nvSpPr>
          <p:cNvPr id="3" name="TextBox 2">
            <a:extLst>
              <a:ext uri="{FF2B5EF4-FFF2-40B4-BE49-F238E27FC236}">
                <a16:creationId xmlns:a16="http://schemas.microsoft.com/office/drawing/2014/main" id="{AE426B7C-BDCE-1B0D-8E98-5E1DF590C7BF}"/>
              </a:ext>
            </a:extLst>
          </p:cNvPr>
          <p:cNvSpPr txBox="1"/>
          <p:nvPr/>
        </p:nvSpPr>
        <p:spPr>
          <a:xfrm>
            <a:off x="365759" y="1429789"/>
            <a:ext cx="10989425" cy="3652282"/>
          </a:xfrm>
          <a:prstGeom prst="rect">
            <a:avLst/>
          </a:prstGeom>
          <a:noFill/>
        </p:spPr>
        <p:txBody>
          <a:bodyPr wrap="square" rtlCol="0">
            <a:spAutoFit/>
          </a:bodyPr>
          <a:lstStyle/>
          <a:p>
            <a:r>
              <a:rPr lang="en-IN" sz="2800" b="1" dirty="0">
                <a:solidFill>
                  <a:srgbClr val="FF0000"/>
                </a:solidFill>
              </a:rPr>
              <a:t>PYTHON OBJECTS</a:t>
            </a:r>
          </a:p>
          <a:p>
            <a:endParaRPr lang="en-IN" sz="2000" b="1" dirty="0">
              <a:solidFill>
                <a:srgbClr val="FF0000"/>
              </a:solidFill>
            </a:endParaRPr>
          </a:p>
          <a:p>
            <a:pPr marL="342900" indent="-342900" algn="just" rtl="0" fontAlgn="base">
              <a:spcAft>
                <a:spcPts val="750"/>
              </a:spcAft>
              <a:buFont typeface="Arial" panose="020B0604020202020204" pitchFamily="34" charset="0"/>
              <a:buChar char="•"/>
            </a:pPr>
            <a:r>
              <a:rPr lang="en-US" sz="2000" b="0" i="0" dirty="0">
                <a:solidFill>
                  <a:srgbClr val="273239"/>
                </a:solidFill>
                <a:effectLst/>
              </a:rPr>
              <a:t>An Object is an instance of a Class. It represents a specific implementation of the class and holds its own data.</a:t>
            </a:r>
          </a:p>
          <a:p>
            <a:pPr algn="just" rtl="0" fontAlgn="base">
              <a:spcAft>
                <a:spcPts val="750"/>
              </a:spcAft>
            </a:pPr>
            <a:r>
              <a:rPr lang="en-US" sz="2000" b="0" i="0" dirty="0">
                <a:solidFill>
                  <a:srgbClr val="273239"/>
                </a:solidFill>
                <a:effectLst/>
              </a:rPr>
              <a:t>An object consists of:</a:t>
            </a:r>
          </a:p>
          <a:p>
            <a:pPr marL="342900" indent="-342900" algn="l" fontAlgn="base">
              <a:spcAft>
                <a:spcPts val="1800"/>
              </a:spcAft>
              <a:buFont typeface="Arial" panose="020B0604020202020204" pitchFamily="34" charset="0"/>
              <a:buChar char="•"/>
            </a:pPr>
            <a:r>
              <a:rPr lang="en-US" sz="2000" b="1" i="0" dirty="0">
                <a:solidFill>
                  <a:srgbClr val="273239"/>
                </a:solidFill>
                <a:effectLst/>
              </a:rPr>
              <a:t>State:</a:t>
            </a:r>
            <a:r>
              <a:rPr lang="en-US" sz="2000" b="0" i="0" dirty="0">
                <a:solidFill>
                  <a:srgbClr val="273239"/>
                </a:solidFill>
                <a:effectLst/>
              </a:rPr>
              <a:t> It is represented by the attributes and reflects the properties of an object.</a:t>
            </a:r>
          </a:p>
          <a:p>
            <a:pPr marL="342900" indent="-342900" algn="l" fontAlgn="base">
              <a:spcAft>
                <a:spcPts val="1800"/>
              </a:spcAft>
              <a:buFont typeface="Arial" panose="020B0604020202020204" pitchFamily="34" charset="0"/>
              <a:buChar char="•"/>
            </a:pPr>
            <a:r>
              <a:rPr lang="en-US" sz="2000" b="1" i="0" dirty="0">
                <a:solidFill>
                  <a:srgbClr val="273239"/>
                </a:solidFill>
                <a:effectLst/>
              </a:rPr>
              <a:t>Behavior:</a:t>
            </a:r>
            <a:r>
              <a:rPr lang="en-US" sz="2000" b="0" i="0" dirty="0">
                <a:solidFill>
                  <a:srgbClr val="273239"/>
                </a:solidFill>
                <a:effectLst/>
              </a:rPr>
              <a:t> It is represented by the methods of an object and reflects the response of an object to other objects.</a:t>
            </a:r>
          </a:p>
          <a:p>
            <a:pPr marL="342900" indent="-342900" algn="l" fontAlgn="base">
              <a:spcAft>
                <a:spcPts val="1800"/>
              </a:spcAft>
              <a:buFont typeface="Arial" panose="020B0604020202020204" pitchFamily="34" charset="0"/>
              <a:buChar char="•"/>
            </a:pPr>
            <a:r>
              <a:rPr lang="en-US" sz="2000" b="1" i="0" dirty="0">
                <a:solidFill>
                  <a:srgbClr val="273239"/>
                </a:solidFill>
                <a:effectLst/>
              </a:rPr>
              <a:t>Identity:</a:t>
            </a:r>
            <a:r>
              <a:rPr lang="en-US" sz="2000" b="0" i="0" dirty="0">
                <a:solidFill>
                  <a:srgbClr val="273239"/>
                </a:solidFill>
                <a:effectLst/>
              </a:rPr>
              <a:t> It gives a unique name to an object and enables one object to interact with other objects.</a:t>
            </a:r>
          </a:p>
        </p:txBody>
      </p:sp>
    </p:spTree>
    <p:extLst>
      <p:ext uri="{BB962C8B-B14F-4D97-AF65-F5344CB8AC3E}">
        <p14:creationId xmlns:p14="http://schemas.microsoft.com/office/powerpoint/2010/main" val="1768730802"/>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9CE1C4-4E09-1F3B-30EF-4CD67EDD9605}"/>
              </a:ext>
            </a:extLst>
          </p:cNvPr>
          <p:cNvPicPr/>
          <p:nvPr/>
        </p:nvPicPr>
        <p:blipFill>
          <a:blip r:embed="rId2" cstate="print"/>
          <a:stretch/>
        </p:blipFill>
        <p:spPr>
          <a:xfrm>
            <a:off x="11503320" y="20605"/>
            <a:ext cx="688680" cy="689040"/>
          </a:xfrm>
          <a:prstGeom prst="rect">
            <a:avLst/>
          </a:prstGeom>
          <a:ln w="0">
            <a:noFill/>
          </a:ln>
        </p:spPr>
      </p:pic>
      <p:sp>
        <p:nvSpPr>
          <p:cNvPr id="3" name="TextBox 2">
            <a:extLst>
              <a:ext uri="{FF2B5EF4-FFF2-40B4-BE49-F238E27FC236}">
                <a16:creationId xmlns:a16="http://schemas.microsoft.com/office/drawing/2014/main" id="{997A40AB-A59F-5430-6C4E-7E87EF390CCA}"/>
              </a:ext>
            </a:extLst>
          </p:cNvPr>
          <p:cNvSpPr txBox="1"/>
          <p:nvPr/>
        </p:nvSpPr>
        <p:spPr>
          <a:xfrm>
            <a:off x="465513" y="532015"/>
            <a:ext cx="10640291" cy="4708981"/>
          </a:xfrm>
          <a:prstGeom prst="rect">
            <a:avLst/>
          </a:prstGeom>
          <a:noFill/>
        </p:spPr>
        <p:txBody>
          <a:bodyPr wrap="square" rtlCol="0">
            <a:spAutoFit/>
          </a:bodyPr>
          <a:lstStyle/>
          <a:p>
            <a:r>
              <a:rPr lang="en-IN" sz="2000" b="1" dirty="0"/>
              <a:t>Creating Object</a:t>
            </a:r>
          </a:p>
          <a:p>
            <a:endParaRPr lang="en-IN" sz="2000" b="1" dirty="0"/>
          </a:p>
          <a:p>
            <a:pPr marL="342900" indent="-342900">
              <a:buFont typeface="Arial" panose="020B0604020202020204" pitchFamily="34" charset="0"/>
              <a:buChar char="•"/>
            </a:pPr>
            <a:r>
              <a:rPr lang="en-US" sz="2000" b="0" i="0" dirty="0">
                <a:solidFill>
                  <a:srgbClr val="273239"/>
                </a:solidFill>
                <a:effectLst/>
              </a:rPr>
              <a:t>Creating an object in Python involves instantiating a class to create a new instance of that class. </a:t>
            </a:r>
          </a:p>
          <a:p>
            <a:pPr marL="342900" indent="-342900">
              <a:buFont typeface="Arial" panose="020B0604020202020204" pitchFamily="34" charset="0"/>
              <a:buChar char="•"/>
            </a:pPr>
            <a:r>
              <a:rPr lang="en-US" sz="2000" b="0" i="0" dirty="0">
                <a:solidFill>
                  <a:srgbClr val="273239"/>
                </a:solidFill>
                <a:effectLst/>
              </a:rPr>
              <a:t>This process is also referred to as object instantiation.</a:t>
            </a:r>
          </a:p>
          <a:p>
            <a:pPr marL="342900" indent="-342900">
              <a:buFont typeface="Arial" panose="020B0604020202020204" pitchFamily="34" charset="0"/>
              <a:buChar char="•"/>
            </a:pPr>
            <a:endParaRPr lang="en-US" sz="2000" dirty="0">
              <a:solidFill>
                <a:srgbClr val="273239"/>
              </a:solidFill>
            </a:endParaRPr>
          </a:p>
          <a:p>
            <a:r>
              <a:rPr lang="en-US" sz="2000" b="1" dirty="0">
                <a:solidFill>
                  <a:srgbClr val="273239"/>
                </a:solidFill>
              </a:rPr>
              <a:t>Example</a:t>
            </a:r>
          </a:p>
          <a:p>
            <a:r>
              <a:rPr lang="en-US" sz="2000" dirty="0"/>
              <a:t>class </a:t>
            </a:r>
            <a:r>
              <a:rPr lang="en-US" sz="2000"/>
              <a:t>Dog:</a:t>
            </a:r>
            <a:endParaRPr lang="en-US" sz="2000" dirty="0"/>
          </a:p>
          <a:p>
            <a:r>
              <a:rPr lang="en-US" sz="2000" dirty="0"/>
              <a:t>    def __init__(self, name, age):</a:t>
            </a:r>
          </a:p>
          <a:p>
            <a:r>
              <a:rPr lang="en-US" sz="2000" dirty="0"/>
              <a:t>        self.name = name  # Instance attribute</a:t>
            </a:r>
          </a:p>
          <a:p>
            <a:r>
              <a:rPr lang="en-US" sz="2000" dirty="0"/>
              <a:t>        </a:t>
            </a:r>
            <a:r>
              <a:rPr lang="en-US" sz="2000" dirty="0" err="1"/>
              <a:t>self.age</a:t>
            </a:r>
            <a:r>
              <a:rPr lang="en-US" sz="2000" dirty="0"/>
              <a:t> = age  # Instance attribute</a:t>
            </a:r>
          </a:p>
          <a:p>
            <a:endParaRPr lang="en-US" sz="2000" dirty="0"/>
          </a:p>
          <a:p>
            <a:r>
              <a:rPr lang="en-US" sz="2000" dirty="0"/>
              <a:t># Creating an object of the Dog class</a:t>
            </a:r>
          </a:p>
          <a:p>
            <a:r>
              <a:rPr lang="en-US" sz="2000" dirty="0"/>
              <a:t>dog1 = Dog("Buddy", 3)</a:t>
            </a:r>
          </a:p>
          <a:p>
            <a:r>
              <a:rPr lang="en-US" sz="2000" dirty="0"/>
              <a:t>print(dog1.name) </a:t>
            </a:r>
          </a:p>
          <a:p>
            <a:r>
              <a:rPr lang="en-US" sz="2000" dirty="0"/>
              <a:t>Print(dog1.age)</a:t>
            </a:r>
          </a:p>
        </p:txBody>
      </p:sp>
    </p:spTree>
    <p:extLst>
      <p:ext uri="{BB962C8B-B14F-4D97-AF65-F5344CB8AC3E}">
        <p14:creationId xmlns:p14="http://schemas.microsoft.com/office/powerpoint/2010/main" val="1741275573"/>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8413AF8-9FCF-791B-EB71-DCB4FF7465F9}"/>
              </a:ext>
            </a:extLst>
          </p:cNvPr>
          <p:cNvPicPr/>
          <p:nvPr/>
        </p:nvPicPr>
        <p:blipFill>
          <a:blip r:embed="rId2" cstate="print"/>
          <a:stretch/>
        </p:blipFill>
        <p:spPr>
          <a:xfrm>
            <a:off x="11503320" y="20605"/>
            <a:ext cx="688680" cy="689040"/>
          </a:xfrm>
          <a:prstGeom prst="rect">
            <a:avLst/>
          </a:prstGeom>
          <a:ln w="0">
            <a:noFill/>
          </a:ln>
        </p:spPr>
      </p:pic>
      <p:sp>
        <p:nvSpPr>
          <p:cNvPr id="3" name="TextBox 2">
            <a:extLst>
              <a:ext uri="{FF2B5EF4-FFF2-40B4-BE49-F238E27FC236}">
                <a16:creationId xmlns:a16="http://schemas.microsoft.com/office/drawing/2014/main" id="{19954AB3-5804-067E-5169-05A46425BFE7}"/>
              </a:ext>
            </a:extLst>
          </p:cNvPr>
          <p:cNvSpPr txBox="1"/>
          <p:nvPr/>
        </p:nvSpPr>
        <p:spPr>
          <a:xfrm>
            <a:off x="665018" y="532015"/>
            <a:ext cx="10838302" cy="5940088"/>
          </a:xfrm>
          <a:prstGeom prst="rect">
            <a:avLst/>
          </a:prstGeom>
          <a:noFill/>
        </p:spPr>
        <p:txBody>
          <a:bodyPr wrap="square" rtlCol="0">
            <a:spAutoFit/>
          </a:bodyPr>
          <a:lstStyle/>
          <a:p>
            <a:r>
              <a:rPr lang="en-IN" sz="2000" b="1" dirty="0">
                <a:solidFill>
                  <a:srgbClr val="FF0000"/>
                </a:solidFill>
              </a:rPr>
              <a:t>SELF PARAMETER</a:t>
            </a:r>
          </a:p>
          <a:p>
            <a:endParaRPr lang="en-IN" sz="2000" b="1" dirty="0">
              <a:solidFill>
                <a:srgbClr val="FF0000"/>
              </a:solidFill>
            </a:endParaRPr>
          </a:p>
          <a:p>
            <a:pPr marL="342900" indent="-342900">
              <a:buFont typeface="Arial" panose="020B0604020202020204" pitchFamily="34" charset="0"/>
              <a:buChar char="•"/>
            </a:pPr>
            <a:r>
              <a:rPr lang="en-IN" sz="2000" dirty="0"/>
              <a:t>self </a:t>
            </a:r>
            <a:r>
              <a:rPr lang="en-US" sz="2000" b="0" i="0" dirty="0">
                <a:solidFill>
                  <a:srgbClr val="273239"/>
                </a:solidFill>
                <a:effectLst/>
              </a:rPr>
              <a:t>parameter is a reference to the current instance of the class. It allows us to access the attributes and methods of the object.</a:t>
            </a:r>
          </a:p>
          <a:p>
            <a:pPr marL="342900" indent="-342900">
              <a:buFont typeface="Arial" panose="020B0604020202020204" pitchFamily="34" charset="0"/>
              <a:buChar char="•"/>
            </a:pPr>
            <a:endParaRPr lang="en-US" sz="2000" dirty="0">
              <a:solidFill>
                <a:srgbClr val="273239"/>
              </a:solidFill>
            </a:endParaRPr>
          </a:p>
          <a:p>
            <a:r>
              <a:rPr lang="en-US" sz="2000" b="1" dirty="0">
                <a:solidFill>
                  <a:srgbClr val="273239"/>
                </a:solidFill>
              </a:rPr>
              <a:t>Example</a:t>
            </a:r>
          </a:p>
          <a:p>
            <a:r>
              <a:rPr lang="en-US" sz="2000" dirty="0"/>
              <a:t>class Dog:</a:t>
            </a:r>
          </a:p>
          <a:p>
            <a:r>
              <a:rPr lang="en-US" sz="2000" dirty="0"/>
              <a:t>    species = "Canine"  # Class attribute</a:t>
            </a:r>
          </a:p>
          <a:p>
            <a:endParaRPr lang="en-US" sz="2000" dirty="0"/>
          </a:p>
          <a:p>
            <a:r>
              <a:rPr lang="en-US" sz="2000" dirty="0"/>
              <a:t>    def __init__(self, name, age):</a:t>
            </a:r>
          </a:p>
          <a:p>
            <a:r>
              <a:rPr lang="en-US" sz="2000" dirty="0"/>
              <a:t>        self.name = name  # Instance attribute</a:t>
            </a:r>
          </a:p>
          <a:p>
            <a:r>
              <a:rPr lang="en-US" sz="2000" dirty="0"/>
              <a:t>        </a:t>
            </a:r>
            <a:r>
              <a:rPr lang="en-US" sz="2000" dirty="0" err="1"/>
              <a:t>self.age</a:t>
            </a:r>
            <a:r>
              <a:rPr lang="en-US" sz="2000" dirty="0"/>
              <a:t> = age  # Instance attribute</a:t>
            </a:r>
          </a:p>
          <a:p>
            <a:endParaRPr lang="en-US" sz="2000" dirty="0"/>
          </a:p>
          <a:p>
            <a:r>
              <a:rPr lang="en-US" sz="2000" dirty="0"/>
              <a:t>dog1 = Dog("Buddy", 3)  # Create an instance of Dog</a:t>
            </a:r>
          </a:p>
          <a:p>
            <a:r>
              <a:rPr lang="en-US" sz="2000" dirty="0"/>
              <a:t>dog2 = Dog("Charlie", 5)  # Create another instance of Dog</a:t>
            </a:r>
          </a:p>
          <a:p>
            <a:endParaRPr lang="en-US" sz="2000" dirty="0"/>
          </a:p>
          <a:p>
            <a:r>
              <a:rPr lang="en-US" sz="2000" dirty="0"/>
              <a:t>print(dog1.name, dog1.age, dog1.species)  # Access instance and class attributes</a:t>
            </a:r>
          </a:p>
          <a:p>
            <a:r>
              <a:rPr lang="en-US" sz="2000" dirty="0"/>
              <a:t>print(dog2.name, dog2.age, dog2.species)  # Access instance and class attributes</a:t>
            </a:r>
          </a:p>
          <a:p>
            <a:r>
              <a:rPr lang="en-US" sz="2000" dirty="0"/>
              <a:t>print(</a:t>
            </a:r>
            <a:r>
              <a:rPr lang="en-US" sz="2000" dirty="0" err="1"/>
              <a:t>Dog.species</a:t>
            </a:r>
            <a:r>
              <a:rPr lang="en-US" sz="2000" dirty="0"/>
              <a:t>)  # Access class attribute directly</a:t>
            </a:r>
            <a:endParaRPr lang="en-IN" sz="2000" dirty="0"/>
          </a:p>
        </p:txBody>
      </p:sp>
    </p:spTree>
    <p:extLst>
      <p:ext uri="{BB962C8B-B14F-4D97-AF65-F5344CB8AC3E}">
        <p14:creationId xmlns:p14="http://schemas.microsoft.com/office/powerpoint/2010/main" val="723012089"/>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BDAA484-DC40-08DC-DA51-23C3AFA30421}"/>
              </a:ext>
            </a:extLst>
          </p:cNvPr>
          <p:cNvPicPr/>
          <p:nvPr/>
        </p:nvPicPr>
        <p:blipFill>
          <a:blip r:embed="rId2" cstate="print"/>
          <a:stretch/>
        </p:blipFill>
        <p:spPr>
          <a:xfrm>
            <a:off x="11503320" y="20605"/>
            <a:ext cx="688680" cy="689040"/>
          </a:xfrm>
          <a:prstGeom prst="rect">
            <a:avLst/>
          </a:prstGeom>
          <a:ln w="0">
            <a:noFill/>
          </a:ln>
        </p:spPr>
      </p:pic>
      <p:sp>
        <p:nvSpPr>
          <p:cNvPr id="4" name="TextBox 3">
            <a:extLst>
              <a:ext uri="{FF2B5EF4-FFF2-40B4-BE49-F238E27FC236}">
                <a16:creationId xmlns:a16="http://schemas.microsoft.com/office/drawing/2014/main" id="{B8455314-AC5F-1656-1271-E67DFF1635D1}"/>
              </a:ext>
            </a:extLst>
          </p:cNvPr>
          <p:cNvSpPr txBox="1"/>
          <p:nvPr/>
        </p:nvSpPr>
        <p:spPr>
          <a:xfrm>
            <a:off x="1080655" y="847898"/>
            <a:ext cx="9310254" cy="4401205"/>
          </a:xfrm>
          <a:prstGeom prst="rect">
            <a:avLst/>
          </a:prstGeom>
          <a:noFill/>
        </p:spPr>
        <p:txBody>
          <a:bodyPr wrap="square" rtlCol="0">
            <a:spAutoFit/>
          </a:bodyPr>
          <a:lstStyle/>
          <a:p>
            <a:r>
              <a:rPr lang="en-IN" sz="2000" b="1" dirty="0">
                <a:solidFill>
                  <a:srgbClr val="FF0000"/>
                </a:solidFill>
              </a:rPr>
              <a:t>__init__ METHOD</a:t>
            </a:r>
          </a:p>
          <a:p>
            <a:endParaRPr lang="en-IN" sz="2000" b="1" dirty="0"/>
          </a:p>
          <a:p>
            <a:pPr marL="342900" indent="-342900">
              <a:buFont typeface="Arial" panose="020B0604020202020204" pitchFamily="34" charset="0"/>
              <a:buChar char="•"/>
            </a:pPr>
            <a:r>
              <a:rPr lang="en-IN" sz="2000" dirty="0"/>
              <a:t>__init__ method </a:t>
            </a:r>
            <a:r>
              <a:rPr lang="en-US" sz="2000" b="0" i="0" dirty="0">
                <a:solidFill>
                  <a:srgbClr val="273239"/>
                </a:solidFill>
                <a:effectLst/>
              </a:rPr>
              <a:t>is the constructor in Python, automatically called when a new object is created. </a:t>
            </a:r>
          </a:p>
          <a:p>
            <a:pPr marL="342900" indent="-342900">
              <a:buFont typeface="Arial" panose="020B0604020202020204" pitchFamily="34" charset="0"/>
              <a:buChar char="•"/>
            </a:pPr>
            <a:r>
              <a:rPr lang="en-US" sz="2000" b="0" i="0" dirty="0">
                <a:solidFill>
                  <a:srgbClr val="273239"/>
                </a:solidFill>
                <a:effectLst/>
              </a:rPr>
              <a:t>It initializes the attributes of the class.</a:t>
            </a:r>
          </a:p>
          <a:p>
            <a:pPr marL="342900" indent="-342900">
              <a:buFont typeface="Arial" panose="020B0604020202020204" pitchFamily="34" charset="0"/>
              <a:buChar char="•"/>
            </a:pPr>
            <a:endParaRPr lang="en-US" sz="2000" dirty="0">
              <a:solidFill>
                <a:srgbClr val="273239"/>
              </a:solidFill>
            </a:endParaRPr>
          </a:p>
          <a:p>
            <a:r>
              <a:rPr lang="en-US" sz="2000" b="1" dirty="0">
                <a:solidFill>
                  <a:srgbClr val="273239"/>
                </a:solidFill>
              </a:rPr>
              <a:t>Example</a:t>
            </a:r>
          </a:p>
          <a:p>
            <a:r>
              <a:rPr lang="en-US" sz="2000" dirty="0"/>
              <a:t>class Dog:</a:t>
            </a:r>
          </a:p>
          <a:p>
            <a:r>
              <a:rPr lang="en-US" sz="2000" dirty="0"/>
              <a:t>    def __init__(self, name, age):</a:t>
            </a:r>
          </a:p>
          <a:p>
            <a:r>
              <a:rPr lang="en-US" sz="2000" dirty="0"/>
              <a:t>        self.name = name</a:t>
            </a:r>
          </a:p>
          <a:p>
            <a:r>
              <a:rPr lang="en-US" sz="2000" dirty="0"/>
              <a:t>        </a:t>
            </a:r>
            <a:r>
              <a:rPr lang="en-US" sz="2000" dirty="0" err="1"/>
              <a:t>self.age</a:t>
            </a:r>
            <a:r>
              <a:rPr lang="en-US" sz="2000" dirty="0"/>
              <a:t> = age</a:t>
            </a:r>
          </a:p>
          <a:p>
            <a:endParaRPr lang="en-US" sz="2000" dirty="0"/>
          </a:p>
          <a:p>
            <a:r>
              <a:rPr lang="en-US" sz="2000" dirty="0"/>
              <a:t>dog1 = Dog("Buddy", 3)</a:t>
            </a:r>
          </a:p>
          <a:p>
            <a:r>
              <a:rPr lang="en-US" sz="2000" dirty="0"/>
              <a:t>print(dog1.name)</a:t>
            </a:r>
            <a:endParaRPr lang="en-IN" sz="2000" dirty="0"/>
          </a:p>
        </p:txBody>
      </p:sp>
    </p:spTree>
    <p:extLst>
      <p:ext uri="{BB962C8B-B14F-4D97-AF65-F5344CB8AC3E}">
        <p14:creationId xmlns:p14="http://schemas.microsoft.com/office/powerpoint/2010/main" val="3172253452"/>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E26338E-19FD-B702-98CD-835C11557694}"/>
              </a:ext>
            </a:extLst>
          </p:cNvPr>
          <p:cNvPicPr/>
          <p:nvPr/>
        </p:nvPicPr>
        <p:blipFill>
          <a:blip r:embed="rId2" cstate="print"/>
          <a:stretch/>
        </p:blipFill>
        <p:spPr>
          <a:xfrm>
            <a:off x="11503320" y="20605"/>
            <a:ext cx="688680" cy="689040"/>
          </a:xfrm>
          <a:prstGeom prst="rect">
            <a:avLst/>
          </a:prstGeom>
          <a:ln w="0">
            <a:noFill/>
          </a:ln>
        </p:spPr>
      </p:pic>
      <p:sp>
        <p:nvSpPr>
          <p:cNvPr id="3" name="TextBox 2">
            <a:extLst>
              <a:ext uri="{FF2B5EF4-FFF2-40B4-BE49-F238E27FC236}">
                <a16:creationId xmlns:a16="http://schemas.microsoft.com/office/drawing/2014/main" id="{693353A8-17A3-67ED-3EB7-B126BC9ADAA9}"/>
              </a:ext>
            </a:extLst>
          </p:cNvPr>
          <p:cNvSpPr txBox="1"/>
          <p:nvPr/>
        </p:nvSpPr>
        <p:spPr>
          <a:xfrm>
            <a:off x="482138" y="709645"/>
            <a:ext cx="11155679" cy="5329664"/>
          </a:xfrm>
          <a:prstGeom prst="rect">
            <a:avLst/>
          </a:prstGeom>
          <a:noFill/>
        </p:spPr>
        <p:txBody>
          <a:bodyPr wrap="square" rtlCol="0">
            <a:spAutoFit/>
          </a:bodyPr>
          <a:lstStyle/>
          <a:p>
            <a:r>
              <a:rPr lang="en-IN" sz="2800" b="1" dirty="0">
                <a:solidFill>
                  <a:srgbClr val="FF0000"/>
                </a:solidFill>
              </a:rPr>
              <a:t>PYTHON INHERITANCE</a:t>
            </a:r>
          </a:p>
          <a:p>
            <a:endParaRPr lang="en-IN" sz="2800" b="1" dirty="0"/>
          </a:p>
          <a:p>
            <a:pPr marL="342900" indent="-342900" algn="l" rtl="0" fontAlgn="base">
              <a:spcAft>
                <a:spcPts val="750"/>
              </a:spcAft>
              <a:buFont typeface="Arial" panose="020B0604020202020204" pitchFamily="34" charset="0"/>
              <a:buChar char="•"/>
            </a:pPr>
            <a:r>
              <a:rPr lang="en-US" sz="2000" b="0" i="0" dirty="0">
                <a:solidFill>
                  <a:srgbClr val="273239"/>
                </a:solidFill>
                <a:effectLst/>
                <a:latin typeface="Nunito" pitchFamily="2" charset="0"/>
              </a:rPr>
              <a:t>Inheritance allows a class (child class) to acquire properties and methods of another class (parent class). </a:t>
            </a:r>
          </a:p>
          <a:p>
            <a:pPr marL="342900" indent="-342900" algn="l" rtl="0" fontAlgn="base">
              <a:spcAft>
                <a:spcPts val="750"/>
              </a:spcAft>
              <a:buFont typeface="Arial" panose="020B0604020202020204" pitchFamily="34" charset="0"/>
              <a:buChar char="•"/>
            </a:pPr>
            <a:r>
              <a:rPr lang="en-US" sz="2000" b="0" i="0" dirty="0">
                <a:solidFill>
                  <a:srgbClr val="273239"/>
                </a:solidFill>
                <a:effectLst/>
                <a:latin typeface="Nunito" pitchFamily="2" charset="0"/>
              </a:rPr>
              <a:t>It supports hierarchical classification and promotes code reuse.</a:t>
            </a:r>
          </a:p>
          <a:p>
            <a:pPr algn="l" fontAlgn="base">
              <a:spcBef>
                <a:spcPts val="1800"/>
              </a:spcBef>
              <a:spcAft>
                <a:spcPts val="1800"/>
              </a:spcAft>
            </a:pPr>
            <a:r>
              <a:rPr lang="en-US" sz="2000" b="1" i="0" dirty="0">
                <a:solidFill>
                  <a:srgbClr val="273239"/>
                </a:solidFill>
                <a:effectLst/>
                <a:latin typeface="Nunito" pitchFamily="2" charset="0"/>
              </a:rPr>
              <a:t>Types of Inheritance:</a:t>
            </a:r>
          </a:p>
          <a:p>
            <a:pPr algn="l" fontAlgn="base">
              <a:spcAft>
                <a:spcPts val="1800"/>
              </a:spcAft>
              <a:buFont typeface="+mj-lt"/>
              <a:buAutoNum type="arabicPeriod"/>
            </a:pPr>
            <a:r>
              <a:rPr lang="en-US" sz="2000" b="1" i="0" dirty="0">
                <a:solidFill>
                  <a:srgbClr val="273239"/>
                </a:solidFill>
                <a:effectLst/>
                <a:latin typeface="Nunito" pitchFamily="2" charset="0"/>
              </a:rPr>
              <a:t>Single Inheritance:</a:t>
            </a:r>
            <a:r>
              <a:rPr lang="en-US" sz="2000" b="0" i="0" dirty="0">
                <a:solidFill>
                  <a:srgbClr val="273239"/>
                </a:solidFill>
                <a:effectLst/>
                <a:latin typeface="Nunito" pitchFamily="2" charset="0"/>
              </a:rPr>
              <a:t> A child class inherits from a single parent class.</a:t>
            </a:r>
          </a:p>
          <a:p>
            <a:pPr algn="l" fontAlgn="base">
              <a:spcAft>
                <a:spcPts val="1800"/>
              </a:spcAft>
              <a:buFont typeface="+mj-lt"/>
              <a:buAutoNum type="arabicPeriod" startAt="2"/>
            </a:pPr>
            <a:r>
              <a:rPr lang="en-US" sz="2000" b="1" i="0" dirty="0">
                <a:solidFill>
                  <a:srgbClr val="273239"/>
                </a:solidFill>
                <a:effectLst/>
                <a:latin typeface="Nunito" pitchFamily="2" charset="0"/>
              </a:rPr>
              <a:t>Multiple Inheritance: </a:t>
            </a:r>
            <a:r>
              <a:rPr lang="en-US" sz="2000" b="0" i="0" dirty="0">
                <a:solidFill>
                  <a:srgbClr val="273239"/>
                </a:solidFill>
                <a:effectLst/>
                <a:latin typeface="Nunito" pitchFamily="2" charset="0"/>
              </a:rPr>
              <a:t>A child class inherits from more than one parent class.</a:t>
            </a:r>
          </a:p>
          <a:p>
            <a:pPr algn="l" fontAlgn="base">
              <a:spcAft>
                <a:spcPts val="1800"/>
              </a:spcAft>
              <a:buFont typeface="+mj-lt"/>
              <a:buAutoNum type="arabicPeriod" startAt="3"/>
            </a:pPr>
            <a:r>
              <a:rPr lang="en-US" sz="2000" b="1" i="0" dirty="0">
                <a:solidFill>
                  <a:srgbClr val="273239"/>
                </a:solidFill>
                <a:effectLst/>
                <a:latin typeface="Nunito" pitchFamily="2" charset="0"/>
              </a:rPr>
              <a:t>Multilevel Inheritance:</a:t>
            </a:r>
            <a:r>
              <a:rPr lang="en-US" sz="2000" b="0" i="0" dirty="0">
                <a:solidFill>
                  <a:srgbClr val="273239"/>
                </a:solidFill>
                <a:effectLst/>
                <a:latin typeface="Nunito" pitchFamily="2" charset="0"/>
              </a:rPr>
              <a:t> A child class inherits from a parent class, which in turn inherits from another class</a:t>
            </a:r>
            <a:r>
              <a:rPr lang="en-US" sz="2800" b="0" i="0" dirty="0">
                <a:solidFill>
                  <a:srgbClr val="273239"/>
                </a:solidFill>
                <a:effectLst/>
                <a:latin typeface="Nunito" pitchFamily="2" charset="0"/>
              </a:rPr>
              <a:t>.</a:t>
            </a:r>
          </a:p>
          <a:p>
            <a:endParaRPr lang="en-IN" sz="2800" b="1" dirty="0"/>
          </a:p>
        </p:txBody>
      </p:sp>
    </p:spTree>
    <p:extLst>
      <p:ext uri="{BB962C8B-B14F-4D97-AF65-F5344CB8AC3E}">
        <p14:creationId xmlns:p14="http://schemas.microsoft.com/office/powerpoint/2010/main" val="1579978231"/>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213D05B-DA23-655B-CDB2-F899AA633B97}"/>
              </a:ext>
            </a:extLst>
          </p:cNvPr>
          <p:cNvPicPr/>
          <p:nvPr/>
        </p:nvPicPr>
        <p:blipFill>
          <a:blip r:embed="rId2" cstate="print"/>
          <a:stretch/>
        </p:blipFill>
        <p:spPr>
          <a:xfrm>
            <a:off x="11503320" y="20605"/>
            <a:ext cx="688680" cy="689040"/>
          </a:xfrm>
          <a:prstGeom prst="rect">
            <a:avLst/>
          </a:prstGeom>
          <a:ln w="0">
            <a:noFill/>
          </a:ln>
        </p:spPr>
      </p:pic>
      <p:sp>
        <p:nvSpPr>
          <p:cNvPr id="4" name="TextBox 3">
            <a:extLst>
              <a:ext uri="{FF2B5EF4-FFF2-40B4-BE49-F238E27FC236}">
                <a16:creationId xmlns:a16="http://schemas.microsoft.com/office/drawing/2014/main" id="{8A379AE7-D914-45EE-235D-A4E2DF80C5D5}"/>
              </a:ext>
            </a:extLst>
          </p:cNvPr>
          <p:cNvSpPr txBox="1"/>
          <p:nvPr/>
        </p:nvSpPr>
        <p:spPr>
          <a:xfrm>
            <a:off x="781396" y="282633"/>
            <a:ext cx="5586153" cy="6555641"/>
          </a:xfrm>
          <a:prstGeom prst="rect">
            <a:avLst/>
          </a:prstGeom>
          <a:noFill/>
        </p:spPr>
        <p:txBody>
          <a:bodyPr wrap="square">
            <a:spAutoFit/>
          </a:bodyPr>
          <a:lstStyle/>
          <a:p>
            <a:r>
              <a:rPr lang="en-IN" sz="2000" dirty="0"/>
              <a:t># Single Inheritance</a:t>
            </a:r>
          </a:p>
          <a:p>
            <a:r>
              <a:rPr lang="en-IN" sz="2000" dirty="0"/>
              <a:t>class Dog:</a:t>
            </a:r>
          </a:p>
          <a:p>
            <a:r>
              <a:rPr lang="en-IN" sz="2000" dirty="0"/>
              <a:t>    def __init__(self, name):</a:t>
            </a:r>
          </a:p>
          <a:p>
            <a:r>
              <a:rPr lang="en-IN" sz="2000" dirty="0"/>
              <a:t>        self.name = name</a:t>
            </a:r>
          </a:p>
          <a:p>
            <a:endParaRPr lang="en-IN" sz="2000" dirty="0"/>
          </a:p>
          <a:p>
            <a:r>
              <a:rPr lang="en-IN" sz="2000" dirty="0"/>
              <a:t>    def </a:t>
            </a:r>
            <a:r>
              <a:rPr lang="en-IN" sz="2000" dirty="0" err="1"/>
              <a:t>display_name</a:t>
            </a:r>
            <a:r>
              <a:rPr lang="en-IN" sz="2000" dirty="0"/>
              <a:t>(self):</a:t>
            </a:r>
          </a:p>
          <a:p>
            <a:r>
              <a:rPr lang="en-IN" sz="2000" dirty="0"/>
              <a:t>        print(</a:t>
            </a:r>
            <a:r>
              <a:rPr lang="en-IN" sz="2000" dirty="0" err="1"/>
              <a:t>f"Dog's</a:t>
            </a:r>
            <a:r>
              <a:rPr lang="en-IN" sz="2000" dirty="0"/>
              <a:t> Name: {self.name}")</a:t>
            </a:r>
          </a:p>
          <a:p>
            <a:endParaRPr lang="en-IN" sz="2000" dirty="0"/>
          </a:p>
          <a:p>
            <a:r>
              <a:rPr lang="en-IN" sz="2000" dirty="0"/>
              <a:t>class Labrador(Dog):  # Single Inheritance</a:t>
            </a:r>
          </a:p>
          <a:p>
            <a:r>
              <a:rPr lang="en-IN" sz="2000" dirty="0"/>
              <a:t>    def sound(self):</a:t>
            </a:r>
          </a:p>
          <a:p>
            <a:r>
              <a:rPr lang="en-IN" sz="2000" dirty="0"/>
              <a:t>        print("Labrador woofs")</a:t>
            </a:r>
          </a:p>
          <a:p>
            <a:endParaRPr lang="en-IN" sz="2000" dirty="0"/>
          </a:p>
          <a:p>
            <a:r>
              <a:rPr lang="en-IN" sz="2000" dirty="0"/>
              <a:t># Multilevel Inheritance</a:t>
            </a:r>
          </a:p>
          <a:p>
            <a:r>
              <a:rPr lang="en-IN" sz="2000" dirty="0"/>
              <a:t>class </a:t>
            </a:r>
            <a:r>
              <a:rPr lang="en-IN" sz="2000" dirty="0" err="1"/>
              <a:t>GuideDog</a:t>
            </a:r>
            <a:r>
              <a:rPr lang="en-IN" sz="2000" dirty="0"/>
              <a:t>(Labrador):  # Multilevel Inheritance</a:t>
            </a:r>
          </a:p>
          <a:p>
            <a:r>
              <a:rPr lang="en-IN" sz="2000" dirty="0"/>
              <a:t>    def guide(self):</a:t>
            </a:r>
          </a:p>
          <a:p>
            <a:r>
              <a:rPr lang="en-IN" sz="2000" dirty="0"/>
              <a:t>        print(f"{self.name} Guides the way!")</a:t>
            </a:r>
          </a:p>
          <a:p>
            <a:endParaRPr lang="en-IN" sz="2000" dirty="0"/>
          </a:p>
          <a:p>
            <a:r>
              <a:rPr lang="en-IN" sz="2000" dirty="0"/>
              <a:t># Multiple Inheritance</a:t>
            </a:r>
          </a:p>
          <a:p>
            <a:r>
              <a:rPr lang="en-IN" sz="2000" dirty="0"/>
              <a:t>class Friendly:</a:t>
            </a:r>
          </a:p>
          <a:p>
            <a:r>
              <a:rPr lang="en-IN" sz="2000" dirty="0"/>
              <a:t>    def greet(self):</a:t>
            </a:r>
          </a:p>
          <a:p>
            <a:r>
              <a:rPr lang="en-IN" sz="2000" dirty="0"/>
              <a:t>        print("Friendly!")</a:t>
            </a:r>
          </a:p>
        </p:txBody>
      </p:sp>
      <p:sp>
        <p:nvSpPr>
          <p:cNvPr id="6" name="TextBox 5">
            <a:extLst>
              <a:ext uri="{FF2B5EF4-FFF2-40B4-BE49-F238E27FC236}">
                <a16:creationId xmlns:a16="http://schemas.microsoft.com/office/drawing/2014/main" id="{04836136-EAB7-D118-DF47-5FC0E7A23DBA}"/>
              </a:ext>
            </a:extLst>
          </p:cNvPr>
          <p:cNvSpPr txBox="1"/>
          <p:nvPr/>
        </p:nvSpPr>
        <p:spPr>
          <a:xfrm>
            <a:off x="6633555" y="448887"/>
            <a:ext cx="5153891" cy="5632311"/>
          </a:xfrm>
          <a:prstGeom prst="rect">
            <a:avLst/>
          </a:prstGeom>
          <a:noFill/>
        </p:spPr>
        <p:txBody>
          <a:bodyPr wrap="square">
            <a:spAutoFit/>
          </a:bodyPr>
          <a:lstStyle/>
          <a:p>
            <a:r>
              <a:rPr lang="en-IN" sz="2000" dirty="0"/>
              <a:t>class </a:t>
            </a:r>
            <a:r>
              <a:rPr lang="en-IN" sz="2000" dirty="0" err="1"/>
              <a:t>GoldenRetriever</a:t>
            </a:r>
            <a:r>
              <a:rPr lang="en-IN" sz="2000" dirty="0"/>
              <a:t>(Dog, Friendly):  </a:t>
            </a:r>
          </a:p>
          <a:p>
            <a:r>
              <a:rPr lang="en-IN" sz="2000" dirty="0"/>
              <a:t>	def sound(self):</a:t>
            </a:r>
          </a:p>
          <a:p>
            <a:r>
              <a:rPr lang="en-IN" sz="2000" dirty="0"/>
              <a:t>        	print("Golden Retriever Barks")</a:t>
            </a:r>
          </a:p>
          <a:p>
            <a:endParaRPr lang="en-IN" sz="2000" dirty="0"/>
          </a:p>
          <a:p>
            <a:r>
              <a:rPr lang="en-IN" sz="2000" dirty="0"/>
              <a:t># Example Usage</a:t>
            </a:r>
          </a:p>
          <a:p>
            <a:r>
              <a:rPr lang="en-IN" sz="2000" dirty="0"/>
              <a:t>lab = Labrador("Buddy")</a:t>
            </a:r>
          </a:p>
          <a:p>
            <a:r>
              <a:rPr lang="en-IN" sz="2000" dirty="0" err="1"/>
              <a:t>lab.display_name</a:t>
            </a:r>
            <a:r>
              <a:rPr lang="en-IN" sz="2000" dirty="0"/>
              <a:t>()</a:t>
            </a:r>
          </a:p>
          <a:p>
            <a:r>
              <a:rPr lang="en-IN" sz="2000" dirty="0" err="1"/>
              <a:t>lab.sound</a:t>
            </a:r>
            <a:r>
              <a:rPr lang="en-IN" sz="2000" dirty="0"/>
              <a:t>()</a:t>
            </a:r>
          </a:p>
          <a:p>
            <a:endParaRPr lang="en-IN" sz="2000" dirty="0"/>
          </a:p>
          <a:p>
            <a:r>
              <a:rPr lang="en-IN" sz="2000" dirty="0" err="1"/>
              <a:t>guide_dog</a:t>
            </a:r>
            <a:r>
              <a:rPr lang="en-IN" sz="2000" dirty="0"/>
              <a:t> = </a:t>
            </a:r>
            <a:r>
              <a:rPr lang="en-IN" sz="2000" dirty="0" err="1"/>
              <a:t>GuideDog</a:t>
            </a:r>
            <a:r>
              <a:rPr lang="en-IN" sz="2000" dirty="0"/>
              <a:t>("Max")</a:t>
            </a:r>
          </a:p>
          <a:p>
            <a:r>
              <a:rPr lang="en-IN" sz="2000" dirty="0"/>
              <a:t>Guide =</a:t>
            </a:r>
            <a:r>
              <a:rPr lang="en-IN" sz="2000" dirty="0" err="1"/>
              <a:t>GuideDog</a:t>
            </a:r>
            <a:r>
              <a:rPr lang="en-IN" sz="2000" dirty="0"/>
              <a:t>(“Don”)</a:t>
            </a:r>
          </a:p>
          <a:p>
            <a:r>
              <a:rPr lang="en-IN" sz="2000" dirty="0" err="1"/>
              <a:t>guide_dog.display_name</a:t>
            </a:r>
            <a:r>
              <a:rPr lang="en-IN" sz="2000" dirty="0"/>
              <a:t>()</a:t>
            </a:r>
          </a:p>
          <a:p>
            <a:r>
              <a:rPr lang="en-IN" sz="2000" dirty="0" err="1"/>
              <a:t>guide_dog.guide</a:t>
            </a:r>
            <a:r>
              <a:rPr lang="en-IN" sz="2000" dirty="0"/>
              <a:t>()</a:t>
            </a:r>
          </a:p>
          <a:p>
            <a:endParaRPr lang="en-IN" sz="2000" dirty="0"/>
          </a:p>
          <a:p>
            <a:r>
              <a:rPr lang="en-IN" sz="2000" dirty="0"/>
              <a:t>retriever = </a:t>
            </a:r>
            <a:r>
              <a:rPr lang="en-IN" sz="2000" dirty="0" err="1"/>
              <a:t>GoldenRetriever</a:t>
            </a:r>
            <a:r>
              <a:rPr lang="en-IN" sz="2000" dirty="0"/>
              <a:t>("Charlie")</a:t>
            </a:r>
          </a:p>
          <a:p>
            <a:r>
              <a:rPr lang="en-IN" sz="2000" dirty="0" err="1"/>
              <a:t>retriever.display_name</a:t>
            </a:r>
            <a:r>
              <a:rPr lang="en-IN" sz="2000" dirty="0"/>
              <a:t>()</a:t>
            </a:r>
          </a:p>
          <a:p>
            <a:r>
              <a:rPr lang="en-IN" sz="2000" dirty="0" err="1"/>
              <a:t>retriever.greet</a:t>
            </a:r>
            <a:r>
              <a:rPr lang="en-IN" sz="2000" dirty="0"/>
              <a:t>()</a:t>
            </a:r>
          </a:p>
          <a:p>
            <a:r>
              <a:rPr lang="en-IN" sz="2000" dirty="0" err="1"/>
              <a:t>retriever.sound</a:t>
            </a:r>
            <a:r>
              <a:rPr lang="en-IN" sz="2000" dirty="0"/>
              <a:t>()</a:t>
            </a:r>
          </a:p>
        </p:txBody>
      </p:sp>
      <p:cxnSp>
        <p:nvCxnSpPr>
          <p:cNvPr id="8" name="Straight Connector 7">
            <a:extLst>
              <a:ext uri="{FF2B5EF4-FFF2-40B4-BE49-F238E27FC236}">
                <a16:creationId xmlns:a16="http://schemas.microsoft.com/office/drawing/2014/main" id="{B4F16348-F3CA-EAB4-F592-4A3E7C10B57D}"/>
              </a:ext>
            </a:extLst>
          </p:cNvPr>
          <p:cNvCxnSpPr/>
          <p:nvPr/>
        </p:nvCxnSpPr>
        <p:spPr>
          <a:xfrm>
            <a:off x="6367549" y="20605"/>
            <a:ext cx="0" cy="6837395"/>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93142491"/>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0A46A1C-57DE-AEDF-A7A4-AF28D286E6AF}"/>
              </a:ext>
            </a:extLst>
          </p:cNvPr>
          <p:cNvPicPr/>
          <p:nvPr/>
        </p:nvPicPr>
        <p:blipFill>
          <a:blip r:embed="rId2" cstate="print"/>
          <a:stretch/>
        </p:blipFill>
        <p:spPr>
          <a:xfrm>
            <a:off x="11503320" y="20605"/>
            <a:ext cx="688680" cy="689040"/>
          </a:xfrm>
          <a:prstGeom prst="rect">
            <a:avLst/>
          </a:prstGeom>
          <a:ln w="0">
            <a:noFill/>
          </a:ln>
        </p:spPr>
      </p:pic>
      <p:sp>
        <p:nvSpPr>
          <p:cNvPr id="4" name="TextBox 3">
            <a:extLst>
              <a:ext uri="{FF2B5EF4-FFF2-40B4-BE49-F238E27FC236}">
                <a16:creationId xmlns:a16="http://schemas.microsoft.com/office/drawing/2014/main" id="{B6C9C013-8BF4-F94B-C5FF-FEE91E3EA81E}"/>
              </a:ext>
            </a:extLst>
          </p:cNvPr>
          <p:cNvSpPr txBox="1"/>
          <p:nvPr/>
        </p:nvSpPr>
        <p:spPr>
          <a:xfrm>
            <a:off x="433757" y="709645"/>
            <a:ext cx="11370316" cy="5345053"/>
          </a:xfrm>
          <a:prstGeom prst="rect">
            <a:avLst/>
          </a:prstGeom>
          <a:noFill/>
        </p:spPr>
        <p:txBody>
          <a:bodyPr wrap="square" rtlCol="0">
            <a:spAutoFit/>
          </a:bodyPr>
          <a:lstStyle/>
          <a:p>
            <a:r>
              <a:rPr lang="en-IN" sz="2800" b="1" dirty="0">
                <a:solidFill>
                  <a:srgbClr val="FF0000"/>
                </a:solidFill>
              </a:rPr>
              <a:t>PYTHON POLYMORPHISM</a:t>
            </a:r>
          </a:p>
          <a:p>
            <a:endParaRPr lang="en-IN" sz="2000" b="1" dirty="0"/>
          </a:p>
          <a:p>
            <a:pPr marL="342900" indent="-342900" algn="l" rtl="0" fontAlgn="base">
              <a:spcAft>
                <a:spcPts val="750"/>
              </a:spcAft>
              <a:buFont typeface="Arial" panose="020B0604020202020204" pitchFamily="34" charset="0"/>
              <a:buChar char="•"/>
            </a:pPr>
            <a:r>
              <a:rPr lang="en-US" sz="2000" b="0" i="0" dirty="0">
                <a:solidFill>
                  <a:srgbClr val="273239"/>
                </a:solidFill>
                <a:effectLst/>
              </a:rPr>
              <a:t>Polymorphism allows methods to have the same name but behave differently based on the object’s context. </a:t>
            </a:r>
          </a:p>
          <a:p>
            <a:pPr marL="342900" indent="-342900" algn="l" rtl="0" fontAlgn="base">
              <a:spcAft>
                <a:spcPts val="750"/>
              </a:spcAft>
              <a:buFont typeface="Arial" panose="020B0604020202020204" pitchFamily="34" charset="0"/>
              <a:buChar char="•"/>
            </a:pPr>
            <a:r>
              <a:rPr lang="en-US" sz="2000" b="0" i="0" dirty="0">
                <a:solidFill>
                  <a:srgbClr val="273239"/>
                </a:solidFill>
                <a:effectLst/>
              </a:rPr>
              <a:t>It can be achieved through method overriding or overloading.</a:t>
            </a:r>
          </a:p>
          <a:p>
            <a:pPr algn="l" fontAlgn="base">
              <a:spcBef>
                <a:spcPts val="1800"/>
              </a:spcBef>
              <a:spcAft>
                <a:spcPts val="1800"/>
              </a:spcAft>
            </a:pPr>
            <a:r>
              <a:rPr lang="en-US" sz="2000" b="1" i="0" dirty="0">
                <a:solidFill>
                  <a:srgbClr val="273239"/>
                </a:solidFill>
                <a:effectLst/>
              </a:rPr>
              <a:t>Types of Polymorphism</a:t>
            </a:r>
          </a:p>
          <a:p>
            <a:pPr algn="l" fontAlgn="base">
              <a:spcAft>
                <a:spcPts val="1800"/>
              </a:spcAft>
              <a:buFont typeface="+mj-lt"/>
              <a:buAutoNum type="arabicPeriod"/>
            </a:pPr>
            <a:r>
              <a:rPr lang="en-US" sz="2000" b="1" i="0" dirty="0">
                <a:solidFill>
                  <a:srgbClr val="273239"/>
                </a:solidFill>
                <a:effectLst/>
              </a:rPr>
              <a:t>Compile-Time Polymorphism</a:t>
            </a:r>
            <a:r>
              <a:rPr lang="en-US" sz="2000" b="0" i="0" dirty="0">
                <a:solidFill>
                  <a:srgbClr val="273239"/>
                </a:solidFill>
                <a:effectLst/>
              </a:rPr>
              <a:t>: This type of polymorphism is determined during the compilation of the program. It allows methods or operators with the same name to behave differently based on their input parameters or usage. It is commonly referred to as method or operator overloading.</a:t>
            </a:r>
          </a:p>
          <a:p>
            <a:pPr algn="l" fontAlgn="base">
              <a:spcAft>
                <a:spcPts val="1800"/>
              </a:spcAft>
              <a:buFont typeface="+mj-lt"/>
              <a:buAutoNum type="arabicPeriod" startAt="2"/>
            </a:pPr>
            <a:r>
              <a:rPr lang="en-US" sz="2000" b="1" i="0" dirty="0">
                <a:solidFill>
                  <a:srgbClr val="273239"/>
                </a:solidFill>
                <a:effectLst/>
              </a:rPr>
              <a:t>Run-Time Polymorphism</a:t>
            </a:r>
            <a:r>
              <a:rPr lang="en-US" sz="2000" b="0" i="0" dirty="0">
                <a:solidFill>
                  <a:srgbClr val="273239"/>
                </a:solidFill>
                <a:effectLst/>
              </a:rPr>
              <a:t>: This type of polymorphism is determined during the execution of the program. It occurs when a subclass provides a specific implementation for a method already defined in its parent class, commonly known as method overriding.</a:t>
            </a:r>
          </a:p>
          <a:p>
            <a:endParaRPr lang="en-IN" sz="2000" b="1" dirty="0"/>
          </a:p>
        </p:txBody>
      </p:sp>
    </p:spTree>
    <p:extLst>
      <p:ext uri="{BB962C8B-B14F-4D97-AF65-F5344CB8AC3E}">
        <p14:creationId xmlns:p14="http://schemas.microsoft.com/office/powerpoint/2010/main" val="71442589"/>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6B2AA9F-E897-FE5C-59D0-D9DEB7B9D939}"/>
              </a:ext>
            </a:extLst>
          </p:cNvPr>
          <p:cNvPicPr/>
          <p:nvPr/>
        </p:nvPicPr>
        <p:blipFill>
          <a:blip r:embed="rId2" cstate="print"/>
          <a:stretch/>
        </p:blipFill>
        <p:spPr>
          <a:xfrm>
            <a:off x="11503320" y="20605"/>
            <a:ext cx="688680" cy="689040"/>
          </a:xfrm>
          <a:prstGeom prst="rect">
            <a:avLst/>
          </a:prstGeom>
          <a:ln w="0">
            <a:noFill/>
          </a:ln>
        </p:spPr>
      </p:pic>
      <p:sp>
        <p:nvSpPr>
          <p:cNvPr id="4" name="TextBox 3">
            <a:extLst>
              <a:ext uri="{FF2B5EF4-FFF2-40B4-BE49-F238E27FC236}">
                <a16:creationId xmlns:a16="http://schemas.microsoft.com/office/drawing/2014/main" id="{A5340D69-BFC0-25B7-5582-7383497DF94F}"/>
              </a:ext>
            </a:extLst>
          </p:cNvPr>
          <p:cNvSpPr txBox="1"/>
          <p:nvPr/>
        </p:nvSpPr>
        <p:spPr>
          <a:xfrm>
            <a:off x="349135" y="249382"/>
            <a:ext cx="6533803" cy="6247864"/>
          </a:xfrm>
          <a:prstGeom prst="rect">
            <a:avLst/>
          </a:prstGeom>
          <a:noFill/>
        </p:spPr>
        <p:txBody>
          <a:bodyPr wrap="square">
            <a:spAutoFit/>
          </a:bodyPr>
          <a:lstStyle/>
          <a:p>
            <a:r>
              <a:rPr lang="en-IN" sz="2000" dirty="0"/>
              <a:t># Parent Class</a:t>
            </a:r>
          </a:p>
          <a:p>
            <a:r>
              <a:rPr lang="en-IN" sz="2000" dirty="0"/>
              <a:t>class Dog:</a:t>
            </a:r>
          </a:p>
          <a:p>
            <a:r>
              <a:rPr lang="en-IN" sz="2000" dirty="0"/>
              <a:t>    def sound(self):</a:t>
            </a:r>
          </a:p>
          <a:p>
            <a:r>
              <a:rPr lang="en-IN" sz="2000" dirty="0"/>
              <a:t>        print("dog sound")  # Default implementation</a:t>
            </a:r>
          </a:p>
          <a:p>
            <a:endParaRPr lang="en-IN" sz="2000" dirty="0"/>
          </a:p>
          <a:p>
            <a:r>
              <a:rPr lang="en-IN" sz="2000" dirty="0"/>
              <a:t># Run-Time Polymorphism: Method Overriding</a:t>
            </a:r>
          </a:p>
          <a:p>
            <a:r>
              <a:rPr lang="en-IN" sz="2000" dirty="0"/>
              <a:t>class Labrador(Dog):</a:t>
            </a:r>
          </a:p>
          <a:p>
            <a:r>
              <a:rPr lang="en-IN" sz="2000" dirty="0"/>
              <a:t>    def sound(self):</a:t>
            </a:r>
          </a:p>
          <a:p>
            <a:r>
              <a:rPr lang="en-IN" sz="2000" dirty="0"/>
              <a:t>        print("Labrador woofs")  # Overriding parent method</a:t>
            </a:r>
          </a:p>
          <a:p>
            <a:endParaRPr lang="en-IN" sz="2000" dirty="0"/>
          </a:p>
          <a:p>
            <a:r>
              <a:rPr lang="en-IN" sz="2000" dirty="0"/>
              <a:t>class Beagle(Dog):</a:t>
            </a:r>
          </a:p>
          <a:p>
            <a:r>
              <a:rPr lang="en-IN" sz="2000"/>
              <a:t># </a:t>
            </a:r>
            <a:r>
              <a:rPr lang="en-IN" sz="2000" dirty="0"/>
              <a:t>Overriding parent method</a:t>
            </a:r>
          </a:p>
          <a:p>
            <a:endParaRPr lang="en-IN" sz="2000" dirty="0"/>
          </a:p>
          <a:p>
            <a:r>
              <a:rPr lang="en-IN" sz="2000" dirty="0"/>
              <a:t># Run-Time Polymorphism</a:t>
            </a:r>
          </a:p>
          <a:p>
            <a:r>
              <a:rPr lang="en-IN" sz="2000" dirty="0"/>
              <a:t>dogs = [Dog(), Labrador(), Beagle()]</a:t>
            </a:r>
          </a:p>
          <a:p>
            <a:r>
              <a:rPr lang="en-IN" sz="2000" dirty="0"/>
              <a:t>for dog in dogs:</a:t>
            </a:r>
          </a:p>
          <a:p>
            <a:r>
              <a:rPr lang="en-IN" sz="2000" dirty="0"/>
              <a:t>    </a:t>
            </a:r>
            <a:r>
              <a:rPr lang="en-IN" sz="2000" dirty="0" err="1"/>
              <a:t>dog.sound</a:t>
            </a:r>
            <a:r>
              <a:rPr lang="en-IN" sz="2000" dirty="0"/>
              <a:t>()  # Calls the appropriate method based on the object type</a:t>
            </a:r>
          </a:p>
          <a:p>
            <a:endParaRPr lang="en-IN" sz="2000" dirty="0"/>
          </a:p>
          <a:p>
            <a:endParaRPr lang="en-IN" sz="2000" dirty="0"/>
          </a:p>
        </p:txBody>
      </p:sp>
      <p:sp>
        <p:nvSpPr>
          <p:cNvPr id="6" name="TextBox 5">
            <a:extLst>
              <a:ext uri="{FF2B5EF4-FFF2-40B4-BE49-F238E27FC236}">
                <a16:creationId xmlns:a16="http://schemas.microsoft.com/office/drawing/2014/main" id="{42F175C9-EC26-E730-A024-6547AA7B5696}"/>
              </a:ext>
            </a:extLst>
          </p:cNvPr>
          <p:cNvSpPr txBox="1"/>
          <p:nvPr/>
        </p:nvSpPr>
        <p:spPr>
          <a:xfrm>
            <a:off x="6963740" y="467837"/>
            <a:ext cx="5159433" cy="3785652"/>
          </a:xfrm>
          <a:prstGeom prst="rect">
            <a:avLst/>
          </a:prstGeom>
          <a:noFill/>
        </p:spPr>
        <p:txBody>
          <a:bodyPr wrap="square">
            <a:spAutoFit/>
          </a:bodyPr>
          <a:lstStyle/>
          <a:p>
            <a:r>
              <a:rPr lang="en-IN" sz="2000" dirty="0"/>
              <a:t># Compile-Time Polymorphism: Method Overloading Mimic</a:t>
            </a:r>
          </a:p>
          <a:p>
            <a:r>
              <a:rPr lang="en-IN" sz="2000" dirty="0"/>
              <a:t>class Calculator:</a:t>
            </a:r>
          </a:p>
          <a:p>
            <a:r>
              <a:rPr lang="en-IN" sz="2000" dirty="0"/>
              <a:t>    def add(self, a, b=0, c=0):</a:t>
            </a:r>
          </a:p>
          <a:p>
            <a:r>
              <a:rPr lang="en-IN" sz="2000" dirty="0"/>
              <a:t>        return a + b + c  # Supports multiple ways to call add()</a:t>
            </a:r>
          </a:p>
          <a:p>
            <a:endParaRPr lang="en-IN" sz="2000" dirty="0"/>
          </a:p>
          <a:p>
            <a:r>
              <a:rPr lang="en-IN" sz="2000" dirty="0"/>
              <a:t># Compile-Time Polymorphism (Mimicked using default arguments)</a:t>
            </a:r>
          </a:p>
          <a:p>
            <a:r>
              <a:rPr lang="en-IN" sz="2000" dirty="0"/>
              <a:t>calc = Calculator()</a:t>
            </a:r>
          </a:p>
          <a:p>
            <a:r>
              <a:rPr lang="en-IN" sz="2000" dirty="0"/>
              <a:t>print(</a:t>
            </a:r>
            <a:r>
              <a:rPr lang="en-IN" sz="2000" dirty="0" err="1"/>
              <a:t>calc.add</a:t>
            </a:r>
            <a:r>
              <a:rPr lang="en-IN" sz="2000" dirty="0"/>
              <a:t>(5, 10))  # Two arguments</a:t>
            </a:r>
          </a:p>
          <a:p>
            <a:r>
              <a:rPr lang="en-IN" sz="2000" dirty="0"/>
              <a:t>print(</a:t>
            </a:r>
            <a:r>
              <a:rPr lang="en-IN" sz="2000" dirty="0" err="1"/>
              <a:t>calc.add</a:t>
            </a:r>
            <a:r>
              <a:rPr lang="en-IN" sz="2000" dirty="0"/>
              <a:t>(5, 10, 15))  # Three arguments</a:t>
            </a:r>
          </a:p>
        </p:txBody>
      </p:sp>
      <p:cxnSp>
        <p:nvCxnSpPr>
          <p:cNvPr id="7" name="Straight Connector 6">
            <a:extLst>
              <a:ext uri="{FF2B5EF4-FFF2-40B4-BE49-F238E27FC236}">
                <a16:creationId xmlns:a16="http://schemas.microsoft.com/office/drawing/2014/main" id="{840661B9-8758-65A3-85DB-FC0A59ABFBB0}"/>
              </a:ext>
            </a:extLst>
          </p:cNvPr>
          <p:cNvCxnSpPr>
            <a:cxnSpLocks/>
          </p:cNvCxnSpPr>
          <p:nvPr/>
        </p:nvCxnSpPr>
        <p:spPr>
          <a:xfrm>
            <a:off x="6882938" y="0"/>
            <a:ext cx="0" cy="685800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23520472"/>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92B410-131E-7A70-97A0-CC3A781044B3}"/>
              </a:ext>
            </a:extLst>
          </p:cNvPr>
          <p:cNvPicPr/>
          <p:nvPr/>
        </p:nvPicPr>
        <p:blipFill>
          <a:blip r:embed="rId2" cstate="print"/>
          <a:stretch/>
        </p:blipFill>
        <p:spPr>
          <a:xfrm>
            <a:off x="11503320" y="20605"/>
            <a:ext cx="688680" cy="689040"/>
          </a:xfrm>
          <a:prstGeom prst="rect">
            <a:avLst/>
          </a:prstGeom>
          <a:ln w="0">
            <a:noFill/>
          </a:ln>
        </p:spPr>
      </p:pic>
      <p:sp>
        <p:nvSpPr>
          <p:cNvPr id="3" name="TextBox 2">
            <a:extLst>
              <a:ext uri="{FF2B5EF4-FFF2-40B4-BE49-F238E27FC236}">
                <a16:creationId xmlns:a16="http://schemas.microsoft.com/office/drawing/2014/main" id="{2A4B2C8C-79BC-FDE9-35E6-4EB26160E7CE}"/>
              </a:ext>
            </a:extLst>
          </p:cNvPr>
          <p:cNvSpPr txBox="1"/>
          <p:nvPr/>
        </p:nvSpPr>
        <p:spPr>
          <a:xfrm>
            <a:off x="332509" y="548640"/>
            <a:ext cx="11421687" cy="2575064"/>
          </a:xfrm>
          <a:prstGeom prst="rect">
            <a:avLst/>
          </a:prstGeom>
          <a:noFill/>
        </p:spPr>
        <p:txBody>
          <a:bodyPr wrap="square" rtlCol="0">
            <a:spAutoFit/>
          </a:bodyPr>
          <a:lstStyle/>
          <a:p>
            <a:r>
              <a:rPr lang="en-IN" sz="2800" b="1" dirty="0">
                <a:solidFill>
                  <a:srgbClr val="FF0000"/>
                </a:solidFill>
              </a:rPr>
              <a:t>PYTHON ENCAPSULATION</a:t>
            </a:r>
          </a:p>
          <a:p>
            <a:endParaRPr lang="en-IN" sz="2000" b="1" dirty="0"/>
          </a:p>
          <a:p>
            <a:pPr marL="342900" indent="-342900" algn="l" rtl="0" fontAlgn="base">
              <a:spcAft>
                <a:spcPts val="750"/>
              </a:spcAft>
              <a:buFont typeface="Arial" panose="020B0604020202020204" pitchFamily="34" charset="0"/>
              <a:buChar char="•"/>
            </a:pPr>
            <a:r>
              <a:rPr lang="en-US" sz="2000" b="0" i="0" dirty="0">
                <a:solidFill>
                  <a:srgbClr val="273239"/>
                </a:solidFill>
                <a:effectLst/>
              </a:rPr>
              <a:t>Encapsulation is the bundling of data (attributes) and methods (functions) within a class, restricting access to some components to control interactions.</a:t>
            </a:r>
          </a:p>
          <a:p>
            <a:pPr marL="342900" indent="-342900" algn="l" rtl="0" fontAlgn="base">
              <a:spcAft>
                <a:spcPts val="750"/>
              </a:spcAft>
              <a:buFont typeface="Arial" panose="020B0604020202020204" pitchFamily="34" charset="0"/>
              <a:buChar char="•"/>
            </a:pPr>
            <a:r>
              <a:rPr lang="en-US" sz="2000" b="0" i="0" dirty="0">
                <a:solidFill>
                  <a:srgbClr val="273239"/>
                </a:solidFill>
                <a:effectLst/>
              </a:rPr>
              <a:t>A class is an example of encapsulation as it encapsulates all the data that is member functions, variables, etc.</a:t>
            </a:r>
          </a:p>
          <a:p>
            <a:pPr marL="342900" indent="-342900">
              <a:buFont typeface="Arial" panose="020B0604020202020204" pitchFamily="34" charset="0"/>
              <a:buChar char="•"/>
            </a:pPr>
            <a:endParaRPr lang="en-IN" sz="2000" dirty="0"/>
          </a:p>
        </p:txBody>
      </p:sp>
    </p:spTree>
    <p:extLst>
      <p:ext uri="{BB962C8B-B14F-4D97-AF65-F5344CB8AC3E}">
        <p14:creationId xmlns:p14="http://schemas.microsoft.com/office/powerpoint/2010/main" val="1024425569"/>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8ABE010-DE01-AA9F-931D-D892990ABBE0}"/>
              </a:ext>
            </a:extLst>
          </p:cNvPr>
          <p:cNvPicPr/>
          <p:nvPr/>
        </p:nvPicPr>
        <p:blipFill>
          <a:blip r:embed="rId2" cstate="print"/>
          <a:stretch/>
        </p:blipFill>
        <p:spPr>
          <a:xfrm>
            <a:off x="11503320" y="20605"/>
            <a:ext cx="688680" cy="689040"/>
          </a:xfrm>
          <a:prstGeom prst="rect">
            <a:avLst/>
          </a:prstGeom>
          <a:ln w="0">
            <a:noFill/>
          </a:ln>
        </p:spPr>
      </p:pic>
      <p:sp>
        <p:nvSpPr>
          <p:cNvPr id="4" name="TextBox 3">
            <a:extLst>
              <a:ext uri="{FF2B5EF4-FFF2-40B4-BE49-F238E27FC236}">
                <a16:creationId xmlns:a16="http://schemas.microsoft.com/office/drawing/2014/main" id="{ED2E7B19-C587-00C1-3886-974067371F2C}"/>
              </a:ext>
            </a:extLst>
          </p:cNvPr>
          <p:cNvSpPr txBox="1"/>
          <p:nvPr/>
        </p:nvSpPr>
        <p:spPr>
          <a:xfrm>
            <a:off x="282633" y="166255"/>
            <a:ext cx="5935287" cy="6863417"/>
          </a:xfrm>
          <a:prstGeom prst="rect">
            <a:avLst/>
          </a:prstGeom>
          <a:noFill/>
        </p:spPr>
        <p:txBody>
          <a:bodyPr wrap="square">
            <a:spAutoFit/>
          </a:bodyPr>
          <a:lstStyle/>
          <a:p>
            <a:r>
              <a:rPr lang="en-US" sz="2000" dirty="0"/>
              <a:t>class Dog:</a:t>
            </a:r>
          </a:p>
          <a:p>
            <a:r>
              <a:rPr lang="en-US" sz="2000" dirty="0"/>
              <a:t>    def __init__(self, name, breed, age):</a:t>
            </a:r>
          </a:p>
          <a:p>
            <a:r>
              <a:rPr lang="en-US" sz="2000" dirty="0"/>
              <a:t>        self.name = name  # Public attribute</a:t>
            </a:r>
          </a:p>
          <a:p>
            <a:r>
              <a:rPr lang="en-US" sz="2000" dirty="0"/>
              <a:t>        </a:t>
            </a:r>
            <a:r>
              <a:rPr lang="en-US" sz="2000" dirty="0" err="1"/>
              <a:t>self._breed</a:t>
            </a:r>
            <a:r>
              <a:rPr lang="en-US" sz="2000" dirty="0"/>
              <a:t> = breed  # Protected attribute</a:t>
            </a:r>
          </a:p>
          <a:p>
            <a:r>
              <a:rPr lang="en-US" sz="2000" dirty="0"/>
              <a:t>        </a:t>
            </a:r>
            <a:r>
              <a:rPr lang="en-US" sz="2000" dirty="0" err="1"/>
              <a:t>self.__age</a:t>
            </a:r>
            <a:r>
              <a:rPr lang="en-US" sz="2000" dirty="0"/>
              <a:t> = age  # Private attribute</a:t>
            </a:r>
          </a:p>
          <a:p>
            <a:endParaRPr lang="en-US" sz="2000" dirty="0"/>
          </a:p>
          <a:p>
            <a:r>
              <a:rPr lang="en-US" sz="2000" dirty="0"/>
              <a:t>    # Public method</a:t>
            </a:r>
          </a:p>
          <a:p>
            <a:r>
              <a:rPr lang="en-US" sz="2000" dirty="0"/>
              <a:t>    def </a:t>
            </a:r>
            <a:r>
              <a:rPr lang="en-US" sz="2000" dirty="0" err="1"/>
              <a:t>get_info</a:t>
            </a:r>
            <a:r>
              <a:rPr lang="en-US" sz="2000" dirty="0"/>
              <a:t>(self):</a:t>
            </a:r>
          </a:p>
          <a:p>
            <a:r>
              <a:rPr lang="en-US" sz="2000" dirty="0"/>
              <a:t>        return </a:t>
            </a:r>
            <a:r>
              <a:rPr lang="en-US" sz="2000" dirty="0" err="1"/>
              <a:t>f"Name</a:t>
            </a:r>
            <a:r>
              <a:rPr lang="en-US" sz="2000" dirty="0"/>
              <a:t>: {self.name}, Breed: {</a:t>
            </a:r>
            <a:r>
              <a:rPr lang="en-US" sz="2000" dirty="0" err="1"/>
              <a:t>self._breed</a:t>
            </a:r>
            <a:r>
              <a:rPr lang="en-US" sz="2000" dirty="0"/>
              <a:t>}, Age: {</a:t>
            </a:r>
            <a:r>
              <a:rPr lang="en-US" sz="2000" dirty="0" err="1"/>
              <a:t>self.__age</a:t>
            </a:r>
            <a:r>
              <a:rPr lang="en-US" sz="2000" dirty="0"/>
              <a:t>}"</a:t>
            </a:r>
          </a:p>
          <a:p>
            <a:endParaRPr lang="en-US" sz="2000" dirty="0"/>
          </a:p>
          <a:p>
            <a:r>
              <a:rPr lang="en-US" sz="2000" dirty="0"/>
              <a:t>    # Getter and Setter for private attribute</a:t>
            </a:r>
          </a:p>
          <a:p>
            <a:r>
              <a:rPr lang="en-US" sz="2000" dirty="0"/>
              <a:t>    def </a:t>
            </a:r>
            <a:r>
              <a:rPr lang="en-US" sz="2000" dirty="0" err="1"/>
              <a:t>get_age</a:t>
            </a:r>
            <a:r>
              <a:rPr lang="en-US" sz="2000" dirty="0"/>
              <a:t>(self):</a:t>
            </a:r>
          </a:p>
          <a:p>
            <a:r>
              <a:rPr lang="en-US" sz="2000" dirty="0"/>
              <a:t>        return </a:t>
            </a:r>
            <a:r>
              <a:rPr lang="en-US" sz="2000" dirty="0" err="1"/>
              <a:t>self.__age</a:t>
            </a:r>
            <a:endParaRPr lang="en-US" sz="2000" dirty="0"/>
          </a:p>
          <a:p>
            <a:endParaRPr lang="en-US" sz="2000" dirty="0"/>
          </a:p>
          <a:p>
            <a:r>
              <a:rPr lang="en-US" sz="2000" dirty="0"/>
              <a:t>    def </a:t>
            </a:r>
            <a:r>
              <a:rPr lang="en-US" sz="2000" dirty="0" err="1"/>
              <a:t>set_age</a:t>
            </a:r>
            <a:r>
              <a:rPr lang="en-US" sz="2000" dirty="0"/>
              <a:t>(self, age):</a:t>
            </a:r>
          </a:p>
          <a:p>
            <a:r>
              <a:rPr lang="en-US" sz="2000" dirty="0"/>
              <a:t>        if age &gt; 0:</a:t>
            </a:r>
          </a:p>
          <a:p>
            <a:r>
              <a:rPr lang="en-US" sz="2000" dirty="0"/>
              <a:t>            </a:t>
            </a:r>
            <a:r>
              <a:rPr lang="en-US" sz="2000" dirty="0" err="1"/>
              <a:t>self.__age</a:t>
            </a:r>
            <a:r>
              <a:rPr lang="en-US" sz="2000" dirty="0"/>
              <a:t> = age</a:t>
            </a:r>
          </a:p>
          <a:p>
            <a:r>
              <a:rPr lang="en-US" sz="2000" dirty="0"/>
              <a:t>        else:</a:t>
            </a:r>
          </a:p>
          <a:p>
            <a:r>
              <a:rPr lang="en-US" sz="2000" dirty="0"/>
              <a:t>            print("Invalid age!")</a:t>
            </a:r>
          </a:p>
          <a:p>
            <a:endParaRPr lang="en-US" sz="2000" dirty="0"/>
          </a:p>
          <a:p>
            <a:endParaRPr lang="en-IN" sz="2000" dirty="0"/>
          </a:p>
        </p:txBody>
      </p:sp>
      <p:sp>
        <p:nvSpPr>
          <p:cNvPr id="6" name="TextBox 5">
            <a:extLst>
              <a:ext uri="{FF2B5EF4-FFF2-40B4-BE49-F238E27FC236}">
                <a16:creationId xmlns:a16="http://schemas.microsoft.com/office/drawing/2014/main" id="{E0E41733-DB75-1627-B419-67A026DDD0C2}"/>
              </a:ext>
            </a:extLst>
          </p:cNvPr>
          <p:cNvSpPr txBox="1"/>
          <p:nvPr/>
        </p:nvSpPr>
        <p:spPr>
          <a:xfrm>
            <a:off x="6633556" y="482138"/>
            <a:ext cx="4455621" cy="5016758"/>
          </a:xfrm>
          <a:prstGeom prst="rect">
            <a:avLst/>
          </a:prstGeom>
          <a:noFill/>
        </p:spPr>
        <p:txBody>
          <a:bodyPr wrap="square">
            <a:spAutoFit/>
          </a:bodyPr>
          <a:lstStyle/>
          <a:p>
            <a:r>
              <a:rPr lang="en-US" sz="2000" dirty="0"/>
              <a:t># Example Usage</a:t>
            </a:r>
          </a:p>
          <a:p>
            <a:r>
              <a:rPr lang="en-US" sz="2000" dirty="0"/>
              <a:t>dog = Dog("Buddy", "Labrador", 3)</a:t>
            </a:r>
          </a:p>
          <a:p>
            <a:endParaRPr lang="en-US" sz="2000" dirty="0"/>
          </a:p>
          <a:p>
            <a:r>
              <a:rPr lang="en-US" sz="2000" dirty="0"/>
              <a:t># Accessing public member</a:t>
            </a:r>
          </a:p>
          <a:p>
            <a:r>
              <a:rPr lang="en-US" sz="2000" dirty="0"/>
              <a:t>print(dog.name)  # Accessible</a:t>
            </a:r>
          </a:p>
          <a:p>
            <a:endParaRPr lang="en-US" sz="2000" dirty="0"/>
          </a:p>
          <a:p>
            <a:r>
              <a:rPr lang="en-US" sz="2000" dirty="0"/>
              <a:t># Accessing protected member</a:t>
            </a:r>
          </a:p>
          <a:p>
            <a:r>
              <a:rPr lang="en-US" sz="2000" dirty="0"/>
              <a:t>print(</a:t>
            </a:r>
            <a:r>
              <a:rPr lang="en-US" sz="2000" dirty="0" err="1"/>
              <a:t>dog._breed</a:t>
            </a:r>
            <a:r>
              <a:rPr lang="en-US" sz="2000" dirty="0"/>
              <a:t>)  # Accessible but discouraged outside the class</a:t>
            </a:r>
          </a:p>
          <a:p>
            <a:endParaRPr lang="en-US" sz="2000" dirty="0"/>
          </a:p>
          <a:p>
            <a:r>
              <a:rPr lang="en-US" sz="2000" dirty="0"/>
              <a:t># Accessing private member using getter</a:t>
            </a:r>
          </a:p>
          <a:p>
            <a:r>
              <a:rPr lang="en-US" sz="2000" dirty="0"/>
              <a:t>print(</a:t>
            </a:r>
            <a:r>
              <a:rPr lang="en-US" sz="2000" dirty="0" err="1"/>
              <a:t>dog.get_age</a:t>
            </a:r>
            <a:r>
              <a:rPr lang="en-US" sz="2000" dirty="0"/>
              <a:t>())</a:t>
            </a:r>
          </a:p>
          <a:p>
            <a:endParaRPr lang="en-US" sz="2000" dirty="0"/>
          </a:p>
          <a:p>
            <a:r>
              <a:rPr lang="en-US" sz="2000" dirty="0"/>
              <a:t># Modifying private member using setter</a:t>
            </a:r>
          </a:p>
          <a:p>
            <a:r>
              <a:rPr lang="en-US" sz="2000" dirty="0" err="1"/>
              <a:t>dog.set_age</a:t>
            </a:r>
            <a:r>
              <a:rPr lang="en-US" sz="2000" dirty="0"/>
              <a:t>(5)</a:t>
            </a:r>
          </a:p>
          <a:p>
            <a:r>
              <a:rPr lang="en-US" sz="2000" dirty="0"/>
              <a:t>print(</a:t>
            </a:r>
            <a:r>
              <a:rPr lang="en-US" sz="2000" dirty="0" err="1"/>
              <a:t>dog.get_info</a:t>
            </a:r>
            <a:r>
              <a:rPr lang="en-US" sz="2000" dirty="0"/>
              <a:t>())</a:t>
            </a:r>
            <a:endParaRPr lang="en-IN" sz="2000" dirty="0"/>
          </a:p>
        </p:txBody>
      </p:sp>
      <p:cxnSp>
        <p:nvCxnSpPr>
          <p:cNvPr id="12" name="Straight Connector 11">
            <a:extLst>
              <a:ext uri="{FF2B5EF4-FFF2-40B4-BE49-F238E27FC236}">
                <a16:creationId xmlns:a16="http://schemas.microsoft.com/office/drawing/2014/main" id="{0355963D-2EAA-EEC8-DB5B-5BFFF495C381}"/>
              </a:ext>
            </a:extLst>
          </p:cNvPr>
          <p:cNvCxnSpPr/>
          <p:nvPr/>
        </p:nvCxnSpPr>
        <p:spPr>
          <a:xfrm>
            <a:off x="6217920" y="0"/>
            <a:ext cx="0" cy="685800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29891339"/>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AE241AD-536D-0A8B-8DA4-D1AFA4916DB9}"/>
              </a:ext>
            </a:extLst>
          </p:cNvPr>
          <p:cNvPicPr/>
          <p:nvPr/>
        </p:nvPicPr>
        <p:blipFill>
          <a:blip r:embed="rId2" cstate="print"/>
          <a:stretch/>
        </p:blipFill>
        <p:spPr>
          <a:xfrm>
            <a:off x="11503320" y="20605"/>
            <a:ext cx="688680" cy="689040"/>
          </a:xfrm>
          <a:prstGeom prst="rect">
            <a:avLst/>
          </a:prstGeom>
          <a:ln w="0">
            <a:noFill/>
          </a:ln>
        </p:spPr>
      </p:pic>
      <p:sp>
        <p:nvSpPr>
          <p:cNvPr id="3" name="TextBox 2">
            <a:extLst>
              <a:ext uri="{FF2B5EF4-FFF2-40B4-BE49-F238E27FC236}">
                <a16:creationId xmlns:a16="http://schemas.microsoft.com/office/drawing/2014/main" id="{52687958-E58B-1B5E-32A2-0C486C1DCAD0}"/>
              </a:ext>
            </a:extLst>
          </p:cNvPr>
          <p:cNvSpPr txBox="1"/>
          <p:nvPr/>
        </p:nvSpPr>
        <p:spPr>
          <a:xfrm>
            <a:off x="515389" y="1213658"/>
            <a:ext cx="11288684" cy="3806170"/>
          </a:xfrm>
          <a:prstGeom prst="rect">
            <a:avLst/>
          </a:prstGeom>
          <a:noFill/>
        </p:spPr>
        <p:txBody>
          <a:bodyPr wrap="square" rtlCol="0">
            <a:spAutoFit/>
          </a:bodyPr>
          <a:lstStyle/>
          <a:p>
            <a:r>
              <a:rPr lang="en-IN" sz="2800" b="1" dirty="0">
                <a:solidFill>
                  <a:srgbClr val="FF0000"/>
                </a:solidFill>
              </a:rPr>
              <a:t>DATA ABSTRACTION</a:t>
            </a:r>
          </a:p>
          <a:p>
            <a:endParaRPr lang="en-IN" sz="2000" b="1" dirty="0"/>
          </a:p>
          <a:p>
            <a:pPr marL="342900" indent="-342900" algn="l" rtl="0" fontAlgn="base">
              <a:spcAft>
                <a:spcPts val="750"/>
              </a:spcAft>
              <a:buFont typeface="Arial" panose="020B0604020202020204" pitchFamily="34" charset="0"/>
              <a:buChar char="•"/>
            </a:pPr>
            <a:r>
              <a:rPr lang="en-IN" sz="2000" dirty="0"/>
              <a:t>Abstraction </a:t>
            </a:r>
            <a:r>
              <a:rPr lang="en-US" sz="2000" b="0" i="0" dirty="0">
                <a:solidFill>
                  <a:srgbClr val="273239"/>
                </a:solidFill>
                <a:effectLst/>
              </a:rPr>
              <a:t>hides the internal implementation details while exposing only the necessary functionality. </a:t>
            </a:r>
          </a:p>
          <a:p>
            <a:pPr marL="342900" indent="-342900" algn="l" rtl="0" fontAlgn="base">
              <a:spcAft>
                <a:spcPts val="750"/>
              </a:spcAft>
              <a:buFont typeface="Arial" panose="020B0604020202020204" pitchFamily="34" charset="0"/>
              <a:buChar char="•"/>
            </a:pPr>
            <a:r>
              <a:rPr lang="en-US" sz="2000" b="0" i="0" dirty="0">
                <a:solidFill>
                  <a:srgbClr val="273239"/>
                </a:solidFill>
                <a:effectLst/>
              </a:rPr>
              <a:t>It helps focus on “what to do” rather than “how to do it.”</a:t>
            </a:r>
          </a:p>
          <a:p>
            <a:pPr algn="l" fontAlgn="base">
              <a:spcBef>
                <a:spcPts val="1800"/>
              </a:spcBef>
              <a:spcAft>
                <a:spcPts val="1800"/>
              </a:spcAft>
            </a:pPr>
            <a:r>
              <a:rPr lang="en-US" sz="2000" b="1" i="0" dirty="0">
                <a:solidFill>
                  <a:srgbClr val="273239"/>
                </a:solidFill>
                <a:effectLst/>
              </a:rPr>
              <a:t>Types of Abstraction:</a:t>
            </a:r>
          </a:p>
          <a:p>
            <a:pPr algn="l" fontAlgn="base">
              <a:spcAft>
                <a:spcPts val="1800"/>
              </a:spcAft>
              <a:buFont typeface="Arial" panose="020B0604020202020204" pitchFamily="34" charset="0"/>
              <a:buChar char="•"/>
            </a:pPr>
            <a:r>
              <a:rPr lang="en-US" sz="2000" b="1" i="0" dirty="0">
                <a:solidFill>
                  <a:srgbClr val="273239"/>
                </a:solidFill>
                <a:effectLst/>
              </a:rPr>
              <a:t>Partial Abstraction:</a:t>
            </a:r>
            <a:r>
              <a:rPr lang="en-US" sz="2000" b="0" i="0" dirty="0">
                <a:solidFill>
                  <a:srgbClr val="273239"/>
                </a:solidFill>
                <a:effectLst/>
              </a:rPr>
              <a:t> Abstract class contains both abstract and concrete methods.</a:t>
            </a:r>
          </a:p>
          <a:p>
            <a:pPr algn="l" fontAlgn="base">
              <a:spcAft>
                <a:spcPts val="1800"/>
              </a:spcAft>
              <a:buFont typeface="Arial" panose="020B0604020202020204" pitchFamily="34" charset="0"/>
              <a:buChar char="•"/>
            </a:pPr>
            <a:r>
              <a:rPr lang="en-US" sz="2000" b="1" i="0" dirty="0">
                <a:solidFill>
                  <a:srgbClr val="273239"/>
                </a:solidFill>
                <a:effectLst/>
              </a:rPr>
              <a:t>Full Abstraction:</a:t>
            </a:r>
            <a:r>
              <a:rPr lang="en-US" sz="2000" b="0" i="0" dirty="0">
                <a:solidFill>
                  <a:srgbClr val="273239"/>
                </a:solidFill>
                <a:effectLst/>
              </a:rPr>
              <a:t> Abstract class contains only abstract methods (like interfaces).</a:t>
            </a:r>
          </a:p>
          <a:p>
            <a:pPr marL="342900" indent="-342900">
              <a:buFont typeface="Arial" panose="020B0604020202020204" pitchFamily="34" charset="0"/>
              <a:buChar char="•"/>
            </a:pPr>
            <a:endParaRPr lang="en-IN" sz="2000" dirty="0"/>
          </a:p>
        </p:txBody>
      </p:sp>
    </p:spTree>
    <p:extLst>
      <p:ext uri="{BB962C8B-B14F-4D97-AF65-F5344CB8AC3E}">
        <p14:creationId xmlns:p14="http://schemas.microsoft.com/office/powerpoint/2010/main" val="3732005942"/>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FC3FD3-3A84-BED4-AA9C-A7F8348E7DF3}"/>
              </a:ext>
            </a:extLst>
          </p:cNvPr>
          <p:cNvPicPr/>
          <p:nvPr/>
        </p:nvPicPr>
        <p:blipFill>
          <a:blip r:embed="rId2" cstate="print"/>
          <a:stretch/>
        </p:blipFill>
        <p:spPr>
          <a:xfrm>
            <a:off x="11503320" y="20605"/>
            <a:ext cx="688680" cy="689040"/>
          </a:xfrm>
          <a:prstGeom prst="rect">
            <a:avLst/>
          </a:prstGeom>
          <a:ln w="0">
            <a:noFill/>
          </a:ln>
        </p:spPr>
      </p:pic>
      <p:sp>
        <p:nvSpPr>
          <p:cNvPr id="4" name="TextBox 3">
            <a:extLst>
              <a:ext uri="{FF2B5EF4-FFF2-40B4-BE49-F238E27FC236}">
                <a16:creationId xmlns:a16="http://schemas.microsoft.com/office/drawing/2014/main" id="{DB52E996-9922-AB45-9A3D-B254C6C0BAB3}"/>
              </a:ext>
            </a:extLst>
          </p:cNvPr>
          <p:cNvSpPr txBox="1"/>
          <p:nvPr/>
        </p:nvSpPr>
        <p:spPr>
          <a:xfrm>
            <a:off x="400507" y="709645"/>
            <a:ext cx="4986140" cy="5632311"/>
          </a:xfrm>
          <a:prstGeom prst="rect">
            <a:avLst/>
          </a:prstGeom>
          <a:noFill/>
        </p:spPr>
        <p:txBody>
          <a:bodyPr wrap="square">
            <a:spAutoFit/>
          </a:bodyPr>
          <a:lstStyle/>
          <a:p>
            <a:r>
              <a:rPr lang="en-IN" sz="2000" dirty="0"/>
              <a:t>class Dog():  # Abstract Class</a:t>
            </a:r>
          </a:p>
          <a:p>
            <a:r>
              <a:rPr lang="en-IN" sz="2000" dirty="0"/>
              <a:t>    def __init__(self, name):</a:t>
            </a:r>
          </a:p>
          <a:p>
            <a:r>
              <a:rPr lang="en-IN" sz="2000" dirty="0"/>
              <a:t>        self.name = name</a:t>
            </a:r>
          </a:p>
          <a:p>
            <a:endParaRPr lang="en-IN" sz="2000" dirty="0"/>
          </a:p>
          <a:p>
            <a:r>
              <a:rPr lang="en-IN" sz="2000" dirty="0"/>
              <a:t>    @abstractmethod</a:t>
            </a:r>
          </a:p>
          <a:p>
            <a:r>
              <a:rPr lang="en-IN" sz="2000" dirty="0"/>
              <a:t>    def sound(self):  # Abstract Method</a:t>
            </a:r>
          </a:p>
          <a:p>
            <a:r>
              <a:rPr lang="en-IN" sz="2000" dirty="0"/>
              <a:t>        pass</a:t>
            </a:r>
          </a:p>
          <a:p>
            <a:endParaRPr lang="en-IN" sz="2000" dirty="0"/>
          </a:p>
          <a:p>
            <a:r>
              <a:rPr lang="en-IN" sz="2000" dirty="0"/>
              <a:t>    def </a:t>
            </a:r>
            <a:r>
              <a:rPr lang="en-IN" sz="2000" dirty="0" err="1"/>
              <a:t>display_name</a:t>
            </a:r>
            <a:r>
              <a:rPr lang="en-IN" sz="2000" dirty="0"/>
              <a:t>(self):  # Concrete Method</a:t>
            </a:r>
          </a:p>
          <a:p>
            <a:r>
              <a:rPr lang="en-IN" sz="2000" dirty="0"/>
              <a:t>        print(</a:t>
            </a:r>
            <a:r>
              <a:rPr lang="en-IN" sz="2000" dirty="0" err="1"/>
              <a:t>f"Dog's</a:t>
            </a:r>
            <a:r>
              <a:rPr lang="en-IN" sz="2000" dirty="0"/>
              <a:t> Name: {self.name}")</a:t>
            </a:r>
          </a:p>
          <a:p>
            <a:endParaRPr lang="en-IN" sz="2000" dirty="0"/>
          </a:p>
          <a:p>
            <a:r>
              <a:rPr lang="en-IN" sz="2000" dirty="0"/>
              <a:t>class Labrador(Dog): </a:t>
            </a:r>
          </a:p>
          <a:p>
            <a:r>
              <a:rPr lang="en-IN" sz="2000" dirty="0"/>
              <a:t>    def sound(self):</a:t>
            </a:r>
          </a:p>
          <a:p>
            <a:r>
              <a:rPr lang="en-IN" sz="2000" dirty="0"/>
              <a:t>        print("Labrador Woof!")</a:t>
            </a:r>
          </a:p>
          <a:p>
            <a:endParaRPr lang="en-IN" sz="2000" dirty="0"/>
          </a:p>
          <a:p>
            <a:r>
              <a:rPr lang="en-IN" sz="2000" dirty="0"/>
              <a:t>class Beagle(Dog):</a:t>
            </a:r>
          </a:p>
          <a:p>
            <a:r>
              <a:rPr lang="en-IN" sz="2000" dirty="0"/>
              <a:t>    def sound(self):</a:t>
            </a:r>
          </a:p>
          <a:p>
            <a:r>
              <a:rPr lang="en-IN" sz="2000" dirty="0"/>
              <a:t>        print("Beagle Bark!")</a:t>
            </a:r>
          </a:p>
        </p:txBody>
      </p:sp>
      <p:sp>
        <p:nvSpPr>
          <p:cNvPr id="6" name="TextBox 5">
            <a:extLst>
              <a:ext uri="{FF2B5EF4-FFF2-40B4-BE49-F238E27FC236}">
                <a16:creationId xmlns:a16="http://schemas.microsoft.com/office/drawing/2014/main" id="{442987D5-C481-1283-A600-80B19F83DFEA}"/>
              </a:ext>
            </a:extLst>
          </p:cNvPr>
          <p:cNvSpPr txBox="1"/>
          <p:nvPr/>
        </p:nvSpPr>
        <p:spPr>
          <a:xfrm>
            <a:off x="6583680" y="1911927"/>
            <a:ext cx="4771505" cy="1754326"/>
          </a:xfrm>
          <a:prstGeom prst="rect">
            <a:avLst/>
          </a:prstGeom>
          <a:noFill/>
        </p:spPr>
        <p:txBody>
          <a:bodyPr wrap="square">
            <a:spAutoFit/>
          </a:bodyPr>
          <a:lstStyle/>
          <a:p>
            <a:r>
              <a:rPr lang="en-IN" sz="1800" dirty="0"/>
              <a:t># Example Usage</a:t>
            </a:r>
          </a:p>
          <a:p>
            <a:r>
              <a:rPr lang="en-IN" sz="1800" dirty="0"/>
              <a:t>dogs = [Labrador("Buddy"), Beagle("Charlie")]</a:t>
            </a:r>
          </a:p>
          <a:p>
            <a:r>
              <a:rPr lang="en-IN" sz="1800" dirty="0"/>
              <a:t>for dog in dogs:</a:t>
            </a:r>
          </a:p>
          <a:p>
            <a:r>
              <a:rPr lang="en-IN" sz="1800" dirty="0"/>
              <a:t>    </a:t>
            </a:r>
            <a:r>
              <a:rPr lang="en-IN" sz="1800" dirty="0" err="1"/>
              <a:t>dog.display_name</a:t>
            </a:r>
            <a:r>
              <a:rPr lang="en-IN" sz="1800" dirty="0"/>
              <a:t>()  # Calls concrete method</a:t>
            </a:r>
          </a:p>
          <a:p>
            <a:r>
              <a:rPr lang="en-IN" sz="1800" dirty="0"/>
              <a:t>    </a:t>
            </a:r>
            <a:r>
              <a:rPr lang="en-IN" sz="1800" dirty="0" err="1"/>
              <a:t>dog.sound</a:t>
            </a:r>
            <a:r>
              <a:rPr lang="en-IN" sz="1800" dirty="0"/>
              <a:t>()  # Calls implemented abstract method</a:t>
            </a:r>
          </a:p>
        </p:txBody>
      </p:sp>
      <p:cxnSp>
        <p:nvCxnSpPr>
          <p:cNvPr id="8" name="Straight Connector 7">
            <a:extLst>
              <a:ext uri="{FF2B5EF4-FFF2-40B4-BE49-F238E27FC236}">
                <a16:creationId xmlns:a16="http://schemas.microsoft.com/office/drawing/2014/main" id="{5DA3A215-002C-392E-032B-416FDBA2D133}"/>
              </a:ext>
            </a:extLst>
          </p:cNvPr>
          <p:cNvCxnSpPr>
            <a:cxnSpLocks/>
          </p:cNvCxnSpPr>
          <p:nvPr/>
        </p:nvCxnSpPr>
        <p:spPr>
          <a:xfrm>
            <a:off x="5951913" y="0"/>
            <a:ext cx="0" cy="685800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76422802"/>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10A62-F64A-D3FD-CA1B-6E0F6529AD37}"/>
              </a:ext>
            </a:extLst>
          </p:cNvPr>
          <p:cNvSpPr>
            <a:spLocks noGrp="1"/>
          </p:cNvSpPr>
          <p:nvPr>
            <p:ph type="title"/>
          </p:nvPr>
        </p:nvSpPr>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PYTHON EXCEPTION HANDLING</a:t>
            </a:r>
          </a:p>
        </p:txBody>
      </p:sp>
      <p:pic>
        <p:nvPicPr>
          <p:cNvPr id="4" name="Picture 3">
            <a:extLst>
              <a:ext uri="{FF2B5EF4-FFF2-40B4-BE49-F238E27FC236}">
                <a16:creationId xmlns:a16="http://schemas.microsoft.com/office/drawing/2014/main" id="{C61D8DBF-0F60-4C02-1A5D-08E57D88E8C1}"/>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3FDB0001-481B-D833-CCB0-544AAF9F3435}"/>
              </a:ext>
            </a:extLst>
          </p:cNvPr>
          <p:cNvSpPr txBox="1"/>
          <p:nvPr/>
        </p:nvSpPr>
        <p:spPr>
          <a:xfrm>
            <a:off x="737419" y="1956619"/>
            <a:ext cx="10616381" cy="1631216"/>
          </a:xfrm>
          <a:prstGeom prst="rect">
            <a:avLst/>
          </a:prstGeom>
          <a:noFill/>
        </p:spPr>
        <p:txBody>
          <a:bodyPr wrap="square">
            <a:spAutoFit/>
          </a:bodyPr>
          <a:lstStyle/>
          <a:p>
            <a:pPr marL="285750" indent="-285750">
              <a:buFont typeface="Arial"/>
              <a:buChar char="•"/>
            </a:pPr>
            <a:r>
              <a:rPr lang="en-US" sz="2000" dirty="0">
                <a:ea typeface="Calibri"/>
                <a:cs typeface="Times New Roman" panose="02020603050405020304" pitchFamily="18" charset="0"/>
              </a:rPr>
              <a:t>The try block lets you test a block of code for errors.</a:t>
            </a:r>
            <a:endParaRPr lang="en-US" sz="2000" dirty="0">
              <a:cs typeface="Times New Roman" panose="02020603050405020304" pitchFamily="18" charset="0"/>
            </a:endParaRPr>
          </a:p>
          <a:p>
            <a:pPr marL="285750" indent="-285750">
              <a:buFont typeface="Arial"/>
              <a:buChar char="•"/>
            </a:pPr>
            <a:r>
              <a:rPr lang="en-US" sz="2000" dirty="0">
                <a:ea typeface="Calibri"/>
                <a:cs typeface="Times New Roman" panose="02020603050405020304" pitchFamily="18" charset="0"/>
              </a:rPr>
              <a:t>The except block lets you handle the error.</a:t>
            </a:r>
            <a:endParaRPr lang="en-US" sz="2000" dirty="0">
              <a:cs typeface="Times New Roman" panose="02020603050405020304" pitchFamily="18" charset="0"/>
            </a:endParaRPr>
          </a:p>
          <a:p>
            <a:pPr marL="285750" indent="-285750">
              <a:buFont typeface="Arial"/>
              <a:buChar char="•"/>
            </a:pPr>
            <a:r>
              <a:rPr lang="en-US" sz="2000" dirty="0">
                <a:ea typeface="Calibri"/>
                <a:cs typeface="Times New Roman" panose="02020603050405020304" pitchFamily="18" charset="0"/>
              </a:rPr>
              <a:t>The else block lets you execute code when there is no error.</a:t>
            </a:r>
            <a:endParaRPr lang="en-US" sz="2000" dirty="0">
              <a:cs typeface="Times New Roman" panose="02020603050405020304" pitchFamily="18" charset="0"/>
            </a:endParaRPr>
          </a:p>
          <a:p>
            <a:pPr marL="285750" indent="-285750">
              <a:buFont typeface="Arial"/>
              <a:buChar char="•"/>
            </a:pPr>
            <a:r>
              <a:rPr lang="en-US" sz="2000" dirty="0">
                <a:ea typeface="Calibri"/>
                <a:cs typeface="Times New Roman" panose="02020603050405020304" pitchFamily="18" charset="0"/>
              </a:rPr>
              <a:t>The finally block lets you execute code, regardless of the result of the try- and except blocks.</a:t>
            </a:r>
            <a:endParaRPr lang="en-US" sz="2000" dirty="0">
              <a:cs typeface="Times New Roman" panose="02020603050405020304" pitchFamily="18" charset="0"/>
            </a:endParaRPr>
          </a:p>
          <a:p>
            <a:pPr marL="0" indent="0">
              <a:buNone/>
            </a:pPr>
            <a:endParaRPr lang="en-IN" sz="2000" dirty="0"/>
          </a:p>
        </p:txBody>
      </p:sp>
    </p:spTree>
    <p:extLst>
      <p:ext uri="{BB962C8B-B14F-4D97-AF65-F5344CB8AC3E}">
        <p14:creationId xmlns:p14="http://schemas.microsoft.com/office/powerpoint/2010/main" val="2014125210"/>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7C506A-E795-720E-968A-2BDA83093DF0}"/>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8851DAAF-E4A2-5BA3-22DA-670B381FCD7B}"/>
              </a:ext>
            </a:extLst>
          </p:cNvPr>
          <p:cNvSpPr txBox="1"/>
          <p:nvPr/>
        </p:nvSpPr>
        <p:spPr>
          <a:xfrm>
            <a:off x="609600" y="304800"/>
            <a:ext cx="11012129" cy="6555641"/>
          </a:xfrm>
          <a:prstGeom prst="rect">
            <a:avLst/>
          </a:prstGeom>
          <a:noFill/>
        </p:spPr>
        <p:txBody>
          <a:bodyPr wrap="square">
            <a:spAutoFit/>
          </a:bodyPr>
          <a:lstStyle/>
          <a:p>
            <a:pPr marL="0" indent="0">
              <a:buNone/>
            </a:pPr>
            <a:r>
              <a:rPr lang="en-US" sz="2000" b="1" dirty="0">
                <a:ea typeface="Calibri"/>
                <a:cs typeface="Times New Roman" panose="02020603050405020304" pitchFamily="18" charset="0"/>
              </a:rPr>
              <a:t>Exception Handling</a:t>
            </a:r>
            <a:endParaRPr lang="en-US" sz="2000" dirty="0">
              <a:cs typeface="Times New Roman" panose="02020603050405020304" pitchFamily="18" charset="0"/>
            </a:endParaRPr>
          </a:p>
          <a:p>
            <a:pPr marL="0" indent="0">
              <a:buNone/>
            </a:pPr>
            <a:r>
              <a:rPr lang="en-US" sz="2000" dirty="0">
                <a:ea typeface="Calibri"/>
                <a:cs typeface="Times New Roman" panose="02020603050405020304" pitchFamily="18" charset="0"/>
              </a:rPr>
              <a:t>When an error occurs, or exception as we call it, Python will normally stop and generate an error message.</a:t>
            </a:r>
            <a:endParaRPr lang="en-US" sz="2000" dirty="0">
              <a:cs typeface="Times New Roman" panose="02020603050405020304" pitchFamily="18" charset="0"/>
            </a:endParaRPr>
          </a:p>
          <a:p>
            <a:pPr marL="0" indent="0">
              <a:buNone/>
            </a:pPr>
            <a:r>
              <a:rPr lang="en-US" sz="2000" dirty="0">
                <a:ea typeface="Calibri"/>
                <a:cs typeface="Times New Roman" panose="02020603050405020304" pitchFamily="18" charset="0"/>
              </a:rPr>
              <a:t>These exceptions can be handled using the try statement:</a:t>
            </a:r>
            <a:endParaRPr lang="en-US" sz="2000" dirty="0">
              <a:cs typeface="Times New Roman" panose="02020603050405020304" pitchFamily="18" charset="0"/>
            </a:endParaRPr>
          </a:p>
          <a:p>
            <a:pPr marL="0" indent="0">
              <a:buNone/>
            </a:pPr>
            <a:r>
              <a:rPr lang="en-US" sz="2000" b="1" u="sng" dirty="0">
                <a:ea typeface="Calibri"/>
                <a:cs typeface="Times New Roman" panose="02020603050405020304" pitchFamily="18" charset="0"/>
              </a:rPr>
              <a:t>Example: </a:t>
            </a:r>
            <a:r>
              <a:rPr lang="en-US" sz="2000" dirty="0">
                <a:ea typeface="Calibri"/>
                <a:cs typeface="Times New Roman" panose="02020603050405020304" pitchFamily="18" charset="0"/>
              </a:rPr>
              <a:t>The try block will generate an exception, because x is not defined:</a:t>
            </a:r>
            <a:endParaRPr lang="en-US" sz="2000" u="sng" dirty="0">
              <a:ea typeface="Calibri"/>
              <a:cs typeface="Times New Roman" panose="02020603050405020304" pitchFamily="18" charset="0"/>
            </a:endParaRPr>
          </a:p>
          <a:p>
            <a:pPr marL="0" indent="0">
              <a:buNone/>
            </a:pPr>
            <a:r>
              <a:rPr lang="en-US" sz="2000" dirty="0">
                <a:ea typeface="+mn-lt"/>
                <a:cs typeface="Times New Roman" panose="02020603050405020304" pitchFamily="18" charset="0"/>
              </a:rPr>
              <a:t>try:</a:t>
            </a:r>
            <a:endParaRPr lang="en-US" sz="2000" dirty="0">
              <a:cs typeface="Times New Roman" panose="02020603050405020304" pitchFamily="18" charset="0"/>
            </a:endParaRPr>
          </a:p>
          <a:p>
            <a:pPr marL="0" indent="0">
              <a:buNone/>
            </a:pPr>
            <a:r>
              <a:rPr lang="en-US" sz="2000" dirty="0">
                <a:ea typeface="+mn-lt"/>
                <a:cs typeface="Times New Roman" panose="02020603050405020304" pitchFamily="18" charset="0"/>
              </a:rPr>
              <a:t>  print(x)</a:t>
            </a:r>
            <a:endParaRPr lang="en-US" sz="2000" dirty="0">
              <a:cs typeface="Times New Roman" panose="02020603050405020304" pitchFamily="18" charset="0"/>
            </a:endParaRPr>
          </a:p>
          <a:p>
            <a:pPr marL="0" indent="0">
              <a:buNone/>
            </a:pPr>
            <a:r>
              <a:rPr lang="en-US" sz="2000" dirty="0">
                <a:ea typeface="+mn-lt"/>
                <a:cs typeface="Times New Roman" panose="02020603050405020304" pitchFamily="18" charset="0"/>
              </a:rPr>
              <a:t>except:</a:t>
            </a:r>
            <a:endParaRPr lang="en-US" sz="2000" dirty="0">
              <a:cs typeface="Times New Roman" panose="02020603050405020304" pitchFamily="18" charset="0"/>
            </a:endParaRPr>
          </a:p>
          <a:p>
            <a:pPr marL="0" indent="0">
              <a:buNone/>
            </a:pPr>
            <a:r>
              <a:rPr lang="en-US" sz="2000" dirty="0">
                <a:ea typeface="+mn-lt"/>
                <a:cs typeface="Times New Roman" panose="02020603050405020304" pitchFamily="18" charset="0"/>
              </a:rPr>
              <a:t>  print("An exception occurred")    #</a:t>
            </a:r>
            <a:r>
              <a:rPr lang="en-US" sz="2000" dirty="0">
                <a:solidFill>
                  <a:srgbClr val="000000"/>
                </a:solidFill>
                <a:ea typeface="+mn-lt"/>
                <a:cs typeface="Times New Roman" panose="02020603050405020304" pitchFamily="18" charset="0"/>
              </a:rPr>
              <a:t>An exception occurred</a:t>
            </a:r>
          </a:p>
          <a:p>
            <a:pPr marL="0" indent="0">
              <a:buNone/>
            </a:pPr>
            <a:endParaRPr lang="en-US" sz="2000" dirty="0">
              <a:cs typeface="Times New Roman" panose="02020603050405020304" pitchFamily="18" charset="0"/>
            </a:endParaRPr>
          </a:p>
          <a:p>
            <a:pPr marL="0" indent="0">
              <a:buNone/>
            </a:pPr>
            <a:r>
              <a:rPr lang="en-US" sz="2000" b="1" dirty="0">
                <a:cs typeface="Times New Roman" panose="02020603050405020304" pitchFamily="18" charset="0"/>
              </a:rPr>
              <a:t>Many Exceptions: </a:t>
            </a:r>
          </a:p>
          <a:p>
            <a:pPr marL="0" indent="0">
              <a:buNone/>
            </a:pPr>
            <a:r>
              <a:rPr lang="en-US" sz="2000" dirty="0">
                <a:cs typeface="Times New Roman" panose="02020603050405020304" pitchFamily="18" charset="0"/>
              </a:rPr>
              <a:t>You can define as many exception blocks as you want, e.g. if you want to execute a special block of code for a special kind of error.</a:t>
            </a:r>
            <a:endParaRPr lang="en-US" sz="2000" b="1" dirty="0">
              <a:cs typeface="Times New Roman" panose="02020603050405020304" pitchFamily="18" charset="0"/>
            </a:endParaRPr>
          </a:p>
          <a:p>
            <a:pPr marL="0" indent="0">
              <a:buNone/>
            </a:pPr>
            <a:r>
              <a:rPr lang="en-US" sz="2000" u="sng" dirty="0">
                <a:cs typeface="Times New Roman" panose="02020603050405020304" pitchFamily="18" charset="0"/>
              </a:rPr>
              <a:t>Example:</a:t>
            </a:r>
          </a:p>
          <a:p>
            <a:pPr marL="0" indent="0">
              <a:buNone/>
            </a:pPr>
            <a:r>
              <a:rPr lang="en-US" sz="2000" dirty="0">
                <a:cs typeface="Times New Roman" panose="02020603050405020304" pitchFamily="18" charset="0"/>
              </a:rPr>
              <a:t>try:</a:t>
            </a:r>
          </a:p>
          <a:p>
            <a:pPr marL="0" indent="0">
              <a:buNone/>
            </a:pPr>
            <a:r>
              <a:rPr lang="en-US" sz="2000" dirty="0">
                <a:cs typeface="Times New Roman" panose="02020603050405020304" pitchFamily="18" charset="0"/>
              </a:rPr>
              <a:t>  print(x)</a:t>
            </a:r>
          </a:p>
          <a:p>
            <a:pPr marL="0" indent="0">
              <a:buNone/>
            </a:pPr>
            <a:r>
              <a:rPr lang="en-US" sz="2000" dirty="0">
                <a:cs typeface="Times New Roman" panose="02020603050405020304" pitchFamily="18" charset="0"/>
              </a:rPr>
              <a:t>except </a:t>
            </a:r>
            <a:r>
              <a:rPr lang="en-US" sz="2000" dirty="0" err="1">
                <a:cs typeface="Times New Roman" panose="02020603050405020304" pitchFamily="18" charset="0"/>
              </a:rPr>
              <a:t>NameError</a:t>
            </a:r>
            <a:r>
              <a:rPr lang="en-US" sz="2000" dirty="0">
                <a:cs typeface="Times New Roman" panose="02020603050405020304" pitchFamily="18" charset="0"/>
              </a:rPr>
              <a:t>:</a:t>
            </a:r>
          </a:p>
          <a:p>
            <a:pPr marL="0" indent="0">
              <a:buNone/>
            </a:pPr>
            <a:r>
              <a:rPr lang="en-US" sz="2000" dirty="0">
                <a:cs typeface="Times New Roman" panose="02020603050405020304" pitchFamily="18" charset="0"/>
              </a:rPr>
              <a:t>  print("Variable x is not defined")</a:t>
            </a:r>
          </a:p>
          <a:p>
            <a:pPr marL="0" indent="0">
              <a:buNone/>
            </a:pPr>
            <a:r>
              <a:rPr lang="en-US" sz="2000" dirty="0">
                <a:cs typeface="Times New Roman" panose="02020603050405020304" pitchFamily="18" charset="0"/>
              </a:rPr>
              <a:t>except:</a:t>
            </a:r>
          </a:p>
          <a:p>
            <a:pPr marL="0" indent="0">
              <a:buNone/>
            </a:pPr>
            <a:r>
              <a:rPr lang="en-US" sz="2000" dirty="0">
                <a:cs typeface="Times New Roman" panose="02020603050405020304" pitchFamily="18" charset="0"/>
              </a:rPr>
              <a:t>  print("Something else went wrong")   #Variable x is not defined</a:t>
            </a:r>
          </a:p>
          <a:p>
            <a:endParaRPr lang="en-IN" sz="2000" dirty="0"/>
          </a:p>
        </p:txBody>
      </p:sp>
    </p:spTree>
    <p:extLst>
      <p:ext uri="{BB962C8B-B14F-4D97-AF65-F5344CB8AC3E}">
        <p14:creationId xmlns:p14="http://schemas.microsoft.com/office/powerpoint/2010/main" val="67703736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37F8FC1-43ED-0A8B-81DA-1ADC5B715149}"/>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43A0C87C-1E4D-78D2-376B-ECE7FCCC4EB9}"/>
              </a:ext>
            </a:extLst>
          </p:cNvPr>
          <p:cNvSpPr txBox="1"/>
          <p:nvPr/>
        </p:nvSpPr>
        <p:spPr>
          <a:xfrm>
            <a:off x="609600" y="443567"/>
            <a:ext cx="10805652" cy="6247864"/>
          </a:xfrm>
          <a:prstGeom prst="rect">
            <a:avLst/>
          </a:prstGeom>
          <a:noFill/>
        </p:spPr>
        <p:txBody>
          <a:bodyPr wrap="square">
            <a:spAutoFit/>
          </a:bodyPr>
          <a:lstStyle/>
          <a:p>
            <a:pPr marL="0" indent="0">
              <a:buNone/>
            </a:pPr>
            <a:r>
              <a:rPr lang="en-US" sz="2000" b="1" dirty="0">
                <a:cs typeface="Times New Roman" panose="02020603050405020304" pitchFamily="18" charset="0"/>
              </a:rPr>
              <a:t>Else: </a:t>
            </a:r>
          </a:p>
          <a:p>
            <a:pPr marL="0" indent="0">
              <a:buNone/>
            </a:pPr>
            <a:r>
              <a:rPr lang="en-US" sz="2000" dirty="0">
                <a:ea typeface="Verdana"/>
                <a:cs typeface="Times New Roman" panose="02020603050405020304" pitchFamily="18" charset="0"/>
              </a:rPr>
              <a:t>You can use the </a:t>
            </a:r>
            <a:r>
              <a:rPr lang="en-US" sz="2000" dirty="0">
                <a:solidFill>
                  <a:srgbClr val="DC143C"/>
                </a:solidFill>
                <a:cs typeface="Times New Roman" panose="02020603050405020304" pitchFamily="18" charset="0"/>
              </a:rPr>
              <a:t>else</a:t>
            </a:r>
            <a:r>
              <a:rPr lang="en-US" sz="2000" dirty="0">
                <a:ea typeface="Verdana"/>
                <a:cs typeface="Times New Roman" panose="02020603050405020304" pitchFamily="18" charset="0"/>
              </a:rPr>
              <a:t> keyword to define a block of code to be executed if no errors were raised:</a:t>
            </a:r>
            <a:endParaRPr lang="en-US" sz="2000" b="1" dirty="0">
              <a:ea typeface="Verdana"/>
              <a:cs typeface="Times New Roman" panose="02020603050405020304" pitchFamily="18" charset="0"/>
            </a:endParaRPr>
          </a:p>
          <a:p>
            <a:pPr marL="0" indent="0">
              <a:buNone/>
            </a:pPr>
            <a:r>
              <a:rPr lang="en-US" sz="2000" b="1" u="sng" dirty="0">
                <a:ea typeface="Verdana"/>
                <a:cs typeface="Times New Roman" panose="02020603050405020304" pitchFamily="18" charset="0"/>
              </a:rPr>
              <a:t>Example: </a:t>
            </a:r>
            <a:r>
              <a:rPr lang="en-US" sz="2000" dirty="0">
                <a:ea typeface="Verdana"/>
                <a:cs typeface="Times New Roman" panose="02020603050405020304" pitchFamily="18" charset="0"/>
              </a:rPr>
              <a:t>In this example, the try block does not generate any error:</a:t>
            </a:r>
            <a:endParaRPr lang="en-US" sz="2000" u="sng" dirty="0">
              <a:cs typeface="Times New Roman" panose="02020603050405020304" pitchFamily="18" charset="0"/>
            </a:endParaRPr>
          </a:p>
          <a:p>
            <a:pPr marL="0" indent="0">
              <a:buNone/>
            </a:pPr>
            <a:r>
              <a:rPr lang="en-US" sz="2000" dirty="0">
                <a:ea typeface="+mn-lt"/>
                <a:cs typeface="Times New Roman" panose="02020603050405020304" pitchFamily="18" charset="0"/>
              </a:rPr>
              <a:t>try:</a:t>
            </a:r>
            <a:endParaRPr lang="en-US" sz="2000" dirty="0">
              <a:cs typeface="Times New Roman" panose="02020603050405020304" pitchFamily="18" charset="0"/>
            </a:endParaRPr>
          </a:p>
          <a:p>
            <a:pPr marL="0" indent="0">
              <a:buNone/>
            </a:pPr>
            <a:r>
              <a:rPr lang="en-US" sz="2000" dirty="0">
                <a:ea typeface="+mn-lt"/>
                <a:cs typeface="Times New Roman" panose="02020603050405020304" pitchFamily="18" charset="0"/>
              </a:rPr>
              <a:t>  print("Hello")</a:t>
            </a:r>
            <a:endParaRPr lang="en-US" sz="2000" dirty="0">
              <a:cs typeface="Times New Roman" panose="02020603050405020304" pitchFamily="18" charset="0"/>
            </a:endParaRPr>
          </a:p>
          <a:p>
            <a:pPr marL="0" indent="0">
              <a:buNone/>
            </a:pPr>
            <a:r>
              <a:rPr lang="en-US" sz="2000" dirty="0">
                <a:ea typeface="+mn-lt"/>
                <a:cs typeface="Times New Roman" panose="02020603050405020304" pitchFamily="18" charset="0"/>
              </a:rPr>
              <a:t>except:</a:t>
            </a:r>
            <a:endParaRPr lang="en-US" sz="2000" dirty="0">
              <a:cs typeface="Times New Roman" panose="02020603050405020304" pitchFamily="18" charset="0"/>
            </a:endParaRPr>
          </a:p>
          <a:p>
            <a:pPr marL="0" indent="0">
              <a:buNone/>
            </a:pPr>
            <a:r>
              <a:rPr lang="en-US" sz="2000" dirty="0">
                <a:ea typeface="+mn-lt"/>
                <a:cs typeface="Times New Roman" panose="02020603050405020304" pitchFamily="18" charset="0"/>
              </a:rPr>
              <a:t>  print("Something went wrong")</a:t>
            </a:r>
            <a:endParaRPr lang="en-US" sz="2000" dirty="0">
              <a:cs typeface="Times New Roman" panose="02020603050405020304" pitchFamily="18" charset="0"/>
            </a:endParaRPr>
          </a:p>
          <a:p>
            <a:pPr marL="0" indent="0">
              <a:buNone/>
            </a:pPr>
            <a:r>
              <a:rPr lang="en-US" sz="2000" dirty="0">
                <a:ea typeface="+mn-lt"/>
                <a:cs typeface="Times New Roman" panose="02020603050405020304" pitchFamily="18" charset="0"/>
              </a:rPr>
              <a:t>else:</a:t>
            </a:r>
            <a:endParaRPr lang="en-US" sz="2000" dirty="0">
              <a:cs typeface="Times New Roman" panose="02020603050405020304" pitchFamily="18" charset="0"/>
            </a:endParaRPr>
          </a:p>
          <a:p>
            <a:pPr marL="0" indent="0">
              <a:buNone/>
            </a:pPr>
            <a:r>
              <a:rPr lang="en-US" sz="2000" dirty="0">
                <a:ea typeface="+mn-lt"/>
                <a:cs typeface="Times New Roman" panose="02020603050405020304" pitchFamily="18" charset="0"/>
              </a:rPr>
              <a:t>  print("Nothing went wrong")     #Hello Nothing went wrong</a:t>
            </a:r>
            <a:endParaRPr lang="en-US" sz="2000" dirty="0">
              <a:cs typeface="Times New Roman" panose="02020603050405020304" pitchFamily="18" charset="0"/>
            </a:endParaRPr>
          </a:p>
          <a:p>
            <a:pPr marL="0" indent="0">
              <a:buNone/>
            </a:pPr>
            <a:endParaRPr lang="en-US" sz="2000" dirty="0">
              <a:ea typeface="Verdana"/>
              <a:cs typeface="Times New Roman" panose="02020603050405020304" pitchFamily="18" charset="0"/>
            </a:endParaRPr>
          </a:p>
          <a:p>
            <a:pPr marL="0" indent="0">
              <a:buNone/>
            </a:pPr>
            <a:endParaRPr lang="en-US" sz="2000" dirty="0">
              <a:ea typeface="Verdana"/>
              <a:cs typeface="Times New Roman" panose="02020603050405020304" pitchFamily="18" charset="0"/>
            </a:endParaRPr>
          </a:p>
          <a:p>
            <a:pPr marL="0" indent="0">
              <a:buNone/>
            </a:pPr>
            <a:r>
              <a:rPr lang="en-US" sz="2000" b="1" dirty="0">
                <a:ea typeface="Verdana"/>
                <a:cs typeface="Times New Roman" panose="02020603050405020304" pitchFamily="18" charset="0"/>
              </a:rPr>
              <a:t>Finally: </a:t>
            </a:r>
          </a:p>
          <a:p>
            <a:pPr marL="0" indent="0">
              <a:buNone/>
            </a:pPr>
            <a:r>
              <a:rPr lang="en-US" sz="2000" dirty="0">
                <a:ea typeface="Verdana"/>
                <a:cs typeface="Times New Roman" panose="02020603050405020304" pitchFamily="18" charset="0"/>
              </a:rPr>
              <a:t>The finally block, if specified, will be executed regardless if the try block raises an error or not.</a:t>
            </a:r>
            <a:endParaRPr lang="en-US" sz="2000" dirty="0">
              <a:cs typeface="Times New Roman" panose="02020603050405020304" pitchFamily="18" charset="0"/>
            </a:endParaRPr>
          </a:p>
          <a:p>
            <a:pPr marL="0" indent="0">
              <a:buNone/>
            </a:pPr>
            <a:r>
              <a:rPr lang="en-US" sz="2000" b="1" u="sng" dirty="0">
                <a:ea typeface="+mn-lt"/>
                <a:cs typeface="Times New Roman" panose="02020603050405020304" pitchFamily="18" charset="0"/>
              </a:rPr>
              <a:t>Example:</a:t>
            </a:r>
          </a:p>
          <a:p>
            <a:pPr marL="0" indent="0">
              <a:buNone/>
            </a:pPr>
            <a:r>
              <a:rPr lang="en-US" sz="2000" dirty="0">
                <a:ea typeface="+mn-lt"/>
                <a:cs typeface="Times New Roman" panose="02020603050405020304" pitchFamily="18" charset="0"/>
              </a:rPr>
              <a:t>try:</a:t>
            </a:r>
            <a:endParaRPr lang="en-US" sz="2000" dirty="0">
              <a:cs typeface="Times New Roman" panose="02020603050405020304" pitchFamily="18" charset="0"/>
            </a:endParaRPr>
          </a:p>
          <a:p>
            <a:pPr marL="0" indent="0">
              <a:buNone/>
            </a:pPr>
            <a:r>
              <a:rPr lang="en-US" sz="2000" dirty="0">
                <a:ea typeface="+mn-lt"/>
                <a:cs typeface="Times New Roman" panose="02020603050405020304" pitchFamily="18" charset="0"/>
              </a:rPr>
              <a:t>  print(x)</a:t>
            </a:r>
            <a:endParaRPr lang="en-US" sz="2000" dirty="0">
              <a:cs typeface="Times New Roman" panose="02020603050405020304" pitchFamily="18" charset="0"/>
            </a:endParaRPr>
          </a:p>
          <a:p>
            <a:pPr marL="0" indent="0">
              <a:buNone/>
            </a:pPr>
            <a:r>
              <a:rPr lang="en-US" sz="2000" dirty="0">
                <a:ea typeface="+mn-lt"/>
                <a:cs typeface="Times New Roman" panose="02020603050405020304" pitchFamily="18" charset="0"/>
              </a:rPr>
              <a:t>except:</a:t>
            </a:r>
            <a:endParaRPr lang="en-US" sz="2000" dirty="0">
              <a:cs typeface="Times New Roman" panose="02020603050405020304" pitchFamily="18" charset="0"/>
            </a:endParaRPr>
          </a:p>
          <a:p>
            <a:pPr marL="0" indent="0">
              <a:buNone/>
            </a:pPr>
            <a:r>
              <a:rPr lang="en-US" sz="2000" dirty="0">
                <a:ea typeface="+mn-lt"/>
                <a:cs typeface="Times New Roman" panose="02020603050405020304" pitchFamily="18" charset="0"/>
              </a:rPr>
              <a:t>  print("Something went wrong")</a:t>
            </a:r>
            <a:endParaRPr lang="en-US" sz="2000" dirty="0">
              <a:cs typeface="Times New Roman" panose="02020603050405020304" pitchFamily="18" charset="0"/>
            </a:endParaRPr>
          </a:p>
          <a:p>
            <a:pPr marL="0" indent="0">
              <a:buNone/>
            </a:pPr>
            <a:r>
              <a:rPr lang="en-US" sz="2000" dirty="0">
                <a:ea typeface="+mn-lt"/>
                <a:cs typeface="Times New Roman" panose="02020603050405020304" pitchFamily="18" charset="0"/>
              </a:rPr>
              <a:t>finally:</a:t>
            </a:r>
            <a:endParaRPr lang="en-US" sz="2000" dirty="0">
              <a:cs typeface="Times New Roman" panose="02020603050405020304" pitchFamily="18" charset="0"/>
            </a:endParaRPr>
          </a:p>
          <a:p>
            <a:pPr marL="0" indent="0">
              <a:buNone/>
            </a:pPr>
            <a:r>
              <a:rPr lang="en-US" sz="2000" dirty="0">
                <a:ea typeface="+mn-lt"/>
                <a:cs typeface="Times New Roman" panose="02020603050405020304" pitchFamily="18" charset="0"/>
              </a:rPr>
              <a:t>  print("The 'try except' is finished")     #Something went wrong  The 'try except' is finished</a:t>
            </a:r>
            <a:endParaRPr lang="en-US" sz="2000" dirty="0">
              <a:cs typeface="Times New Roman" panose="02020603050405020304" pitchFamily="18" charset="0"/>
            </a:endParaRPr>
          </a:p>
        </p:txBody>
      </p:sp>
    </p:spTree>
    <p:extLst>
      <p:ext uri="{BB962C8B-B14F-4D97-AF65-F5344CB8AC3E}">
        <p14:creationId xmlns:p14="http://schemas.microsoft.com/office/powerpoint/2010/main" val="211905937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9D3CD0E-6C73-4CE0-A60E-FB4048AEF6C2}"/>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F58E5831-2DBC-819C-ACF6-714FDD062C46}"/>
              </a:ext>
            </a:extLst>
          </p:cNvPr>
          <p:cNvSpPr txBox="1"/>
          <p:nvPr/>
        </p:nvSpPr>
        <p:spPr>
          <a:xfrm>
            <a:off x="560439" y="689040"/>
            <a:ext cx="10736825" cy="5632311"/>
          </a:xfrm>
          <a:prstGeom prst="rect">
            <a:avLst/>
          </a:prstGeom>
          <a:noFill/>
        </p:spPr>
        <p:txBody>
          <a:bodyPr wrap="square">
            <a:spAutoFit/>
          </a:bodyPr>
          <a:lstStyle/>
          <a:p>
            <a:pPr marL="0" indent="0">
              <a:buNone/>
            </a:pPr>
            <a:r>
              <a:rPr lang="en-US" sz="2000" b="1" dirty="0">
                <a:cs typeface="Times New Roman" panose="02020603050405020304" pitchFamily="18" charset="0"/>
              </a:rPr>
              <a:t>Raise an exception</a:t>
            </a:r>
          </a:p>
          <a:p>
            <a:pPr marL="342900" indent="-342900">
              <a:buFont typeface="Arial" panose="020B0604020202020204" pitchFamily="34" charset="0"/>
              <a:buChar char="•"/>
            </a:pPr>
            <a:r>
              <a:rPr lang="en-US" sz="2000" dirty="0">
                <a:ea typeface="Verdana"/>
                <a:cs typeface="Times New Roman" panose="02020603050405020304" pitchFamily="18" charset="0"/>
              </a:rPr>
              <a:t>As a Python developer you can choose to throw an exception if a condition occurs.</a:t>
            </a:r>
          </a:p>
          <a:p>
            <a:pPr marL="342900" indent="-342900">
              <a:buFont typeface="Arial" panose="020B0604020202020204" pitchFamily="34" charset="0"/>
              <a:buChar char="•"/>
            </a:pPr>
            <a:r>
              <a:rPr lang="en-US" sz="2000" dirty="0">
                <a:ea typeface="Verdana"/>
                <a:cs typeface="Times New Roman" panose="02020603050405020304" pitchFamily="18" charset="0"/>
              </a:rPr>
              <a:t>To throw (or raise) an exception, use the raise keyword.</a:t>
            </a:r>
          </a:p>
          <a:p>
            <a:pPr marL="342900" indent="-342900">
              <a:buFont typeface="Arial" panose="020B0604020202020204" pitchFamily="34" charset="0"/>
              <a:buChar char="•"/>
            </a:pPr>
            <a:r>
              <a:rPr lang="en-US" sz="2000" dirty="0">
                <a:ea typeface="Calibri"/>
                <a:cs typeface="Times New Roman" panose="02020603050405020304" pitchFamily="18" charset="0"/>
              </a:rPr>
              <a:t>The raise keyword is used to raise an exception.</a:t>
            </a:r>
          </a:p>
          <a:p>
            <a:pPr marL="342900" indent="-342900">
              <a:buFont typeface="Arial" panose="020B0604020202020204" pitchFamily="34" charset="0"/>
              <a:buChar char="•"/>
            </a:pPr>
            <a:r>
              <a:rPr lang="en-US" sz="2000" dirty="0">
                <a:ea typeface="Calibri"/>
                <a:cs typeface="Times New Roman" panose="02020603050405020304" pitchFamily="18" charset="0"/>
              </a:rPr>
              <a:t>You can define what kind of error to raise, and the text to print to the user.</a:t>
            </a:r>
            <a:endParaRPr lang="en-US" sz="2000" dirty="0">
              <a:cs typeface="Times New Roman" panose="02020603050405020304" pitchFamily="18" charset="0"/>
            </a:endParaRPr>
          </a:p>
          <a:p>
            <a:pPr marL="0" indent="0">
              <a:buNone/>
            </a:pPr>
            <a:endParaRPr lang="en-US" sz="2000" dirty="0">
              <a:ea typeface="Verdana"/>
              <a:cs typeface="Times New Roman" panose="02020603050405020304" pitchFamily="18" charset="0"/>
            </a:endParaRPr>
          </a:p>
          <a:p>
            <a:pPr marL="0" indent="0">
              <a:buNone/>
            </a:pPr>
            <a:r>
              <a:rPr lang="en-US" sz="2000" b="1" u="sng" dirty="0">
                <a:ea typeface="Verdana"/>
                <a:cs typeface="Times New Roman" panose="02020603050405020304" pitchFamily="18" charset="0"/>
              </a:rPr>
              <a:t>Example 1</a:t>
            </a:r>
            <a:r>
              <a:rPr lang="en-US" sz="2000" dirty="0">
                <a:ea typeface="Verdana"/>
                <a:cs typeface="Times New Roman" panose="02020603050405020304" pitchFamily="18" charset="0"/>
              </a:rPr>
              <a:t>: Raise an error and stop the program if x is lower than 0:</a:t>
            </a:r>
          </a:p>
          <a:p>
            <a:pPr marL="0" indent="0">
              <a:buNone/>
            </a:pPr>
            <a:r>
              <a:rPr lang="en-US" sz="2000" dirty="0">
                <a:ea typeface="+mn-lt"/>
                <a:cs typeface="Times New Roman" panose="02020603050405020304" pitchFamily="18" charset="0"/>
              </a:rPr>
              <a:t>x = -1</a:t>
            </a:r>
            <a:endParaRPr lang="en-US" sz="2000" dirty="0">
              <a:cs typeface="Times New Roman" panose="02020603050405020304" pitchFamily="18" charset="0"/>
            </a:endParaRPr>
          </a:p>
          <a:p>
            <a:pPr marL="0" indent="0">
              <a:buNone/>
            </a:pPr>
            <a:r>
              <a:rPr lang="en-US" sz="2000" dirty="0">
                <a:ea typeface="+mn-lt"/>
                <a:cs typeface="Times New Roman" panose="02020603050405020304" pitchFamily="18" charset="0"/>
              </a:rPr>
              <a:t>if x &lt; 0:</a:t>
            </a:r>
            <a:endParaRPr lang="en-US" sz="2000" dirty="0">
              <a:cs typeface="Times New Roman" panose="02020603050405020304" pitchFamily="18" charset="0"/>
            </a:endParaRPr>
          </a:p>
          <a:p>
            <a:pPr marL="0" indent="0">
              <a:buNone/>
            </a:pPr>
            <a:r>
              <a:rPr lang="en-US" sz="2000" dirty="0">
                <a:ea typeface="+mn-lt"/>
                <a:cs typeface="Times New Roman" panose="02020603050405020304" pitchFamily="18" charset="0"/>
              </a:rPr>
              <a:t>	raise Exception("Sorry, no numbers below zero")</a:t>
            </a:r>
          </a:p>
          <a:p>
            <a:pPr marL="0" indent="0">
              <a:buNone/>
            </a:pPr>
            <a:r>
              <a:rPr lang="en-US" sz="2000" dirty="0">
                <a:cs typeface="Times New Roman" panose="02020603050405020304" pitchFamily="18" charset="0"/>
              </a:rPr>
              <a:t>#</a:t>
            </a:r>
            <a:r>
              <a:rPr lang="en-US" sz="2000" b="1" dirty="0">
                <a:cs typeface="Times New Roman" panose="02020603050405020304" pitchFamily="18" charset="0"/>
              </a:rPr>
              <a:t>Exception: </a:t>
            </a:r>
            <a:r>
              <a:rPr lang="en-US" sz="2000" dirty="0">
                <a:cs typeface="Times New Roman" panose="02020603050405020304" pitchFamily="18" charset="0"/>
              </a:rPr>
              <a:t>Sorry, no number below zero</a:t>
            </a:r>
          </a:p>
          <a:p>
            <a:pPr marL="0" indent="0">
              <a:buNone/>
            </a:pPr>
            <a:endParaRPr lang="en-US" sz="2000" dirty="0">
              <a:ea typeface="Verdana"/>
              <a:cs typeface="Times New Roman" panose="02020603050405020304" pitchFamily="18" charset="0"/>
            </a:endParaRPr>
          </a:p>
          <a:p>
            <a:pPr marL="0" indent="0">
              <a:buNone/>
            </a:pPr>
            <a:r>
              <a:rPr lang="en-US" sz="2000" b="1" u="sng" dirty="0">
                <a:ea typeface="+mn-lt"/>
                <a:cs typeface="Times New Roman" panose="02020603050405020304" pitchFamily="18" charset="0"/>
              </a:rPr>
              <a:t>Example 2</a:t>
            </a:r>
            <a:r>
              <a:rPr lang="en-US" sz="2000" dirty="0">
                <a:ea typeface="+mn-lt"/>
                <a:cs typeface="Times New Roman" panose="02020603050405020304" pitchFamily="18" charset="0"/>
              </a:rPr>
              <a:t>: </a:t>
            </a:r>
            <a:r>
              <a:rPr lang="en-US" sz="2000" dirty="0">
                <a:ea typeface="Verdana"/>
                <a:cs typeface="Times New Roman" panose="02020603050405020304" pitchFamily="18" charset="0"/>
              </a:rPr>
              <a:t>Raise a </a:t>
            </a:r>
            <a:r>
              <a:rPr lang="en-US" sz="2000" dirty="0" err="1">
                <a:ea typeface="Verdana"/>
                <a:cs typeface="Times New Roman" panose="02020603050405020304" pitchFamily="18" charset="0"/>
              </a:rPr>
              <a:t>TypeError</a:t>
            </a:r>
            <a:r>
              <a:rPr lang="en-US" sz="2000" dirty="0">
                <a:ea typeface="Verdana"/>
                <a:cs typeface="Times New Roman" panose="02020603050405020304" pitchFamily="18" charset="0"/>
              </a:rPr>
              <a:t> if x is not an integer:</a:t>
            </a:r>
            <a:endParaRPr lang="en-US" sz="2000" dirty="0">
              <a:ea typeface="+mn-lt"/>
              <a:cs typeface="Times New Roman" panose="02020603050405020304" pitchFamily="18" charset="0"/>
            </a:endParaRPr>
          </a:p>
          <a:p>
            <a:pPr marL="0" indent="0">
              <a:buNone/>
            </a:pPr>
            <a:r>
              <a:rPr lang="en-US" sz="2000" dirty="0">
                <a:ea typeface="+mn-lt"/>
                <a:cs typeface="Times New Roman" panose="02020603050405020304" pitchFamily="18" charset="0"/>
              </a:rPr>
              <a:t>x = "hello"</a:t>
            </a:r>
            <a:endParaRPr lang="en-US" sz="2000" dirty="0">
              <a:cs typeface="Times New Roman" panose="02020603050405020304" pitchFamily="18" charset="0"/>
            </a:endParaRPr>
          </a:p>
          <a:p>
            <a:pPr marL="0" indent="0">
              <a:buNone/>
            </a:pPr>
            <a:r>
              <a:rPr lang="en-US" sz="2000" dirty="0">
                <a:ea typeface="+mn-lt"/>
                <a:cs typeface="Times New Roman" panose="02020603050405020304" pitchFamily="18" charset="0"/>
              </a:rPr>
              <a:t>if not type(x) is int:</a:t>
            </a:r>
          </a:p>
          <a:p>
            <a:pPr marL="0" indent="0">
              <a:buNone/>
            </a:pPr>
            <a:r>
              <a:rPr lang="en-US" sz="2000" dirty="0">
                <a:ea typeface="+mn-lt"/>
                <a:cs typeface="Times New Roman" panose="02020603050405020304" pitchFamily="18" charset="0"/>
              </a:rPr>
              <a:t>	raise </a:t>
            </a:r>
            <a:r>
              <a:rPr lang="en-US" sz="2000" dirty="0" err="1">
                <a:ea typeface="+mn-lt"/>
                <a:cs typeface="Times New Roman" panose="02020603050405020304" pitchFamily="18" charset="0"/>
              </a:rPr>
              <a:t>TypeError</a:t>
            </a:r>
            <a:r>
              <a:rPr lang="en-US" sz="2000" dirty="0">
                <a:ea typeface="+mn-lt"/>
                <a:cs typeface="Times New Roman" panose="02020603050405020304" pitchFamily="18" charset="0"/>
              </a:rPr>
              <a:t>("Only integers are allowed")</a:t>
            </a:r>
          </a:p>
          <a:p>
            <a:pPr marL="0" indent="0">
              <a:buNone/>
            </a:pPr>
            <a:r>
              <a:rPr lang="en-US" sz="2000" dirty="0">
                <a:cs typeface="Times New Roman" panose="02020603050405020304" pitchFamily="18" charset="0"/>
              </a:rPr>
              <a:t># </a:t>
            </a:r>
            <a:r>
              <a:rPr lang="en-US" sz="2000" b="1" dirty="0" err="1">
                <a:cs typeface="Times New Roman" panose="02020603050405020304" pitchFamily="18" charset="0"/>
              </a:rPr>
              <a:t>TypeError</a:t>
            </a:r>
            <a:r>
              <a:rPr lang="en-US" sz="2000" b="1" dirty="0">
                <a:cs typeface="Times New Roman" panose="02020603050405020304" pitchFamily="18" charset="0"/>
              </a:rPr>
              <a:t>: </a:t>
            </a:r>
            <a:r>
              <a:rPr lang="en-US" sz="2000" dirty="0">
                <a:cs typeface="Times New Roman" panose="02020603050405020304" pitchFamily="18" charset="0"/>
              </a:rPr>
              <a:t>Only integers are allowed</a:t>
            </a:r>
          </a:p>
          <a:p>
            <a:endParaRPr lang="en-IN" sz="2000" dirty="0"/>
          </a:p>
        </p:txBody>
      </p:sp>
    </p:spTree>
    <p:extLst>
      <p:ext uri="{BB962C8B-B14F-4D97-AF65-F5344CB8AC3E}">
        <p14:creationId xmlns:p14="http://schemas.microsoft.com/office/powerpoint/2010/main" val="3617097978"/>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0A87B-6D3B-DD10-6DE1-D6E1BE293B0D}"/>
              </a:ext>
            </a:extLst>
          </p:cNvPr>
          <p:cNvSpPr>
            <a:spLocks noGrp="1"/>
          </p:cNvSpPr>
          <p:nvPr>
            <p:ph type="title"/>
          </p:nvPr>
        </p:nvSpPr>
        <p:spPr/>
        <p:txBody>
          <a:bodyPr/>
          <a:lstStyle/>
          <a:p>
            <a:pPr algn="ctr"/>
            <a:r>
              <a:rPr lang="en-IN" b="1" i="1" dirty="0">
                <a:solidFill>
                  <a:srgbClr val="FF0000"/>
                </a:solidFill>
                <a:effectLst>
                  <a:outerShdw blurRad="38100" dist="38100" dir="2700000" algn="tl">
                    <a:srgbClr val="000000">
                      <a:alpha val="43137"/>
                    </a:srgbClr>
                  </a:outerShdw>
                </a:effectLst>
                <a:latin typeface="+mn-lt"/>
                <a:cs typeface="Times New Roman" panose="02020603050405020304" pitchFamily="18" charset="0"/>
              </a:rPr>
              <a:t>Python File Handling</a:t>
            </a:r>
          </a:p>
        </p:txBody>
      </p:sp>
      <p:pic>
        <p:nvPicPr>
          <p:cNvPr id="4" name="Picture 3">
            <a:extLst>
              <a:ext uri="{FF2B5EF4-FFF2-40B4-BE49-F238E27FC236}">
                <a16:creationId xmlns:a16="http://schemas.microsoft.com/office/drawing/2014/main" id="{802D485F-1773-5C71-DAA4-CEDC731B2413}"/>
              </a:ext>
            </a:extLst>
          </p:cNvPr>
          <p:cNvPicPr/>
          <p:nvPr/>
        </p:nvPicPr>
        <p:blipFill>
          <a:blip r:embed="rId2" cstate="print"/>
          <a:stretch/>
        </p:blipFill>
        <p:spPr>
          <a:xfrm>
            <a:off x="11503320" y="20605"/>
            <a:ext cx="688680" cy="689040"/>
          </a:xfrm>
          <a:prstGeom prst="rect">
            <a:avLst/>
          </a:prstGeom>
          <a:ln w="0">
            <a:noFill/>
          </a:ln>
        </p:spPr>
      </p:pic>
      <p:sp>
        <p:nvSpPr>
          <p:cNvPr id="6" name="TextBox 5">
            <a:extLst>
              <a:ext uri="{FF2B5EF4-FFF2-40B4-BE49-F238E27FC236}">
                <a16:creationId xmlns:a16="http://schemas.microsoft.com/office/drawing/2014/main" id="{12039E80-6616-F2D8-658B-3B70843FBF1B}"/>
              </a:ext>
            </a:extLst>
          </p:cNvPr>
          <p:cNvSpPr txBox="1"/>
          <p:nvPr/>
        </p:nvSpPr>
        <p:spPr>
          <a:xfrm>
            <a:off x="1022555" y="1954131"/>
            <a:ext cx="9800616" cy="1938992"/>
          </a:xfrm>
          <a:prstGeom prst="rect">
            <a:avLst/>
          </a:prstGeom>
          <a:noFill/>
        </p:spPr>
        <p:txBody>
          <a:bodyPr wrap="square">
            <a:spAutoFit/>
          </a:bodyPr>
          <a:lstStyle/>
          <a:p>
            <a:pPr marL="342900" indent="-342900">
              <a:buFont typeface="Arial" panose="020B0604020202020204" pitchFamily="34" charset="0"/>
              <a:buChar char="•"/>
            </a:pPr>
            <a:r>
              <a:rPr lang="en-IN" sz="2000" dirty="0">
                <a:cs typeface="Times New Roman" panose="02020603050405020304" pitchFamily="18" charset="0"/>
              </a:rPr>
              <a:t>Python file handling is an important part of any web application.</a:t>
            </a:r>
          </a:p>
          <a:p>
            <a:pPr marL="342900" indent="-342900">
              <a:buFont typeface="Arial" panose="020B0604020202020204" pitchFamily="34" charset="0"/>
              <a:buChar char="•"/>
            </a:pPr>
            <a:r>
              <a:rPr lang="en-IN" sz="2000" dirty="0">
                <a:cs typeface="Times New Roman" panose="02020603050405020304" pitchFamily="18" charset="0"/>
              </a:rPr>
              <a:t>Python has several </a:t>
            </a:r>
            <a:r>
              <a:rPr lang="en-US" sz="2000" b="0" i="0" dirty="0">
                <a:solidFill>
                  <a:srgbClr val="000000"/>
                </a:solidFill>
                <a:effectLst/>
                <a:cs typeface="Times New Roman" panose="02020603050405020304" pitchFamily="18" charset="0"/>
              </a:rPr>
              <a:t>functions for creating, reading, updating, and deleting files.</a:t>
            </a:r>
          </a:p>
          <a:p>
            <a:endParaRPr lang="en-US" sz="2000" dirty="0">
              <a:solidFill>
                <a:srgbClr val="000000"/>
              </a:solidFill>
              <a:cs typeface="Times New Roman" panose="02020603050405020304" pitchFamily="18" charset="0"/>
            </a:endParaRPr>
          </a:p>
          <a:p>
            <a:pPr marL="0" indent="0">
              <a:buNone/>
            </a:pPr>
            <a:r>
              <a:rPr lang="en-US" sz="2000" b="1" dirty="0">
                <a:solidFill>
                  <a:srgbClr val="000000"/>
                </a:solidFill>
                <a:cs typeface="Times New Roman" panose="02020603050405020304" pitchFamily="18" charset="0"/>
              </a:rPr>
              <a:t>Python File Open</a:t>
            </a:r>
          </a:p>
          <a:p>
            <a:pPr marL="342900" indent="-342900">
              <a:buFont typeface="Arial" panose="020B0604020202020204" pitchFamily="34" charset="0"/>
              <a:buChar char="•"/>
            </a:pPr>
            <a:r>
              <a:rPr lang="en-IN" sz="2000" dirty="0">
                <a:cs typeface="Times New Roman" panose="02020603050405020304" pitchFamily="18" charset="0"/>
              </a:rPr>
              <a:t>The key function for working with files in Python is the </a:t>
            </a:r>
            <a:r>
              <a:rPr lang="en-IN" sz="2000" b="1" dirty="0">
                <a:cs typeface="Times New Roman" panose="02020603050405020304" pitchFamily="18" charset="0"/>
              </a:rPr>
              <a:t>open() </a:t>
            </a:r>
            <a:r>
              <a:rPr lang="en-IN" sz="2000" dirty="0">
                <a:cs typeface="Times New Roman" panose="02020603050405020304" pitchFamily="18" charset="0"/>
              </a:rPr>
              <a:t>function.</a:t>
            </a:r>
          </a:p>
          <a:p>
            <a:pPr marL="342900" indent="-342900">
              <a:buFont typeface="Arial" panose="020B0604020202020204" pitchFamily="34" charset="0"/>
              <a:buChar char="•"/>
            </a:pPr>
            <a:r>
              <a:rPr lang="en-IN" sz="2000" dirty="0">
                <a:cs typeface="Times New Roman" panose="02020603050405020304" pitchFamily="18" charset="0"/>
              </a:rPr>
              <a:t>The open() function takes two parameters: </a:t>
            </a:r>
            <a:r>
              <a:rPr lang="en-IN" sz="2000" b="1" dirty="0">
                <a:cs typeface="Times New Roman" panose="02020603050405020304" pitchFamily="18" charset="0"/>
              </a:rPr>
              <a:t>filename </a:t>
            </a:r>
            <a:r>
              <a:rPr lang="en-IN" sz="2000" dirty="0">
                <a:cs typeface="Times New Roman" panose="02020603050405020304" pitchFamily="18" charset="0"/>
              </a:rPr>
              <a:t>and </a:t>
            </a:r>
            <a:r>
              <a:rPr lang="en-IN" sz="2000" b="1" dirty="0">
                <a:cs typeface="Times New Roman" panose="02020603050405020304" pitchFamily="18" charset="0"/>
              </a:rPr>
              <a:t>mode.</a:t>
            </a:r>
            <a:endParaRPr lang="en-IN" sz="2000" dirty="0">
              <a:cs typeface="Times New Roman" panose="02020603050405020304" pitchFamily="18" charset="0"/>
            </a:endParaRPr>
          </a:p>
        </p:txBody>
      </p:sp>
    </p:spTree>
    <p:extLst>
      <p:ext uri="{BB962C8B-B14F-4D97-AF65-F5344CB8AC3E}">
        <p14:creationId xmlns:p14="http://schemas.microsoft.com/office/powerpoint/2010/main" val="782549241"/>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87FA2E-F3D0-AC79-350A-79D9738596AF}"/>
              </a:ext>
            </a:extLst>
          </p:cNvPr>
          <p:cNvPicPr/>
          <p:nvPr/>
        </p:nvPicPr>
        <p:blipFill>
          <a:blip r:embed="rId2" cstate="print"/>
          <a:stretch/>
        </p:blipFill>
        <p:spPr>
          <a:xfrm>
            <a:off x="11434377" y="0"/>
            <a:ext cx="688680" cy="689040"/>
          </a:xfrm>
          <a:prstGeom prst="rect">
            <a:avLst/>
          </a:prstGeom>
          <a:ln w="0">
            <a:noFill/>
          </a:ln>
        </p:spPr>
      </p:pic>
      <p:sp>
        <p:nvSpPr>
          <p:cNvPr id="5" name="TextBox 4">
            <a:extLst>
              <a:ext uri="{FF2B5EF4-FFF2-40B4-BE49-F238E27FC236}">
                <a16:creationId xmlns:a16="http://schemas.microsoft.com/office/drawing/2014/main" id="{69171118-CDF1-2510-F864-8066E83502FD}"/>
              </a:ext>
            </a:extLst>
          </p:cNvPr>
          <p:cNvSpPr txBox="1"/>
          <p:nvPr/>
        </p:nvSpPr>
        <p:spPr>
          <a:xfrm>
            <a:off x="963561" y="1446299"/>
            <a:ext cx="9783097" cy="2862322"/>
          </a:xfrm>
          <a:prstGeom prst="rect">
            <a:avLst/>
          </a:prstGeom>
          <a:noFill/>
        </p:spPr>
        <p:txBody>
          <a:bodyPr wrap="square">
            <a:spAutoFit/>
          </a:bodyPr>
          <a:lstStyle/>
          <a:p>
            <a:pPr marL="0" indent="0">
              <a:buNone/>
            </a:pPr>
            <a:r>
              <a:rPr lang="en-IN" sz="2000" dirty="0">
                <a:cs typeface="Times New Roman" panose="02020603050405020304" pitchFamily="18" charset="0"/>
              </a:rPr>
              <a:t>There are four different modes for opening a file:</a:t>
            </a:r>
          </a:p>
          <a:p>
            <a:pPr marL="342900" indent="-342900">
              <a:buFont typeface="Arial" panose="020B0604020202020204" pitchFamily="34" charset="0"/>
              <a:buChar char="•"/>
            </a:pPr>
            <a:r>
              <a:rPr lang="en-IN" sz="2000" b="1" dirty="0">
                <a:cs typeface="Times New Roman" panose="02020603050405020304" pitchFamily="18" charset="0"/>
              </a:rPr>
              <a:t>‘r’ – Read –</a:t>
            </a:r>
            <a:r>
              <a:rPr lang="en-IN" sz="2000" dirty="0">
                <a:cs typeface="Times New Roman" panose="02020603050405020304" pitchFamily="18" charset="0"/>
              </a:rPr>
              <a:t> Default value. Opens a file for reading, error if the file does not exist.</a:t>
            </a:r>
          </a:p>
          <a:p>
            <a:pPr marL="342900" indent="-342900">
              <a:buFont typeface="Arial" panose="020B0604020202020204" pitchFamily="34" charset="0"/>
              <a:buChar char="•"/>
            </a:pPr>
            <a:r>
              <a:rPr lang="en-IN" sz="2000" b="1" dirty="0">
                <a:cs typeface="Times New Roman" panose="02020603050405020304" pitchFamily="18" charset="0"/>
              </a:rPr>
              <a:t>‘a’ – Append – </a:t>
            </a:r>
            <a:r>
              <a:rPr lang="en-IN" sz="2000" dirty="0">
                <a:cs typeface="Times New Roman" panose="02020603050405020304" pitchFamily="18" charset="0"/>
              </a:rPr>
              <a:t>Opens a file for appending, creates the file if it does not exist.</a:t>
            </a:r>
          </a:p>
          <a:p>
            <a:pPr marL="342900" indent="-342900">
              <a:buFont typeface="Arial" panose="020B0604020202020204" pitchFamily="34" charset="0"/>
              <a:buChar char="•"/>
            </a:pPr>
            <a:r>
              <a:rPr lang="en-IN" sz="2000" b="1" dirty="0">
                <a:cs typeface="Times New Roman" panose="02020603050405020304" pitchFamily="18" charset="0"/>
              </a:rPr>
              <a:t>‘w’ – Write – </a:t>
            </a:r>
            <a:r>
              <a:rPr lang="en-IN" sz="2000" dirty="0">
                <a:cs typeface="Times New Roman" panose="02020603050405020304" pitchFamily="18" charset="0"/>
              </a:rPr>
              <a:t>Opens a file for writing, creates the file if it does not exist.</a:t>
            </a:r>
          </a:p>
          <a:p>
            <a:pPr marL="342900" indent="-342900">
              <a:buFont typeface="Arial" panose="020B0604020202020204" pitchFamily="34" charset="0"/>
              <a:buChar char="•"/>
            </a:pPr>
            <a:r>
              <a:rPr lang="en-IN" sz="2000" b="1" dirty="0">
                <a:cs typeface="Times New Roman" panose="02020603050405020304" pitchFamily="18" charset="0"/>
              </a:rPr>
              <a:t>‘x’ – Create – </a:t>
            </a:r>
            <a:r>
              <a:rPr lang="en-IN" sz="2000" dirty="0">
                <a:cs typeface="Times New Roman" panose="02020603050405020304" pitchFamily="18" charset="0"/>
              </a:rPr>
              <a:t>Creates the specified file, returns an error if the file exists.</a:t>
            </a:r>
          </a:p>
          <a:p>
            <a:pPr marL="0" indent="0">
              <a:buNone/>
            </a:pPr>
            <a:endParaRPr lang="en-IN" sz="2000" b="1" dirty="0">
              <a:cs typeface="Times New Roman" panose="02020603050405020304" pitchFamily="18" charset="0"/>
            </a:endParaRPr>
          </a:p>
          <a:p>
            <a:pPr marL="0" indent="0">
              <a:buNone/>
            </a:pPr>
            <a:r>
              <a:rPr lang="en-IN" sz="2000" dirty="0">
                <a:cs typeface="Times New Roman" panose="02020603050405020304" pitchFamily="18" charset="0"/>
              </a:rPr>
              <a:t>In addition you can specify if the file should be handled as binary or text mode.</a:t>
            </a:r>
          </a:p>
          <a:p>
            <a:pPr marL="342900" indent="-342900">
              <a:buFont typeface="Arial" panose="020B0604020202020204" pitchFamily="34" charset="0"/>
              <a:buChar char="•"/>
            </a:pPr>
            <a:r>
              <a:rPr lang="en-IN" sz="2000" b="1" dirty="0">
                <a:cs typeface="Times New Roman" panose="02020603050405020304" pitchFamily="18" charset="0"/>
              </a:rPr>
              <a:t>‘t’ – Text – </a:t>
            </a:r>
            <a:r>
              <a:rPr lang="en-IN" sz="2000" dirty="0">
                <a:cs typeface="Times New Roman" panose="02020603050405020304" pitchFamily="18" charset="0"/>
              </a:rPr>
              <a:t>Default value. Text mode.</a:t>
            </a:r>
          </a:p>
          <a:p>
            <a:pPr marL="342900" indent="-342900">
              <a:buFont typeface="Arial" panose="020B0604020202020204" pitchFamily="34" charset="0"/>
              <a:buChar char="•"/>
            </a:pPr>
            <a:r>
              <a:rPr lang="en-IN" sz="2000" b="1" dirty="0">
                <a:cs typeface="Times New Roman" panose="02020603050405020304" pitchFamily="18" charset="0"/>
              </a:rPr>
              <a:t>‘b’ – Binary – </a:t>
            </a:r>
            <a:r>
              <a:rPr lang="en-IN" sz="2000" dirty="0">
                <a:cs typeface="Times New Roman" panose="02020603050405020304" pitchFamily="18" charset="0"/>
              </a:rPr>
              <a:t>Binary mode.</a:t>
            </a:r>
            <a:endParaRPr lang="en-IN" sz="2000" b="1" dirty="0">
              <a:cs typeface="Times New Roman" panose="02020603050405020304" pitchFamily="18" charset="0"/>
            </a:endParaRPr>
          </a:p>
        </p:txBody>
      </p:sp>
    </p:spTree>
    <p:extLst>
      <p:ext uri="{BB962C8B-B14F-4D97-AF65-F5344CB8AC3E}">
        <p14:creationId xmlns:p14="http://schemas.microsoft.com/office/powerpoint/2010/main" val="3963358300"/>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3D89B43-7F22-D964-4CE9-B09FD1B77E72}"/>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CEA6AF72-8E9E-454C-30E3-C1537195603B}"/>
              </a:ext>
            </a:extLst>
          </p:cNvPr>
          <p:cNvSpPr txBox="1"/>
          <p:nvPr/>
        </p:nvSpPr>
        <p:spPr>
          <a:xfrm>
            <a:off x="530941" y="689040"/>
            <a:ext cx="9576619" cy="3477875"/>
          </a:xfrm>
          <a:prstGeom prst="rect">
            <a:avLst/>
          </a:prstGeom>
          <a:noFill/>
        </p:spPr>
        <p:txBody>
          <a:bodyPr wrap="square">
            <a:spAutoFit/>
          </a:bodyPr>
          <a:lstStyle/>
          <a:p>
            <a:pPr marL="0" indent="0">
              <a:buNone/>
            </a:pPr>
            <a:r>
              <a:rPr lang="en-IN" sz="2000" b="1" dirty="0">
                <a:cs typeface="Times New Roman" panose="02020603050405020304" pitchFamily="18" charset="0"/>
              </a:rPr>
              <a:t>Syntax</a:t>
            </a:r>
          </a:p>
          <a:p>
            <a:pPr marL="0" indent="0">
              <a:buNone/>
            </a:pPr>
            <a:r>
              <a:rPr lang="en-IN" sz="2000" dirty="0">
                <a:cs typeface="Times New Roman" panose="02020603050405020304" pitchFamily="18" charset="0"/>
              </a:rPr>
              <a:t>To open a file for reading it is enough to specify the name of the file:</a:t>
            </a:r>
          </a:p>
          <a:p>
            <a:pPr marL="0" indent="0">
              <a:buNone/>
            </a:pPr>
            <a:r>
              <a:rPr lang="en-IN" sz="2000" dirty="0">
                <a:cs typeface="Times New Roman" panose="02020603050405020304" pitchFamily="18" charset="0"/>
              </a:rPr>
              <a:t>f = open(“demofile.txt”)</a:t>
            </a:r>
          </a:p>
          <a:p>
            <a:pPr marL="0" indent="0">
              <a:buNone/>
            </a:pPr>
            <a:endParaRPr lang="en-IN" sz="2000" dirty="0">
              <a:cs typeface="Times New Roman" panose="02020603050405020304" pitchFamily="18" charset="0"/>
            </a:endParaRPr>
          </a:p>
          <a:p>
            <a:pPr marL="0" indent="0">
              <a:buNone/>
            </a:pPr>
            <a:r>
              <a:rPr lang="en-IN" sz="2000" dirty="0">
                <a:cs typeface="Times New Roman" panose="02020603050405020304" pitchFamily="18" charset="0"/>
              </a:rPr>
              <a:t>The code above is same as:</a:t>
            </a:r>
          </a:p>
          <a:p>
            <a:pPr marL="0" indent="0">
              <a:buNone/>
            </a:pPr>
            <a:r>
              <a:rPr lang="en-IN" sz="2000" dirty="0">
                <a:cs typeface="Times New Roman" panose="02020603050405020304" pitchFamily="18" charset="0"/>
              </a:rPr>
              <a:t>f = open(“demofile.txt”, “rt”)</a:t>
            </a:r>
          </a:p>
          <a:p>
            <a:pPr marL="0" indent="0">
              <a:buNone/>
            </a:pPr>
            <a:r>
              <a:rPr lang="en-IN" sz="2000" dirty="0">
                <a:cs typeface="Times New Roman" panose="02020603050405020304" pitchFamily="18" charset="0"/>
              </a:rPr>
              <a:t>Because “r” for read, and “t” for text are the default values, you do not need to specify them.</a:t>
            </a:r>
          </a:p>
          <a:p>
            <a:pPr marL="0" indent="0">
              <a:buNone/>
            </a:pPr>
            <a:endParaRPr lang="en-IN" sz="2000" dirty="0">
              <a:cs typeface="Times New Roman" panose="02020603050405020304" pitchFamily="18" charset="0"/>
            </a:endParaRPr>
          </a:p>
          <a:p>
            <a:pPr marL="0" indent="0">
              <a:buNone/>
            </a:pPr>
            <a:r>
              <a:rPr lang="en-IN" sz="2000" b="1" dirty="0">
                <a:cs typeface="Times New Roman" panose="02020603050405020304" pitchFamily="18" charset="0"/>
              </a:rPr>
              <a:t>Note: - </a:t>
            </a:r>
            <a:r>
              <a:rPr lang="en-IN" sz="2000" dirty="0">
                <a:cs typeface="Times New Roman" panose="02020603050405020304" pitchFamily="18" charset="0"/>
              </a:rPr>
              <a:t>Make sure the file exists, or else you will get an error.</a:t>
            </a:r>
            <a:endParaRPr lang="en-IN" sz="2000" b="1" dirty="0">
              <a:cs typeface="Times New Roman" panose="02020603050405020304" pitchFamily="18" charset="0"/>
            </a:endParaRPr>
          </a:p>
          <a:p>
            <a:pPr marL="0" indent="0">
              <a:buNone/>
            </a:pPr>
            <a:endParaRPr lang="en-IN" sz="2000" dirty="0">
              <a:cs typeface="Times New Roman" panose="02020603050405020304" pitchFamily="18" charset="0"/>
            </a:endParaRPr>
          </a:p>
        </p:txBody>
      </p:sp>
      <p:sp>
        <p:nvSpPr>
          <p:cNvPr id="7" name="TextBox 6">
            <a:extLst>
              <a:ext uri="{FF2B5EF4-FFF2-40B4-BE49-F238E27FC236}">
                <a16:creationId xmlns:a16="http://schemas.microsoft.com/office/drawing/2014/main" id="{2C82F0F2-0455-29C5-6C5B-510656093728}"/>
              </a:ext>
            </a:extLst>
          </p:cNvPr>
          <p:cNvSpPr txBox="1"/>
          <p:nvPr/>
        </p:nvSpPr>
        <p:spPr>
          <a:xfrm>
            <a:off x="530941" y="4023360"/>
            <a:ext cx="9006349" cy="2246769"/>
          </a:xfrm>
          <a:prstGeom prst="rect">
            <a:avLst/>
          </a:prstGeom>
          <a:noFill/>
        </p:spPr>
        <p:txBody>
          <a:bodyPr wrap="square">
            <a:spAutoFit/>
          </a:bodyPr>
          <a:lstStyle/>
          <a:p>
            <a:pPr marL="0" indent="0">
              <a:buNone/>
            </a:pPr>
            <a:r>
              <a:rPr lang="en-IN" sz="2000" b="1" dirty="0">
                <a:cs typeface="Times New Roman" panose="02020603050405020304" pitchFamily="18" charset="0"/>
              </a:rPr>
              <a:t>Example of File</a:t>
            </a:r>
          </a:p>
          <a:p>
            <a:pPr marL="0" indent="0">
              <a:buNone/>
            </a:pPr>
            <a:endParaRPr lang="en-IN" sz="2000" dirty="0">
              <a:cs typeface="Times New Roman" panose="02020603050405020304" pitchFamily="18" charset="0"/>
            </a:endParaRPr>
          </a:p>
          <a:p>
            <a:pPr marL="0" indent="0">
              <a:buNone/>
            </a:pPr>
            <a:r>
              <a:rPr lang="en-IN" sz="2000" b="1" dirty="0">
                <a:cs typeface="Times New Roman" panose="02020603050405020304" pitchFamily="18" charset="0"/>
              </a:rPr>
              <a:t>demofile.txt </a:t>
            </a:r>
            <a:r>
              <a:rPr lang="en-IN" sz="2000" dirty="0">
                <a:cs typeface="Times New Roman" panose="02020603050405020304" pitchFamily="18" charset="0"/>
              </a:rPr>
              <a:t>is a file and its content are: -</a:t>
            </a:r>
          </a:p>
          <a:p>
            <a:pPr marL="0" indent="0">
              <a:buNone/>
            </a:pPr>
            <a:endParaRPr lang="en-IN" sz="2000" dirty="0">
              <a:cs typeface="Times New Roman" panose="02020603050405020304" pitchFamily="18" charset="0"/>
            </a:endParaRPr>
          </a:p>
          <a:p>
            <a:pPr marL="0" indent="0">
              <a:buNone/>
            </a:pPr>
            <a:r>
              <a:rPr lang="en-IN" sz="2000" dirty="0">
                <a:cs typeface="Times New Roman" panose="02020603050405020304" pitchFamily="18" charset="0"/>
              </a:rPr>
              <a:t>Hello! Welcome to demofile.txt</a:t>
            </a:r>
          </a:p>
          <a:p>
            <a:pPr marL="0" indent="0">
              <a:buNone/>
            </a:pPr>
            <a:r>
              <a:rPr lang="en-IN" sz="2000" dirty="0">
                <a:cs typeface="Times New Roman" panose="02020603050405020304" pitchFamily="18" charset="0"/>
              </a:rPr>
              <a:t>This file is for testing purposes.</a:t>
            </a:r>
          </a:p>
          <a:p>
            <a:pPr marL="0" indent="0">
              <a:buNone/>
            </a:pPr>
            <a:r>
              <a:rPr lang="en-IN" sz="2000" dirty="0">
                <a:cs typeface="Times New Roman" panose="02020603050405020304" pitchFamily="18" charset="0"/>
              </a:rPr>
              <a:t>Good Luck!</a:t>
            </a:r>
          </a:p>
        </p:txBody>
      </p:sp>
    </p:spTree>
    <p:extLst>
      <p:ext uri="{BB962C8B-B14F-4D97-AF65-F5344CB8AC3E}">
        <p14:creationId xmlns:p14="http://schemas.microsoft.com/office/powerpoint/2010/main" val="2947285070"/>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907A4D-D3C7-368A-CED6-C6631B94839F}"/>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66BCE44F-0049-AE9A-B248-67C02FDDA737}"/>
              </a:ext>
            </a:extLst>
          </p:cNvPr>
          <p:cNvSpPr txBox="1"/>
          <p:nvPr/>
        </p:nvSpPr>
        <p:spPr>
          <a:xfrm>
            <a:off x="766916" y="1584799"/>
            <a:ext cx="10815484" cy="3477875"/>
          </a:xfrm>
          <a:prstGeom prst="rect">
            <a:avLst/>
          </a:prstGeom>
          <a:noFill/>
        </p:spPr>
        <p:txBody>
          <a:bodyPr wrap="square">
            <a:spAutoFit/>
          </a:bodyPr>
          <a:lstStyle/>
          <a:p>
            <a:pPr marL="0" indent="0">
              <a:buNone/>
            </a:pPr>
            <a:r>
              <a:rPr lang="en-IN" sz="2000" b="1">
                <a:cs typeface="Times New Roman" panose="02020603050405020304" pitchFamily="18" charset="0"/>
              </a:rPr>
              <a:t>Read </a:t>
            </a:r>
            <a:r>
              <a:rPr lang="en-IN" sz="2000" b="1" dirty="0">
                <a:cs typeface="Times New Roman" panose="02020603050405020304" pitchFamily="18" charset="0"/>
              </a:rPr>
              <a:t>a File: -</a:t>
            </a:r>
          </a:p>
          <a:p>
            <a:r>
              <a:rPr lang="en-US" sz="2000" b="0" i="0" dirty="0">
                <a:solidFill>
                  <a:srgbClr val="000000"/>
                </a:solidFill>
                <a:effectLst/>
                <a:cs typeface="Times New Roman" panose="02020603050405020304" pitchFamily="18" charset="0"/>
              </a:rPr>
              <a:t>Assume we have the demofile.txt file, located in the same folder as Python.</a:t>
            </a:r>
          </a:p>
          <a:p>
            <a:r>
              <a:rPr lang="en-US" sz="2000" dirty="0">
                <a:solidFill>
                  <a:srgbClr val="000000"/>
                </a:solidFill>
                <a:cs typeface="Times New Roman" panose="02020603050405020304" pitchFamily="18" charset="0"/>
              </a:rPr>
              <a:t>To open the file, use the built-in </a:t>
            </a:r>
            <a:r>
              <a:rPr lang="en-US" sz="2000" b="1" dirty="0">
                <a:solidFill>
                  <a:srgbClr val="000000"/>
                </a:solidFill>
                <a:cs typeface="Times New Roman" panose="02020603050405020304" pitchFamily="18" charset="0"/>
              </a:rPr>
              <a:t>open() </a:t>
            </a:r>
            <a:r>
              <a:rPr lang="en-US" sz="2000" dirty="0">
                <a:solidFill>
                  <a:srgbClr val="000000"/>
                </a:solidFill>
                <a:cs typeface="Times New Roman" panose="02020603050405020304" pitchFamily="18" charset="0"/>
              </a:rPr>
              <a:t>function.</a:t>
            </a:r>
          </a:p>
          <a:p>
            <a:r>
              <a:rPr lang="en-US" sz="2000" dirty="0">
                <a:solidFill>
                  <a:srgbClr val="000000"/>
                </a:solidFill>
                <a:cs typeface="Times New Roman" panose="02020603050405020304" pitchFamily="18" charset="0"/>
              </a:rPr>
              <a:t>The </a:t>
            </a:r>
            <a:r>
              <a:rPr lang="en-US" sz="2000" b="1" dirty="0">
                <a:solidFill>
                  <a:srgbClr val="000000"/>
                </a:solidFill>
                <a:cs typeface="Times New Roman" panose="02020603050405020304" pitchFamily="18" charset="0"/>
              </a:rPr>
              <a:t>open() </a:t>
            </a:r>
            <a:r>
              <a:rPr lang="en-US" sz="2000" dirty="0">
                <a:solidFill>
                  <a:srgbClr val="000000"/>
                </a:solidFill>
                <a:cs typeface="Times New Roman" panose="02020603050405020304" pitchFamily="18" charset="0"/>
              </a:rPr>
              <a:t>function returns a file object, which has a </a:t>
            </a:r>
            <a:r>
              <a:rPr lang="en-US" sz="2000" b="1" dirty="0">
                <a:solidFill>
                  <a:srgbClr val="000000"/>
                </a:solidFill>
                <a:cs typeface="Times New Roman" panose="02020603050405020304" pitchFamily="18" charset="0"/>
              </a:rPr>
              <a:t>read() </a:t>
            </a:r>
            <a:r>
              <a:rPr lang="en-US" sz="2000" dirty="0">
                <a:solidFill>
                  <a:srgbClr val="000000"/>
                </a:solidFill>
                <a:cs typeface="Times New Roman" panose="02020603050405020304" pitchFamily="18" charset="0"/>
              </a:rPr>
              <a:t>method for reading the content of the file. </a:t>
            </a:r>
          </a:p>
          <a:p>
            <a:pPr marL="0" indent="0">
              <a:buNone/>
            </a:pPr>
            <a:endParaRPr lang="en-US" sz="2000" dirty="0">
              <a:solidFill>
                <a:srgbClr val="000000"/>
              </a:solidFill>
              <a:cs typeface="Times New Roman" panose="02020603050405020304" pitchFamily="18" charset="0"/>
            </a:endParaRPr>
          </a:p>
          <a:p>
            <a:pPr marL="0" indent="0">
              <a:buNone/>
            </a:pPr>
            <a:r>
              <a:rPr lang="en-US" sz="2000" dirty="0">
                <a:solidFill>
                  <a:srgbClr val="000000"/>
                </a:solidFill>
                <a:cs typeface="Times New Roman" panose="02020603050405020304" pitchFamily="18" charset="0"/>
              </a:rPr>
              <a:t>f = open(“demofile.txt”, “r”)</a:t>
            </a:r>
          </a:p>
          <a:p>
            <a:pPr marL="0" indent="0">
              <a:buNone/>
            </a:pPr>
            <a:r>
              <a:rPr lang="en-US" sz="2000" dirty="0">
                <a:solidFill>
                  <a:srgbClr val="000000"/>
                </a:solidFill>
                <a:cs typeface="Times New Roman" panose="02020603050405020304" pitchFamily="18" charset="0"/>
              </a:rPr>
              <a:t>print(</a:t>
            </a:r>
            <a:r>
              <a:rPr lang="en-US" sz="2000" dirty="0" err="1">
                <a:solidFill>
                  <a:srgbClr val="000000"/>
                </a:solidFill>
                <a:cs typeface="Times New Roman" panose="02020603050405020304" pitchFamily="18" charset="0"/>
              </a:rPr>
              <a:t>f.read</a:t>
            </a:r>
            <a:r>
              <a:rPr lang="en-US" sz="2000" dirty="0">
                <a:solidFill>
                  <a:srgbClr val="000000"/>
                </a:solidFill>
                <a:cs typeface="Times New Roman" panose="02020603050405020304" pitchFamily="18" charset="0"/>
              </a:rPr>
              <a:t>())</a:t>
            </a:r>
          </a:p>
          <a:p>
            <a:pPr marL="0" indent="0">
              <a:buNone/>
            </a:pPr>
            <a:r>
              <a:rPr lang="en-US" sz="2000" b="1" dirty="0">
                <a:solidFill>
                  <a:srgbClr val="000000"/>
                </a:solidFill>
                <a:cs typeface="Times New Roman" panose="02020603050405020304" pitchFamily="18" charset="0"/>
              </a:rPr>
              <a:t>Output: -</a:t>
            </a:r>
          </a:p>
          <a:p>
            <a:pPr marL="0" indent="0">
              <a:buNone/>
            </a:pPr>
            <a:r>
              <a:rPr lang="en-IN" sz="2000" dirty="0">
                <a:cs typeface="Times New Roman" panose="02020603050405020304" pitchFamily="18" charset="0"/>
              </a:rPr>
              <a:t>Hello! Welcome to demofile.txt</a:t>
            </a:r>
          </a:p>
          <a:p>
            <a:pPr marL="0" indent="0">
              <a:buNone/>
            </a:pPr>
            <a:r>
              <a:rPr lang="en-IN" sz="2000" dirty="0">
                <a:cs typeface="Times New Roman" panose="02020603050405020304" pitchFamily="18" charset="0"/>
              </a:rPr>
              <a:t>This file is for testing purposes.</a:t>
            </a:r>
          </a:p>
          <a:p>
            <a:pPr marL="0" indent="0">
              <a:buNone/>
            </a:pPr>
            <a:r>
              <a:rPr lang="en-IN" sz="2000" dirty="0">
                <a:cs typeface="Times New Roman" panose="02020603050405020304" pitchFamily="18" charset="0"/>
              </a:rPr>
              <a:t>Good Luck!</a:t>
            </a:r>
          </a:p>
        </p:txBody>
      </p:sp>
    </p:spTree>
    <p:extLst>
      <p:ext uri="{BB962C8B-B14F-4D97-AF65-F5344CB8AC3E}">
        <p14:creationId xmlns:p14="http://schemas.microsoft.com/office/powerpoint/2010/main" val="2035418970"/>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590E87-F3FA-F5BB-941A-44F78A7F3FC4}"/>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3B0C1DFB-7730-D066-C956-B06E86F16276}"/>
              </a:ext>
            </a:extLst>
          </p:cNvPr>
          <p:cNvSpPr txBox="1"/>
          <p:nvPr/>
        </p:nvSpPr>
        <p:spPr>
          <a:xfrm>
            <a:off x="855406" y="1238866"/>
            <a:ext cx="10382864" cy="3170099"/>
          </a:xfrm>
          <a:prstGeom prst="rect">
            <a:avLst/>
          </a:prstGeom>
          <a:noFill/>
        </p:spPr>
        <p:txBody>
          <a:bodyPr wrap="square">
            <a:spAutoFit/>
          </a:bodyPr>
          <a:lstStyle/>
          <a:p>
            <a:pPr marL="0" indent="0">
              <a:buNone/>
            </a:pPr>
            <a:r>
              <a:rPr lang="en-IN" sz="2000" dirty="0">
                <a:cs typeface="Times New Roman" panose="02020603050405020304" pitchFamily="18" charset="0"/>
              </a:rPr>
              <a:t>If the file is located in a different location, you will have to specify the file path, like this:</a:t>
            </a:r>
          </a:p>
          <a:p>
            <a:pPr marL="0" indent="0">
              <a:buNone/>
            </a:pPr>
            <a:r>
              <a:rPr lang="en-IN" sz="2000" dirty="0">
                <a:cs typeface="Times New Roman" panose="02020603050405020304" pitchFamily="18" charset="0"/>
              </a:rPr>
              <a:t>f = open(“D:\\</a:t>
            </a:r>
            <a:r>
              <a:rPr lang="en-IN" sz="2000" dirty="0" err="1">
                <a:cs typeface="Times New Roman" panose="02020603050405020304" pitchFamily="18" charset="0"/>
              </a:rPr>
              <a:t>myfiles</a:t>
            </a:r>
            <a:r>
              <a:rPr lang="en-IN" sz="2000" dirty="0">
                <a:cs typeface="Times New Roman" panose="02020603050405020304" pitchFamily="18" charset="0"/>
              </a:rPr>
              <a:t>\\demofile.txt”, “r”)</a:t>
            </a:r>
          </a:p>
          <a:p>
            <a:pPr marL="0" indent="0">
              <a:buNone/>
            </a:pPr>
            <a:r>
              <a:rPr lang="en-IN" sz="2000" dirty="0">
                <a:cs typeface="Times New Roman" panose="02020603050405020304" pitchFamily="18" charset="0"/>
              </a:rPr>
              <a:t>print(</a:t>
            </a:r>
            <a:r>
              <a:rPr lang="en-IN" sz="2000" dirty="0" err="1">
                <a:cs typeface="Times New Roman" panose="02020603050405020304" pitchFamily="18" charset="0"/>
              </a:rPr>
              <a:t>f.read</a:t>
            </a:r>
            <a:r>
              <a:rPr lang="en-IN" sz="2000" dirty="0">
                <a:cs typeface="Times New Roman" panose="02020603050405020304" pitchFamily="18" charset="0"/>
              </a:rPr>
              <a:t>())</a:t>
            </a:r>
          </a:p>
          <a:p>
            <a:pPr marL="0" indent="0">
              <a:buNone/>
            </a:pPr>
            <a:endParaRPr lang="en-IN" sz="2000" dirty="0">
              <a:cs typeface="Times New Roman" panose="02020603050405020304" pitchFamily="18" charset="0"/>
            </a:endParaRPr>
          </a:p>
          <a:p>
            <a:pPr marL="0" indent="0">
              <a:buNone/>
            </a:pPr>
            <a:r>
              <a:rPr lang="en-IN" sz="2000" b="1" dirty="0">
                <a:cs typeface="Times New Roman" panose="02020603050405020304" pitchFamily="18" charset="0"/>
              </a:rPr>
              <a:t>Read only Parts of the File: - </a:t>
            </a:r>
          </a:p>
          <a:p>
            <a:pPr marL="0" indent="0">
              <a:buNone/>
            </a:pPr>
            <a:r>
              <a:rPr lang="en-IN" sz="2000" dirty="0">
                <a:cs typeface="Times New Roman" panose="02020603050405020304" pitchFamily="18" charset="0"/>
              </a:rPr>
              <a:t>By default the </a:t>
            </a:r>
            <a:r>
              <a:rPr lang="en-IN" sz="2000" b="1" dirty="0">
                <a:cs typeface="Times New Roman" panose="02020603050405020304" pitchFamily="18" charset="0"/>
              </a:rPr>
              <a:t>read() </a:t>
            </a:r>
            <a:r>
              <a:rPr lang="en-IN" sz="2000" dirty="0">
                <a:cs typeface="Times New Roman" panose="02020603050405020304" pitchFamily="18" charset="0"/>
              </a:rPr>
              <a:t>method returns the whole text, but you can also specify how many characters you want to return.</a:t>
            </a:r>
          </a:p>
          <a:p>
            <a:pPr marL="0" indent="0">
              <a:buNone/>
            </a:pPr>
            <a:r>
              <a:rPr lang="en-IN" sz="2000" b="1" u="sng" dirty="0">
                <a:cs typeface="Times New Roman" panose="02020603050405020304" pitchFamily="18" charset="0"/>
              </a:rPr>
              <a:t>Example</a:t>
            </a:r>
            <a:r>
              <a:rPr lang="en-IN" sz="2000" dirty="0">
                <a:cs typeface="Times New Roman" panose="02020603050405020304" pitchFamily="18" charset="0"/>
              </a:rPr>
              <a:t>  Return the first 10 characters of the file:</a:t>
            </a:r>
          </a:p>
          <a:p>
            <a:pPr marL="0" indent="0">
              <a:buNone/>
            </a:pPr>
            <a:r>
              <a:rPr lang="en-IN" sz="2000" dirty="0">
                <a:cs typeface="Times New Roman" panose="02020603050405020304" pitchFamily="18" charset="0"/>
              </a:rPr>
              <a:t>f = open(“demofile.txt”, “r”)</a:t>
            </a:r>
          </a:p>
          <a:p>
            <a:pPr marL="0" indent="0">
              <a:buNone/>
            </a:pPr>
            <a:r>
              <a:rPr lang="en-IN" sz="2000" dirty="0">
                <a:cs typeface="Times New Roman" panose="02020603050405020304" pitchFamily="18" charset="0"/>
              </a:rPr>
              <a:t>print(</a:t>
            </a:r>
            <a:r>
              <a:rPr lang="en-IN" sz="2000" dirty="0" err="1">
                <a:cs typeface="Times New Roman" panose="02020603050405020304" pitchFamily="18" charset="0"/>
              </a:rPr>
              <a:t>f.read</a:t>
            </a:r>
            <a:r>
              <a:rPr lang="en-IN" sz="2000" dirty="0">
                <a:cs typeface="Times New Roman" panose="02020603050405020304" pitchFamily="18" charset="0"/>
              </a:rPr>
              <a:t>(10))		#Hello! </a:t>
            </a:r>
            <a:r>
              <a:rPr lang="en-IN" sz="2000" dirty="0" err="1">
                <a:cs typeface="Times New Roman" panose="02020603050405020304" pitchFamily="18" charset="0"/>
              </a:rPr>
              <a:t>Wel</a:t>
            </a:r>
            <a:endParaRPr lang="en-IN" sz="2000" dirty="0">
              <a:cs typeface="Times New Roman" panose="02020603050405020304" pitchFamily="18" charset="0"/>
            </a:endParaRPr>
          </a:p>
        </p:txBody>
      </p:sp>
    </p:spTree>
    <p:extLst>
      <p:ext uri="{BB962C8B-B14F-4D97-AF65-F5344CB8AC3E}">
        <p14:creationId xmlns:p14="http://schemas.microsoft.com/office/powerpoint/2010/main" val="3101326716"/>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20284EA-12FC-FA56-4DB3-FEA7687A2B63}"/>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3B432072-856D-B5B5-E2FF-BA39AFE01324}"/>
              </a:ext>
            </a:extLst>
          </p:cNvPr>
          <p:cNvSpPr txBox="1"/>
          <p:nvPr/>
        </p:nvSpPr>
        <p:spPr>
          <a:xfrm>
            <a:off x="511277" y="432620"/>
            <a:ext cx="10746657" cy="3477875"/>
          </a:xfrm>
          <a:prstGeom prst="rect">
            <a:avLst/>
          </a:prstGeom>
          <a:noFill/>
        </p:spPr>
        <p:txBody>
          <a:bodyPr wrap="square">
            <a:spAutoFit/>
          </a:bodyPr>
          <a:lstStyle/>
          <a:p>
            <a:pPr marL="0" indent="0">
              <a:buNone/>
            </a:pPr>
            <a:r>
              <a:rPr lang="en-IN" sz="2000" b="1" dirty="0">
                <a:cs typeface="Times New Roman" panose="02020603050405020304" pitchFamily="18" charset="0"/>
              </a:rPr>
              <a:t>Read Lines: -</a:t>
            </a:r>
          </a:p>
          <a:p>
            <a:pPr marL="0" indent="0">
              <a:buNone/>
            </a:pPr>
            <a:r>
              <a:rPr lang="en-IN" sz="2000" dirty="0">
                <a:cs typeface="Times New Roman" panose="02020603050405020304" pitchFamily="18" charset="0"/>
              </a:rPr>
              <a:t>You can return one line by using the </a:t>
            </a:r>
            <a:r>
              <a:rPr lang="en-IN" sz="2000" b="1" dirty="0" err="1">
                <a:cs typeface="Times New Roman" panose="02020603050405020304" pitchFamily="18" charset="0"/>
              </a:rPr>
              <a:t>readline</a:t>
            </a:r>
            <a:r>
              <a:rPr lang="en-IN" sz="2000" b="1" dirty="0">
                <a:cs typeface="Times New Roman" panose="02020603050405020304" pitchFamily="18" charset="0"/>
              </a:rPr>
              <a:t>() </a:t>
            </a:r>
            <a:r>
              <a:rPr lang="en-IN" sz="2000" dirty="0">
                <a:cs typeface="Times New Roman" panose="02020603050405020304" pitchFamily="18" charset="0"/>
              </a:rPr>
              <a:t>method:</a:t>
            </a:r>
          </a:p>
          <a:p>
            <a:pPr marL="0" indent="0">
              <a:buNone/>
            </a:pPr>
            <a:r>
              <a:rPr lang="en-IN" sz="2000" b="1" u="sng" dirty="0">
                <a:cs typeface="Times New Roman" panose="02020603050405020304" pitchFamily="18" charset="0"/>
              </a:rPr>
              <a:t>Example</a:t>
            </a:r>
          </a:p>
          <a:p>
            <a:pPr marL="0" indent="0">
              <a:buNone/>
            </a:pPr>
            <a:r>
              <a:rPr lang="en-IN" sz="2000" dirty="0">
                <a:cs typeface="Times New Roman" panose="02020603050405020304" pitchFamily="18" charset="0"/>
              </a:rPr>
              <a:t>f = open(“demofile.txt”, “r”)</a:t>
            </a:r>
          </a:p>
          <a:p>
            <a:pPr marL="0" indent="0">
              <a:buNone/>
            </a:pPr>
            <a:r>
              <a:rPr lang="en-IN" sz="2000" dirty="0">
                <a:cs typeface="Times New Roman" panose="02020603050405020304" pitchFamily="18" charset="0"/>
              </a:rPr>
              <a:t>print(</a:t>
            </a:r>
            <a:r>
              <a:rPr lang="en-IN" sz="2000" dirty="0" err="1">
                <a:cs typeface="Times New Roman" panose="02020603050405020304" pitchFamily="18" charset="0"/>
              </a:rPr>
              <a:t>f.readline</a:t>
            </a:r>
            <a:r>
              <a:rPr lang="en-IN" sz="2000" dirty="0">
                <a:cs typeface="Times New Roman" panose="02020603050405020304" pitchFamily="18" charset="0"/>
              </a:rPr>
              <a:t>())		#Hello! Welcome to demofile.txt</a:t>
            </a:r>
          </a:p>
          <a:p>
            <a:pPr marL="0" indent="0">
              <a:buNone/>
            </a:pPr>
            <a:endParaRPr lang="en-IN" sz="2000" dirty="0">
              <a:cs typeface="Times New Roman" panose="02020603050405020304" pitchFamily="18" charset="0"/>
            </a:endParaRPr>
          </a:p>
          <a:p>
            <a:pPr marL="0" indent="0">
              <a:buNone/>
            </a:pPr>
            <a:r>
              <a:rPr lang="en-IN" sz="2000" dirty="0">
                <a:cs typeface="Times New Roman" panose="02020603050405020304" pitchFamily="18" charset="0"/>
              </a:rPr>
              <a:t>By calling </a:t>
            </a:r>
            <a:r>
              <a:rPr lang="en-IN" sz="2000" b="1" dirty="0" err="1">
                <a:cs typeface="Times New Roman" panose="02020603050405020304" pitchFamily="18" charset="0"/>
              </a:rPr>
              <a:t>readline</a:t>
            </a:r>
            <a:r>
              <a:rPr lang="en-IN" sz="2000" b="1" dirty="0">
                <a:cs typeface="Times New Roman" panose="02020603050405020304" pitchFamily="18" charset="0"/>
              </a:rPr>
              <a:t>() </a:t>
            </a:r>
            <a:r>
              <a:rPr lang="en-IN" sz="2000" dirty="0">
                <a:cs typeface="Times New Roman" panose="02020603050405020304" pitchFamily="18" charset="0"/>
              </a:rPr>
              <a:t>two times, you can read the first two lines.</a:t>
            </a:r>
          </a:p>
          <a:p>
            <a:pPr marL="0" indent="0">
              <a:buNone/>
            </a:pPr>
            <a:r>
              <a:rPr lang="en-IN" sz="2000" b="1" u="sng" dirty="0">
                <a:cs typeface="Times New Roman" panose="02020603050405020304" pitchFamily="18" charset="0"/>
              </a:rPr>
              <a:t>Example</a:t>
            </a:r>
          </a:p>
          <a:p>
            <a:pPr marL="0" indent="0">
              <a:buNone/>
            </a:pPr>
            <a:r>
              <a:rPr lang="en-IN" sz="2000" dirty="0">
                <a:cs typeface="Times New Roman" panose="02020603050405020304" pitchFamily="18" charset="0"/>
              </a:rPr>
              <a:t>f = open(“demofile.txt”, “r”)</a:t>
            </a:r>
          </a:p>
          <a:p>
            <a:pPr marL="0" indent="0">
              <a:buNone/>
            </a:pPr>
            <a:r>
              <a:rPr lang="en-IN" sz="2000" dirty="0">
                <a:cs typeface="Times New Roman" panose="02020603050405020304" pitchFamily="18" charset="0"/>
              </a:rPr>
              <a:t>print(</a:t>
            </a:r>
            <a:r>
              <a:rPr lang="en-IN" sz="2000" dirty="0" err="1">
                <a:cs typeface="Times New Roman" panose="02020603050405020304" pitchFamily="18" charset="0"/>
              </a:rPr>
              <a:t>f.readline</a:t>
            </a:r>
            <a:r>
              <a:rPr lang="en-IN" sz="2000" dirty="0">
                <a:cs typeface="Times New Roman" panose="02020603050405020304" pitchFamily="18" charset="0"/>
              </a:rPr>
              <a:t>())		#Hello! Welcome to demofile.txt</a:t>
            </a:r>
          </a:p>
          <a:p>
            <a:pPr marL="0" indent="0">
              <a:buNone/>
            </a:pPr>
            <a:r>
              <a:rPr lang="en-IN" sz="2000" dirty="0">
                <a:cs typeface="Times New Roman" panose="02020603050405020304" pitchFamily="18" charset="0"/>
              </a:rPr>
              <a:t>print(</a:t>
            </a:r>
            <a:r>
              <a:rPr lang="en-IN" sz="2000" dirty="0" err="1">
                <a:cs typeface="Times New Roman" panose="02020603050405020304" pitchFamily="18" charset="0"/>
              </a:rPr>
              <a:t>f.readline</a:t>
            </a:r>
            <a:r>
              <a:rPr lang="en-IN" sz="2000" dirty="0">
                <a:cs typeface="Times New Roman" panose="02020603050405020304" pitchFamily="18" charset="0"/>
              </a:rPr>
              <a:t>())		#This file is for testing purposes.</a:t>
            </a:r>
          </a:p>
        </p:txBody>
      </p:sp>
      <p:sp>
        <p:nvSpPr>
          <p:cNvPr id="6" name="TextBox 5">
            <a:extLst>
              <a:ext uri="{FF2B5EF4-FFF2-40B4-BE49-F238E27FC236}">
                <a16:creationId xmlns:a16="http://schemas.microsoft.com/office/drawing/2014/main" id="{9ED7CB4B-6F15-30B2-A919-883470D27F84}"/>
              </a:ext>
            </a:extLst>
          </p:cNvPr>
          <p:cNvSpPr txBox="1"/>
          <p:nvPr/>
        </p:nvSpPr>
        <p:spPr>
          <a:xfrm>
            <a:off x="511277" y="4277031"/>
            <a:ext cx="9488129" cy="1754326"/>
          </a:xfrm>
          <a:prstGeom prst="rect">
            <a:avLst/>
          </a:prstGeom>
          <a:noFill/>
        </p:spPr>
        <p:txBody>
          <a:bodyPr wrap="square">
            <a:spAutoFit/>
          </a:bodyPr>
          <a:lstStyle/>
          <a:p>
            <a:pPr marL="0" indent="0">
              <a:buNone/>
            </a:pPr>
            <a:r>
              <a:rPr lang="en-IN" sz="1800" b="1" dirty="0">
                <a:cs typeface="Times New Roman" panose="02020603050405020304" pitchFamily="18" charset="0"/>
              </a:rPr>
              <a:t>Close Files: -</a:t>
            </a:r>
          </a:p>
          <a:p>
            <a:pPr marL="0" indent="0">
              <a:buNone/>
            </a:pPr>
            <a:r>
              <a:rPr lang="en-IN" sz="1800" dirty="0">
                <a:cs typeface="Times New Roman" panose="02020603050405020304" pitchFamily="18" charset="0"/>
              </a:rPr>
              <a:t>It is a good practice to always close the file when you are done with it.</a:t>
            </a:r>
          </a:p>
          <a:p>
            <a:pPr marL="0" indent="0">
              <a:buNone/>
            </a:pPr>
            <a:r>
              <a:rPr lang="en-IN" sz="1800" b="1" u="sng" dirty="0">
                <a:cs typeface="Times New Roman" panose="02020603050405020304" pitchFamily="18" charset="0"/>
              </a:rPr>
              <a:t>Example</a:t>
            </a:r>
            <a:r>
              <a:rPr lang="en-IN" sz="1800" dirty="0">
                <a:cs typeface="Times New Roman" panose="02020603050405020304" pitchFamily="18" charset="0"/>
              </a:rPr>
              <a:t>  </a:t>
            </a:r>
          </a:p>
          <a:p>
            <a:pPr marL="0" indent="0">
              <a:buNone/>
            </a:pPr>
            <a:r>
              <a:rPr lang="en-IN" sz="1800" dirty="0">
                <a:cs typeface="Times New Roman" panose="02020603050405020304" pitchFamily="18" charset="0"/>
              </a:rPr>
              <a:t>f = open(“demofile.txt”, “r”)</a:t>
            </a:r>
          </a:p>
          <a:p>
            <a:pPr marL="0" indent="0">
              <a:buNone/>
            </a:pPr>
            <a:r>
              <a:rPr lang="en-IN" sz="1800" dirty="0">
                <a:cs typeface="Times New Roman" panose="02020603050405020304" pitchFamily="18" charset="0"/>
              </a:rPr>
              <a:t>print(</a:t>
            </a:r>
            <a:r>
              <a:rPr lang="en-IN" sz="1800" dirty="0" err="1">
                <a:cs typeface="Times New Roman" panose="02020603050405020304" pitchFamily="18" charset="0"/>
              </a:rPr>
              <a:t>f.readline</a:t>
            </a:r>
            <a:r>
              <a:rPr lang="en-IN" sz="1800" dirty="0">
                <a:cs typeface="Times New Roman" panose="02020603050405020304" pitchFamily="18" charset="0"/>
              </a:rPr>
              <a:t>())		#Hello! Welcome to demofile.txt</a:t>
            </a:r>
          </a:p>
          <a:p>
            <a:pPr marL="0" indent="0">
              <a:buNone/>
            </a:pPr>
            <a:r>
              <a:rPr lang="en-IN" sz="1800" dirty="0" err="1">
                <a:cs typeface="Times New Roman" panose="02020603050405020304" pitchFamily="18" charset="0"/>
              </a:rPr>
              <a:t>f.close</a:t>
            </a:r>
            <a:r>
              <a:rPr lang="en-IN" sz="1800" dirty="0">
                <a:cs typeface="Times New Roman" panose="02020603050405020304" pitchFamily="18" charset="0"/>
              </a:rPr>
              <a:t>()</a:t>
            </a:r>
          </a:p>
        </p:txBody>
      </p:sp>
    </p:spTree>
    <p:extLst>
      <p:ext uri="{BB962C8B-B14F-4D97-AF65-F5344CB8AC3E}">
        <p14:creationId xmlns:p14="http://schemas.microsoft.com/office/powerpoint/2010/main" val="329277345"/>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3EBEE3-5650-3EB4-EEC9-89255027B13B}"/>
              </a:ext>
            </a:extLst>
          </p:cNvPr>
          <p:cNvPicPr/>
          <p:nvPr/>
        </p:nvPicPr>
        <p:blipFill>
          <a:blip r:embed="rId2" cstate="print"/>
          <a:stretch/>
        </p:blipFill>
        <p:spPr>
          <a:xfrm>
            <a:off x="11503320" y="0"/>
            <a:ext cx="688680" cy="689040"/>
          </a:xfrm>
          <a:prstGeom prst="rect">
            <a:avLst/>
          </a:prstGeom>
          <a:ln w="0">
            <a:noFill/>
          </a:ln>
        </p:spPr>
      </p:pic>
      <p:sp>
        <p:nvSpPr>
          <p:cNvPr id="7" name="TextBox 6">
            <a:extLst>
              <a:ext uri="{FF2B5EF4-FFF2-40B4-BE49-F238E27FC236}">
                <a16:creationId xmlns:a16="http://schemas.microsoft.com/office/drawing/2014/main" id="{5155BCB1-CE30-9BA1-C9A0-7037235C9356}"/>
              </a:ext>
            </a:extLst>
          </p:cNvPr>
          <p:cNvSpPr txBox="1"/>
          <p:nvPr/>
        </p:nvSpPr>
        <p:spPr>
          <a:xfrm>
            <a:off x="648929" y="815357"/>
            <a:ext cx="10402529" cy="5632311"/>
          </a:xfrm>
          <a:prstGeom prst="rect">
            <a:avLst/>
          </a:prstGeom>
          <a:noFill/>
        </p:spPr>
        <p:txBody>
          <a:bodyPr wrap="square">
            <a:spAutoFit/>
          </a:bodyPr>
          <a:lstStyle/>
          <a:p>
            <a:pPr marL="0" indent="0">
              <a:buNone/>
            </a:pPr>
            <a:r>
              <a:rPr lang="en-IN" sz="2000" b="1" dirty="0">
                <a:cs typeface="Times New Roman" panose="02020603050405020304" pitchFamily="18" charset="0"/>
              </a:rPr>
              <a:t>Python File Write:</a:t>
            </a:r>
          </a:p>
          <a:p>
            <a:pPr marL="0" indent="0">
              <a:buNone/>
            </a:pPr>
            <a:r>
              <a:rPr lang="en-IN" sz="2000" b="1" dirty="0">
                <a:cs typeface="Times New Roman" panose="02020603050405020304" pitchFamily="18" charset="0"/>
              </a:rPr>
              <a:t>Write to an Existing File: -</a:t>
            </a:r>
          </a:p>
          <a:p>
            <a:pPr marL="0" indent="0">
              <a:buNone/>
            </a:pPr>
            <a:r>
              <a:rPr lang="en-IN" sz="2000" dirty="0">
                <a:cs typeface="Times New Roman" panose="02020603050405020304" pitchFamily="18" charset="0"/>
              </a:rPr>
              <a:t>To write to an existing file, you must add a parameter to the </a:t>
            </a:r>
            <a:r>
              <a:rPr lang="en-IN" sz="2000" b="1" dirty="0">
                <a:cs typeface="Times New Roman" panose="02020603050405020304" pitchFamily="18" charset="0"/>
              </a:rPr>
              <a:t>open()</a:t>
            </a:r>
            <a:r>
              <a:rPr lang="en-IN" sz="2000" dirty="0">
                <a:cs typeface="Times New Roman" panose="02020603050405020304" pitchFamily="18" charset="0"/>
              </a:rPr>
              <a:t> function.</a:t>
            </a:r>
          </a:p>
          <a:p>
            <a:r>
              <a:rPr lang="en-IN" sz="2000" b="1" dirty="0">
                <a:cs typeface="Times New Roman" panose="02020603050405020304" pitchFamily="18" charset="0"/>
              </a:rPr>
              <a:t>‘a’ – Append – </a:t>
            </a:r>
            <a:r>
              <a:rPr lang="en-IN" sz="2000" dirty="0">
                <a:cs typeface="Times New Roman" panose="02020603050405020304" pitchFamily="18" charset="0"/>
              </a:rPr>
              <a:t>will append to the end of the file.</a:t>
            </a:r>
          </a:p>
          <a:p>
            <a:r>
              <a:rPr lang="en-IN" sz="2000" b="1" dirty="0">
                <a:cs typeface="Times New Roman" panose="02020603050405020304" pitchFamily="18" charset="0"/>
              </a:rPr>
              <a:t>‘w’ – Write – </a:t>
            </a:r>
            <a:r>
              <a:rPr lang="en-IN" sz="2000" dirty="0">
                <a:cs typeface="Times New Roman" panose="02020603050405020304" pitchFamily="18" charset="0"/>
              </a:rPr>
              <a:t>will overwrite any existing content.</a:t>
            </a:r>
          </a:p>
          <a:p>
            <a:pPr marL="0" indent="0">
              <a:buNone/>
            </a:pPr>
            <a:r>
              <a:rPr lang="en-IN" sz="2000" b="1" u="sng" dirty="0">
                <a:cs typeface="Times New Roman" panose="02020603050405020304" pitchFamily="18" charset="0"/>
              </a:rPr>
              <a:t>Example</a:t>
            </a:r>
            <a:r>
              <a:rPr lang="en-IN" sz="2000" dirty="0">
                <a:cs typeface="Times New Roman" panose="02020603050405020304" pitchFamily="18" charset="0"/>
              </a:rPr>
              <a:t>  </a:t>
            </a:r>
          </a:p>
          <a:p>
            <a:pPr marL="0" indent="0">
              <a:buNone/>
            </a:pPr>
            <a:r>
              <a:rPr lang="en-IN" sz="2000" dirty="0">
                <a:cs typeface="Times New Roman" panose="02020603050405020304" pitchFamily="18" charset="0"/>
              </a:rPr>
              <a:t>f = open(“demofile.txt”, “a”)</a:t>
            </a:r>
          </a:p>
          <a:p>
            <a:pPr marL="0" indent="0">
              <a:buNone/>
            </a:pPr>
            <a:r>
              <a:rPr lang="en-IN" sz="2000" dirty="0" err="1">
                <a:cs typeface="Times New Roman" panose="02020603050405020304" pitchFamily="18" charset="0"/>
              </a:rPr>
              <a:t>f.write</a:t>
            </a:r>
            <a:r>
              <a:rPr lang="en-IN" sz="2000" dirty="0">
                <a:cs typeface="Times New Roman" panose="02020603050405020304" pitchFamily="18" charset="0"/>
              </a:rPr>
              <a:t>(“Now the file has more content!”)		</a:t>
            </a:r>
          </a:p>
          <a:p>
            <a:pPr marL="0" indent="0">
              <a:buNone/>
            </a:pPr>
            <a:r>
              <a:rPr lang="en-IN" sz="2000" dirty="0" err="1">
                <a:cs typeface="Times New Roman" panose="02020603050405020304" pitchFamily="18" charset="0"/>
              </a:rPr>
              <a:t>f.close</a:t>
            </a:r>
            <a:r>
              <a:rPr lang="en-IN" sz="2000" dirty="0">
                <a:cs typeface="Times New Roman" panose="02020603050405020304" pitchFamily="18" charset="0"/>
              </a:rPr>
              <a:t>()</a:t>
            </a:r>
          </a:p>
          <a:p>
            <a:pPr marL="0" indent="0">
              <a:buNone/>
            </a:pPr>
            <a:endParaRPr lang="en-IN" sz="2000" dirty="0">
              <a:cs typeface="Times New Roman" panose="02020603050405020304" pitchFamily="18" charset="0"/>
            </a:endParaRPr>
          </a:p>
          <a:p>
            <a:pPr marL="0" indent="0">
              <a:buNone/>
            </a:pPr>
            <a:r>
              <a:rPr lang="en-IN" sz="2000" dirty="0">
                <a:cs typeface="Times New Roman" panose="02020603050405020304" pitchFamily="18" charset="0"/>
              </a:rPr>
              <a:t>f = open(“demofile.txt”, “r”)</a:t>
            </a:r>
          </a:p>
          <a:p>
            <a:pPr marL="0" indent="0">
              <a:buNone/>
            </a:pPr>
            <a:r>
              <a:rPr lang="en-IN" sz="2000" dirty="0">
                <a:cs typeface="Times New Roman" panose="02020603050405020304" pitchFamily="18" charset="0"/>
              </a:rPr>
              <a:t>print(</a:t>
            </a:r>
            <a:r>
              <a:rPr lang="en-IN" sz="2000" dirty="0" err="1">
                <a:cs typeface="Times New Roman" panose="02020603050405020304" pitchFamily="18" charset="0"/>
              </a:rPr>
              <a:t>f.read</a:t>
            </a:r>
            <a:r>
              <a:rPr lang="en-IN" sz="2000" dirty="0">
                <a:cs typeface="Times New Roman" panose="02020603050405020304" pitchFamily="18" charset="0"/>
              </a:rPr>
              <a:t>())</a:t>
            </a:r>
          </a:p>
          <a:p>
            <a:pPr marL="0" indent="0">
              <a:buNone/>
            </a:pPr>
            <a:r>
              <a:rPr lang="en-IN" sz="2000" b="1" dirty="0">
                <a:cs typeface="Times New Roman" panose="02020603050405020304" pitchFamily="18" charset="0"/>
              </a:rPr>
              <a:t>Output:</a:t>
            </a:r>
          </a:p>
          <a:p>
            <a:pPr marL="0" indent="0">
              <a:buNone/>
            </a:pPr>
            <a:r>
              <a:rPr lang="en-IN" sz="2000" dirty="0">
                <a:cs typeface="Times New Roman" panose="02020603050405020304" pitchFamily="18" charset="0"/>
              </a:rPr>
              <a:t>Hello! Welcome to demofile.txt</a:t>
            </a:r>
          </a:p>
          <a:p>
            <a:pPr marL="0" indent="0">
              <a:buNone/>
            </a:pPr>
            <a:r>
              <a:rPr lang="en-IN" sz="2000" dirty="0">
                <a:cs typeface="Times New Roman" panose="02020603050405020304" pitchFamily="18" charset="0"/>
              </a:rPr>
              <a:t>This file is for testing purposes.</a:t>
            </a:r>
          </a:p>
          <a:p>
            <a:pPr marL="0" indent="0">
              <a:buNone/>
            </a:pPr>
            <a:r>
              <a:rPr lang="en-IN" sz="2000" dirty="0">
                <a:cs typeface="Times New Roman" panose="02020603050405020304" pitchFamily="18" charset="0"/>
              </a:rPr>
              <a:t>Good Luck!</a:t>
            </a:r>
          </a:p>
          <a:p>
            <a:pPr marL="0" indent="0">
              <a:buNone/>
            </a:pPr>
            <a:r>
              <a:rPr lang="en-IN" sz="2000" dirty="0">
                <a:cs typeface="Times New Roman" panose="02020603050405020304" pitchFamily="18" charset="0"/>
              </a:rPr>
              <a:t>Now the file has more content!</a:t>
            </a:r>
          </a:p>
          <a:p>
            <a:pPr marL="0" indent="0">
              <a:buNone/>
            </a:pPr>
            <a:endParaRPr lang="en-IN" sz="2000" dirty="0">
              <a:cs typeface="Times New Roman" panose="02020603050405020304" pitchFamily="18" charset="0"/>
            </a:endParaRPr>
          </a:p>
        </p:txBody>
      </p:sp>
    </p:spTree>
    <p:extLst>
      <p:ext uri="{BB962C8B-B14F-4D97-AF65-F5344CB8AC3E}">
        <p14:creationId xmlns:p14="http://schemas.microsoft.com/office/powerpoint/2010/main" val="2302470604"/>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5537F3-A3F9-03ED-0107-45827B496487}"/>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4B497FF8-8C2D-99CC-CCC0-725A2C4A655E}"/>
              </a:ext>
            </a:extLst>
          </p:cNvPr>
          <p:cNvSpPr txBox="1"/>
          <p:nvPr/>
        </p:nvSpPr>
        <p:spPr>
          <a:xfrm>
            <a:off x="532015" y="284172"/>
            <a:ext cx="9231417" cy="3785652"/>
          </a:xfrm>
          <a:prstGeom prst="rect">
            <a:avLst/>
          </a:prstGeom>
          <a:noFill/>
        </p:spPr>
        <p:txBody>
          <a:bodyPr wrap="square">
            <a:spAutoFit/>
          </a:bodyPr>
          <a:lstStyle/>
          <a:p>
            <a:pPr marL="0" indent="0">
              <a:buNone/>
            </a:pPr>
            <a:r>
              <a:rPr lang="en-IN" sz="2000" dirty="0">
                <a:cs typeface="Times New Roman" panose="02020603050405020304" pitchFamily="18" charset="0"/>
              </a:rPr>
              <a:t>To overwrite the content in the existing file use “w” mode.</a:t>
            </a:r>
          </a:p>
          <a:p>
            <a:pPr marL="0" indent="0">
              <a:buNone/>
            </a:pPr>
            <a:r>
              <a:rPr lang="en-IN" sz="2000" b="1" u="sng" dirty="0">
                <a:cs typeface="Times New Roman" panose="02020603050405020304" pitchFamily="18" charset="0"/>
              </a:rPr>
              <a:t>Example</a:t>
            </a:r>
          </a:p>
          <a:p>
            <a:pPr marL="0" indent="0">
              <a:buNone/>
            </a:pPr>
            <a:r>
              <a:rPr lang="en-IN" sz="2000" dirty="0">
                <a:cs typeface="Times New Roman" panose="02020603050405020304" pitchFamily="18" charset="0"/>
              </a:rPr>
              <a:t>f = open(“demofile.txt”, “w”)</a:t>
            </a:r>
          </a:p>
          <a:p>
            <a:pPr marL="0" indent="0">
              <a:buNone/>
            </a:pPr>
            <a:r>
              <a:rPr lang="en-IN" sz="2000" dirty="0" err="1">
                <a:cs typeface="Times New Roman" panose="02020603050405020304" pitchFamily="18" charset="0"/>
              </a:rPr>
              <a:t>f.write</a:t>
            </a:r>
            <a:r>
              <a:rPr lang="en-IN" sz="2000" dirty="0">
                <a:cs typeface="Times New Roman" panose="02020603050405020304" pitchFamily="18" charset="0"/>
              </a:rPr>
              <a:t>(“Woops! I have deleted the content!”)		</a:t>
            </a:r>
          </a:p>
          <a:p>
            <a:pPr marL="0" indent="0">
              <a:buNone/>
            </a:pPr>
            <a:r>
              <a:rPr lang="en-IN" sz="2000" dirty="0" err="1">
                <a:cs typeface="Times New Roman" panose="02020603050405020304" pitchFamily="18" charset="0"/>
              </a:rPr>
              <a:t>f.close</a:t>
            </a:r>
            <a:r>
              <a:rPr lang="en-IN" sz="2000" dirty="0">
                <a:cs typeface="Times New Roman" panose="02020603050405020304" pitchFamily="18" charset="0"/>
              </a:rPr>
              <a:t>()</a:t>
            </a:r>
          </a:p>
          <a:p>
            <a:pPr marL="0" indent="0">
              <a:buNone/>
            </a:pPr>
            <a:endParaRPr lang="en-IN" sz="2000" dirty="0">
              <a:cs typeface="Times New Roman" panose="02020603050405020304" pitchFamily="18" charset="0"/>
            </a:endParaRPr>
          </a:p>
          <a:p>
            <a:pPr marL="0" indent="0">
              <a:buNone/>
            </a:pPr>
            <a:r>
              <a:rPr lang="en-IN" sz="2000" dirty="0">
                <a:cs typeface="Times New Roman" panose="02020603050405020304" pitchFamily="18" charset="0"/>
              </a:rPr>
              <a:t>f = open(“demofile.txt”, “r”)</a:t>
            </a:r>
          </a:p>
          <a:p>
            <a:pPr marL="0" indent="0">
              <a:buNone/>
            </a:pPr>
            <a:r>
              <a:rPr lang="en-IN" sz="2000" dirty="0">
                <a:cs typeface="Times New Roman" panose="02020603050405020304" pitchFamily="18" charset="0"/>
              </a:rPr>
              <a:t>print(</a:t>
            </a:r>
            <a:r>
              <a:rPr lang="en-IN" sz="2000" dirty="0" err="1">
                <a:cs typeface="Times New Roman" panose="02020603050405020304" pitchFamily="18" charset="0"/>
              </a:rPr>
              <a:t>f.read</a:t>
            </a:r>
            <a:r>
              <a:rPr lang="en-IN" sz="2000" dirty="0">
                <a:cs typeface="Times New Roman" panose="02020603050405020304" pitchFamily="18" charset="0"/>
              </a:rPr>
              <a:t>())</a:t>
            </a:r>
          </a:p>
          <a:p>
            <a:pPr marL="0" indent="0">
              <a:buNone/>
            </a:pPr>
            <a:r>
              <a:rPr lang="en-IN" sz="2000" b="1" dirty="0">
                <a:cs typeface="Times New Roman" panose="02020603050405020304" pitchFamily="18" charset="0"/>
              </a:rPr>
              <a:t>Output:</a:t>
            </a:r>
          </a:p>
          <a:p>
            <a:pPr marL="0" indent="0">
              <a:buNone/>
            </a:pPr>
            <a:r>
              <a:rPr lang="en-IN" sz="2000" dirty="0">
                <a:cs typeface="Times New Roman" panose="02020603050405020304" pitchFamily="18" charset="0"/>
              </a:rPr>
              <a:t>Woops! I have deleted the content!</a:t>
            </a:r>
          </a:p>
          <a:p>
            <a:pPr marL="0" indent="0">
              <a:buNone/>
            </a:pPr>
            <a:endParaRPr lang="en-IN" sz="2000" dirty="0">
              <a:cs typeface="Times New Roman" panose="02020603050405020304" pitchFamily="18" charset="0"/>
            </a:endParaRPr>
          </a:p>
          <a:p>
            <a:pPr marL="0" indent="0">
              <a:buNone/>
            </a:pPr>
            <a:r>
              <a:rPr lang="en-IN" sz="2000" b="1" dirty="0">
                <a:cs typeface="Times New Roman" panose="02020603050405020304" pitchFamily="18" charset="0"/>
              </a:rPr>
              <a:t>Note: </a:t>
            </a:r>
            <a:r>
              <a:rPr lang="en-IN" sz="2000" dirty="0">
                <a:cs typeface="Times New Roman" panose="02020603050405020304" pitchFamily="18" charset="0"/>
              </a:rPr>
              <a:t>The “w” method will overwrite the entire file.</a:t>
            </a:r>
            <a:endParaRPr lang="en-IN" sz="2000" b="1" dirty="0">
              <a:cs typeface="Times New Roman" panose="02020603050405020304" pitchFamily="18" charset="0"/>
            </a:endParaRPr>
          </a:p>
        </p:txBody>
      </p:sp>
      <p:sp>
        <p:nvSpPr>
          <p:cNvPr id="7" name="TextBox 6">
            <a:extLst>
              <a:ext uri="{FF2B5EF4-FFF2-40B4-BE49-F238E27FC236}">
                <a16:creationId xmlns:a16="http://schemas.microsoft.com/office/drawing/2014/main" id="{71B9460E-D610-7329-CA31-DFD86230D6A7}"/>
              </a:ext>
            </a:extLst>
          </p:cNvPr>
          <p:cNvSpPr txBox="1"/>
          <p:nvPr/>
        </p:nvSpPr>
        <p:spPr>
          <a:xfrm>
            <a:off x="532015" y="4339245"/>
            <a:ext cx="10106487" cy="2246769"/>
          </a:xfrm>
          <a:prstGeom prst="rect">
            <a:avLst/>
          </a:prstGeom>
          <a:noFill/>
        </p:spPr>
        <p:txBody>
          <a:bodyPr wrap="square">
            <a:spAutoFit/>
          </a:bodyPr>
          <a:lstStyle/>
          <a:p>
            <a:pPr marL="0" indent="0">
              <a:buNone/>
            </a:pPr>
            <a:r>
              <a:rPr lang="en-IN" sz="2000" b="1" dirty="0">
                <a:cs typeface="Times New Roman" panose="02020603050405020304" pitchFamily="18" charset="0"/>
              </a:rPr>
              <a:t>Create a new file: -</a:t>
            </a:r>
          </a:p>
          <a:p>
            <a:pPr marL="0" indent="0">
              <a:buNone/>
            </a:pPr>
            <a:endParaRPr lang="en-IN" sz="2000" b="1" dirty="0">
              <a:cs typeface="Times New Roman" panose="02020603050405020304" pitchFamily="18" charset="0"/>
            </a:endParaRPr>
          </a:p>
          <a:p>
            <a:pPr marL="0" indent="0">
              <a:buNone/>
            </a:pPr>
            <a:r>
              <a:rPr lang="en-IN" sz="2000" dirty="0">
                <a:cs typeface="Times New Roman" panose="02020603050405020304" pitchFamily="18" charset="0"/>
              </a:rPr>
              <a:t>f = open(“myfile.txt”, “x”)</a:t>
            </a:r>
          </a:p>
          <a:p>
            <a:pPr marL="0" indent="0">
              <a:buNone/>
            </a:pPr>
            <a:r>
              <a:rPr lang="en-IN" sz="2000" b="1" dirty="0">
                <a:cs typeface="Times New Roman" panose="02020603050405020304" pitchFamily="18" charset="0"/>
              </a:rPr>
              <a:t>Result: </a:t>
            </a:r>
            <a:r>
              <a:rPr lang="en-IN" sz="2000" dirty="0">
                <a:cs typeface="Times New Roman" panose="02020603050405020304" pitchFamily="18" charset="0"/>
              </a:rPr>
              <a:t>A new empty file is created.</a:t>
            </a:r>
          </a:p>
          <a:p>
            <a:pPr marL="0" indent="0">
              <a:buNone/>
            </a:pPr>
            <a:endParaRPr lang="en-IN" sz="2000" b="1" dirty="0">
              <a:cs typeface="Times New Roman" panose="02020603050405020304" pitchFamily="18" charset="0"/>
            </a:endParaRPr>
          </a:p>
          <a:p>
            <a:pPr marL="0" indent="0">
              <a:buNone/>
            </a:pPr>
            <a:r>
              <a:rPr lang="en-IN" sz="2000" dirty="0">
                <a:cs typeface="Times New Roman" panose="02020603050405020304" pitchFamily="18" charset="0"/>
              </a:rPr>
              <a:t>You can also create a new file using “w” mode if it does not exist.</a:t>
            </a:r>
          </a:p>
          <a:p>
            <a:pPr marL="0" indent="0">
              <a:buNone/>
            </a:pPr>
            <a:r>
              <a:rPr lang="en-IN" sz="2000" dirty="0">
                <a:cs typeface="Times New Roman" panose="02020603050405020304" pitchFamily="18" charset="0"/>
              </a:rPr>
              <a:t>f = open(“</a:t>
            </a:r>
            <a:r>
              <a:rPr lang="en-IN" sz="2000" dirty="0" err="1">
                <a:cs typeface="Times New Roman" panose="02020603050405020304" pitchFamily="18" charset="0"/>
              </a:rPr>
              <a:t>mynewfile.txt”,”w</a:t>
            </a:r>
            <a:r>
              <a:rPr lang="en-IN" sz="2000" dirty="0">
                <a:cs typeface="Times New Roman" panose="02020603050405020304" pitchFamily="18" charset="0"/>
              </a:rPr>
              <a:t>”)</a:t>
            </a:r>
          </a:p>
        </p:txBody>
      </p:sp>
    </p:spTree>
    <p:extLst>
      <p:ext uri="{BB962C8B-B14F-4D97-AF65-F5344CB8AC3E}">
        <p14:creationId xmlns:p14="http://schemas.microsoft.com/office/powerpoint/2010/main" val="480437694"/>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8B3B5F-C6D2-E552-7F33-EA84DA250517}"/>
              </a:ext>
            </a:extLst>
          </p:cNvPr>
          <p:cNvPicPr/>
          <p:nvPr/>
        </p:nvPicPr>
        <p:blipFill>
          <a:blip r:embed="rId2" cstate="print"/>
          <a:stretch/>
        </p:blipFill>
        <p:spPr>
          <a:xfrm>
            <a:off x="11503320" y="0"/>
            <a:ext cx="688680" cy="689040"/>
          </a:xfrm>
          <a:prstGeom prst="rect">
            <a:avLst/>
          </a:prstGeom>
          <a:ln w="0">
            <a:noFill/>
          </a:ln>
        </p:spPr>
      </p:pic>
      <p:sp>
        <p:nvSpPr>
          <p:cNvPr id="5" name="TextBox 4">
            <a:extLst>
              <a:ext uri="{FF2B5EF4-FFF2-40B4-BE49-F238E27FC236}">
                <a16:creationId xmlns:a16="http://schemas.microsoft.com/office/drawing/2014/main" id="{8B8A26ED-184A-EA7B-21CE-612FCEB4F8C2}"/>
              </a:ext>
            </a:extLst>
          </p:cNvPr>
          <p:cNvSpPr txBox="1"/>
          <p:nvPr/>
        </p:nvSpPr>
        <p:spPr>
          <a:xfrm>
            <a:off x="806245" y="1030801"/>
            <a:ext cx="10697075" cy="4708981"/>
          </a:xfrm>
          <a:prstGeom prst="rect">
            <a:avLst/>
          </a:prstGeom>
          <a:noFill/>
        </p:spPr>
        <p:txBody>
          <a:bodyPr wrap="square">
            <a:spAutoFit/>
          </a:bodyPr>
          <a:lstStyle/>
          <a:p>
            <a:pPr marL="0" indent="0">
              <a:buNone/>
            </a:pPr>
            <a:r>
              <a:rPr lang="en-IN" sz="2000" b="1" dirty="0">
                <a:cs typeface="Times New Roman" panose="02020603050405020304" pitchFamily="18" charset="0"/>
              </a:rPr>
              <a:t>Python Delete File: -</a:t>
            </a:r>
          </a:p>
          <a:p>
            <a:pPr marL="0" indent="0">
              <a:buNone/>
            </a:pPr>
            <a:r>
              <a:rPr lang="en-IN" sz="2000" dirty="0">
                <a:cs typeface="Times New Roman" panose="02020603050405020304" pitchFamily="18" charset="0"/>
              </a:rPr>
              <a:t>To delete a file, you must import the OS module, and run its </a:t>
            </a:r>
            <a:r>
              <a:rPr lang="en-IN" sz="2000" b="1" dirty="0" err="1">
                <a:cs typeface="Times New Roman" panose="02020603050405020304" pitchFamily="18" charset="0"/>
              </a:rPr>
              <a:t>os.remove</a:t>
            </a:r>
            <a:r>
              <a:rPr lang="en-IN" sz="2000" b="1" dirty="0">
                <a:cs typeface="Times New Roman" panose="02020603050405020304" pitchFamily="18" charset="0"/>
              </a:rPr>
              <a:t>()</a:t>
            </a:r>
            <a:r>
              <a:rPr lang="en-IN" sz="2000" dirty="0">
                <a:cs typeface="Times New Roman" panose="02020603050405020304" pitchFamily="18" charset="0"/>
              </a:rPr>
              <a:t> function.</a:t>
            </a:r>
          </a:p>
          <a:p>
            <a:pPr marL="0" indent="0">
              <a:buNone/>
            </a:pPr>
            <a:r>
              <a:rPr lang="en-IN" sz="2000" b="1" dirty="0">
                <a:cs typeface="Times New Roman" panose="02020603050405020304" pitchFamily="18" charset="0"/>
              </a:rPr>
              <a:t>Example:</a:t>
            </a:r>
          </a:p>
          <a:p>
            <a:pPr marL="0" indent="0">
              <a:buNone/>
            </a:pPr>
            <a:r>
              <a:rPr lang="en-IN" sz="2000" dirty="0">
                <a:cs typeface="Times New Roman" panose="02020603050405020304" pitchFamily="18" charset="0"/>
              </a:rPr>
              <a:t>import </a:t>
            </a:r>
            <a:r>
              <a:rPr lang="en-IN" sz="2000" dirty="0" err="1">
                <a:cs typeface="Times New Roman" panose="02020603050405020304" pitchFamily="18" charset="0"/>
              </a:rPr>
              <a:t>os</a:t>
            </a:r>
            <a:endParaRPr lang="en-IN" sz="2000" dirty="0">
              <a:cs typeface="Times New Roman" panose="02020603050405020304" pitchFamily="18" charset="0"/>
            </a:endParaRPr>
          </a:p>
          <a:p>
            <a:pPr marL="0" indent="0">
              <a:buNone/>
            </a:pPr>
            <a:r>
              <a:rPr lang="en-IN" sz="2000" dirty="0" err="1">
                <a:cs typeface="Times New Roman" panose="02020603050405020304" pitchFamily="18" charset="0"/>
              </a:rPr>
              <a:t>os.remove</a:t>
            </a:r>
            <a:r>
              <a:rPr lang="en-IN" sz="2000" dirty="0">
                <a:cs typeface="Times New Roman" panose="02020603050405020304" pitchFamily="18" charset="0"/>
              </a:rPr>
              <a:t>(“demofile.txt”)</a:t>
            </a:r>
          </a:p>
          <a:p>
            <a:pPr marL="0" indent="0">
              <a:buNone/>
            </a:pPr>
            <a:endParaRPr lang="en-IN" sz="2000" dirty="0">
              <a:cs typeface="Times New Roman" panose="02020603050405020304" pitchFamily="18" charset="0"/>
            </a:endParaRPr>
          </a:p>
          <a:p>
            <a:pPr marL="0" indent="0">
              <a:buNone/>
            </a:pPr>
            <a:r>
              <a:rPr lang="en-IN" sz="2000" b="1" dirty="0">
                <a:cs typeface="Times New Roman" panose="02020603050405020304" pitchFamily="18" charset="0"/>
              </a:rPr>
              <a:t>Check if File Exist</a:t>
            </a:r>
          </a:p>
          <a:p>
            <a:pPr marL="0" indent="0">
              <a:buNone/>
            </a:pPr>
            <a:r>
              <a:rPr lang="en-IN" sz="2000" dirty="0">
                <a:cs typeface="Times New Roman" panose="02020603050405020304" pitchFamily="18" charset="0"/>
              </a:rPr>
              <a:t>To avoid getting an error, you might want to check if the file exists before you try to delete it.</a:t>
            </a:r>
          </a:p>
          <a:p>
            <a:pPr marL="0" indent="0">
              <a:buNone/>
            </a:pPr>
            <a:r>
              <a:rPr lang="en-IN" sz="2000" b="1" dirty="0">
                <a:cs typeface="Times New Roman" panose="02020603050405020304" pitchFamily="18" charset="0"/>
              </a:rPr>
              <a:t>Example:</a:t>
            </a:r>
          </a:p>
          <a:p>
            <a:pPr marL="0" indent="0">
              <a:buNone/>
            </a:pPr>
            <a:r>
              <a:rPr lang="en-IN" sz="2000" dirty="0">
                <a:cs typeface="Times New Roman" panose="02020603050405020304" pitchFamily="18" charset="0"/>
              </a:rPr>
              <a:t>import </a:t>
            </a:r>
            <a:r>
              <a:rPr lang="en-IN" sz="2000" dirty="0" err="1">
                <a:cs typeface="Times New Roman" panose="02020603050405020304" pitchFamily="18" charset="0"/>
              </a:rPr>
              <a:t>os</a:t>
            </a:r>
            <a:endParaRPr lang="en-IN" sz="2000" dirty="0">
              <a:cs typeface="Times New Roman" panose="02020603050405020304" pitchFamily="18" charset="0"/>
            </a:endParaRPr>
          </a:p>
          <a:p>
            <a:pPr marL="0" indent="0">
              <a:buNone/>
            </a:pPr>
            <a:r>
              <a:rPr lang="en-IN" sz="2000" dirty="0">
                <a:cs typeface="Times New Roman" panose="02020603050405020304" pitchFamily="18" charset="0"/>
              </a:rPr>
              <a:t>if </a:t>
            </a:r>
            <a:r>
              <a:rPr lang="en-IN" sz="2000" dirty="0" err="1">
                <a:cs typeface="Times New Roman" panose="02020603050405020304" pitchFamily="18" charset="0"/>
              </a:rPr>
              <a:t>os.path.exists</a:t>
            </a:r>
            <a:r>
              <a:rPr lang="en-IN" sz="2000" dirty="0">
                <a:cs typeface="Times New Roman" panose="02020603050405020304" pitchFamily="18" charset="0"/>
              </a:rPr>
              <a:t>(“demofile.txt”):</a:t>
            </a:r>
          </a:p>
          <a:p>
            <a:pPr marL="0" indent="0">
              <a:buNone/>
            </a:pPr>
            <a:r>
              <a:rPr lang="en-IN" sz="2000" dirty="0">
                <a:cs typeface="Times New Roman" panose="02020603050405020304" pitchFamily="18" charset="0"/>
              </a:rPr>
              <a:t>	</a:t>
            </a:r>
            <a:r>
              <a:rPr lang="en-IN" sz="2000" dirty="0" err="1">
                <a:cs typeface="Times New Roman" panose="02020603050405020304" pitchFamily="18" charset="0"/>
              </a:rPr>
              <a:t>os.remove</a:t>
            </a:r>
            <a:r>
              <a:rPr lang="en-IN" sz="2000" dirty="0">
                <a:cs typeface="Times New Roman" panose="02020603050405020304" pitchFamily="18" charset="0"/>
              </a:rPr>
              <a:t>(“demofile.txt”)</a:t>
            </a:r>
          </a:p>
          <a:p>
            <a:pPr marL="0" indent="0">
              <a:buNone/>
            </a:pPr>
            <a:r>
              <a:rPr lang="en-IN" sz="2000" dirty="0">
                <a:cs typeface="Times New Roman" panose="02020603050405020304" pitchFamily="18" charset="0"/>
              </a:rPr>
              <a:t>else:</a:t>
            </a:r>
          </a:p>
          <a:p>
            <a:pPr marL="0" indent="0">
              <a:buNone/>
            </a:pPr>
            <a:r>
              <a:rPr lang="en-IN" sz="2000" dirty="0">
                <a:cs typeface="Times New Roman" panose="02020603050405020304" pitchFamily="18" charset="0"/>
              </a:rPr>
              <a:t>	print(“The file does not exist”)</a:t>
            </a:r>
          </a:p>
          <a:p>
            <a:pPr marL="0" indent="0">
              <a:buNone/>
            </a:pPr>
            <a:endParaRPr lang="en-IN" sz="2000" dirty="0">
              <a:cs typeface="Times New Roman" panose="02020603050405020304" pitchFamily="18" charset="0"/>
            </a:endParaRPr>
          </a:p>
        </p:txBody>
      </p:sp>
    </p:spTree>
    <p:extLst>
      <p:ext uri="{BB962C8B-B14F-4D97-AF65-F5344CB8AC3E}">
        <p14:creationId xmlns:p14="http://schemas.microsoft.com/office/powerpoint/2010/main" val="53241274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4EB3ACD-DE7F-42A1-89AA-4CF19BBAC634}">
  <we:reference id="wa200003052" version="6.0.0.0" store="en-US" storeType="OMEX"/>
  <we:alternateReferences>
    <we:reference id="wa200003052" version="6.0.0.0" store="wa200003052"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9251</TotalTime>
  <Words>18721</Words>
  <Application>Microsoft Office PowerPoint</Application>
  <PresentationFormat>Widescreen</PresentationFormat>
  <Paragraphs>2144</Paragraphs>
  <Slides>183</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183</vt:i4>
      </vt:variant>
    </vt:vector>
  </HeadingPairs>
  <TitlesOfParts>
    <vt:vector size="193" baseType="lpstr">
      <vt:lpstr>Aptos</vt:lpstr>
      <vt:lpstr>Arial</vt:lpstr>
      <vt:lpstr>Arial Black</vt:lpstr>
      <vt:lpstr>Calibri</vt:lpstr>
      <vt:lpstr>Calibri Light</vt:lpstr>
      <vt:lpstr>Nunito</vt:lpstr>
      <vt:lpstr>Times New Roman</vt:lpstr>
      <vt:lpstr>Verdana</vt:lpstr>
      <vt:lpstr>Wingdings</vt:lpstr>
      <vt:lpstr>Office Theme</vt:lpstr>
      <vt:lpstr>PowerPoint Presentation</vt:lpstr>
      <vt:lpstr>INTRODUCTION TO PYTHON</vt:lpstr>
      <vt:lpstr>About Python </vt:lpstr>
      <vt:lpstr>Features of Python</vt:lpstr>
      <vt:lpstr>Uses of Python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 References</vt:lpstr>
      <vt:lpstr>PowerPoint Presentation</vt:lpstr>
      <vt:lpstr>PowerPoint Presentation</vt:lpstr>
      <vt:lpstr>PowerPoint Presentation</vt:lpstr>
      <vt:lpstr>NUMERIC DATA TYPE</vt:lpstr>
      <vt:lpstr>int</vt:lpstr>
      <vt:lpstr>float</vt:lpstr>
      <vt:lpstr>complex</vt:lpstr>
      <vt:lpstr>Type Conversion</vt:lpstr>
      <vt:lpstr>PowerPoint Presentation</vt:lpstr>
      <vt:lpstr>TEXT TYPE -STRING</vt:lpstr>
      <vt:lpstr>PowerPoint Presentation</vt:lpstr>
      <vt:lpstr>String Indexing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SEQUENCE TYPES</vt:lpstr>
      <vt:lpstr>Characteristics Of List</vt:lpstr>
      <vt:lpstr>PowerPoint Presentation</vt:lpstr>
      <vt:lpstr>PowerPoint Presentation</vt:lpstr>
      <vt:lpstr>PowerPoint Presentation</vt:lpstr>
      <vt:lpstr>PowerPoint Presentation</vt:lpstr>
      <vt:lpstr>Change List Items</vt:lpstr>
      <vt:lpstr>PowerPoint Presentation</vt:lpstr>
      <vt:lpstr>PowerPoint Presentation</vt:lpstr>
      <vt:lpstr>Add List Items</vt:lpstr>
      <vt:lpstr>PowerPoint Presentation</vt:lpstr>
      <vt:lpstr>Remove List Items</vt:lpstr>
      <vt:lpstr>PowerPoint Presentation</vt:lpstr>
      <vt:lpstr>PowerPoint Presentation</vt:lpstr>
      <vt:lpstr>PowerPoint Presentation</vt:lpstr>
      <vt:lpstr>PowerPoint Presentation</vt:lpstr>
      <vt:lpstr>Sort Lists</vt:lpstr>
      <vt:lpstr>PowerPoint Presentation</vt:lpstr>
      <vt:lpstr>PowerPoint Presentation</vt:lpstr>
      <vt:lpstr>Copy Lists</vt:lpstr>
      <vt:lpstr>Join Lists</vt:lpstr>
      <vt:lpstr>PowerPoint Presentation</vt:lpstr>
      <vt:lpstr>Matrix Indexing</vt:lpstr>
      <vt:lpstr>PowerPoint Presentation</vt:lpstr>
      <vt:lpstr>PowerPoint Presentation</vt:lpstr>
      <vt:lpstr>PowerPoint Presentation</vt:lpstr>
      <vt:lpstr>PowerPoint Presentation</vt:lpstr>
      <vt:lpstr>Tuples</vt:lpstr>
      <vt:lpstr>Characteristics Of Tuples</vt:lpstr>
      <vt:lpstr>PowerPoint Presentation</vt:lpstr>
      <vt:lpstr>Access Tuple Items</vt:lpstr>
      <vt:lpstr>Update Tuple</vt:lpstr>
      <vt:lpstr>PowerPoint Presentation</vt:lpstr>
      <vt:lpstr>PowerPoint Presentation</vt:lpstr>
      <vt:lpstr>Unpack Tuples</vt:lpstr>
      <vt:lpstr>PowerPoint Presentation</vt:lpstr>
      <vt:lpstr>Join Tuples</vt:lpstr>
      <vt:lpstr>Python Sets</vt:lpstr>
      <vt:lpstr>Characteristics Of Sets</vt:lpstr>
      <vt:lpstr>PowerPoint Presentation</vt:lpstr>
      <vt:lpstr>Access Set Items</vt:lpstr>
      <vt:lpstr>PowerPoint Presentation</vt:lpstr>
      <vt:lpstr>Change Items</vt:lpstr>
      <vt:lpstr>PowerPoint Presentation</vt:lpstr>
      <vt:lpstr>Remove Set Items</vt:lpstr>
      <vt:lpstr>PowerPoint Presentation</vt:lpstr>
      <vt:lpstr>PowerPoint Presentation</vt:lpstr>
      <vt:lpstr>Join Sets</vt:lpstr>
      <vt:lpstr>PowerPoint Presentation</vt:lpstr>
      <vt:lpstr>PowerPoint Presentation</vt:lpstr>
      <vt:lpstr>PowerPoint Presentation</vt:lpstr>
      <vt:lpstr>PowerPoint Presentation</vt:lpstr>
      <vt:lpstr>PowerPoint Presentation</vt:lpstr>
      <vt:lpstr>PYTHON DICTIONARIES</vt:lpstr>
      <vt:lpstr>Characteristics Of Dictionaries</vt:lpstr>
      <vt:lpstr>PowerPoint Presentation</vt:lpstr>
      <vt:lpstr>Access Dictionary Items</vt:lpstr>
      <vt:lpstr>PowerPoint Presentation</vt:lpstr>
      <vt:lpstr>Change And Add Dictionary Items</vt:lpstr>
      <vt:lpstr>PowerPoint Presentation</vt:lpstr>
      <vt:lpstr>Remove Dictionary Items</vt:lpstr>
      <vt:lpstr>PowerPoint Presentation</vt:lpstr>
      <vt:lpstr>Nested Dictionaries</vt:lpstr>
      <vt:lpstr>Copy Dictionaries</vt:lpstr>
      <vt:lpstr>Python Booleans</vt:lpstr>
      <vt:lpstr>PowerPoint Presentation</vt:lpstr>
      <vt:lpstr>PowerPoint Presentation</vt:lpstr>
      <vt:lpstr>Python Operators</vt:lpstr>
      <vt:lpstr>Types Of Operators</vt:lpstr>
      <vt:lpstr>Arithmetic Operators</vt:lpstr>
      <vt:lpstr>Comparison Operators</vt:lpstr>
      <vt:lpstr>Assignment Operator</vt:lpstr>
      <vt:lpstr>Logical Operators</vt:lpstr>
      <vt:lpstr>Bitwise Operator</vt:lpstr>
      <vt:lpstr>PowerPoint Presentation</vt:lpstr>
      <vt:lpstr>PowerPoint Presentation</vt:lpstr>
      <vt:lpstr>Identity Operator</vt:lpstr>
      <vt:lpstr>PowerPoint Presentation</vt:lpstr>
      <vt:lpstr>Membership Operators</vt:lpstr>
      <vt:lpstr>Operator Precedence</vt:lpstr>
      <vt:lpstr>PowerPoint Presentation</vt:lpstr>
      <vt:lpstr>PowerPoint Presentation</vt:lpstr>
      <vt:lpstr>Conditional Statements</vt:lpstr>
      <vt:lpstr>PowerPoint Presentation</vt:lpstr>
      <vt:lpstr>PowerPoint Presentation</vt:lpstr>
      <vt:lpstr>Python Loops</vt:lpstr>
      <vt:lpstr>For Loop</vt:lpstr>
      <vt:lpstr>PowerPoint Presentation</vt:lpstr>
      <vt:lpstr>PowerPoint Presentation</vt:lpstr>
      <vt:lpstr>PowerPoint Presentation</vt:lpstr>
      <vt:lpstr>PowerPoint Presentation</vt:lpstr>
      <vt:lpstr>While Loop</vt:lpstr>
      <vt:lpstr>PowerPoint Presentation</vt:lpstr>
      <vt:lpstr>Functions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PYTHON EXCEPTION HANDLING</vt:lpstr>
      <vt:lpstr>PowerPoint Presentation</vt:lpstr>
      <vt:lpstr>PowerPoint Presentation</vt:lpstr>
      <vt:lpstr>PowerPoint Presentation</vt:lpstr>
      <vt:lpstr>Python File Handling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Pragathi Puthran</dc:creator>
  <cp:lastModifiedBy>Pragathi Puthran</cp:lastModifiedBy>
  <cp:revision>67</cp:revision>
  <dcterms:created xsi:type="dcterms:W3CDTF">2024-12-30T05:49:45Z</dcterms:created>
  <dcterms:modified xsi:type="dcterms:W3CDTF">2025-07-18T11:00:53Z</dcterms:modified>
</cp:coreProperties>
</file>